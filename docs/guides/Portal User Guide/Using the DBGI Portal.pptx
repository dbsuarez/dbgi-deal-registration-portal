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1.xml" ContentType="application/vnd.openxmlformats-officedocument.theme+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defaultTextStyle>
    <a:lvl1pPr marL="0" algn="l">
      <a:defRPr sz="1800" kern="1200">
        <a:solidFill>
          <a:schemeClr val="tx1"/>
        </a:solidFill>
        <a:latin typeface="+mn-lt"/>
      </a:defRPr>
    </a:lvl1pPr>
    <a:lvl2pPr marL="457200" algn="l">
      <a:defRPr sz="1800" kern="1200">
        <a:solidFill>
          <a:schemeClr val="tx1"/>
        </a:solidFill>
        <a:latin typeface="+mn-lt"/>
      </a:defRPr>
    </a:lvl2pPr>
    <a:lvl3pPr marL="914400" algn="l">
      <a:defRPr sz="1800" kern="1200">
        <a:solidFill>
          <a:schemeClr val="tx1"/>
        </a:solidFill>
        <a:latin typeface="+mn-lt"/>
      </a:defRPr>
    </a:lvl3pPr>
    <a:lvl4pPr marL="1371600" algn="l">
      <a:defRPr sz="1800" kern="1200">
        <a:solidFill>
          <a:schemeClr val="tx1"/>
        </a:solidFill>
        <a:latin typeface="+mn-lt"/>
      </a:defRPr>
    </a:lvl4pPr>
    <a:lvl5pPr marL="1828800" algn="l">
      <a:defRPr sz="1800" kern="1200">
        <a:solidFill>
          <a:schemeClr val="tx1"/>
        </a:solidFill>
        <a:latin typeface="+mn-lt"/>
      </a:defRPr>
    </a:lvl5pPr>
    <a:lvl6pPr marL="2286000" algn="l">
      <a:defRPr sz="1800" kern="1200">
        <a:solidFill>
          <a:schemeClr val="tx1"/>
        </a:solidFill>
        <a:latin typeface="+mn-lt"/>
      </a:defRPr>
    </a:lvl6pPr>
    <a:lvl7pPr marL="2743200" algn="l">
      <a:defRPr sz="1800" kern="1200">
        <a:solidFill>
          <a:schemeClr val="tx1"/>
        </a:solidFill>
        <a:latin typeface="+mn-lt"/>
      </a:defRPr>
    </a:lvl7pPr>
    <a:lvl8pPr marL="3200400" algn="l">
      <a:defRPr sz="1800" kern="1200">
        <a:solidFill>
          <a:schemeClr val="tx1"/>
        </a:solidFill>
        <a:latin typeface="+mn-lt"/>
      </a:defRPr>
    </a:lvl8pPr>
    <a:lvl9pPr marL="3657600" algn="l">
      <a:defRPr sz="1800" kern="1200">
        <a:solidFill>
          <a:schemeClr val="tx1"/>
        </a:solidFill>
        <a:latin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theme" Target="theme/theme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Title 1"/>
          <p:cNvSpPr>
            <a:spLocks noGrp="1"/>
          </p:cNvSpPr>
          <p:nvPr>
            <p:ph type="ctrTitle"/>
          </p:nvPr>
        </p:nvSpPr>
        <p:spPr>
          <a:xfrm>
            <a:off x="1524000" y="1117600"/>
            <a:ext cx="9144000" cy="2387600"/>
          </a:xfrm>
          <a:prstGeom prst="rect">
            <a:avLst/>
          </a:prstGeom>
        </p:spPr>
        <p:txBody>
          <a:bodyPr anchor="b">
            <a:normAutofit fontScale="100000"/>
          </a:bodyPr>
          <a:lstStyle>
            <a:lvl1pPr algn="ctr">
              <a:defRPr sz="6000"/>
            </a:lvl1pPr>
          </a:lstStyle>
          <a:p/>
        </p:txBody>
      </p:sp>
      <p:sp>
        <p:nvSpPr>
          <p:cNvPr id="8" name="Subtitle 2"/>
          <p:cNvSpPr>
            <a:spLocks noGrp="1"/>
          </p:cNvSpPr>
          <p:nvPr>
            <p:ph type="subTitle" idx="1"/>
          </p:nvPr>
        </p:nvSpPr>
        <p:spPr>
          <a:xfrm>
            <a:off x="1524000" y="3606800"/>
            <a:ext cx="9144000" cy="1651000"/>
          </a:xfrm>
          <a:prstGeom prst="rect">
            <a:avLst/>
          </a:prstGeom>
        </p:spPr>
        <p:txBody>
          <a:bodyPr anchor="t">
            <a:normAutofit fontScale="100000"/>
          </a:bodyPr>
          <a:lstStyle>
            <a:lvl1pPr marL="0" indent="0" algn="ctr">
              <a:buNone/>
              <a:defRPr sz="2400"/>
            </a:lvl1pPr>
          </a:lstStyle>
          <a:p/>
        </p:txBody>
      </p:sp>
      <p:sp>
        <p:nvSpPr>
          <p:cNvPr id="9"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10"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11"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7DDC6D5D-A00E-4AA9-84F2-364CBECE0EEA}" type="slidenum">
              <a:rPr/>
              <a:t>‹#›</a:t>
            </a:fld>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3" name="Title 1"/>
          <p:cNvSpPr>
            <a:spLocks noGrp="1"/>
          </p:cNvSpPr>
          <p:nvPr>
            <p:ph type="title"/>
          </p:nvPr>
        </p:nvSpPr>
        <p:spPr>
          <a:xfrm>
            <a:off x="762000" y="368300"/>
            <a:ext cx="10668000" cy="1320800"/>
          </a:xfrm>
          <a:prstGeom prst="rect">
            <a:avLst/>
          </a:prstGeom>
        </p:spPr>
        <p:txBody>
          <a:bodyPr anchor="ctr">
            <a:normAutofit fontScale="100000"/>
          </a:bodyPr>
          <a:lstStyle/>
          <a:p/>
        </p:txBody>
      </p:sp>
      <p:sp>
        <p:nvSpPr>
          <p:cNvPr id="14" name="Content Placeholder 2"/>
          <p:cNvSpPr>
            <a:spLocks noGrp="1"/>
          </p:cNvSpPr>
          <p:nvPr>
            <p:ph idx="1"/>
          </p:nvPr>
        </p:nvSpPr>
        <p:spPr>
          <a:xfrm>
            <a:off x="762000" y="1828800"/>
            <a:ext cx="10668000" cy="4356100"/>
          </a:xfrm>
          <a:prstGeom prst="rect">
            <a:avLst/>
          </a:prstGeom>
        </p:spPr>
        <p:txBody>
          <a:bodyPr anchor="t">
            <a:normAutofit fontScale="100000"/>
          </a:bodyPr>
          <a:lstStyle/>
          <a:p/>
        </p:txBody>
      </p:sp>
      <p:sp>
        <p:nvSpPr>
          <p:cNvPr id="15"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16"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17"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EDCD0F9E-EF7E-4C26-8662-25A73F2263DD}" type="slidenum">
              <a:rPr/>
              <a:t>‹#›</a:t>
            </a:fld>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9" name="Title 1"/>
          <p:cNvSpPr>
            <a:spLocks noGrp="1"/>
          </p:cNvSpPr>
          <p:nvPr>
            <p:ph type="title"/>
          </p:nvPr>
        </p:nvSpPr>
        <p:spPr>
          <a:xfrm>
            <a:off x="825500" y="1714500"/>
            <a:ext cx="10541000" cy="2857500"/>
          </a:xfrm>
          <a:prstGeom prst="rect">
            <a:avLst/>
          </a:prstGeom>
        </p:spPr>
        <p:txBody>
          <a:bodyPr anchor="b"/>
          <a:lstStyle>
            <a:lvl1pPr>
              <a:defRPr sz="6000"/>
            </a:lvl1pPr>
          </a:lstStyle>
          <a:p/>
        </p:txBody>
      </p:sp>
      <p:sp>
        <p:nvSpPr>
          <p:cNvPr id="20" name="Text Placeholder 2"/>
          <p:cNvSpPr>
            <a:spLocks noGrp="1"/>
          </p:cNvSpPr>
          <p:nvPr>
            <p:ph type="body" idx="1"/>
          </p:nvPr>
        </p:nvSpPr>
        <p:spPr>
          <a:xfrm>
            <a:off x="825500" y="4597400"/>
            <a:ext cx="10541000" cy="1498600"/>
          </a:xfrm>
          <a:prstGeom prst="rect">
            <a:avLst/>
          </a:prstGeom>
        </p:spPr>
        <p:txBody>
          <a:bodyPr anchor="t">
            <a:normAutofit fontScale="100000"/>
          </a:bodyPr>
          <a:lstStyle>
            <a:lvl1pPr marL="0" indent="0">
              <a:buNone/>
              <a:defRPr sz="2400">
                <a:solidFill>
                  <a:schemeClr val="tx1">
                    <a:tint val="82000"/>
                  </a:schemeClr>
                </a:solidFill>
              </a:defRPr>
            </a:lvl1pPr>
          </a:lstStyle>
          <a:p/>
        </p:txBody>
      </p:sp>
      <p:sp>
        <p:nvSpPr>
          <p:cNvPr id="21"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22"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23"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87C18080-B33E-4073-8615-72D8F5AE8F78}" type="slidenum">
              <a:rPr/>
              <a:t>‹#›</a:t>
            </a:fld>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5" name="Title 1"/>
          <p:cNvSpPr>
            <a:spLocks noGrp="1"/>
          </p:cNvSpPr>
          <p:nvPr>
            <p:ph type="title"/>
          </p:nvPr>
        </p:nvSpPr>
        <p:spPr>
          <a:xfrm>
            <a:off x="762000" y="368300"/>
            <a:ext cx="10668000" cy="1320800"/>
          </a:xfrm>
          <a:prstGeom prst="rect">
            <a:avLst/>
          </a:prstGeom>
        </p:spPr>
        <p:txBody>
          <a:bodyPr anchor="ctr">
            <a:normAutofit fontScale="100000"/>
          </a:bodyPr>
          <a:lstStyle/>
          <a:p/>
        </p:txBody>
      </p:sp>
      <p:sp>
        <p:nvSpPr>
          <p:cNvPr id="26" name="Content Placeholder 2"/>
          <p:cNvSpPr>
            <a:spLocks noGrp="1"/>
          </p:cNvSpPr>
          <p:nvPr>
            <p:ph idx="1"/>
          </p:nvPr>
        </p:nvSpPr>
        <p:spPr>
          <a:xfrm>
            <a:off x="762000" y="1828800"/>
            <a:ext cx="5232400" cy="4356100"/>
          </a:xfrm>
          <a:prstGeom prst="rect">
            <a:avLst/>
          </a:prstGeom>
        </p:spPr>
        <p:txBody>
          <a:bodyPr anchor="t">
            <a:normAutofit fontScale="100000"/>
          </a:bodyPr>
          <a:lstStyle/>
          <a:p/>
        </p:txBody>
      </p:sp>
      <p:sp>
        <p:nvSpPr>
          <p:cNvPr id="27" name="Content Placeholder 3"/>
          <p:cNvSpPr>
            <a:spLocks noGrp="1"/>
          </p:cNvSpPr>
          <p:nvPr>
            <p:ph idx="2"/>
          </p:nvPr>
        </p:nvSpPr>
        <p:spPr>
          <a:xfrm>
            <a:off x="6197600" y="1828800"/>
            <a:ext cx="5232400" cy="4356100"/>
          </a:xfrm>
          <a:prstGeom prst="rect">
            <a:avLst/>
          </a:prstGeom>
        </p:spPr>
        <p:txBody>
          <a:bodyPr anchor="t">
            <a:normAutofit fontScale="100000"/>
          </a:bodyPr>
          <a:lstStyle/>
          <a:p/>
        </p:txBody>
      </p:sp>
      <p:sp>
        <p:nvSpPr>
          <p:cNvPr id="28"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29"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30"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85CB9569-04AF-4288-8880-64CE52ABE7A3}" type="slidenum">
              <a:rPr/>
              <a:t>‹#›</a:t>
            </a:fld>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2" name="Title 1"/>
          <p:cNvSpPr>
            <a:spLocks noGrp="1"/>
          </p:cNvSpPr>
          <p:nvPr>
            <p:ph type="title"/>
          </p:nvPr>
        </p:nvSpPr>
        <p:spPr>
          <a:xfrm>
            <a:off x="762000" y="368300"/>
            <a:ext cx="10668000" cy="1320800"/>
          </a:xfrm>
          <a:prstGeom prst="rect">
            <a:avLst/>
          </a:prstGeom>
        </p:spPr>
        <p:txBody>
          <a:bodyPr anchor="ctr">
            <a:normAutofit fontScale="100000"/>
          </a:bodyPr>
          <a:lstStyle/>
          <a:p/>
        </p:txBody>
      </p:sp>
      <p:sp>
        <p:nvSpPr>
          <p:cNvPr id="33" name="Text Placeholder 2"/>
          <p:cNvSpPr>
            <a:spLocks noGrp="1"/>
          </p:cNvSpPr>
          <p:nvPr>
            <p:ph type="body" idx="1"/>
          </p:nvPr>
        </p:nvSpPr>
        <p:spPr>
          <a:xfrm>
            <a:off x="762000" y="1689100"/>
            <a:ext cx="5232400" cy="787400"/>
          </a:xfrm>
          <a:prstGeom prst="rect">
            <a:avLst/>
          </a:prstGeom>
        </p:spPr>
        <p:txBody>
          <a:bodyPr anchor="b"/>
          <a:lstStyle>
            <a:lvl1pPr marL="0" indent="0">
              <a:buNone/>
              <a:defRPr sz="2400" b="1"/>
            </a:lvl1pPr>
          </a:lstStyle>
          <a:p/>
        </p:txBody>
      </p:sp>
      <p:sp>
        <p:nvSpPr>
          <p:cNvPr id="34" name="Content Placeholder 3"/>
          <p:cNvSpPr>
            <a:spLocks noGrp="1"/>
          </p:cNvSpPr>
          <p:nvPr>
            <p:ph idx="2"/>
          </p:nvPr>
        </p:nvSpPr>
        <p:spPr>
          <a:xfrm>
            <a:off x="762000" y="2514600"/>
            <a:ext cx="5232400" cy="3670300"/>
          </a:xfrm>
          <a:prstGeom prst="rect">
            <a:avLst/>
          </a:prstGeom>
        </p:spPr>
        <p:txBody>
          <a:bodyPr anchor="t">
            <a:normAutofit fontScale="100000"/>
          </a:bodyPr>
          <a:lstStyle/>
          <a:p/>
        </p:txBody>
      </p:sp>
      <p:sp>
        <p:nvSpPr>
          <p:cNvPr id="35" name="Text Placeholder 4"/>
          <p:cNvSpPr>
            <a:spLocks noGrp="1"/>
          </p:cNvSpPr>
          <p:nvPr>
            <p:ph type="body" idx="3"/>
          </p:nvPr>
        </p:nvSpPr>
        <p:spPr>
          <a:xfrm>
            <a:off x="6197600" y="1689100"/>
            <a:ext cx="5232400" cy="787400"/>
          </a:xfrm>
          <a:prstGeom prst="rect">
            <a:avLst/>
          </a:prstGeom>
        </p:spPr>
        <p:txBody>
          <a:bodyPr anchor="b"/>
          <a:lstStyle>
            <a:lvl1pPr marL="0" indent="0">
              <a:buNone/>
              <a:defRPr sz="2400" b="1"/>
            </a:lvl1pPr>
          </a:lstStyle>
          <a:p/>
        </p:txBody>
      </p:sp>
      <p:sp>
        <p:nvSpPr>
          <p:cNvPr id="36" name="Content Placeholder 5"/>
          <p:cNvSpPr>
            <a:spLocks noGrp="1"/>
          </p:cNvSpPr>
          <p:nvPr>
            <p:ph idx="4"/>
          </p:nvPr>
        </p:nvSpPr>
        <p:spPr>
          <a:xfrm>
            <a:off x="6197600" y="2514600"/>
            <a:ext cx="5232400" cy="3670300"/>
          </a:xfrm>
          <a:prstGeom prst="rect">
            <a:avLst/>
          </a:prstGeom>
        </p:spPr>
        <p:txBody>
          <a:bodyPr anchor="t">
            <a:normAutofit fontScale="100000"/>
          </a:bodyPr>
          <a:lstStyle/>
          <a:p/>
        </p:txBody>
      </p:sp>
      <p:sp>
        <p:nvSpPr>
          <p:cNvPr id="37"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38"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39"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BF533E07-937E-4FED-8300-891295843456}" type="slidenum">
              <a:rPr/>
              <a:t>‹#›</a:t>
            </a:fld>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1" name="Title 1"/>
          <p:cNvSpPr>
            <a:spLocks noGrp="1"/>
          </p:cNvSpPr>
          <p:nvPr>
            <p:ph type="title"/>
          </p:nvPr>
        </p:nvSpPr>
        <p:spPr>
          <a:xfrm>
            <a:off x="762000" y="368300"/>
            <a:ext cx="10668000" cy="1320800"/>
          </a:xfrm>
          <a:prstGeom prst="rect">
            <a:avLst/>
          </a:prstGeom>
        </p:spPr>
        <p:txBody>
          <a:bodyPr anchor="ctr">
            <a:normAutofit fontScale="100000"/>
          </a:bodyPr>
          <a:lstStyle/>
          <a:p/>
        </p:txBody>
      </p:sp>
      <p:sp>
        <p:nvSpPr>
          <p:cNvPr id="42"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43"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44"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7A28B55B-FA15-48BA-860D-0231187503D9}" type="slidenum">
              <a:rPr/>
              <a:t>‹#›</a:t>
            </a:fld>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6"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47"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48"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00E0EBC0-ADA9-4FA7-889C-9287646BC794}" type="slidenum">
              <a:rPr/>
              <a:t>‹#›</a:t>
            </a:fld>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50" name="Title 1"/>
          <p:cNvSpPr>
            <a:spLocks noGrp="1"/>
          </p:cNvSpPr>
          <p:nvPr>
            <p:ph type="title"/>
          </p:nvPr>
        </p:nvSpPr>
        <p:spPr>
          <a:xfrm>
            <a:off x="762000" y="457200"/>
            <a:ext cx="4089400" cy="1600200"/>
          </a:xfrm>
          <a:prstGeom prst="rect">
            <a:avLst/>
          </a:prstGeom>
        </p:spPr>
        <p:txBody>
          <a:bodyPr anchor="b"/>
          <a:lstStyle>
            <a:lvl1pPr>
              <a:defRPr sz="3200"/>
            </a:lvl1pPr>
          </a:lstStyle>
          <a:p/>
        </p:txBody>
      </p:sp>
      <p:sp>
        <p:nvSpPr>
          <p:cNvPr id="51" name="Content Placeholder 2"/>
          <p:cNvSpPr>
            <a:spLocks noGrp="1"/>
          </p:cNvSpPr>
          <p:nvPr>
            <p:ph idx="1"/>
          </p:nvPr>
        </p:nvSpPr>
        <p:spPr>
          <a:xfrm>
            <a:off x="5232400" y="990600"/>
            <a:ext cx="6197600" cy="4876800"/>
          </a:xfrm>
          <a:prstGeom prst="rect">
            <a:avLst/>
          </a:prstGeom>
        </p:spPr>
        <p:txBody>
          <a:bodyPr anchor="t">
            <a:normAutofit fontScale="100000"/>
          </a:bodyPr>
          <a:lstStyle/>
          <a:p/>
        </p:txBody>
      </p:sp>
      <p:sp>
        <p:nvSpPr>
          <p:cNvPr id="52" name="Text Placeholder 3"/>
          <p:cNvSpPr>
            <a:spLocks noGrp="1"/>
          </p:cNvSpPr>
          <p:nvPr>
            <p:ph type="body" idx="2"/>
          </p:nvPr>
        </p:nvSpPr>
        <p:spPr>
          <a:xfrm>
            <a:off x="762000" y="2057400"/>
            <a:ext cx="4089400" cy="3810000"/>
          </a:xfrm>
          <a:prstGeom prst="rect">
            <a:avLst/>
          </a:prstGeom>
        </p:spPr>
        <p:txBody>
          <a:bodyPr anchor="t">
            <a:normAutofit fontScale="100000"/>
          </a:bodyPr>
          <a:lstStyle>
            <a:lvl1pPr marL="0" indent="0">
              <a:buNone/>
              <a:defRPr sz="1600"/>
            </a:lvl1pPr>
          </a:lstStyle>
          <a:p/>
        </p:txBody>
      </p:sp>
      <p:sp>
        <p:nvSpPr>
          <p:cNvPr id="53"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54"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55"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7DA25AB8-FB3A-479C-8780-0B7E5F586C0F}" type="slidenum">
              <a:rPr/>
              <a:t>‹#›</a:t>
            </a:fld>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57" name="Title 1"/>
          <p:cNvSpPr>
            <a:spLocks noGrp="1"/>
          </p:cNvSpPr>
          <p:nvPr>
            <p:ph type="title"/>
          </p:nvPr>
        </p:nvSpPr>
        <p:spPr>
          <a:xfrm>
            <a:off x="762000" y="457200"/>
            <a:ext cx="4089400" cy="1600200"/>
          </a:xfrm>
          <a:prstGeom prst="rect">
            <a:avLst/>
          </a:prstGeom>
        </p:spPr>
        <p:txBody>
          <a:bodyPr anchor="b"/>
          <a:lstStyle>
            <a:lvl1pPr>
              <a:defRPr sz="3200"/>
            </a:lvl1pPr>
          </a:lstStyle>
          <a:p/>
        </p:txBody>
      </p:sp>
      <p:sp>
        <p:nvSpPr>
          <p:cNvPr id="58" name="Picture Placeholder 2"/>
          <p:cNvSpPr>
            <a:spLocks noGrp="1"/>
          </p:cNvSpPr>
          <p:nvPr>
            <p:ph type="pic" idx="1"/>
          </p:nvPr>
        </p:nvSpPr>
        <p:spPr>
          <a:xfrm>
            <a:off x="5232400" y="990600"/>
            <a:ext cx="6197600" cy="4876800"/>
          </a:xfrm>
          <a:prstGeom prst="rect">
            <a:avLst/>
          </a:prstGeom>
        </p:spPr>
        <p:txBody>
          <a:bodyPr/>
          <a:lstStyle/>
          <a:p/>
        </p:txBody>
      </p:sp>
      <p:sp>
        <p:nvSpPr>
          <p:cNvPr id="59" name="Text Placeholder 3"/>
          <p:cNvSpPr>
            <a:spLocks noGrp="1"/>
          </p:cNvSpPr>
          <p:nvPr>
            <p:ph type="body" idx="2"/>
          </p:nvPr>
        </p:nvSpPr>
        <p:spPr>
          <a:xfrm>
            <a:off x="762000" y="2057400"/>
            <a:ext cx="4089400" cy="3810000"/>
          </a:xfrm>
          <a:prstGeom prst="rect">
            <a:avLst/>
          </a:prstGeom>
        </p:spPr>
        <p:txBody>
          <a:bodyPr anchor="t">
            <a:normAutofit fontScale="100000"/>
          </a:bodyPr>
          <a:lstStyle>
            <a:lvl1pPr marL="0" indent="0">
              <a:buNone/>
              <a:defRPr sz="1600"/>
            </a:lvl1pPr>
          </a:lstStyle>
          <a:p/>
        </p:txBody>
      </p:sp>
      <p:sp>
        <p:nvSpPr>
          <p:cNvPr id="60"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61"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62"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5AEFC29A-6C4F-4141-86E3-1A3E2D58E3A2}" type="slidenum">
              <a:rPr/>
              <a:t>‹#›</a:t>
            </a:fld>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64" name="Title 1"/>
          <p:cNvSpPr>
            <a:spLocks noGrp="1"/>
          </p:cNvSpPr>
          <p:nvPr>
            <p:ph type="title"/>
          </p:nvPr>
        </p:nvSpPr>
        <p:spPr>
          <a:xfrm>
            <a:off x="762000" y="368300"/>
            <a:ext cx="10668000" cy="1320800"/>
          </a:xfrm>
          <a:prstGeom prst="rect">
            <a:avLst/>
          </a:prstGeom>
        </p:spPr>
        <p:txBody>
          <a:bodyPr anchor="ctr">
            <a:normAutofit fontScale="100000"/>
          </a:bodyPr>
          <a:lstStyle/>
          <a:p/>
        </p:txBody>
      </p:sp>
      <p:sp>
        <p:nvSpPr>
          <p:cNvPr id="65" name="Vertical Text Placeholder 2"/>
          <p:cNvSpPr>
            <a:spLocks noGrp="1"/>
          </p:cNvSpPr>
          <p:nvPr>
            <p:ph type="body" orient="vert" idx="1"/>
          </p:nvPr>
        </p:nvSpPr>
        <p:spPr>
          <a:xfrm>
            <a:off x="762000" y="1828800"/>
            <a:ext cx="10668000" cy="4356100"/>
          </a:xfrm>
          <a:prstGeom prst="rect">
            <a:avLst/>
          </a:prstGeom>
        </p:spPr>
        <p:txBody>
          <a:bodyPr vert="eaVert" anchor="t">
            <a:normAutofit fontScale="100000"/>
          </a:bodyPr>
          <a:lstStyle/>
          <a:p/>
        </p:txBody>
      </p:sp>
      <p:sp>
        <p:nvSpPr>
          <p:cNvPr id="66"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67"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68"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DE19C649-D3E0-46CB-87C1-67136E4226A6}" type="slidenum">
              <a:rPr/>
              <a:t>‹#›</a:t>
            </a:fld>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0" name="Vertical Title 1"/>
          <p:cNvSpPr>
            <a:spLocks noGrp="1"/>
          </p:cNvSpPr>
          <p:nvPr>
            <p:ph type="title" orient="vert"/>
          </p:nvPr>
        </p:nvSpPr>
        <p:spPr>
          <a:xfrm>
            <a:off x="8724900" y="368300"/>
            <a:ext cx="2705100" cy="5816600"/>
          </a:xfrm>
          <a:prstGeom prst="rect">
            <a:avLst/>
          </a:prstGeom>
        </p:spPr>
        <p:txBody>
          <a:bodyPr vert="eaVert"/>
          <a:lstStyle/>
          <a:p/>
        </p:txBody>
      </p:sp>
      <p:sp>
        <p:nvSpPr>
          <p:cNvPr id="71" name="Vertical Text Placeholder 2"/>
          <p:cNvSpPr>
            <a:spLocks noGrp="1"/>
          </p:cNvSpPr>
          <p:nvPr>
            <p:ph type="body" orient="vert" idx="1"/>
          </p:nvPr>
        </p:nvSpPr>
        <p:spPr>
          <a:xfrm>
            <a:off x="762000" y="368300"/>
            <a:ext cx="7772400" cy="5816600"/>
          </a:xfrm>
          <a:prstGeom prst="rect">
            <a:avLst/>
          </a:prstGeom>
        </p:spPr>
        <p:txBody>
          <a:bodyPr vert="eaVert" anchor="t">
            <a:normAutofit fontScale="100000"/>
          </a:bodyPr>
          <a:lstStyle/>
          <a:p/>
        </p:txBody>
      </p:sp>
      <p:sp>
        <p:nvSpPr>
          <p:cNvPr id="72"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73"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74"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20EBE78A-EB3E-401E-81B5-D7F53201DAF3}" type="slidenum">
              <a:rPr/>
              <a:t>‹#›</a:t>
            </a:fld>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Harbor">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2000" y="368300"/>
            <a:ext cx="10668000" cy="1320800"/>
          </a:xfrm>
          <a:prstGeom prst="rect">
            <a:avLst/>
          </a:prstGeom>
        </p:spPr>
        <p:txBody>
          <a:bodyPr anchor="ctr">
            <a:normAutofit fontScale="100000"/>
          </a:bodyPr>
          <a:lstStyle/>
          <a:p>
            <a:r>
              <a:rPr/>
              <a:t>Click to edit Master title style</a:t>
            </a:r>
          </a:p>
        </p:txBody>
      </p:sp>
      <p:sp>
        <p:nvSpPr>
          <p:cNvPr id="3" name="Text Placeholder 2"/>
          <p:cNvSpPr>
            <a:spLocks noGrp="1"/>
          </p:cNvSpPr>
          <p:nvPr>
            <p:ph type="body" idx="1"/>
          </p:nvPr>
        </p:nvSpPr>
        <p:spPr>
          <a:xfrm>
            <a:off x="762000" y="1828800"/>
            <a:ext cx="10668000" cy="4356100"/>
          </a:xfrm>
          <a:prstGeom prst="rect">
            <a:avLst/>
          </a:prstGeom>
        </p:spPr>
        <p:txBody>
          <a:bodyPr anchor="t">
            <a:normAutofit fontScale="100000"/>
          </a:bodyPr>
          <a:lstStyle/>
          <a:p>
            <a:r>
              <a:rPr/>
              <a:t>Click to edit Master text styles</a:t>
            </a:r>
          </a:p>
        </p:txBody>
      </p:sp>
      <p:sp>
        <p:nvSpPr>
          <p:cNvPr id="4" name="Date Placeholder"/>
          <p:cNvSpPr>
            <a:spLocks noGrp="1"/>
          </p:cNvSpPr>
          <p:nvPr>
            <p:ph type="dt" idx="10"/>
          </p:nvPr>
        </p:nvSpPr>
        <p:spPr>
          <a:xfrm>
            <a:off x="762000" y="6350000"/>
            <a:ext cx="2743200" cy="355600"/>
          </a:xfrm>
          <a:prstGeom prst="rect">
            <a:avLst/>
          </a:prstGeom>
        </p:spPr>
        <p:txBody>
          <a:bodyPr anchor="ctr"/>
          <a:lstStyle>
            <a:lvl1pPr algn="l">
              <a:defRPr sz="1200">
                <a:solidFill>
                  <a:schemeClr val="tx1">
                    <a:tint val="75000"/>
                  </a:schemeClr>
                </a:solidFill>
              </a:defRPr>
            </a:lvl1pPr>
          </a:lstStyle>
          <a:p/>
        </p:txBody>
      </p:sp>
      <p:sp>
        <p:nvSpPr>
          <p:cNvPr id="5" name="Footer Placeholder"/>
          <p:cNvSpPr>
            <a:spLocks noGrp="1"/>
          </p:cNvSpPr>
          <p:nvPr>
            <p:ph type="ftr" idx="11"/>
          </p:nvPr>
        </p:nvSpPr>
        <p:spPr>
          <a:xfrm>
            <a:off x="4038600" y="6350000"/>
            <a:ext cx="4114800" cy="355600"/>
          </a:xfrm>
          <a:prstGeom prst="rect">
            <a:avLst/>
          </a:prstGeom>
        </p:spPr>
        <p:txBody>
          <a:bodyPr anchor="ctr"/>
          <a:lstStyle>
            <a:lvl1pPr algn="ctr">
              <a:defRPr sz="1200">
                <a:solidFill>
                  <a:schemeClr val="tx1">
                    <a:tint val="75000"/>
                  </a:schemeClr>
                </a:solidFill>
              </a:defRPr>
            </a:lvl1pPr>
          </a:lstStyle>
          <a:p/>
        </p:txBody>
      </p:sp>
      <p:sp>
        <p:nvSpPr>
          <p:cNvPr id="6" name="Slide Number Placeholder"/>
          <p:cNvSpPr>
            <a:spLocks noGrp="1"/>
          </p:cNvSpPr>
          <p:nvPr>
            <p:ph type="sldNum" idx="12"/>
          </p:nvPr>
        </p:nvSpPr>
        <p:spPr>
          <a:xfrm>
            <a:off x="8686800" y="6350000"/>
            <a:ext cx="2743200" cy="355600"/>
          </a:xfrm>
          <a:prstGeom prst="rect">
            <a:avLst/>
          </a:prstGeom>
        </p:spPr>
        <p:txBody>
          <a:bodyPr anchor="ctr"/>
          <a:lstStyle>
            <a:lvl1pPr algn="r">
              <a:defRPr sz="1200">
                <a:solidFill>
                  <a:schemeClr val="tx1">
                    <a:tint val="75000"/>
                  </a:schemeClr>
                </a:solidFill>
              </a:defRPr>
            </a:lvl1pPr>
          </a:lstStyle>
          <a:p>
            <a:fld id="{473D6AB1-0FDA-49F1-8390-8828CE9E6676}" type="slidenum">
              <a:rPr/>
              <a:t>‹#›</a:t>
            </a:fld>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a:lnSpc>
          <a:spcPct val="90000"/>
        </a:lnSpc>
        <a:spcBef>
          <a:spcPts val="0"/>
        </a:spcBef>
        <a:buNone/>
        <a:defRPr sz="4400" kern="1200">
          <a:solidFill>
            <a:schemeClr val="tx1"/>
          </a:solidFill>
          <a:latin typeface="+mj-lt"/>
        </a:defRPr>
      </a:lvl1pPr>
    </p:titleStyle>
    <p:bodyStyle>
      <a:lvl1pPr marL="228600" indent="-228600" algn="l">
        <a:lnSpc>
          <a:spcPct val="90000"/>
        </a:lnSpc>
        <a:spcBef>
          <a:spcPts val="1000"/>
        </a:spcBef>
        <a:buFont typeface="Arial"/>
        <a:buChar char="•"/>
        <a:defRPr sz="2800" kern="1200">
          <a:solidFill>
            <a:schemeClr val="tx1"/>
          </a:solidFill>
          <a:latin typeface="+mn-lt"/>
        </a:defRPr>
      </a:lvl1pPr>
      <a:lvl2pPr marL="685800" indent="-228600" algn="l">
        <a:lnSpc>
          <a:spcPct val="90000"/>
        </a:lnSpc>
        <a:spcBef>
          <a:spcPts val="500"/>
        </a:spcBef>
        <a:buFont typeface="Arial"/>
        <a:buChar char="•"/>
        <a:defRPr sz="2400" kern="1200">
          <a:solidFill>
            <a:schemeClr val="tx1"/>
          </a:solidFill>
          <a:latin typeface="+mn-lt"/>
        </a:defRPr>
      </a:lvl2pPr>
      <a:lvl3pPr marL="1143000" indent="-228600" algn="l">
        <a:lnSpc>
          <a:spcPct val="90000"/>
        </a:lnSpc>
        <a:spcBef>
          <a:spcPts val="500"/>
        </a:spcBef>
        <a:buFont typeface="Arial"/>
        <a:buChar char="•"/>
        <a:defRPr sz="2000" kern="1200">
          <a:solidFill>
            <a:schemeClr val="tx1"/>
          </a:solidFill>
          <a:latin typeface="+mn-lt"/>
        </a:defRPr>
      </a:lvl3pPr>
      <a:lvl4pPr marL="1600200" indent="-228600" algn="l">
        <a:lnSpc>
          <a:spcPct val="90000"/>
        </a:lnSpc>
        <a:spcBef>
          <a:spcPts val="500"/>
        </a:spcBef>
        <a:buFont typeface="Arial"/>
        <a:buChar char="•"/>
        <a:defRPr sz="1800" kern="1200">
          <a:solidFill>
            <a:schemeClr val="tx1"/>
          </a:solidFill>
          <a:latin typeface="+mn-lt"/>
        </a:defRPr>
      </a:lvl4pPr>
      <a:lvl5pPr marL="2057400" indent="-228600" algn="l">
        <a:lnSpc>
          <a:spcPct val="90000"/>
        </a:lnSpc>
        <a:spcBef>
          <a:spcPts val="500"/>
        </a:spcBef>
        <a:buFont typeface="Arial"/>
        <a:buChar char="•"/>
        <a:defRPr sz="1800" kern="1200">
          <a:solidFill>
            <a:schemeClr val="tx1"/>
          </a:solidFill>
          <a:latin typeface="+mn-lt"/>
        </a:defRPr>
      </a:lvl5pPr>
      <a:lvl6pPr marL="2514600" indent="-228600" algn="l">
        <a:lnSpc>
          <a:spcPct val="90000"/>
        </a:lnSpc>
        <a:spcBef>
          <a:spcPts val="500"/>
        </a:spcBef>
        <a:buFont typeface="Arial"/>
        <a:buChar char="•"/>
        <a:defRPr sz="1800" kern="1200">
          <a:solidFill>
            <a:schemeClr val="tx1"/>
          </a:solidFill>
          <a:latin typeface="+mn-lt"/>
        </a:defRPr>
      </a:lvl6pPr>
      <a:lvl7pPr marL="2971800" indent="-228600" algn="l">
        <a:lnSpc>
          <a:spcPct val="90000"/>
        </a:lnSpc>
        <a:spcBef>
          <a:spcPts val="500"/>
        </a:spcBef>
        <a:buFont typeface="Arial"/>
        <a:buChar char="•"/>
        <a:defRPr sz="1800" kern="1200">
          <a:solidFill>
            <a:schemeClr val="tx1"/>
          </a:solidFill>
          <a:latin typeface="+mn-lt"/>
        </a:defRPr>
      </a:lvl7pPr>
      <a:lvl8pPr marL="3429000" indent="-228600" algn="l">
        <a:lnSpc>
          <a:spcPct val="90000"/>
        </a:lnSpc>
        <a:spcBef>
          <a:spcPts val="500"/>
        </a:spcBef>
        <a:buFont typeface="Arial"/>
        <a:buChar char="•"/>
        <a:defRPr sz="1800" kern="1200">
          <a:solidFill>
            <a:schemeClr val="tx1"/>
          </a:solidFill>
          <a:latin typeface="+mn-lt"/>
        </a:defRPr>
      </a:lvl8pPr>
      <a:lvl9pPr marL="3886200" indent="-228600" algn="l">
        <a:lnSpc>
          <a:spcPct val="90000"/>
        </a:lnSpc>
        <a:spcBef>
          <a:spcPts val="500"/>
        </a:spcBef>
        <a:buFont typeface="Arial"/>
        <a:buChar char="•"/>
        <a:defRPr sz="1800" kern="1200">
          <a:solidFill>
            <a:schemeClr val="tx1"/>
          </a:solidFill>
          <a:latin typeface="+mn-lt"/>
        </a:defRPr>
      </a:lvl9pPr>
    </p:bodyStyle>
    <p:otherStyle>
      <a:lvl1pPr marL="0" algn="l">
        <a:defRPr sz="1800" kern="1200">
          <a:solidFill>
            <a:schemeClr val="tx1"/>
          </a:solidFill>
          <a:latin typeface="+mn-lt"/>
        </a:defRPr>
      </a:lvl1pPr>
      <a:lvl2pPr marL="457200" algn="l">
        <a:defRPr sz="1800" kern="1200">
          <a:solidFill>
            <a:schemeClr val="tx1"/>
          </a:solidFill>
          <a:latin typeface="+mn-lt"/>
        </a:defRPr>
      </a:lvl2pPr>
      <a:lvl3pPr marL="914400" algn="l">
        <a:defRPr sz="1800" kern="1200">
          <a:solidFill>
            <a:schemeClr val="tx1"/>
          </a:solidFill>
          <a:latin typeface="+mn-lt"/>
        </a:defRPr>
      </a:lvl3pPr>
      <a:lvl4pPr marL="1371600" algn="l">
        <a:defRPr sz="1800" kern="1200">
          <a:solidFill>
            <a:schemeClr val="tx1"/>
          </a:solidFill>
          <a:latin typeface="+mn-lt"/>
        </a:defRPr>
      </a:lvl4pPr>
      <a:lvl5pPr marL="1828800" algn="l">
        <a:defRPr sz="1800" kern="1200">
          <a:solidFill>
            <a:schemeClr val="tx1"/>
          </a:solidFill>
          <a:latin typeface="+mn-lt"/>
        </a:defRPr>
      </a:lvl5pPr>
      <a:lvl6pPr marL="2286000" algn="l">
        <a:defRPr sz="1800" kern="1200">
          <a:solidFill>
            <a:schemeClr val="tx1"/>
          </a:solidFill>
          <a:latin typeface="+mn-lt"/>
        </a:defRPr>
      </a:lvl6pPr>
      <a:lvl7pPr marL="2743200" algn="l">
        <a:defRPr sz="1800" kern="1200">
          <a:solidFill>
            <a:schemeClr val="tx1"/>
          </a:solidFill>
          <a:latin typeface="+mn-lt"/>
        </a:defRPr>
      </a:lvl7pPr>
      <a:lvl8pPr marL="3200400" algn="l">
        <a:defRPr sz="1800" kern="1200">
          <a:solidFill>
            <a:schemeClr val="tx1"/>
          </a:solidFill>
          <a:latin typeface="+mn-lt"/>
        </a:defRPr>
      </a:lvl8pPr>
      <a:lvl9pPr marL="3657600" algn="l">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384D"/>
        </a:solidFill>
        <a:effectLst/>
      </p:bgPr>
    </p:bg>
    <p:spTree>
      <p:nvGrpSpPr>
        <p:cNvPr id="1" name=""/>
        <p:cNvGrpSpPr/>
        <p:nvPr/>
      </p:nvGrpSpPr>
      <p:grpSpPr>
        <a:xfrm>
          <a:off x="0" y="0"/>
          <a:ext cx="0" cy="0"/>
          <a:chOff x="0" y="0"/>
          <a:chExt cx="0" cy="0"/>
        </a:xfrm>
      </p:grpSpPr>
      <p:sp>
        <p:nvSpPr>
          <p:cNvPr id="260" name="Rectangle 1"/>
          <p:cNvSpPr/>
          <p:nvPr/>
        </p:nvSpPr>
        <p:spPr>
          <a:xfrm>
            <a:off x="762000" y="1778000"/>
            <a:ext cx="889000" cy="101600"/>
          </a:xfrm>
          <a:prstGeom prst="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261" name="Rectangle 2"/>
          <p:cNvSpPr/>
          <p:nvPr/>
        </p:nvSpPr>
        <p:spPr>
          <a:xfrm>
            <a:off x="711200" y="2032000"/>
            <a:ext cx="10922000" cy="1397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4000" b="1">
                <a:solidFill>
                  <a:srgbClr val="FFFFFF"/>
                </a:solidFill>
              </a:rPr>
              <a:t>Using the DBGI Project Registration Portal</a:t>
            </a:r>
            <a:endParaRPr sz="4000" b="1">
              <a:solidFill>
                <a:srgbClr val="FFFFFF"/>
              </a:solidFill>
            </a:endParaRPr>
          </a:p>
        </p:txBody>
      </p:sp>
      <p:sp>
        <p:nvSpPr>
          <p:cNvPr id="262" name="Rectangle 3"/>
          <p:cNvSpPr/>
          <p:nvPr/>
        </p:nvSpPr>
        <p:spPr>
          <a:xfrm>
            <a:off x="736600" y="3454400"/>
            <a:ext cx="106680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100" b="0">
                <a:solidFill>
                  <a:srgbClr val="B9D4E0"/>
                </a:solidFill>
              </a:rPr>
              <a:t>One deal, from registration to approved price, with real screens</a:t>
            </a:r>
            <a:endParaRPr sz="2100" b="0">
              <a:solidFill>
                <a:srgbClr val="B9D4E0"/>
              </a:solidFill>
            </a:endParaRPr>
          </a:p>
        </p:txBody>
      </p:sp>
      <p:sp>
        <p:nvSpPr>
          <p:cNvPr id="263" name="Rectangle 4"/>
          <p:cNvSpPr/>
          <p:nvPr/>
        </p:nvSpPr>
        <p:spPr>
          <a:xfrm>
            <a:off x="736600" y="5588000"/>
            <a:ext cx="106680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8FB3C4"/>
                </a:solidFill>
              </a:rPr>
              <a:t>Walkthrough for company users and DBGI administrators, then questions for DBGI  |  2026-10-28</a:t>
            </a:r>
            <a:endParaRPr sz="1400" b="0">
              <a:solidFill>
                <a:srgbClr val="8FB3C4"/>
              </a:solidFill>
            </a:endParaRPr>
          </a:p>
        </p:txBody>
      </p:sp>
      <p:sp>
        <p:nvSpPr>
          <p:cNvPr id="1051" name="Slide Number Placeholder"/>
          <p:cNvSpPr>
            <a:spLocks noGrp="1"/>
          </p:cNvSpPr>
          <p:nvPr>
            <p:ph type="sldNum" idx="12"/>
          </p:nvPr>
        </p:nvSpPr>
        <p:spPr/>
        <p:txBody>
          <a:bodyPr/>
          <a:lstStyle/>
          <a:p>
            <a:fld id="{FD4E0D67-8901-4D8D-881D-3D861B2E5AE2}" type="slidenum">
              <a:rPr/>
              <a:t>‹#›</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266" name="Rectangle 2"/>
          <p:cNvSpPr/>
          <p:nvPr/>
        </p:nvSpPr>
        <p:spPr>
          <a:xfrm>
            <a:off x="711200" y="533400"/>
            <a:ext cx="10795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Two kinds of users</a:t>
            </a:r>
            <a:endParaRPr sz="2600" b="1">
              <a:solidFill>
                <a:srgbClr val="12384D"/>
              </a:solidFill>
            </a:endParaRPr>
          </a:p>
        </p:txBody>
      </p:sp>
      <p:sp>
        <p:nvSpPr>
          <p:cNvPr id="267"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Everyone signs in at the same portal, but sees different screens</a:t>
            </a:r>
            <a:endParaRPr sz="1400" b="0">
              <a:solidFill>
                <a:srgbClr val="5B6B7A"/>
              </a:solidFill>
            </a:endParaRPr>
          </a:p>
        </p:txBody>
      </p:sp>
      <p:sp>
        <p:nvSpPr>
          <p:cNvPr id="268" name="Rectangle 4"/>
          <p:cNvSpPr/>
          <p:nvPr/>
        </p:nvSpPr>
        <p:spPr>
          <a:xfrm>
            <a:off x="762000" y="1714500"/>
            <a:ext cx="5270500" cy="3810000"/>
          </a:xfrm>
          <a:prstGeom prst="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269" name="Rectangle 5"/>
          <p:cNvSpPr/>
          <p:nvPr/>
        </p:nvSpPr>
        <p:spPr>
          <a:xfrm>
            <a:off x="762000" y="1714500"/>
            <a:ext cx="5270500" cy="1016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270" name="Oval 6"/>
          <p:cNvSpPr/>
          <p:nvPr/>
        </p:nvSpPr>
        <p:spPr>
          <a:xfrm>
            <a:off x="1066800" y="2095500"/>
            <a:ext cx="711200" cy="7112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271" name="Briefcase"/>
          <p:cNvSpPr/>
          <p:nvPr/>
        </p:nvSpPr>
        <p:spPr>
          <a:xfrm>
            <a:off x="1244600" y="2273300"/>
            <a:ext cx="355600" cy="355600"/>
          </a:xfrm>
          <a:custGeom>
            <a:avLst/>
            <a:gdLst/>
            <a:ahLst/>
            <a:cxnLst/>
            <a:rect l="l" t="t" r="r" b="b"/>
            <a:pathLst>
              <a:path w="100000" h="100000" fill="none">
                <a:moveTo>
                  <a:pt x="66667" y="83333"/>
                </a:moveTo>
                <a:lnTo>
                  <a:pt x="66667" y="16667"/>
                </a:lnTo>
                <a:cubicBezTo>
                  <a:pt x="66667" y="12064"/>
                  <a:pt x="62936" y="8333"/>
                  <a:pt x="58333" y="8333"/>
                </a:cubicBezTo>
                <a:lnTo>
                  <a:pt x="41667" y="8333"/>
                </a:lnTo>
                <a:cubicBezTo>
                  <a:pt x="37064" y="8333"/>
                  <a:pt x="33333" y="12064"/>
                  <a:pt x="33333" y="16667"/>
                </a:cubicBezTo>
                <a:lnTo>
                  <a:pt x="33333" y="83333"/>
                </a:lnTo>
                <a:moveTo>
                  <a:pt x="16667" y="25000"/>
                </a:moveTo>
                <a:lnTo>
                  <a:pt x="83333" y="25000"/>
                </a:lnTo>
                <a:cubicBezTo>
                  <a:pt x="87936" y="25000"/>
                  <a:pt x="91667" y="28731"/>
                  <a:pt x="91667" y="33333"/>
                </a:cubicBezTo>
                <a:lnTo>
                  <a:pt x="91667" y="75000"/>
                </a:lnTo>
                <a:cubicBezTo>
                  <a:pt x="91667" y="79603"/>
                  <a:pt x="87936" y="83333"/>
                  <a:pt x="83333" y="83333"/>
                </a:cubicBezTo>
                <a:lnTo>
                  <a:pt x="16667" y="83333"/>
                </a:lnTo>
                <a:cubicBezTo>
                  <a:pt x="12064" y="83333"/>
                  <a:pt x="8333" y="79603"/>
                  <a:pt x="8333" y="75000"/>
                </a:cubicBezTo>
                <a:lnTo>
                  <a:pt x="8333" y="33333"/>
                </a:lnTo>
                <a:cubicBezTo>
                  <a:pt x="8333" y="28731"/>
                  <a:pt x="12064" y="25000"/>
                  <a:pt x="16667" y="25000"/>
                </a:cubicBezTo>
                <a:close/>
              </a:path>
            </a:pathLst>
          </a:custGeom>
          <a:noFill/>
          <a:ln w="29633" cap="rnd">
            <a:solidFill>
              <a:srgbClr val="FFFFFF"/>
            </a:solidFill>
            <a:round/>
          </a:ln>
        </p:spPr>
        <p:style>
          <a:lnRef idx="1">
            <a:schemeClr val="tx1"/>
          </a:lnRef>
          <a:fillRef idx="0">
            <a:schemeClr val="tx1"/>
          </a:fillRef>
          <a:effectRef idx="0">
            <a:schemeClr val="tx1"/>
          </a:effectRef>
          <a:fontRef idx="minor">
            <a:schemeClr val="tx1"/>
          </a:fontRef>
        </p:style>
      </p:sp>
      <p:sp>
        <p:nvSpPr>
          <p:cNvPr id="272" name="Rectangle 8"/>
          <p:cNvSpPr/>
          <p:nvPr/>
        </p:nvSpPr>
        <p:spPr>
          <a:xfrm>
            <a:off x="1981200" y="2184400"/>
            <a:ext cx="38100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2200" b="1">
                <a:solidFill>
                  <a:srgbClr val="12384D"/>
                </a:solidFill>
              </a:rPr>
              <a:t>Company user</a:t>
            </a:r>
            <a:endParaRPr sz="2200" b="1">
              <a:solidFill>
                <a:srgbClr val="12384D"/>
              </a:solidFill>
            </a:endParaRPr>
          </a:p>
        </p:txBody>
      </p:sp>
      <p:sp>
        <p:nvSpPr>
          <p:cNvPr id="273" name="Rectangle 9"/>
          <p:cNvSpPr/>
          <p:nvPr/>
        </p:nvSpPr>
        <p:spPr>
          <a:xfrm>
            <a:off x="1066800" y="3048000"/>
            <a:ext cx="4699000" cy="152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500" b="0">
                <a:solidFill>
                  <a:srgbClr val="1E2B3C"/>
                </a:solidFill>
              </a:rPr>
              <a:t>Works for a partner dealer.</a:t>
            </a:r>
            <a:endParaRPr sz="1500" b="0">
              <a:solidFill>
                <a:srgbClr val="1E2B3C"/>
              </a:solidFill>
            </a:endParaRPr>
          </a:p>
          <a:p>
            <a:pPr algn="l"/>
            <a:r>
              <a:rPr sz="1500" b="0">
                <a:solidFill>
                  <a:srgbClr val="1E2B3C"/>
                </a:solidFill>
              </a:rPr>
              <a:t>Registers deals, answers DBGI's questions, and checks decisions and approved prices.</a:t>
            </a:r>
            <a:endParaRPr sz="1500" b="0">
              <a:solidFill>
                <a:srgbClr val="1E2B3C"/>
              </a:solidFill>
            </a:endParaRPr>
          </a:p>
        </p:txBody>
      </p:sp>
      <p:sp>
        <p:nvSpPr>
          <p:cNvPr id="274" name="Rectangle 10"/>
          <p:cNvSpPr/>
          <p:nvPr/>
        </p:nvSpPr>
        <p:spPr>
          <a:xfrm>
            <a:off x="1066800" y="4762500"/>
            <a:ext cx="4660900" cy="508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300" b="1">
                <a:solidFill>
                  <a:srgbClr val="12384D"/>
                </a:solidFill>
              </a:rPr>
              <a:t>Uses: Registrations, Notifications, Rankings, Help</a:t>
            </a:r>
            <a:endParaRPr sz="1300" b="1">
              <a:solidFill>
                <a:srgbClr val="12384D"/>
              </a:solidFill>
            </a:endParaRPr>
          </a:p>
        </p:txBody>
      </p:sp>
      <p:sp>
        <p:nvSpPr>
          <p:cNvPr id="275" name="Rectangle 11"/>
          <p:cNvSpPr/>
          <p:nvPr/>
        </p:nvSpPr>
        <p:spPr>
          <a:xfrm>
            <a:off x="6286500" y="1714500"/>
            <a:ext cx="5270500" cy="3810000"/>
          </a:xfrm>
          <a:prstGeom prst="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276" name="Rectangle 12"/>
          <p:cNvSpPr/>
          <p:nvPr/>
        </p:nvSpPr>
        <p:spPr>
          <a:xfrm>
            <a:off x="6286500" y="1714500"/>
            <a:ext cx="5270500" cy="101600"/>
          </a:xfrm>
          <a:prstGeom prst="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277" name="Oval 13"/>
          <p:cNvSpPr/>
          <p:nvPr/>
        </p:nvSpPr>
        <p:spPr>
          <a:xfrm>
            <a:off x="6591300" y="2095500"/>
            <a:ext cx="711200" cy="711200"/>
          </a:xfrm>
          <a:prstGeom prst="ellipse">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278" name="Building"/>
          <p:cNvSpPr/>
          <p:nvPr/>
        </p:nvSpPr>
        <p:spPr>
          <a:xfrm>
            <a:off x="6769100" y="2273300"/>
            <a:ext cx="355600" cy="355600"/>
          </a:xfrm>
          <a:custGeom>
            <a:avLst/>
            <a:gdLst/>
            <a:ahLst/>
            <a:cxnLst/>
            <a:rect l="l" t="t" r="r" b="b"/>
            <a:pathLst>
              <a:path w="100000" h="100000" fill="none">
                <a:moveTo>
                  <a:pt x="50000" y="41667"/>
                </a:moveTo>
                <a:lnTo>
                  <a:pt x="50042" y="41667"/>
                </a:lnTo>
                <a:moveTo>
                  <a:pt x="50000" y="58333"/>
                </a:moveTo>
                <a:lnTo>
                  <a:pt x="50042" y="58333"/>
                </a:lnTo>
                <a:moveTo>
                  <a:pt x="50000" y="25000"/>
                </a:moveTo>
                <a:lnTo>
                  <a:pt x="50042" y="25000"/>
                </a:lnTo>
                <a:moveTo>
                  <a:pt x="66667" y="41667"/>
                </a:moveTo>
                <a:lnTo>
                  <a:pt x="66708" y="41667"/>
                </a:lnTo>
                <a:moveTo>
                  <a:pt x="66667" y="58333"/>
                </a:moveTo>
                <a:lnTo>
                  <a:pt x="66708" y="58333"/>
                </a:lnTo>
                <a:moveTo>
                  <a:pt x="66667" y="25000"/>
                </a:moveTo>
                <a:lnTo>
                  <a:pt x="66708" y="25000"/>
                </a:lnTo>
                <a:moveTo>
                  <a:pt x="33333" y="41667"/>
                </a:moveTo>
                <a:lnTo>
                  <a:pt x="33375" y="41667"/>
                </a:lnTo>
                <a:moveTo>
                  <a:pt x="33333" y="58333"/>
                </a:moveTo>
                <a:lnTo>
                  <a:pt x="33375" y="58333"/>
                </a:lnTo>
                <a:moveTo>
                  <a:pt x="33333" y="25000"/>
                </a:moveTo>
                <a:lnTo>
                  <a:pt x="33375" y="25000"/>
                </a:lnTo>
                <a:moveTo>
                  <a:pt x="37500" y="91667"/>
                </a:moveTo>
                <a:lnTo>
                  <a:pt x="37500" y="79167"/>
                </a:lnTo>
                <a:cubicBezTo>
                  <a:pt x="37500" y="76865"/>
                  <a:pt x="39365" y="75000"/>
                  <a:pt x="41667" y="75000"/>
                </a:cubicBezTo>
                <a:lnTo>
                  <a:pt x="58333" y="75000"/>
                </a:lnTo>
                <a:cubicBezTo>
                  <a:pt x="60635" y="75000"/>
                  <a:pt x="62500" y="76865"/>
                  <a:pt x="62500" y="79167"/>
                </a:cubicBezTo>
                <a:lnTo>
                  <a:pt x="62500" y="91667"/>
                </a:lnTo>
                <a:moveTo>
                  <a:pt x="25000" y="8333"/>
                </a:moveTo>
                <a:lnTo>
                  <a:pt x="75000" y="8333"/>
                </a:lnTo>
                <a:cubicBezTo>
                  <a:pt x="79603" y="8333"/>
                  <a:pt x="83333" y="12064"/>
                  <a:pt x="83333" y="16667"/>
                </a:cubicBezTo>
                <a:lnTo>
                  <a:pt x="83333" y="83333"/>
                </a:lnTo>
                <a:cubicBezTo>
                  <a:pt x="83333" y="87936"/>
                  <a:pt x="79603" y="91667"/>
                  <a:pt x="75000" y="91667"/>
                </a:cubicBezTo>
                <a:lnTo>
                  <a:pt x="25000" y="91667"/>
                </a:lnTo>
                <a:cubicBezTo>
                  <a:pt x="20398" y="91667"/>
                  <a:pt x="16667" y="87936"/>
                  <a:pt x="16667" y="83333"/>
                </a:cubicBezTo>
                <a:lnTo>
                  <a:pt x="16667" y="16667"/>
                </a:lnTo>
                <a:cubicBezTo>
                  <a:pt x="16667" y="12064"/>
                  <a:pt x="20398" y="8333"/>
                  <a:pt x="25000" y="8333"/>
                </a:cubicBezTo>
                <a:close/>
              </a:path>
            </a:pathLst>
          </a:custGeom>
          <a:noFill/>
          <a:ln w="29633" cap="rnd">
            <a:solidFill>
              <a:srgbClr val="FFFFFF"/>
            </a:solidFill>
            <a:round/>
          </a:ln>
        </p:spPr>
        <p:style>
          <a:lnRef idx="1">
            <a:schemeClr val="tx1"/>
          </a:lnRef>
          <a:fillRef idx="0">
            <a:schemeClr val="tx1"/>
          </a:fillRef>
          <a:effectRef idx="0">
            <a:schemeClr val="tx1"/>
          </a:effectRef>
          <a:fontRef idx="minor">
            <a:schemeClr val="tx1"/>
          </a:fontRef>
        </p:style>
      </p:sp>
      <p:sp>
        <p:nvSpPr>
          <p:cNvPr id="279" name="Rectangle 15"/>
          <p:cNvSpPr/>
          <p:nvPr/>
        </p:nvSpPr>
        <p:spPr>
          <a:xfrm>
            <a:off x="7505700" y="2184400"/>
            <a:ext cx="38100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2200" b="1">
                <a:solidFill>
                  <a:srgbClr val="12384D"/>
                </a:solidFill>
              </a:rPr>
              <a:t>DBGI administrator</a:t>
            </a:r>
            <a:endParaRPr sz="2200" b="1">
              <a:solidFill>
                <a:srgbClr val="12384D"/>
              </a:solidFill>
            </a:endParaRPr>
          </a:p>
        </p:txBody>
      </p:sp>
      <p:sp>
        <p:nvSpPr>
          <p:cNvPr id="280" name="Rectangle 16"/>
          <p:cNvSpPr/>
          <p:nvPr/>
        </p:nvSpPr>
        <p:spPr>
          <a:xfrm>
            <a:off x="6591300" y="3048000"/>
            <a:ext cx="4699000" cy="152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500" b="0">
                <a:solidFill>
                  <a:srgbClr val="1E2B3C"/>
                </a:solidFill>
              </a:rPr>
              <a:t>Works for DBGI.</a:t>
            </a:r>
            <a:endParaRPr sz="1500" b="0">
              <a:solidFill>
                <a:srgbClr val="1E2B3C"/>
              </a:solidFill>
            </a:endParaRPr>
          </a:p>
          <a:p>
            <a:pPr algn="l"/>
            <a:r>
              <a:rPr sz="1500" b="0">
                <a:solidFill>
                  <a:srgbClr val="1E2B3C"/>
                </a:solidFill>
              </a:rPr>
              <a:t>Reviews every registration, decides matches and prices, and keeps master data clean.</a:t>
            </a:r>
            <a:endParaRPr sz="1500" b="0">
              <a:solidFill>
                <a:srgbClr val="1E2B3C"/>
              </a:solidFill>
            </a:endParaRPr>
          </a:p>
        </p:txBody>
      </p:sp>
      <p:sp>
        <p:nvSpPr>
          <p:cNvPr id="281" name="Rectangle 17"/>
          <p:cNvSpPr/>
          <p:nvPr/>
        </p:nvSpPr>
        <p:spPr>
          <a:xfrm>
            <a:off x="6591300" y="4762500"/>
            <a:ext cx="4660900" cy="508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300" b="1">
                <a:solidFill>
                  <a:srgbClr val="12384D"/>
                </a:solidFill>
              </a:rPr>
              <a:t>Uses: Registration pages and the Administration area</a:t>
            </a:r>
            <a:endParaRPr sz="1300" b="1">
              <a:solidFill>
                <a:srgbClr val="12384D"/>
              </a:solidFill>
            </a:endParaRPr>
          </a:p>
        </p:txBody>
      </p:sp>
      <p:sp>
        <p:nvSpPr>
          <p:cNvPr id="282" name="Rectangle 18"/>
          <p:cNvSpPr/>
          <p:nvPr/>
        </p:nvSpPr>
        <p:spPr>
          <a:xfrm>
            <a:off x="762000" y="5778500"/>
            <a:ext cx="10795000" cy="5842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12384D"/>
                </a:solidFill>
              </a:rPr>
              <a:t>Every slide that follows shows a chip in the top-right corner saying who does that step.</a:t>
            </a:r>
            <a:endParaRPr sz="1300" b="0">
              <a:solidFill>
                <a:srgbClr val="12384D"/>
              </a:solidFill>
            </a:endParaRPr>
          </a:p>
        </p:txBody>
      </p:sp>
      <p:sp>
        <p:nvSpPr>
          <p:cNvPr id="283" name="Info"/>
          <p:cNvSpPr/>
          <p:nvPr/>
        </p:nvSpPr>
        <p:spPr>
          <a:xfrm>
            <a:off x="914400" y="5930900"/>
            <a:ext cx="279400" cy="2794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50000" y="66667"/>
                </a:moveTo>
                <a:lnTo>
                  <a:pt x="50000" y="50000"/>
                </a:lnTo>
                <a:moveTo>
                  <a:pt x="50000" y="33333"/>
                </a:moveTo>
                <a:lnTo>
                  <a:pt x="50042" y="333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054" name="Slide Number Placeholder"/>
          <p:cNvSpPr>
            <a:spLocks noGrp="1"/>
          </p:cNvSpPr>
          <p:nvPr>
            <p:ph type="sldNum" idx="12"/>
          </p:nvPr>
        </p:nvSpPr>
        <p:spPr/>
        <p:txBody>
          <a:bodyPr/>
          <a:lstStyle/>
          <a:p>
            <a:fld id="{00266782-2A85-475A-865E-BAD95958CDD5}" type="slidenum">
              <a:rPr/>
              <a:t>‹#›</a:t>
            </a:fl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5"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286" name="Rectangle 2"/>
          <p:cNvSpPr/>
          <p:nvPr/>
        </p:nvSpPr>
        <p:spPr>
          <a:xfrm>
            <a:off x="711200" y="533400"/>
            <a:ext cx="10795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The journey we will follow</a:t>
            </a:r>
            <a:endParaRPr sz="2600" b="1">
              <a:solidFill>
                <a:srgbClr val="12384D"/>
              </a:solidFill>
            </a:endParaRPr>
          </a:p>
        </p:txBody>
      </p:sp>
      <p:sp>
        <p:nvSpPr>
          <p:cNvPr id="287"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A real registration, DBGI-000012, created in the portal's test environment</a:t>
            </a:r>
            <a:endParaRPr sz="1400" b="0">
              <a:solidFill>
                <a:srgbClr val="5B6B7A"/>
              </a:solidFill>
            </a:endParaRPr>
          </a:p>
        </p:txBody>
      </p:sp>
      <p:sp>
        <p:nvSpPr>
          <p:cNvPr id="288" name="Rectangle 4"/>
          <p:cNvSpPr/>
          <p:nvPr/>
        </p:nvSpPr>
        <p:spPr>
          <a:xfrm>
            <a:off x="762000" y="1625600"/>
            <a:ext cx="3810000" cy="4191000"/>
          </a:xfrm>
          <a:prstGeom prst="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289" name="Rectangle 5"/>
          <p:cNvSpPr/>
          <p:nvPr/>
        </p:nvSpPr>
        <p:spPr>
          <a:xfrm>
            <a:off x="965200" y="1752600"/>
            <a:ext cx="3429000" cy="33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600" b="1">
                <a:solidFill>
                  <a:srgbClr val="12384D"/>
                </a:solidFill>
              </a:rPr>
              <a:t>The example deal</a:t>
            </a:r>
            <a:endParaRPr sz="1600" b="1">
              <a:solidFill>
                <a:srgbClr val="12384D"/>
              </a:solidFill>
            </a:endParaRPr>
          </a:p>
        </p:txBody>
      </p:sp>
      <p:sp>
        <p:nvSpPr>
          <p:cNvPr id="290" name="Rectangle 6"/>
          <p:cNvSpPr/>
          <p:nvPr/>
        </p:nvSpPr>
        <p:spPr>
          <a:xfrm>
            <a:off x="965200" y="2133600"/>
            <a:ext cx="3454400" cy="3683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E2B3C"/>
                </a:solidFill>
              </a:rPr>
              <a:t>Dealer: DEMO ONLY - Sample Partner (a demo company)</a:t>
            </a:r>
            <a:endParaRPr sz="1300" b="0">
              <a:solidFill>
                <a:srgbClr val="1E2B3C"/>
              </a:solidFill>
            </a:endParaRPr>
          </a:p>
          <a:p>
            <a:pPr algn="l"/>
            <a:endParaRPr sz="1300" b="0">
              <a:solidFill>
                <a:srgbClr val="1E2B3C"/>
              </a:solidFill>
            </a:endParaRPr>
          </a:p>
          <a:p>
            <a:pPr algn="l"/>
            <a:r>
              <a:rPr sz="1300" b="0">
                <a:solidFill>
                  <a:srgbClr val="1E2B3C"/>
                </a:solidFill>
              </a:rPr>
              <a:t>Buyer (End-user): Pasig City Schools Division Office</a:t>
            </a:r>
            <a:endParaRPr sz="1300" b="0">
              <a:solidFill>
                <a:srgbClr val="1E2B3C"/>
              </a:solidFill>
            </a:endParaRPr>
          </a:p>
          <a:p>
            <a:pPr algn="l"/>
            <a:endParaRPr sz="1300" b="0">
              <a:solidFill>
                <a:srgbClr val="1E2B3C"/>
              </a:solidFill>
            </a:endParaRPr>
          </a:p>
          <a:p>
            <a:pPr algn="l"/>
            <a:r>
              <a:rPr sz="1300" b="0">
                <a:solidFill>
                  <a:srgbClr val="1E2B3C"/>
                </a:solidFill>
              </a:rPr>
              <a:t>Needs: 20 laser printers, model M1820W</a:t>
            </a:r>
            <a:endParaRPr sz="1300" b="0">
              <a:solidFill>
                <a:srgbClr val="1E2B3C"/>
              </a:solidFill>
            </a:endParaRPr>
          </a:p>
          <a:p>
            <a:pPr algn="l"/>
            <a:r>
              <a:rPr sz="1300" b="0">
                <a:solidFill>
                  <a:srgbClr val="1E2B3C"/>
                </a:solidFill>
              </a:rPr>
              <a:t>List price: PHP 10,000 each</a:t>
            </a:r>
            <a:endParaRPr sz="1300" b="0">
              <a:solidFill>
                <a:srgbClr val="1E2B3C"/>
              </a:solidFill>
            </a:endParaRPr>
          </a:p>
          <a:p>
            <a:pPr algn="l"/>
            <a:endParaRPr sz="1300" b="0">
              <a:solidFill>
                <a:srgbClr val="1E2B3C"/>
              </a:solidFill>
            </a:endParaRPr>
          </a:p>
          <a:p>
            <a:pPr algn="l"/>
            <a:r>
              <a:rPr sz="1300" b="0">
                <a:solidFill>
                  <a:srgbClr val="1E2B3C"/>
                </a:solidFill>
              </a:rPr>
              <a:t>Competitor: Canon at PHP 9,300</a:t>
            </a:r>
            <a:endParaRPr sz="1300" b="0">
              <a:solidFill>
                <a:srgbClr val="1E2B3C"/>
              </a:solidFill>
            </a:endParaRPr>
          </a:p>
          <a:p>
            <a:pPr algn="l"/>
            <a:endParaRPr sz="1300" b="0">
              <a:solidFill>
                <a:srgbClr val="1E2B3C"/>
              </a:solidFill>
            </a:endParaRPr>
          </a:p>
          <a:p>
            <a:pPr algn="l"/>
            <a:r>
              <a:rPr sz="1300" b="0">
                <a:solidFill>
                  <a:srgbClr val="1E2B3C"/>
                </a:solidFill>
              </a:rPr>
              <a:t>Dealer asks DBGI for: PHP 9,000</a:t>
            </a:r>
            <a:endParaRPr sz="1300" b="0">
              <a:solidFill>
                <a:srgbClr val="1E2B3C"/>
              </a:solidFill>
            </a:endParaRPr>
          </a:p>
        </p:txBody>
      </p:sp>
      <p:sp>
        <p:nvSpPr>
          <p:cNvPr id="291" name="Oval 7"/>
          <p:cNvSpPr/>
          <p:nvPr/>
        </p:nvSpPr>
        <p:spPr>
          <a:xfrm>
            <a:off x="4889500" y="1625600"/>
            <a:ext cx="431800" cy="431800"/>
          </a:xfrm>
          <a:prstGeom prst="ellipse">
            <a:avLst/>
          </a:prstGeom>
          <a:solidFill>
            <a:srgbClr val="5B6B7A"/>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1</a:t>
            </a:r>
            <a:endParaRPr sz="1400" b="1">
              <a:solidFill>
                <a:srgbClr val="FFFFFF"/>
              </a:solidFill>
            </a:endParaRPr>
          </a:p>
        </p:txBody>
      </p:sp>
      <p:sp>
        <p:nvSpPr>
          <p:cNvPr id="292" name="Rectangle 8"/>
          <p:cNvSpPr/>
          <p:nvPr/>
        </p:nvSpPr>
        <p:spPr>
          <a:xfrm>
            <a:off x="5435600" y="1625600"/>
            <a:ext cx="3937000" cy="431800"/>
          </a:xfrm>
          <a:prstGeom prst="round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300" b="0">
                <a:solidFill>
                  <a:srgbClr val="1E2B3C"/>
                </a:solidFill>
              </a:rPr>
              <a:t>Sign in</a:t>
            </a:r>
            <a:endParaRPr sz="1300" b="0">
              <a:solidFill>
                <a:srgbClr val="1E2B3C"/>
              </a:solidFill>
            </a:endParaRPr>
          </a:p>
        </p:txBody>
      </p:sp>
      <p:sp>
        <p:nvSpPr>
          <p:cNvPr id="293" name="Rectangle 9"/>
          <p:cNvSpPr/>
          <p:nvPr/>
        </p:nvSpPr>
        <p:spPr>
          <a:xfrm>
            <a:off x="9474200" y="1625600"/>
            <a:ext cx="2159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200" b="1">
                <a:solidFill>
                  <a:srgbClr val="5B6B7A"/>
                </a:solidFill>
              </a:rPr>
              <a:t>Both</a:t>
            </a:r>
            <a:endParaRPr sz="1200" b="1">
              <a:solidFill>
                <a:srgbClr val="5B6B7A"/>
              </a:solidFill>
            </a:endParaRPr>
          </a:p>
        </p:txBody>
      </p:sp>
      <p:sp>
        <p:nvSpPr>
          <p:cNvPr id="294" name="Oval 10"/>
          <p:cNvSpPr/>
          <p:nvPr/>
        </p:nvSpPr>
        <p:spPr>
          <a:xfrm>
            <a:off x="4889500" y="2159000"/>
            <a:ext cx="431800" cy="4318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2</a:t>
            </a:r>
            <a:endParaRPr sz="1400" b="1">
              <a:solidFill>
                <a:srgbClr val="FFFFFF"/>
              </a:solidFill>
            </a:endParaRPr>
          </a:p>
        </p:txBody>
      </p:sp>
      <p:sp>
        <p:nvSpPr>
          <p:cNvPr id="295" name="Rectangle 11"/>
          <p:cNvSpPr/>
          <p:nvPr/>
        </p:nvSpPr>
        <p:spPr>
          <a:xfrm>
            <a:off x="5435600" y="2159000"/>
            <a:ext cx="3937000" cy="431800"/>
          </a:xfrm>
          <a:prstGeom prst="round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300" b="0">
                <a:solidFill>
                  <a:srgbClr val="1E2B3C"/>
                </a:solidFill>
              </a:rPr>
              <a:t>Create and submit the registration</a:t>
            </a:r>
            <a:endParaRPr sz="1300" b="0">
              <a:solidFill>
                <a:srgbClr val="1E2B3C"/>
              </a:solidFill>
            </a:endParaRPr>
          </a:p>
        </p:txBody>
      </p:sp>
      <p:sp>
        <p:nvSpPr>
          <p:cNvPr id="296" name="Rectangle 12"/>
          <p:cNvSpPr/>
          <p:nvPr/>
        </p:nvSpPr>
        <p:spPr>
          <a:xfrm>
            <a:off x="9474200" y="2159000"/>
            <a:ext cx="2159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200" b="1">
                <a:solidFill>
                  <a:srgbClr val="1B7FA6"/>
                </a:solidFill>
              </a:rPr>
              <a:t>Company user</a:t>
            </a:r>
            <a:endParaRPr sz="1200" b="1">
              <a:solidFill>
                <a:srgbClr val="1B7FA6"/>
              </a:solidFill>
            </a:endParaRPr>
          </a:p>
        </p:txBody>
      </p:sp>
      <p:sp>
        <p:nvSpPr>
          <p:cNvPr id="297" name="Oval 13"/>
          <p:cNvSpPr/>
          <p:nvPr/>
        </p:nvSpPr>
        <p:spPr>
          <a:xfrm>
            <a:off x="4889500" y="2692400"/>
            <a:ext cx="431800" cy="431800"/>
          </a:xfrm>
          <a:prstGeom prst="ellipse">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3</a:t>
            </a:r>
            <a:endParaRPr sz="1400" b="1">
              <a:solidFill>
                <a:srgbClr val="FFFFFF"/>
              </a:solidFill>
            </a:endParaRPr>
          </a:p>
        </p:txBody>
      </p:sp>
      <p:sp>
        <p:nvSpPr>
          <p:cNvPr id="298" name="Rectangle 14"/>
          <p:cNvSpPr/>
          <p:nvPr/>
        </p:nvSpPr>
        <p:spPr>
          <a:xfrm>
            <a:off x="5435600" y="2692400"/>
            <a:ext cx="3937000" cy="431800"/>
          </a:xfrm>
          <a:prstGeom prst="round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300" b="0">
                <a:solidFill>
                  <a:srgbClr val="1E2B3C"/>
                </a:solidFill>
              </a:rPr>
              <a:t>Review it and ask for a correction</a:t>
            </a:r>
            <a:endParaRPr sz="1300" b="0">
              <a:solidFill>
                <a:srgbClr val="1E2B3C"/>
              </a:solidFill>
            </a:endParaRPr>
          </a:p>
        </p:txBody>
      </p:sp>
      <p:sp>
        <p:nvSpPr>
          <p:cNvPr id="299" name="Rectangle 15"/>
          <p:cNvSpPr/>
          <p:nvPr/>
        </p:nvSpPr>
        <p:spPr>
          <a:xfrm>
            <a:off x="9474200" y="2692400"/>
            <a:ext cx="2159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200" b="1">
                <a:solidFill>
                  <a:srgbClr val="12384D"/>
                </a:solidFill>
              </a:rPr>
              <a:t>DBGI administrator</a:t>
            </a:r>
            <a:endParaRPr sz="1200" b="1">
              <a:solidFill>
                <a:srgbClr val="12384D"/>
              </a:solidFill>
            </a:endParaRPr>
          </a:p>
        </p:txBody>
      </p:sp>
      <p:sp>
        <p:nvSpPr>
          <p:cNvPr id="300" name="Oval 16"/>
          <p:cNvSpPr/>
          <p:nvPr/>
        </p:nvSpPr>
        <p:spPr>
          <a:xfrm>
            <a:off x="4889500" y="3225800"/>
            <a:ext cx="431800" cy="4318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4</a:t>
            </a:r>
            <a:endParaRPr sz="1400" b="1">
              <a:solidFill>
                <a:srgbClr val="FFFFFF"/>
              </a:solidFill>
            </a:endParaRPr>
          </a:p>
        </p:txBody>
      </p:sp>
      <p:sp>
        <p:nvSpPr>
          <p:cNvPr id="301" name="Rectangle 17"/>
          <p:cNvSpPr/>
          <p:nvPr/>
        </p:nvSpPr>
        <p:spPr>
          <a:xfrm>
            <a:off x="5435600" y="3225800"/>
            <a:ext cx="3937000" cy="431800"/>
          </a:xfrm>
          <a:prstGeom prst="round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300" b="0">
                <a:solidFill>
                  <a:srgbClr val="1E2B3C"/>
                </a:solidFill>
              </a:rPr>
              <a:t>Correct it and resubmit</a:t>
            </a:r>
            <a:endParaRPr sz="1300" b="0">
              <a:solidFill>
                <a:srgbClr val="1E2B3C"/>
              </a:solidFill>
            </a:endParaRPr>
          </a:p>
        </p:txBody>
      </p:sp>
      <p:sp>
        <p:nvSpPr>
          <p:cNvPr id="302" name="Rectangle 18"/>
          <p:cNvSpPr/>
          <p:nvPr/>
        </p:nvSpPr>
        <p:spPr>
          <a:xfrm>
            <a:off x="9474200" y="3225800"/>
            <a:ext cx="2159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200" b="1">
                <a:solidFill>
                  <a:srgbClr val="1B7FA6"/>
                </a:solidFill>
              </a:rPr>
              <a:t>Company user</a:t>
            </a:r>
            <a:endParaRPr sz="1200" b="1">
              <a:solidFill>
                <a:srgbClr val="1B7FA6"/>
              </a:solidFill>
            </a:endParaRPr>
          </a:p>
        </p:txBody>
      </p:sp>
      <p:sp>
        <p:nvSpPr>
          <p:cNvPr id="303" name="Oval 19"/>
          <p:cNvSpPr/>
          <p:nvPr/>
        </p:nvSpPr>
        <p:spPr>
          <a:xfrm>
            <a:off x="4889500" y="3759200"/>
            <a:ext cx="431800" cy="431800"/>
          </a:xfrm>
          <a:prstGeom prst="ellipse">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5</a:t>
            </a:r>
            <a:endParaRPr sz="1400" b="1">
              <a:solidFill>
                <a:srgbClr val="FFFFFF"/>
              </a:solidFill>
            </a:endParaRPr>
          </a:p>
        </p:txBody>
      </p:sp>
      <p:sp>
        <p:nvSpPr>
          <p:cNvPr id="304" name="Rectangle 20"/>
          <p:cNvSpPr/>
          <p:nvPr/>
        </p:nvSpPr>
        <p:spPr>
          <a:xfrm>
            <a:off x="5435600" y="3759200"/>
            <a:ext cx="3937000" cy="431800"/>
          </a:xfrm>
          <a:prstGeom prst="round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300" b="0">
                <a:solidFill>
                  <a:srgbClr val="1E2B3C"/>
                </a:solidFill>
              </a:rPr>
              <a:t>Confirm the registration</a:t>
            </a:r>
            <a:endParaRPr sz="1300" b="0">
              <a:solidFill>
                <a:srgbClr val="1E2B3C"/>
              </a:solidFill>
            </a:endParaRPr>
          </a:p>
        </p:txBody>
      </p:sp>
      <p:sp>
        <p:nvSpPr>
          <p:cNvPr id="305" name="Rectangle 21"/>
          <p:cNvSpPr/>
          <p:nvPr/>
        </p:nvSpPr>
        <p:spPr>
          <a:xfrm>
            <a:off x="9474200" y="3759200"/>
            <a:ext cx="2159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200" b="1">
                <a:solidFill>
                  <a:srgbClr val="12384D"/>
                </a:solidFill>
              </a:rPr>
              <a:t>DBGI administrator</a:t>
            </a:r>
            <a:endParaRPr sz="1200" b="1">
              <a:solidFill>
                <a:srgbClr val="12384D"/>
              </a:solidFill>
            </a:endParaRPr>
          </a:p>
        </p:txBody>
      </p:sp>
      <p:sp>
        <p:nvSpPr>
          <p:cNvPr id="306" name="Oval 22"/>
          <p:cNvSpPr/>
          <p:nvPr/>
        </p:nvSpPr>
        <p:spPr>
          <a:xfrm>
            <a:off x="4889500" y="4292600"/>
            <a:ext cx="431800" cy="431800"/>
          </a:xfrm>
          <a:prstGeom prst="ellipse">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6</a:t>
            </a:r>
            <a:endParaRPr sz="1400" b="1">
              <a:solidFill>
                <a:srgbClr val="FFFFFF"/>
              </a:solidFill>
            </a:endParaRPr>
          </a:p>
        </p:txBody>
      </p:sp>
      <p:sp>
        <p:nvSpPr>
          <p:cNvPr id="307" name="Rectangle 23"/>
          <p:cNvSpPr/>
          <p:nvPr/>
        </p:nvSpPr>
        <p:spPr>
          <a:xfrm>
            <a:off x="5435600" y="4292600"/>
            <a:ext cx="3937000" cy="431800"/>
          </a:xfrm>
          <a:prstGeom prst="round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300" b="0">
                <a:solidFill>
                  <a:srgbClr val="1E2B3C"/>
                </a:solidFill>
              </a:rPr>
              <a:t>Approve the price</a:t>
            </a:r>
            <a:endParaRPr sz="1300" b="0">
              <a:solidFill>
                <a:srgbClr val="1E2B3C"/>
              </a:solidFill>
            </a:endParaRPr>
          </a:p>
        </p:txBody>
      </p:sp>
      <p:sp>
        <p:nvSpPr>
          <p:cNvPr id="308" name="Rectangle 24"/>
          <p:cNvSpPr/>
          <p:nvPr/>
        </p:nvSpPr>
        <p:spPr>
          <a:xfrm>
            <a:off x="9474200" y="4292600"/>
            <a:ext cx="2159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200" b="1">
                <a:solidFill>
                  <a:srgbClr val="12384D"/>
                </a:solidFill>
              </a:rPr>
              <a:t>DBGI administrator</a:t>
            </a:r>
            <a:endParaRPr sz="1200" b="1">
              <a:solidFill>
                <a:srgbClr val="12384D"/>
              </a:solidFill>
            </a:endParaRPr>
          </a:p>
        </p:txBody>
      </p:sp>
      <p:sp>
        <p:nvSpPr>
          <p:cNvPr id="309" name="Oval 25"/>
          <p:cNvSpPr/>
          <p:nvPr/>
        </p:nvSpPr>
        <p:spPr>
          <a:xfrm>
            <a:off x="4889500" y="4826000"/>
            <a:ext cx="431800" cy="4318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7</a:t>
            </a:r>
            <a:endParaRPr sz="1400" b="1">
              <a:solidFill>
                <a:srgbClr val="FFFFFF"/>
              </a:solidFill>
            </a:endParaRPr>
          </a:p>
        </p:txBody>
      </p:sp>
      <p:sp>
        <p:nvSpPr>
          <p:cNvPr id="310" name="Rectangle 26"/>
          <p:cNvSpPr/>
          <p:nvPr/>
        </p:nvSpPr>
        <p:spPr>
          <a:xfrm>
            <a:off x="5435600" y="4826000"/>
            <a:ext cx="3937000" cy="431800"/>
          </a:xfrm>
          <a:prstGeom prst="round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300" b="0">
                <a:solidFill>
                  <a:srgbClr val="1E2B3C"/>
                </a:solidFill>
              </a:rPr>
              <a:t>See the decision and approved price</a:t>
            </a:r>
            <a:endParaRPr sz="1300" b="0">
              <a:solidFill>
                <a:srgbClr val="1E2B3C"/>
              </a:solidFill>
            </a:endParaRPr>
          </a:p>
        </p:txBody>
      </p:sp>
      <p:sp>
        <p:nvSpPr>
          <p:cNvPr id="311" name="Rectangle 27"/>
          <p:cNvSpPr/>
          <p:nvPr/>
        </p:nvSpPr>
        <p:spPr>
          <a:xfrm>
            <a:off x="9474200" y="4826000"/>
            <a:ext cx="2159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200" b="1">
                <a:solidFill>
                  <a:srgbClr val="1B7FA6"/>
                </a:solidFill>
              </a:rPr>
              <a:t>Company user</a:t>
            </a:r>
            <a:endParaRPr sz="1200" b="1">
              <a:solidFill>
                <a:srgbClr val="1B7FA6"/>
              </a:solidFill>
            </a:endParaRPr>
          </a:p>
        </p:txBody>
      </p:sp>
      <p:sp>
        <p:nvSpPr>
          <p:cNvPr id="312" name="Oval 28"/>
          <p:cNvSpPr/>
          <p:nvPr/>
        </p:nvSpPr>
        <p:spPr>
          <a:xfrm>
            <a:off x="4889500" y="5359400"/>
            <a:ext cx="431800" cy="4318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8</a:t>
            </a:r>
            <a:endParaRPr sz="1400" b="1">
              <a:solidFill>
                <a:srgbClr val="FFFFFF"/>
              </a:solidFill>
            </a:endParaRPr>
          </a:p>
        </p:txBody>
      </p:sp>
      <p:sp>
        <p:nvSpPr>
          <p:cNvPr id="313" name="Rectangle 29"/>
          <p:cNvSpPr/>
          <p:nvPr/>
        </p:nvSpPr>
        <p:spPr>
          <a:xfrm>
            <a:off x="5435600" y="5359400"/>
            <a:ext cx="3937000" cy="431800"/>
          </a:xfrm>
          <a:prstGeom prst="round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300" b="0">
                <a:solidFill>
                  <a:srgbClr val="1E2B3C"/>
                </a:solidFill>
              </a:rPr>
              <a:t>Check the ranking</a:t>
            </a:r>
            <a:endParaRPr sz="1300" b="0">
              <a:solidFill>
                <a:srgbClr val="1E2B3C"/>
              </a:solidFill>
            </a:endParaRPr>
          </a:p>
        </p:txBody>
      </p:sp>
      <p:sp>
        <p:nvSpPr>
          <p:cNvPr id="314" name="Rectangle 30"/>
          <p:cNvSpPr/>
          <p:nvPr/>
        </p:nvSpPr>
        <p:spPr>
          <a:xfrm>
            <a:off x="9474200" y="5359400"/>
            <a:ext cx="2159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200" b="1">
                <a:solidFill>
                  <a:srgbClr val="1B7FA6"/>
                </a:solidFill>
              </a:rPr>
              <a:t>Company user</a:t>
            </a:r>
            <a:endParaRPr sz="1200" b="1">
              <a:solidFill>
                <a:srgbClr val="1B7FA6"/>
              </a:solidFill>
            </a:endParaRPr>
          </a:p>
        </p:txBody>
      </p:sp>
      <p:sp>
        <p:nvSpPr>
          <p:cNvPr id="315" name="Rectangle 31"/>
          <p:cNvSpPr/>
          <p:nvPr/>
        </p:nvSpPr>
        <p:spPr>
          <a:xfrm>
            <a:off x="762000" y="5994400"/>
            <a:ext cx="10795000" cy="508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12384D"/>
                </a:solidFill>
              </a:rPr>
              <a:t>Steps 3 and 4 are optional in real life: they only happen when DBGI needs more information.</a:t>
            </a:r>
            <a:endParaRPr sz="1300" b="0">
              <a:solidFill>
                <a:srgbClr val="12384D"/>
              </a:solidFill>
            </a:endParaRPr>
          </a:p>
        </p:txBody>
      </p:sp>
      <p:sp>
        <p:nvSpPr>
          <p:cNvPr id="316" name="Info"/>
          <p:cNvSpPr/>
          <p:nvPr/>
        </p:nvSpPr>
        <p:spPr>
          <a:xfrm>
            <a:off x="914400" y="6108700"/>
            <a:ext cx="279400" cy="2794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50000" y="66667"/>
                </a:moveTo>
                <a:lnTo>
                  <a:pt x="50000" y="50000"/>
                </a:lnTo>
                <a:moveTo>
                  <a:pt x="50000" y="33333"/>
                </a:moveTo>
                <a:lnTo>
                  <a:pt x="50042" y="333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057" name="Slide Number Placeholder"/>
          <p:cNvSpPr>
            <a:spLocks noGrp="1"/>
          </p:cNvSpPr>
          <p:nvPr>
            <p:ph type="sldNum" idx="12"/>
          </p:nvPr>
        </p:nvSpPr>
        <p:spPr/>
        <p:txBody>
          <a:bodyPr/>
          <a:lstStyle/>
          <a:p>
            <a:fld id="{10D219E0-3C5E-43C7-87F2-6F36B66D5D50}" type="slidenum">
              <a:rPr/>
              <a:t>‹#›</a:t>
            </a:fld>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319"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Sign in and find your way</a:t>
            </a:r>
            <a:endParaRPr sz="2600" b="1">
              <a:solidFill>
                <a:srgbClr val="12384D"/>
              </a:solidFill>
            </a:endParaRPr>
          </a:p>
        </p:txBody>
      </p:sp>
      <p:sp>
        <p:nvSpPr>
          <p:cNvPr id="320"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The registrations list is your home page</a:t>
            </a:r>
            <a:endParaRPr sz="1400" b="0">
              <a:solidFill>
                <a:srgbClr val="5B6B7A"/>
              </a:solidFill>
            </a:endParaRPr>
          </a:p>
        </p:txBody>
      </p:sp>
      <p:sp>
        <p:nvSpPr>
          <p:cNvPr id="321" name="Rectangle 4"/>
          <p:cNvSpPr/>
          <p:nvPr/>
        </p:nvSpPr>
        <p:spPr>
          <a:xfrm>
            <a:off x="8763000" y="508000"/>
            <a:ext cx="2794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1  |  Both</a:t>
            </a:r>
            <a:endParaRPr sz="1200" b="1">
              <a:solidFill>
                <a:srgbClr val="FFFFFF"/>
              </a:solidFill>
            </a:endParaRPr>
          </a:p>
        </p:txBody>
      </p:sp>
      <p:pic>
        <p:nvPicPr>
          <p:cNvPr id="323" name="Picture 5" descr="login.png"/>
          <p:cNvPicPr>
            <a:picLocks noChangeAspect="1"/>
          </p:cNvPicPr>
          <p:nvPr/>
        </p:nvPicPr>
        <p:blipFill rotWithShape="1">
          <a:blip r:embed="rId2"/>
          <a:stretch>
            <a:fillRect/>
          </a:stretch>
        </p:blipFill>
        <p:spPr>
          <a:xfrm>
            <a:off x="762000" y="1651000"/>
            <a:ext cx="2921000" cy="2654300"/>
          </a:xfrm>
          <a:prstGeom prst="rect">
            <a:avLst/>
          </a:prstGeom>
          <a:ln w="12700">
            <a:solidFill>
              <a:srgbClr val="C9D6DE"/>
            </a:solidFill>
          </a:ln>
        </p:spPr>
      </p:pic>
      <p:pic>
        <p:nvPicPr>
          <p:cNvPr id="325" name="Picture 6" descr="list.png"/>
          <p:cNvPicPr>
            <a:picLocks noChangeAspect="1"/>
          </p:cNvPicPr>
          <p:nvPr/>
        </p:nvPicPr>
        <p:blipFill rotWithShape="1">
          <a:blip r:embed="rId3"/>
          <a:stretch>
            <a:fillRect/>
          </a:stretch>
        </p:blipFill>
        <p:spPr>
          <a:xfrm>
            <a:off x="3937000" y="1651000"/>
            <a:ext cx="7620000" cy="2540000"/>
          </a:xfrm>
          <a:prstGeom prst="rect">
            <a:avLst/>
          </a:prstGeom>
          <a:ln w="12700">
            <a:solidFill>
              <a:srgbClr val="C9D6DE"/>
            </a:solidFill>
          </a:ln>
        </p:spPr>
      </p:pic>
      <p:sp>
        <p:nvSpPr>
          <p:cNvPr id="326" name="Rectangle 7"/>
          <p:cNvSpPr/>
          <p:nvPr/>
        </p:nvSpPr>
        <p:spPr>
          <a:xfrm>
            <a:off x="762000" y="4699000"/>
            <a:ext cx="10795000" cy="177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Sign in with the username and password DBGI gave you. Test environments also show one-click test accounts.</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The top menu has Rankings, Notifications, Help, and Log out. DBGI administrators also see Administration.</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Company users start a deal with NEW REGISTRATION. Each row in the table is one registration; click its reference to open it.</a:t>
            </a:r>
            <a:endParaRPr sz="1300" b="0">
              <a:solidFill>
                <a:srgbClr val="1E2B3C"/>
              </a:solidFill>
            </a:endParaRPr>
          </a:p>
        </p:txBody>
      </p:sp>
      <p:sp>
        <p:nvSpPr>
          <p:cNvPr id="1060" name="Slide Number Placeholder"/>
          <p:cNvSpPr>
            <a:spLocks noGrp="1"/>
          </p:cNvSpPr>
          <p:nvPr>
            <p:ph type="sldNum" idx="12"/>
          </p:nvPr>
        </p:nvSpPr>
        <p:spPr/>
        <p:txBody>
          <a:bodyPr/>
          <a:lstStyle/>
          <a:p>
            <a:fld id="{9D1DB54B-4FC6-4944-8106-E43DA6D7893B}" type="slidenum">
              <a:rPr/>
              <a:t>‹#›</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329" name="Rectangle 2"/>
          <p:cNvSpPr/>
          <p:nvPr/>
        </p:nvSpPr>
        <p:spPr>
          <a:xfrm>
            <a:off x="711200" y="533400"/>
            <a:ext cx="10795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Read the three status badges separately</a:t>
            </a:r>
            <a:endParaRPr sz="2600" b="1">
              <a:solidFill>
                <a:srgbClr val="12384D"/>
              </a:solidFill>
            </a:endParaRPr>
          </a:p>
        </p:txBody>
      </p:sp>
      <p:sp>
        <p:nvSpPr>
          <p:cNvPr id="330"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Every registration shows three badges. They answer different questions.</a:t>
            </a:r>
            <a:endParaRPr sz="1400" b="0">
              <a:solidFill>
                <a:srgbClr val="5B6B7A"/>
              </a:solidFill>
            </a:endParaRPr>
          </a:p>
        </p:txBody>
      </p:sp>
      <p:sp>
        <p:nvSpPr>
          <p:cNvPr id="331" name="Rectangle 4"/>
          <p:cNvSpPr/>
          <p:nvPr/>
        </p:nvSpPr>
        <p:spPr>
          <a:xfrm>
            <a:off x="762000" y="1587500"/>
            <a:ext cx="3429000" cy="4038600"/>
          </a:xfrm>
          <a:prstGeom prst="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332" name="Rectangle 5"/>
          <p:cNvSpPr/>
          <p:nvPr/>
        </p:nvSpPr>
        <p:spPr>
          <a:xfrm>
            <a:off x="762000" y="1587500"/>
            <a:ext cx="3429000" cy="5080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600" b="1">
                <a:solidFill>
                  <a:srgbClr val="FFFFFF"/>
                </a:solidFill>
              </a:rPr>
              <a:t>Registration status</a:t>
            </a:r>
            <a:endParaRPr sz="1600" b="1">
              <a:solidFill>
                <a:srgbClr val="FFFFFF"/>
              </a:solidFill>
            </a:endParaRPr>
          </a:p>
        </p:txBody>
      </p:sp>
      <p:sp>
        <p:nvSpPr>
          <p:cNvPr id="333" name="Rectangle 6"/>
          <p:cNvSpPr/>
          <p:nvPr/>
        </p:nvSpPr>
        <p:spPr>
          <a:xfrm>
            <a:off x="939800" y="2159000"/>
            <a:ext cx="30734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5B6B7A"/>
                </a:solidFill>
              </a:rPr>
              <a:t>Is the deal accepted by DBGI?</a:t>
            </a:r>
            <a:endParaRPr sz="1300" b="0">
              <a:solidFill>
                <a:srgbClr val="5B6B7A"/>
              </a:solidFill>
            </a:endParaRPr>
          </a:p>
        </p:txBody>
      </p:sp>
      <p:sp>
        <p:nvSpPr>
          <p:cNvPr id="334" name="Rectangle 7"/>
          <p:cNvSpPr/>
          <p:nvPr/>
        </p:nvSpPr>
        <p:spPr>
          <a:xfrm>
            <a:off x="939800" y="26924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Submitted</a:t>
            </a:r>
            <a:endParaRPr sz="1200" b="0">
              <a:solidFill>
                <a:srgbClr val="12384D"/>
              </a:solidFill>
            </a:endParaRPr>
          </a:p>
        </p:txBody>
      </p:sp>
      <p:sp>
        <p:nvSpPr>
          <p:cNvPr id="335" name="Rectangle 8"/>
          <p:cNvSpPr/>
          <p:nvPr/>
        </p:nvSpPr>
        <p:spPr>
          <a:xfrm>
            <a:off x="939800" y="30861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Under review</a:t>
            </a:r>
            <a:endParaRPr sz="1200" b="0">
              <a:solidFill>
                <a:srgbClr val="12384D"/>
              </a:solidFill>
            </a:endParaRPr>
          </a:p>
        </p:txBody>
      </p:sp>
      <p:sp>
        <p:nvSpPr>
          <p:cNvPr id="336" name="Rectangle 9"/>
          <p:cNvSpPr/>
          <p:nvPr/>
        </p:nvSpPr>
        <p:spPr>
          <a:xfrm>
            <a:off x="939800" y="34798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Changes requested</a:t>
            </a:r>
            <a:endParaRPr sz="1200" b="0">
              <a:solidFill>
                <a:srgbClr val="12384D"/>
              </a:solidFill>
            </a:endParaRPr>
          </a:p>
        </p:txBody>
      </p:sp>
      <p:sp>
        <p:nvSpPr>
          <p:cNvPr id="337" name="Rectangle 10"/>
          <p:cNvSpPr/>
          <p:nvPr/>
        </p:nvSpPr>
        <p:spPr>
          <a:xfrm>
            <a:off x="939800" y="38735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Resubmitted</a:t>
            </a:r>
            <a:endParaRPr sz="1200" b="0">
              <a:solidFill>
                <a:srgbClr val="12384D"/>
              </a:solidFill>
            </a:endParaRPr>
          </a:p>
        </p:txBody>
      </p:sp>
      <p:sp>
        <p:nvSpPr>
          <p:cNvPr id="338" name="Rectangle 11"/>
          <p:cNvSpPr/>
          <p:nvPr/>
        </p:nvSpPr>
        <p:spPr>
          <a:xfrm>
            <a:off x="939800" y="42672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Registered</a:t>
            </a:r>
            <a:endParaRPr sz="1200" b="0">
              <a:solidFill>
                <a:srgbClr val="12384D"/>
              </a:solidFill>
            </a:endParaRPr>
          </a:p>
        </p:txBody>
      </p:sp>
      <p:sp>
        <p:nvSpPr>
          <p:cNvPr id="339" name="Rectangle 12"/>
          <p:cNvSpPr/>
          <p:nvPr/>
        </p:nvSpPr>
        <p:spPr>
          <a:xfrm>
            <a:off x="939800" y="46609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Review required after edit</a:t>
            </a:r>
            <a:endParaRPr sz="1200" b="0">
              <a:solidFill>
                <a:srgbClr val="12384D"/>
              </a:solidFill>
            </a:endParaRPr>
          </a:p>
        </p:txBody>
      </p:sp>
      <p:sp>
        <p:nvSpPr>
          <p:cNvPr id="340" name="Rectangle 13"/>
          <p:cNvSpPr/>
          <p:nvPr/>
        </p:nvSpPr>
        <p:spPr>
          <a:xfrm>
            <a:off x="939800" y="50546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Rejected</a:t>
            </a:r>
            <a:endParaRPr sz="1200" b="0">
              <a:solidFill>
                <a:srgbClr val="12384D"/>
              </a:solidFill>
            </a:endParaRPr>
          </a:p>
        </p:txBody>
      </p:sp>
      <p:sp>
        <p:nvSpPr>
          <p:cNvPr id="341" name="Rectangle 14"/>
          <p:cNvSpPr/>
          <p:nvPr/>
        </p:nvSpPr>
        <p:spPr>
          <a:xfrm>
            <a:off x="4445000" y="1587500"/>
            <a:ext cx="3429000" cy="4038600"/>
          </a:xfrm>
          <a:prstGeom prst="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342" name="Rectangle 15"/>
          <p:cNvSpPr/>
          <p:nvPr/>
        </p:nvSpPr>
        <p:spPr>
          <a:xfrm>
            <a:off x="4445000" y="1587500"/>
            <a:ext cx="3429000" cy="508000"/>
          </a:xfrm>
          <a:prstGeom prst="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600" b="1">
                <a:solidFill>
                  <a:srgbClr val="FFFFFF"/>
                </a:solidFill>
              </a:rPr>
              <a:t>Project status</a:t>
            </a:r>
            <a:endParaRPr sz="1600" b="1">
              <a:solidFill>
                <a:srgbClr val="FFFFFF"/>
              </a:solidFill>
            </a:endParaRPr>
          </a:p>
        </p:txBody>
      </p:sp>
      <p:sp>
        <p:nvSpPr>
          <p:cNvPr id="343" name="Rectangle 16"/>
          <p:cNvSpPr/>
          <p:nvPr/>
        </p:nvSpPr>
        <p:spPr>
          <a:xfrm>
            <a:off x="4622800" y="2159000"/>
            <a:ext cx="30734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5B6B7A"/>
                </a:solidFill>
              </a:rPr>
              <a:t>Is the procurement itself going ahead?</a:t>
            </a:r>
            <a:endParaRPr sz="1300" b="0">
              <a:solidFill>
                <a:srgbClr val="5B6B7A"/>
              </a:solidFill>
            </a:endParaRPr>
          </a:p>
        </p:txBody>
      </p:sp>
      <p:sp>
        <p:nvSpPr>
          <p:cNvPr id="344" name="Rectangle 17"/>
          <p:cNvSpPr/>
          <p:nvPr/>
        </p:nvSpPr>
        <p:spPr>
          <a:xfrm>
            <a:off x="4622800" y="26924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Not linked</a:t>
            </a:r>
            <a:endParaRPr sz="1200" b="0">
              <a:solidFill>
                <a:srgbClr val="12384D"/>
              </a:solidFill>
            </a:endParaRPr>
          </a:p>
        </p:txBody>
      </p:sp>
      <p:sp>
        <p:nvSpPr>
          <p:cNvPr id="345" name="Rectangle 18"/>
          <p:cNvSpPr/>
          <p:nvPr/>
        </p:nvSpPr>
        <p:spPr>
          <a:xfrm>
            <a:off x="4622800" y="30861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Upcoming</a:t>
            </a:r>
            <a:endParaRPr sz="1200" b="0">
              <a:solidFill>
                <a:srgbClr val="12384D"/>
              </a:solidFill>
            </a:endParaRPr>
          </a:p>
        </p:txBody>
      </p:sp>
      <p:sp>
        <p:nvSpPr>
          <p:cNvPr id="346" name="Rectangle 19"/>
          <p:cNvSpPr/>
          <p:nvPr/>
        </p:nvSpPr>
        <p:spPr>
          <a:xfrm>
            <a:off x="4622800" y="34798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Active</a:t>
            </a:r>
            <a:endParaRPr sz="1200" b="0">
              <a:solidFill>
                <a:srgbClr val="12384D"/>
              </a:solidFill>
            </a:endParaRPr>
          </a:p>
        </p:txBody>
      </p:sp>
      <p:sp>
        <p:nvSpPr>
          <p:cNvPr id="347" name="Rectangle 20"/>
          <p:cNvSpPr/>
          <p:nvPr/>
        </p:nvSpPr>
        <p:spPr>
          <a:xfrm>
            <a:off x="4622800" y="38735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Won</a:t>
            </a:r>
            <a:endParaRPr sz="1200" b="0">
              <a:solidFill>
                <a:srgbClr val="12384D"/>
              </a:solidFill>
            </a:endParaRPr>
          </a:p>
        </p:txBody>
      </p:sp>
      <p:sp>
        <p:nvSpPr>
          <p:cNvPr id="348" name="Rectangle 21"/>
          <p:cNvSpPr/>
          <p:nvPr/>
        </p:nvSpPr>
        <p:spPr>
          <a:xfrm>
            <a:off x="4622800" y="42672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Lost</a:t>
            </a:r>
            <a:endParaRPr sz="1200" b="0">
              <a:solidFill>
                <a:srgbClr val="12384D"/>
              </a:solidFill>
            </a:endParaRPr>
          </a:p>
        </p:txBody>
      </p:sp>
      <p:sp>
        <p:nvSpPr>
          <p:cNvPr id="349" name="Rectangle 22"/>
          <p:cNvSpPr/>
          <p:nvPr/>
        </p:nvSpPr>
        <p:spPr>
          <a:xfrm>
            <a:off x="4622800" y="46609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Cancelled</a:t>
            </a:r>
            <a:endParaRPr sz="1200" b="0">
              <a:solidFill>
                <a:srgbClr val="12384D"/>
              </a:solidFill>
            </a:endParaRPr>
          </a:p>
        </p:txBody>
      </p:sp>
      <p:sp>
        <p:nvSpPr>
          <p:cNvPr id="350" name="Rectangle 23"/>
          <p:cNvSpPr/>
          <p:nvPr/>
        </p:nvSpPr>
        <p:spPr>
          <a:xfrm>
            <a:off x="4622800" y="50546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On hold</a:t>
            </a:r>
            <a:endParaRPr sz="1200" b="0">
              <a:solidFill>
                <a:srgbClr val="12384D"/>
              </a:solidFill>
            </a:endParaRPr>
          </a:p>
        </p:txBody>
      </p:sp>
      <p:sp>
        <p:nvSpPr>
          <p:cNvPr id="351" name="Rectangle 24"/>
          <p:cNvSpPr/>
          <p:nvPr/>
        </p:nvSpPr>
        <p:spPr>
          <a:xfrm>
            <a:off x="8128000" y="1587500"/>
            <a:ext cx="3429000" cy="4038600"/>
          </a:xfrm>
          <a:prstGeom prst="rect">
            <a:avLst/>
          </a:prstGeom>
          <a:solidFill>
            <a:srgbClr val="FFFFFF"/>
          </a:solidFill>
          <a:ln w="1905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352" name="Rectangle 25"/>
          <p:cNvSpPr/>
          <p:nvPr/>
        </p:nvSpPr>
        <p:spPr>
          <a:xfrm>
            <a:off x="8128000" y="1587500"/>
            <a:ext cx="3429000" cy="508000"/>
          </a:xfrm>
          <a:prstGeom prst="rect">
            <a:avLst/>
          </a:prstGeom>
          <a:solidFill>
            <a:srgbClr val="2EA36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600" b="1">
                <a:solidFill>
                  <a:srgbClr val="FFFFFF"/>
                </a:solidFill>
              </a:rPr>
              <a:t>Pricing status</a:t>
            </a:r>
            <a:endParaRPr sz="1600" b="1">
              <a:solidFill>
                <a:srgbClr val="FFFFFF"/>
              </a:solidFill>
            </a:endParaRPr>
          </a:p>
        </p:txBody>
      </p:sp>
      <p:sp>
        <p:nvSpPr>
          <p:cNvPr id="353" name="Rectangle 26"/>
          <p:cNvSpPr/>
          <p:nvPr/>
        </p:nvSpPr>
        <p:spPr>
          <a:xfrm>
            <a:off x="8305800" y="2159000"/>
            <a:ext cx="30734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5B6B7A"/>
                </a:solidFill>
              </a:rPr>
              <a:t>Has DBGI decided the price?</a:t>
            </a:r>
            <a:endParaRPr sz="1300" b="0">
              <a:solidFill>
                <a:srgbClr val="5B6B7A"/>
              </a:solidFill>
            </a:endParaRPr>
          </a:p>
        </p:txBody>
      </p:sp>
      <p:sp>
        <p:nvSpPr>
          <p:cNvPr id="354" name="Rectangle 27"/>
          <p:cNvSpPr/>
          <p:nvPr/>
        </p:nvSpPr>
        <p:spPr>
          <a:xfrm>
            <a:off x="8305800" y="26924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Pending</a:t>
            </a:r>
            <a:endParaRPr sz="1200" b="0">
              <a:solidFill>
                <a:srgbClr val="12384D"/>
              </a:solidFill>
            </a:endParaRPr>
          </a:p>
        </p:txBody>
      </p:sp>
      <p:sp>
        <p:nvSpPr>
          <p:cNvPr id="355" name="Rectangle 28"/>
          <p:cNvSpPr/>
          <p:nvPr/>
        </p:nvSpPr>
        <p:spPr>
          <a:xfrm>
            <a:off x="8305800" y="30861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Changes requested</a:t>
            </a:r>
            <a:endParaRPr sz="1200" b="0">
              <a:solidFill>
                <a:srgbClr val="12384D"/>
              </a:solidFill>
            </a:endParaRPr>
          </a:p>
        </p:txBody>
      </p:sp>
      <p:sp>
        <p:nvSpPr>
          <p:cNvPr id="356" name="Rectangle 29"/>
          <p:cNvSpPr/>
          <p:nvPr/>
        </p:nvSpPr>
        <p:spPr>
          <a:xfrm>
            <a:off x="8305800" y="34798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Partially approved</a:t>
            </a:r>
            <a:endParaRPr sz="1200" b="0">
              <a:solidFill>
                <a:srgbClr val="12384D"/>
              </a:solidFill>
            </a:endParaRPr>
          </a:p>
        </p:txBody>
      </p:sp>
      <p:sp>
        <p:nvSpPr>
          <p:cNvPr id="357" name="Rectangle 30"/>
          <p:cNvSpPr/>
          <p:nvPr/>
        </p:nvSpPr>
        <p:spPr>
          <a:xfrm>
            <a:off x="8305800" y="38735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Approved</a:t>
            </a:r>
            <a:endParaRPr sz="1200" b="0">
              <a:solidFill>
                <a:srgbClr val="12384D"/>
              </a:solidFill>
            </a:endParaRPr>
          </a:p>
        </p:txBody>
      </p:sp>
      <p:sp>
        <p:nvSpPr>
          <p:cNvPr id="358" name="Rectangle 31"/>
          <p:cNvSpPr/>
          <p:nvPr/>
        </p:nvSpPr>
        <p:spPr>
          <a:xfrm>
            <a:off x="8305800" y="42672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Rejected</a:t>
            </a:r>
            <a:endParaRPr sz="1200" b="0">
              <a:solidFill>
                <a:srgbClr val="12384D"/>
              </a:solidFill>
            </a:endParaRPr>
          </a:p>
        </p:txBody>
      </p:sp>
      <p:sp>
        <p:nvSpPr>
          <p:cNvPr id="359" name="Rectangle 32"/>
          <p:cNvSpPr/>
          <p:nvPr/>
        </p:nvSpPr>
        <p:spPr>
          <a:xfrm>
            <a:off x="8305800" y="4660900"/>
            <a:ext cx="3073400" cy="3175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27000" anchor="ctr">
            <a:noAutofit/>
          </a:bodyPr>
          <a:lstStyle/>
          <a:p>
            <a:pPr algn="l"/>
            <a:r>
              <a:rPr sz="1200" b="0">
                <a:solidFill>
                  <a:srgbClr val="12384D"/>
                </a:solidFill>
              </a:rPr>
              <a:t>Expired</a:t>
            </a:r>
            <a:endParaRPr sz="1200" b="0">
              <a:solidFill>
                <a:srgbClr val="12384D"/>
              </a:solidFill>
            </a:endParaRPr>
          </a:p>
        </p:txBody>
      </p:sp>
      <p:sp>
        <p:nvSpPr>
          <p:cNvPr id="360" name="Rectangle 33"/>
          <p:cNvSpPr/>
          <p:nvPr/>
        </p:nvSpPr>
        <p:spPr>
          <a:xfrm>
            <a:off x="762000" y="5778500"/>
            <a:ext cx="10795000" cy="635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12384D"/>
                </a:solidFill>
              </a:rPr>
              <a:t>Example: a deal can be Registered with Pricing still Pending. Hover over any badge in the portal to see what it means.</a:t>
            </a:r>
            <a:endParaRPr sz="1300" b="0">
              <a:solidFill>
                <a:srgbClr val="12384D"/>
              </a:solidFill>
            </a:endParaRPr>
          </a:p>
        </p:txBody>
      </p:sp>
      <p:sp>
        <p:nvSpPr>
          <p:cNvPr id="361" name="Idea"/>
          <p:cNvSpPr/>
          <p:nvPr/>
        </p:nvSpPr>
        <p:spPr>
          <a:xfrm>
            <a:off x="914400" y="5956300"/>
            <a:ext cx="279400" cy="279400"/>
          </a:xfrm>
          <a:custGeom>
            <a:avLst/>
            <a:gdLst/>
            <a:ahLst/>
            <a:cxnLst/>
            <a:rect l="l" t="t" r="r" b="b"/>
            <a:pathLst>
              <a:path w="100000" h="100000" fill="none">
                <a:moveTo>
                  <a:pt x="62500" y="58333"/>
                </a:moveTo>
                <a:cubicBezTo>
                  <a:pt x="63333" y="54167"/>
                  <a:pt x="65417" y="51250"/>
                  <a:pt x="68750" y="47917"/>
                </a:cubicBezTo>
                <a:cubicBezTo>
                  <a:pt x="72917" y="44167"/>
                  <a:pt x="75000" y="38750"/>
                  <a:pt x="75000" y="33333"/>
                </a:cubicBezTo>
                <a:cubicBezTo>
                  <a:pt x="75000" y="19526"/>
                  <a:pt x="63807" y="8333"/>
                  <a:pt x="50000" y="8333"/>
                </a:cubicBezTo>
                <a:cubicBezTo>
                  <a:pt x="36193" y="8333"/>
                  <a:pt x="25000" y="19526"/>
                  <a:pt x="25000" y="33333"/>
                </a:cubicBezTo>
                <a:cubicBezTo>
                  <a:pt x="25000" y="37500"/>
                  <a:pt x="25833" y="42500"/>
                  <a:pt x="31250" y="47917"/>
                </a:cubicBezTo>
                <a:cubicBezTo>
                  <a:pt x="34167" y="50833"/>
                  <a:pt x="36667" y="54167"/>
                  <a:pt x="37500" y="58333"/>
                </a:cubicBezTo>
                <a:moveTo>
                  <a:pt x="37500" y="75000"/>
                </a:moveTo>
                <a:lnTo>
                  <a:pt x="62500" y="75000"/>
                </a:lnTo>
                <a:moveTo>
                  <a:pt x="41667" y="91667"/>
                </a:moveTo>
                <a:lnTo>
                  <a:pt x="58333" y="91667"/>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063" name="Slide Number Placeholder"/>
          <p:cNvSpPr>
            <a:spLocks noGrp="1"/>
          </p:cNvSpPr>
          <p:nvPr>
            <p:ph type="sldNum" idx="12"/>
          </p:nvPr>
        </p:nvSpPr>
        <p:spPr/>
        <p:txBody>
          <a:bodyPr/>
          <a:lstStyle/>
          <a:p>
            <a:fld id="{5D374AA8-8310-4FC9-8E61-808E79049FCE}" type="slidenum">
              <a:rPr/>
              <a:t>‹#›</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364"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Create a registration: who and what</a:t>
            </a:r>
            <a:endParaRPr sz="2600" b="1">
              <a:solidFill>
                <a:srgbClr val="12384D"/>
              </a:solidFill>
            </a:endParaRPr>
          </a:p>
        </p:txBody>
      </p:sp>
      <p:sp>
        <p:nvSpPr>
          <p:cNvPr id="365"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Start from Registrations, then NEW REGISTRATION</a:t>
            </a:r>
            <a:endParaRPr sz="1400" b="0">
              <a:solidFill>
                <a:srgbClr val="5B6B7A"/>
              </a:solidFill>
            </a:endParaRPr>
          </a:p>
        </p:txBody>
      </p:sp>
      <p:sp>
        <p:nvSpPr>
          <p:cNvPr id="366" name="Rectangle 4"/>
          <p:cNvSpPr/>
          <p:nvPr/>
        </p:nvSpPr>
        <p:spPr>
          <a:xfrm>
            <a:off x="8763000" y="508000"/>
            <a:ext cx="2794000" cy="355600"/>
          </a:xfrm>
          <a:prstGeom prst="round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2  |  Company user</a:t>
            </a:r>
            <a:endParaRPr sz="1200" b="1">
              <a:solidFill>
                <a:srgbClr val="FFFFFF"/>
              </a:solidFill>
            </a:endParaRPr>
          </a:p>
        </p:txBody>
      </p:sp>
      <p:pic>
        <p:nvPicPr>
          <p:cNvPr id="368" name="Picture 5" descr="enduser.png"/>
          <p:cNvPicPr>
            <a:picLocks noChangeAspect="1"/>
          </p:cNvPicPr>
          <p:nvPr/>
        </p:nvPicPr>
        <p:blipFill rotWithShape="1">
          <a:blip r:embed="rId2"/>
          <a:stretch>
            <a:fillRect/>
          </a:stretch>
        </p:blipFill>
        <p:spPr>
          <a:xfrm>
            <a:off x="762000" y="1625600"/>
            <a:ext cx="6604000" cy="2686050"/>
          </a:xfrm>
          <a:prstGeom prst="rect">
            <a:avLst/>
          </a:prstGeom>
          <a:ln w="12700">
            <a:solidFill>
              <a:srgbClr val="C9D6DE"/>
            </a:solidFill>
          </a:ln>
        </p:spPr>
      </p:pic>
      <p:sp>
        <p:nvSpPr>
          <p:cNvPr id="369" name="Rectangle 6"/>
          <p:cNvSpPr/>
          <p:nvPr/>
        </p:nvSpPr>
        <p:spPr>
          <a:xfrm>
            <a:off x="7620000" y="1625600"/>
            <a:ext cx="3937000" cy="381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Type part of the buyer's name in End-user and pick the match. A green line confirms the address and that DBGI verified it.</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Not in the list? Use ADD MISSING END-USER. DBGI verifies it later.</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Enter the project title, bid date, and delivery date.</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Check the contact details. They are filled from your profile.</a:t>
            </a:r>
            <a:endParaRPr sz="1300" b="0">
              <a:solidFill>
                <a:srgbClr val="1E2B3C"/>
              </a:solidFill>
            </a:endParaRPr>
          </a:p>
        </p:txBody>
      </p:sp>
      <p:sp>
        <p:nvSpPr>
          <p:cNvPr id="370" name="Rectangle 7"/>
          <p:cNvSpPr/>
          <p:nvPr/>
        </p:nvSpPr>
        <p:spPr>
          <a:xfrm>
            <a:off x="762000" y="5664200"/>
            <a:ext cx="10795000" cy="711200"/>
          </a:xfrm>
          <a:prstGeom prst="roundRect">
            <a:avLst/>
          </a:prstGeom>
          <a:solidFill>
            <a:srgbClr val="FDF1D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8A5A00"/>
                </a:solidFill>
              </a:rPr>
              <a:t>Register each real opportunity once. To fix something later, edit the existing registration instead of creating a new one.</a:t>
            </a:r>
            <a:endParaRPr sz="1300" b="0">
              <a:solidFill>
                <a:srgbClr val="8A5A00"/>
              </a:solidFill>
            </a:endParaRPr>
          </a:p>
        </p:txBody>
      </p:sp>
      <p:sp>
        <p:nvSpPr>
          <p:cNvPr id="371" name="Alert"/>
          <p:cNvSpPr/>
          <p:nvPr/>
        </p:nvSpPr>
        <p:spPr>
          <a:xfrm>
            <a:off x="914400" y="5880100"/>
            <a:ext cx="279400" cy="2794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50000" y="33333"/>
                </a:moveTo>
                <a:lnTo>
                  <a:pt x="50000" y="50000"/>
                </a:lnTo>
                <a:moveTo>
                  <a:pt x="50000" y="66667"/>
                </a:moveTo>
                <a:lnTo>
                  <a:pt x="50042" y="66667"/>
                </a:lnTo>
              </a:path>
            </a:pathLst>
          </a:custGeom>
          <a:noFill/>
          <a:ln w="23283" cap="rnd">
            <a:solidFill>
              <a:srgbClr val="8A5A00"/>
            </a:solidFill>
            <a:round/>
          </a:ln>
        </p:spPr>
        <p:style>
          <a:lnRef idx="1">
            <a:schemeClr val="tx1"/>
          </a:lnRef>
          <a:fillRef idx="0">
            <a:schemeClr val="tx1"/>
          </a:fillRef>
          <a:effectRef idx="0">
            <a:schemeClr val="tx1"/>
          </a:effectRef>
          <a:fontRef idx="minor">
            <a:schemeClr val="tx1"/>
          </a:fontRef>
        </p:style>
      </p:sp>
      <p:sp>
        <p:nvSpPr>
          <p:cNvPr id="1066" name="Slide Number Placeholder"/>
          <p:cNvSpPr>
            <a:spLocks noGrp="1"/>
          </p:cNvSpPr>
          <p:nvPr>
            <p:ph type="sldNum" idx="12"/>
          </p:nvPr>
        </p:nvSpPr>
        <p:spPr/>
        <p:txBody>
          <a:bodyPr/>
          <a:lstStyle/>
          <a:p>
            <a:fld id="{9FD5AD5D-00E4-4746-836B-F0EA3C4886F1}" type="slidenum">
              <a:rPr/>
              <a:t>‹#›</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374"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Add the competitor and the products you need</a:t>
            </a:r>
            <a:endParaRPr sz="2600" b="1">
              <a:solidFill>
                <a:srgbClr val="12384D"/>
              </a:solidFill>
            </a:endParaRPr>
          </a:p>
        </p:txBody>
      </p:sp>
      <p:sp>
        <p:nvSpPr>
          <p:cNvPr id="375"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Both tables need at least one row</a:t>
            </a:r>
            <a:endParaRPr sz="1400" b="0">
              <a:solidFill>
                <a:srgbClr val="5B6B7A"/>
              </a:solidFill>
            </a:endParaRPr>
          </a:p>
        </p:txBody>
      </p:sp>
      <p:sp>
        <p:nvSpPr>
          <p:cNvPr id="376" name="Rectangle 4"/>
          <p:cNvSpPr/>
          <p:nvPr/>
        </p:nvSpPr>
        <p:spPr>
          <a:xfrm>
            <a:off x="8763000" y="508000"/>
            <a:ext cx="2794000" cy="355600"/>
          </a:xfrm>
          <a:prstGeom prst="round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2  |  Company user</a:t>
            </a:r>
            <a:endParaRPr sz="1200" b="1">
              <a:solidFill>
                <a:srgbClr val="FFFFFF"/>
              </a:solidFill>
            </a:endParaRPr>
          </a:p>
        </p:txBody>
      </p:sp>
      <p:pic>
        <p:nvPicPr>
          <p:cNvPr id="378" name="Picture 5" descr="competitor.png"/>
          <p:cNvPicPr>
            <a:picLocks noChangeAspect="1"/>
          </p:cNvPicPr>
          <p:nvPr/>
        </p:nvPicPr>
        <p:blipFill rotWithShape="1">
          <a:blip r:embed="rId2"/>
          <a:stretch>
            <a:fillRect/>
          </a:stretch>
        </p:blipFill>
        <p:spPr>
          <a:xfrm>
            <a:off x="762000" y="1587500"/>
            <a:ext cx="5207000" cy="3158490"/>
          </a:xfrm>
          <a:prstGeom prst="rect">
            <a:avLst/>
          </a:prstGeom>
          <a:ln w="12700">
            <a:solidFill>
              <a:srgbClr val="C9D6DE"/>
            </a:solidFill>
          </a:ln>
        </p:spPr>
      </p:pic>
      <p:pic>
        <p:nvPicPr>
          <p:cNvPr id="380" name="Picture 6" descr="product.png"/>
          <p:cNvPicPr>
            <a:picLocks noChangeAspect="1"/>
          </p:cNvPicPr>
          <p:nvPr/>
        </p:nvPicPr>
        <p:blipFill rotWithShape="1">
          <a:blip r:embed="rId3"/>
          <a:stretch>
            <a:fillRect/>
          </a:stretch>
        </p:blipFill>
        <p:spPr>
          <a:xfrm>
            <a:off x="6350000" y="1587500"/>
            <a:ext cx="5207000" cy="2854960"/>
          </a:xfrm>
          <a:prstGeom prst="rect">
            <a:avLst/>
          </a:prstGeom>
          <a:ln w="12700">
            <a:solidFill>
              <a:srgbClr val="C9D6DE"/>
            </a:solidFill>
          </a:ln>
        </p:spPr>
      </p:pic>
      <p:sp>
        <p:nvSpPr>
          <p:cNvPr id="381" name="Rectangle 7"/>
          <p:cNvSpPr/>
          <p:nvPr/>
        </p:nvSpPr>
        <p:spPr>
          <a:xfrm>
            <a:off x="762000" y="4889500"/>
            <a:ext cx="5207000" cy="165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Select ADD COMPETITOR.</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Pick or type the brand and model, their bid price, and a remark. Only you and DBGI see this.</a:t>
            </a:r>
            <a:endParaRPr sz="1300" b="0">
              <a:solidFill>
                <a:srgbClr val="1E2B3C"/>
              </a:solidFill>
            </a:endParaRPr>
          </a:p>
        </p:txBody>
      </p:sp>
      <p:sp>
        <p:nvSpPr>
          <p:cNvPr id="382" name="Rectangle 8"/>
          <p:cNvSpPr/>
          <p:nvPr/>
        </p:nvSpPr>
        <p:spPr>
          <a:xfrm>
            <a:off x="6350000" y="4889500"/>
            <a:ext cx="5207000" cy="165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Select ADD PRODUCT and choose the catalog product.</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Enter quantity, the unit price you are requesting, and why you need it.</a:t>
            </a:r>
            <a:endParaRPr sz="1300" b="0">
              <a:solidFill>
                <a:srgbClr val="1E2B3C"/>
              </a:solidFill>
            </a:endParaRPr>
          </a:p>
        </p:txBody>
      </p:sp>
      <p:sp>
        <p:nvSpPr>
          <p:cNvPr id="1069" name="Slide Number Placeholder"/>
          <p:cNvSpPr>
            <a:spLocks noGrp="1"/>
          </p:cNvSpPr>
          <p:nvPr>
            <p:ph type="sldNum" idx="12"/>
          </p:nvPr>
        </p:nvSpPr>
        <p:spPr/>
        <p:txBody>
          <a:bodyPr/>
          <a:lstStyle/>
          <a:p>
            <a:fld id="{B79A8C84-1846-4993-8C55-9E7286E57C4C}" type="slidenum">
              <a:rPr/>
              <a:t>‹#›</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385"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Describe your evidence and submit</a:t>
            </a:r>
            <a:endParaRPr sz="2600" b="1">
              <a:solidFill>
                <a:srgbClr val="12384D"/>
              </a:solidFill>
            </a:endParaRPr>
          </a:p>
        </p:txBody>
      </p:sp>
      <p:sp>
        <p:nvSpPr>
          <p:cNvPr id="386"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Evidence tells DBGI how you know this opportunity is real</a:t>
            </a:r>
            <a:endParaRPr sz="1400" b="0">
              <a:solidFill>
                <a:srgbClr val="5B6B7A"/>
              </a:solidFill>
            </a:endParaRPr>
          </a:p>
        </p:txBody>
      </p:sp>
      <p:sp>
        <p:nvSpPr>
          <p:cNvPr id="387" name="Rectangle 4"/>
          <p:cNvSpPr/>
          <p:nvPr/>
        </p:nvSpPr>
        <p:spPr>
          <a:xfrm>
            <a:off x="8763000" y="508000"/>
            <a:ext cx="2794000" cy="355600"/>
          </a:xfrm>
          <a:prstGeom prst="round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2  |  Company user</a:t>
            </a:r>
            <a:endParaRPr sz="1200" b="1">
              <a:solidFill>
                <a:srgbClr val="FFFFFF"/>
              </a:solidFill>
            </a:endParaRPr>
          </a:p>
        </p:txBody>
      </p:sp>
      <p:pic>
        <p:nvPicPr>
          <p:cNvPr id="389" name="Picture 5" descr="evidence-submit.png"/>
          <p:cNvPicPr>
            <a:picLocks noChangeAspect="1"/>
          </p:cNvPicPr>
          <p:nvPr/>
        </p:nvPicPr>
        <p:blipFill rotWithShape="1">
          <a:blip r:embed="rId2"/>
          <a:stretch>
            <a:fillRect/>
          </a:stretch>
        </p:blipFill>
        <p:spPr>
          <a:xfrm>
            <a:off x="762000" y="1587500"/>
            <a:ext cx="7112000" cy="3194050"/>
          </a:xfrm>
          <a:prstGeom prst="rect">
            <a:avLst/>
          </a:prstGeom>
          <a:ln w="12700">
            <a:solidFill>
              <a:srgbClr val="C9D6DE"/>
            </a:solidFill>
          </a:ln>
        </p:spPr>
      </p:pic>
      <p:sp>
        <p:nvSpPr>
          <p:cNvPr id="390" name="Rectangle 6"/>
          <p:cNvSpPr/>
          <p:nvPr/>
        </p:nvSpPr>
        <p:spPr>
          <a:xfrm>
            <a:off x="8128000" y="1587500"/>
            <a:ext cx="3429000" cy="4064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Explain how you learned about the deal, with dates and reference numbers if you have them.</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Add files if available. Never upload another company's pricing, IDs, or signatures.</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Tick the authorization box.</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Select CREATE REGISTRATION.</a:t>
            </a:r>
            <a:endParaRPr sz="1300" b="0">
              <a:solidFill>
                <a:srgbClr val="1E2B3C"/>
              </a:solidFill>
            </a:endParaRPr>
          </a:p>
        </p:txBody>
      </p:sp>
      <p:sp>
        <p:nvSpPr>
          <p:cNvPr id="391" name="Rectangle 7"/>
          <p:cNvSpPr/>
          <p:nvPr/>
        </p:nvSpPr>
        <p:spPr>
          <a:xfrm>
            <a:off x="762000" y="5080000"/>
            <a:ext cx="7112000" cy="1270000"/>
          </a:xfrm>
          <a:prstGeom prst="roundRect">
            <a:avLst/>
          </a:prstGeom>
          <a:solidFill>
            <a:srgbClr val="FDF1D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8A5A00"/>
                </a:solidFill>
              </a:rPr>
              <a:t>Requested prices are only proposals until DBGI approves them. Do not promise a requested price to the buyer.</a:t>
            </a:r>
            <a:endParaRPr sz="1300" b="0">
              <a:solidFill>
                <a:srgbClr val="8A5A00"/>
              </a:solidFill>
            </a:endParaRPr>
          </a:p>
        </p:txBody>
      </p:sp>
      <p:sp>
        <p:nvSpPr>
          <p:cNvPr id="392" name="Alert"/>
          <p:cNvSpPr/>
          <p:nvPr/>
        </p:nvSpPr>
        <p:spPr>
          <a:xfrm>
            <a:off x="914400" y="5575300"/>
            <a:ext cx="279400" cy="2794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50000" y="33333"/>
                </a:moveTo>
                <a:lnTo>
                  <a:pt x="50000" y="50000"/>
                </a:lnTo>
                <a:moveTo>
                  <a:pt x="50000" y="66667"/>
                </a:moveTo>
                <a:lnTo>
                  <a:pt x="50042" y="66667"/>
                </a:lnTo>
              </a:path>
            </a:pathLst>
          </a:custGeom>
          <a:noFill/>
          <a:ln w="23283" cap="rnd">
            <a:solidFill>
              <a:srgbClr val="8A5A00"/>
            </a:solidFill>
            <a:round/>
          </a:ln>
        </p:spPr>
        <p:style>
          <a:lnRef idx="1">
            <a:schemeClr val="tx1"/>
          </a:lnRef>
          <a:fillRef idx="0">
            <a:schemeClr val="tx1"/>
          </a:fillRef>
          <a:effectRef idx="0">
            <a:schemeClr val="tx1"/>
          </a:effectRef>
          <a:fontRef idx="minor">
            <a:schemeClr val="tx1"/>
          </a:fontRef>
        </p:style>
      </p:sp>
      <p:sp>
        <p:nvSpPr>
          <p:cNvPr id="1072" name="Slide Number Placeholder"/>
          <p:cNvSpPr>
            <a:spLocks noGrp="1"/>
          </p:cNvSpPr>
          <p:nvPr>
            <p:ph type="sldNum" idx="12"/>
          </p:nvPr>
        </p:nvSpPr>
        <p:spPr/>
        <p:txBody>
          <a:bodyPr/>
          <a:lstStyle/>
          <a:p>
            <a:fld id="{A4E5D909-40B4-4C80-8454-38C8AE8D0597}" type="slidenum">
              <a:rPr/>
              <a:t>‹#›</a:t>
            </a:fl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395"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Right after you submit</a:t>
            </a:r>
            <a:endParaRPr sz="2600" b="1">
              <a:solidFill>
                <a:srgbClr val="12384D"/>
              </a:solidFill>
            </a:endParaRPr>
          </a:p>
        </p:txBody>
      </p:sp>
      <p:sp>
        <p:nvSpPr>
          <p:cNvPr id="396"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The registration gets a DBGI reference and waits for review</a:t>
            </a:r>
            <a:endParaRPr sz="1400" b="0">
              <a:solidFill>
                <a:srgbClr val="5B6B7A"/>
              </a:solidFill>
            </a:endParaRPr>
          </a:p>
        </p:txBody>
      </p:sp>
      <p:sp>
        <p:nvSpPr>
          <p:cNvPr id="397" name="Rectangle 4"/>
          <p:cNvSpPr/>
          <p:nvPr/>
        </p:nvSpPr>
        <p:spPr>
          <a:xfrm>
            <a:off x="8763000" y="508000"/>
            <a:ext cx="2794000" cy="355600"/>
          </a:xfrm>
          <a:prstGeom prst="round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2  |  Company user</a:t>
            </a:r>
            <a:endParaRPr sz="1200" b="1">
              <a:solidFill>
                <a:srgbClr val="FFFFFF"/>
              </a:solidFill>
            </a:endParaRPr>
          </a:p>
        </p:txBody>
      </p:sp>
      <p:pic>
        <p:nvPicPr>
          <p:cNvPr id="399" name="Picture 5" descr="submitted-top.png"/>
          <p:cNvPicPr>
            <a:picLocks noChangeAspect="1"/>
          </p:cNvPicPr>
          <p:nvPr/>
        </p:nvPicPr>
        <p:blipFill rotWithShape="1">
          <a:blip r:embed="rId2"/>
          <a:stretch>
            <a:fillRect/>
          </a:stretch>
        </p:blipFill>
        <p:spPr>
          <a:xfrm>
            <a:off x="762000" y="1587500"/>
            <a:ext cx="7112000" cy="1446530"/>
          </a:xfrm>
          <a:prstGeom prst="rect">
            <a:avLst/>
          </a:prstGeom>
          <a:ln w="12700">
            <a:solidFill>
              <a:srgbClr val="C9D6DE"/>
            </a:solidFill>
          </a:ln>
        </p:spPr>
      </p:pic>
      <p:pic>
        <p:nvPicPr>
          <p:cNvPr id="401" name="Picture 6" descr="submitted-pricing.png"/>
          <p:cNvPicPr>
            <a:picLocks noChangeAspect="1"/>
          </p:cNvPicPr>
          <p:nvPr/>
        </p:nvPicPr>
        <p:blipFill rotWithShape="1">
          <a:blip r:embed="rId3"/>
          <a:stretch>
            <a:fillRect/>
          </a:stretch>
        </p:blipFill>
        <p:spPr>
          <a:xfrm>
            <a:off x="762000" y="3327400"/>
            <a:ext cx="7112000" cy="3044190"/>
          </a:xfrm>
          <a:prstGeom prst="rect">
            <a:avLst/>
          </a:prstGeom>
          <a:ln w="12700">
            <a:solidFill>
              <a:srgbClr val="C9D6DE"/>
            </a:solidFill>
          </a:ln>
        </p:spPr>
      </p:pic>
      <p:sp>
        <p:nvSpPr>
          <p:cNvPr id="402" name="Rectangle 7"/>
          <p:cNvSpPr/>
          <p:nvPr/>
        </p:nvSpPr>
        <p:spPr>
          <a:xfrm>
            <a:off x="8128000" y="1587500"/>
            <a:ext cx="3429000" cy="482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Note the reference, here DBGI-000012. Use it whenever you talk to DBGI.</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Badges show Submitted, Project: Not linked, and Pricing: Pending.</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"What happens next?" always tells you what to do now.</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The portal works out the discount you asked for (10%) and the total. Approved unit price stays Pending until DBGI decides.</a:t>
            </a:r>
            <a:endParaRPr sz="1300" b="0">
              <a:solidFill>
                <a:srgbClr val="1E2B3C"/>
              </a:solidFill>
            </a:endParaRPr>
          </a:p>
        </p:txBody>
      </p:sp>
      <p:sp>
        <p:nvSpPr>
          <p:cNvPr id="1075" name="Slide Number Placeholder"/>
          <p:cNvSpPr>
            <a:spLocks noGrp="1"/>
          </p:cNvSpPr>
          <p:nvPr>
            <p:ph type="sldNum" idx="12"/>
          </p:nvPr>
        </p:nvSpPr>
        <p:spPr/>
        <p:txBody>
          <a:bodyPr/>
          <a:lstStyle/>
          <a:p>
            <a:fld id="{80EC94FA-F8E2-4AC5-8BAF-84C1CD9CCE2A}" type="slidenum">
              <a:rPr/>
              <a:t>‹#›</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405"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Notifications keep you up to date</a:t>
            </a:r>
            <a:endParaRPr sz="2600" b="1">
              <a:solidFill>
                <a:srgbClr val="12384D"/>
              </a:solidFill>
            </a:endParaRPr>
          </a:p>
        </p:txBody>
      </p:sp>
      <p:sp>
        <p:nvSpPr>
          <p:cNvPr id="406"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Every submission and DBGI decision appears here</a:t>
            </a:r>
            <a:endParaRPr sz="1400" b="0">
              <a:solidFill>
                <a:srgbClr val="5B6B7A"/>
              </a:solidFill>
            </a:endParaRPr>
          </a:p>
        </p:txBody>
      </p:sp>
      <p:sp>
        <p:nvSpPr>
          <p:cNvPr id="407" name="Rectangle 4"/>
          <p:cNvSpPr/>
          <p:nvPr/>
        </p:nvSpPr>
        <p:spPr>
          <a:xfrm>
            <a:off x="8763000" y="508000"/>
            <a:ext cx="2794000" cy="355600"/>
          </a:xfrm>
          <a:prstGeom prst="round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Company user</a:t>
            </a:r>
            <a:endParaRPr sz="1200" b="1">
              <a:solidFill>
                <a:srgbClr val="FFFFFF"/>
              </a:solidFill>
            </a:endParaRPr>
          </a:p>
        </p:txBody>
      </p:sp>
      <p:pic>
        <p:nvPicPr>
          <p:cNvPr id="409" name="Picture 5" descr="notifications.png"/>
          <p:cNvPicPr>
            <a:picLocks noChangeAspect="1"/>
          </p:cNvPicPr>
          <p:nvPr/>
        </p:nvPicPr>
        <p:blipFill rotWithShape="1">
          <a:blip r:embed="rId2"/>
          <a:stretch>
            <a:fillRect/>
          </a:stretch>
        </p:blipFill>
        <p:spPr>
          <a:xfrm>
            <a:off x="762000" y="1587500"/>
            <a:ext cx="7112000" cy="3977640"/>
          </a:xfrm>
          <a:prstGeom prst="rect">
            <a:avLst/>
          </a:prstGeom>
          <a:ln w="12700">
            <a:solidFill>
              <a:srgbClr val="C9D6DE"/>
            </a:solidFill>
          </a:ln>
        </p:spPr>
      </p:pic>
      <p:sp>
        <p:nvSpPr>
          <p:cNvPr id="410" name="Rectangle 6"/>
          <p:cNvSpPr/>
          <p:nvPr/>
        </p:nvSpPr>
        <p:spPr>
          <a:xfrm>
            <a:off x="8128000" y="1587500"/>
            <a:ext cx="3429000" cy="419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Open NOTIFICATIONS from the top menu.</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Unread items are marked. Select VIEW REGISTRATION to open the deal.</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Email may send a copy, but the portal notification is the official record.</a:t>
            </a:r>
            <a:endParaRPr sz="1300" b="0">
              <a:solidFill>
                <a:srgbClr val="1E2B3C"/>
              </a:solidFill>
            </a:endParaRPr>
          </a:p>
        </p:txBody>
      </p:sp>
      <p:sp>
        <p:nvSpPr>
          <p:cNvPr id="411" name="Rectangle 7"/>
          <p:cNvSpPr/>
          <p:nvPr/>
        </p:nvSpPr>
        <p:spPr>
          <a:xfrm>
            <a:off x="762000" y="5918200"/>
            <a:ext cx="10795000" cy="508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12384D"/>
                </a:solidFill>
              </a:rPr>
              <a:t>Check Notifications daily, especially while a registration is waiting for you.</a:t>
            </a:r>
            <a:endParaRPr sz="1300" b="0">
              <a:solidFill>
                <a:srgbClr val="12384D"/>
              </a:solidFill>
            </a:endParaRPr>
          </a:p>
        </p:txBody>
      </p:sp>
      <p:sp>
        <p:nvSpPr>
          <p:cNvPr id="412" name="Bell"/>
          <p:cNvSpPr/>
          <p:nvPr/>
        </p:nvSpPr>
        <p:spPr>
          <a:xfrm>
            <a:off x="914400" y="6032500"/>
            <a:ext cx="279400" cy="279400"/>
          </a:xfrm>
          <a:custGeom>
            <a:avLst/>
            <a:gdLst/>
            <a:ahLst/>
            <a:cxnLst/>
            <a:rect l="l" t="t" r="r" b="b"/>
            <a:pathLst>
              <a:path w="100000" h="100000" fill="none">
                <a:moveTo>
                  <a:pt x="42783" y="87500"/>
                </a:moveTo>
                <a:cubicBezTo>
                  <a:pt x="44272" y="90078"/>
                  <a:pt x="47023" y="91666"/>
                  <a:pt x="50000" y="91666"/>
                </a:cubicBezTo>
                <a:cubicBezTo>
                  <a:pt x="52977" y="91666"/>
                  <a:pt x="55728" y="90078"/>
                  <a:pt x="57217" y="87500"/>
                </a:cubicBezTo>
                <a:moveTo>
                  <a:pt x="13592" y="63858"/>
                </a:moveTo>
                <a:cubicBezTo>
                  <a:pt x="12480" y="65077"/>
                  <a:pt x="12192" y="66838"/>
                  <a:pt x="12857" y="68348"/>
                </a:cubicBezTo>
                <a:cubicBezTo>
                  <a:pt x="13523" y="69858"/>
                  <a:pt x="15017" y="70832"/>
                  <a:pt x="16667" y="70833"/>
                </a:cubicBezTo>
                <a:lnTo>
                  <a:pt x="83333" y="70833"/>
                </a:lnTo>
                <a:cubicBezTo>
                  <a:pt x="84983" y="70834"/>
                  <a:pt x="86478" y="69861"/>
                  <a:pt x="87145" y="68352"/>
                </a:cubicBezTo>
                <a:cubicBezTo>
                  <a:pt x="87813" y="66843"/>
                  <a:pt x="87527" y="65083"/>
                  <a:pt x="86417" y="63863"/>
                </a:cubicBezTo>
                <a:cubicBezTo>
                  <a:pt x="80875" y="58150"/>
                  <a:pt x="75000" y="52079"/>
                  <a:pt x="75000" y="33333"/>
                </a:cubicBezTo>
                <a:cubicBezTo>
                  <a:pt x="75000" y="19526"/>
                  <a:pt x="63807" y="8333"/>
                  <a:pt x="50000" y="8333"/>
                </a:cubicBezTo>
                <a:cubicBezTo>
                  <a:pt x="36193" y="8333"/>
                  <a:pt x="25000" y="19526"/>
                  <a:pt x="25000" y="33333"/>
                </a:cubicBezTo>
                <a:cubicBezTo>
                  <a:pt x="25000" y="52079"/>
                  <a:pt x="19121" y="58150"/>
                  <a:pt x="13592" y="63858"/>
                </a:cubicBez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078" name="Slide Number Placeholder"/>
          <p:cNvSpPr>
            <a:spLocks noGrp="1"/>
          </p:cNvSpPr>
          <p:nvPr>
            <p:ph type="sldNum" idx="12"/>
          </p:nvPr>
        </p:nvSpPr>
        <p:spPr/>
        <p:txBody>
          <a:bodyPr/>
          <a:lstStyle/>
          <a:p>
            <a:fld id="{A67E2D13-7704-45C7-8091-8B2F05FD78CE}" type="slidenum">
              <a:rPr/>
              <a:t>‹#›</a:t>
            </a:fl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4"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415"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Start each day on the Operations dashboard</a:t>
            </a:r>
            <a:endParaRPr sz="2600" b="1">
              <a:solidFill>
                <a:srgbClr val="12384D"/>
              </a:solidFill>
            </a:endParaRPr>
          </a:p>
        </p:txBody>
      </p:sp>
      <p:sp>
        <p:nvSpPr>
          <p:cNvPr id="416"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Administration opens here; it lists what needs a DBGI decision</a:t>
            </a:r>
            <a:endParaRPr sz="1400" b="0">
              <a:solidFill>
                <a:srgbClr val="5B6B7A"/>
              </a:solidFill>
            </a:endParaRPr>
          </a:p>
        </p:txBody>
      </p:sp>
      <p:sp>
        <p:nvSpPr>
          <p:cNvPr id="417" name="Rectangle 4"/>
          <p:cNvSpPr/>
          <p:nvPr/>
        </p:nvSpPr>
        <p:spPr>
          <a:xfrm>
            <a:off x="8763000" y="508000"/>
            <a:ext cx="2794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3  |  DBGI administrator</a:t>
            </a:r>
            <a:endParaRPr sz="1200" b="1">
              <a:solidFill>
                <a:srgbClr val="FFFFFF"/>
              </a:solidFill>
            </a:endParaRPr>
          </a:p>
        </p:txBody>
      </p:sp>
      <p:pic>
        <p:nvPicPr>
          <p:cNvPr id="419" name="Picture 5" descr="dashboard.png"/>
          <p:cNvPicPr>
            <a:picLocks noChangeAspect="1"/>
          </p:cNvPicPr>
          <p:nvPr/>
        </p:nvPicPr>
        <p:blipFill rotWithShape="1">
          <a:blip r:embed="rId2"/>
          <a:stretch>
            <a:fillRect/>
          </a:stretch>
        </p:blipFill>
        <p:spPr>
          <a:xfrm>
            <a:off x="762000" y="1587500"/>
            <a:ext cx="7106920" cy="3898900"/>
          </a:xfrm>
          <a:prstGeom prst="rect">
            <a:avLst/>
          </a:prstGeom>
          <a:ln w="12700">
            <a:solidFill>
              <a:srgbClr val="C9D6DE"/>
            </a:solidFill>
          </a:ln>
        </p:spPr>
      </p:pic>
      <p:sp>
        <p:nvSpPr>
          <p:cNvPr id="420" name="Rectangle 6"/>
          <p:cNvSpPr/>
          <p:nvPr/>
        </p:nvSpPr>
        <p:spPr>
          <a:xfrm>
            <a:off x="8128000" y="1587500"/>
            <a:ext cx="3429000" cy="419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The cards count work waiting: registration reviews, pricing decisions, End-users to verify, failed emails, and expiring approvals.</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The queues below list the actual items. Click a reference to open it.</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The left menu has every list, such as Registrations, Price approvals, and End-users.</a:t>
            </a:r>
            <a:endParaRPr sz="1300" b="0">
              <a:solidFill>
                <a:srgbClr val="1E2B3C"/>
              </a:solidFill>
            </a:endParaRPr>
          </a:p>
        </p:txBody>
      </p:sp>
      <p:sp>
        <p:nvSpPr>
          <p:cNvPr id="421" name="Rectangle 7"/>
          <p:cNvSpPr/>
          <p:nvPr/>
        </p:nvSpPr>
        <p:spPr>
          <a:xfrm>
            <a:off x="762000" y="5689600"/>
            <a:ext cx="10795000" cy="635000"/>
          </a:xfrm>
          <a:prstGeom prst="roundRect">
            <a:avLst/>
          </a:prstGeom>
          <a:solidFill>
            <a:srgbClr val="FDF1D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8A5A00"/>
                </a:solidFill>
              </a:rPr>
              <a:t>The Danger Zone at the bottom permanently deletes data. Only superusers can open it.</a:t>
            </a:r>
            <a:endParaRPr sz="1300" b="0">
              <a:solidFill>
                <a:srgbClr val="8A5A00"/>
              </a:solidFill>
            </a:endParaRPr>
          </a:p>
        </p:txBody>
      </p:sp>
      <p:sp>
        <p:nvSpPr>
          <p:cNvPr id="422" name="Warning"/>
          <p:cNvSpPr/>
          <p:nvPr/>
        </p:nvSpPr>
        <p:spPr>
          <a:xfrm>
            <a:off x="914400" y="5867400"/>
            <a:ext cx="279400" cy="279400"/>
          </a:xfrm>
          <a:custGeom>
            <a:avLst/>
            <a:gdLst/>
            <a:ahLst/>
            <a:cxnLst/>
            <a:rect l="l" t="t" r="r" b="b"/>
            <a:pathLst>
              <a:path w="100000" h="100000" fill="none">
                <a:moveTo>
                  <a:pt x="90542" y="75000"/>
                </a:moveTo>
                <a:lnTo>
                  <a:pt x="57208" y="16667"/>
                </a:lnTo>
                <a:cubicBezTo>
                  <a:pt x="55729" y="14056"/>
                  <a:pt x="52960" y="12442"/>
                  <a:pt x="49958" y="12442"/>
                </a:cubicBezTo>
                <a:cubicBezTo>
                  <a:pt x="46957" y="12442"/>
                  <a:pt x="44188" y="14056"/>
                  <a:pt x="42708" y="16667"/>
                </a:cubicBezTo>
                <a:lnTo>
                  <a:pt x="9375" y="75000"/>
                </a:lnTo>
                <a:cubicBezTo>
                  <a:pt x="7880" y="77590"/>
                  <a:pt x="7887" y="80783"/>
                  <a:pt x="9393" y="83366"/>
                </a:cubicBezTo>
                <a:cubicBezTo>
                  <a:pt x="10900" y="85949"/>
                  <a:pt x="13676" y="87527"/>
                  <a:pt x="16667" y="87500"/>
                </a:cubicBezTo>
                <a:lnTo>
                  <a:pt x="83333" y="87500"/>
                </a:lnTo>
                <a:cubicBezTo>
                  <a:pt x="86309" y="87497"/>
                  <a:pt x="89057" y="85908"/>
                  <a:pt x="90544" y="83330"/>
                </a:cubicBezTo>
                <a:cubicBezTo>
                  <a:pt x="92030" y="80752"/>
                  <a:pt x="92030" y="77577"/>
                  <a:pt x="90542" y="75000"/>
                </a:cubicBezTo>
                <a:moveTo>
                  <a:pt x="50000" y="37500"/>
                </a:moveTo>
                <a:lnTo>
                  <a:pt x="50000" y="54167"/>
                </a:lnTo>
                <a:moveTo>
                  <a:pt x="50000" y="70833"/>
                </a:moveTo>
                <a:lnTo>
                  <a:pt x="50042" y="70833"/>
                </a:lnTo>
              </a:path>
            </a:pathLst>
          </a:custGeom>
          <a:noFill/>
          <a:ln w="23283" cap="rnd">
            <a:solidFill>
              <a:srgbClr val="8A5A00"/>
            </a:solidFill>
            <a:round/>
          </a:ln>
        </p:spPr>
        <p:style>
          <a:lnRef idx="1">
            <a:schemeClr val="tx1"/>
          </a:lnRef>
          <a:fillRef idx="0">
            <a:schemeClr val="tx1"/>
          </a:fillRef>
          <a:effectRef idx="0">
            <a:schemeClr val="tx1"/>
          </a:effectRef>
          <a:fontRef idx="minor">
            <a:schemeClr val="tx1"/>
          </a:fontRef>
        </p:style>
      </p:sp>
      <p:sp>
        <p:nvSpPr>
          <p:cNvPr id="1081" name="Slide Number Placeholder"/>
          <p:cNvSpPr>
            <a:spLocks noGrp="1"/>
          </p:cNvSpPr>
          <p:nvPr>
            <p:ph type="sldNum" idx="12"/>
          </p:nvPr>
        </p:nvSpPr>
        <p:spPr/>
        <p:txBody>
          <a:bodyPr/>
          <a:lstStyle/>
          <a:p>
            <a:fld id="{95D27AB5-652A-495A-8336-EEDE33D0623B}" type="slidenum">
              <a:rPr/>
              <a:t>‹#›</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425"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Open the registration and start the review</a:t>
            </a:r>
            <a:endParaRPr sz="2600" b="1">
              <a:solidFill>
                <a:srgbClr val="12384D"/>
              </a:solidFill>
            </a:endParaRPr>
          </a:p>
        </p:txBody>
      </p:sp>
      <p:sp>
        <p:nvSpPr>
          <p:cNvPr id="426"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Administrators see a DBGI review panel at the top</a:t>
            </a:r>
            <a:endParaRPr sz="1400" b="0">
              <a:solidFill>
                <a:srgbClr val="5B6B7A"/>
              </a:solidFill>
            </a:endParaRPr>
          </a:p>
        </p:txBody>
      </p:sp>
      <p:sp>
        <p:nvSpPr>
          <p:cNvPr id="427" name="Rectangle 4"/>
          <p:cNvSpPr/>
          <p:nvPr/>
        </p:nvSpPr>
        <p:spPr>
          <a:xfrm>
            <a:off x="8763000" y="508000"/>
            <a:ext cx="2794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3  |  DBGI administrator</a:t>
            </a:r>
            <a:endParaRPr sz="1200" b="1">
              <a:solidFill>
                <a:srgbClr val="FFFFFF"/>
              </a:solidFill>
            </a:endParaRPr>
          </a:p>
        </p:txBody>
      </p:sp>
      <p:pic>
        <p:nvPicPr>
          <p:cNvPr id="429" name="Picture 5" descr="start-review.png"/>
          <p:cNvPicPr>
            <a:picLocks noChangeAspect="1"/>
          </p:cNvPicPr>
          <p:nvPr/>
        </p:nvPicPr>
        <p:blipFill rotWithShape="1">
          <a:blip r:embed="rId2"/>
          <a:stretch>
            <a:fillRect/>
          </a:stretch>
        </p:blipFill>
        <p:spPr>
          <a:xfrm>
            <a:off x="762000" y="1587500"/>
            <a:ext cx="7112000" cy="3525520"/>
          </a:xfrm>
          <a:prstGeom prst="rect">
            <a:avLst/>
          </a:prstGeom>
          <a:ln w="12700">
            <a:solidFill>
              <a:srgbClr val="C9D6DE"/>
            </a:solidFill>
          </a:ln>
        </p:spPr>
      </p:pic>
      <p:sp>
        <p:nvSpPr>
          <p:cNvPr id="430" name="Rectangle 6"/>
          <p:cNvSpPr/>
          <p:nvPr/>
        </p:nvSpPr>
        <p:spPr>
          <a:xfrm>
            <a:off x="8128000" y="1587500"/>
            <a:ext cx="3429000" cy="419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Read the system recommendation and match score. They are only suggestions.</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Compare the End-user, address, products, and evidence yourself.</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Write a short review reason and select START REVIEW. This only marks the review as started.</a:t>
            </a:r>
            <a:endParaRPr sz="1300" b="0">
              <a:solidFill>
                <a:srgbClr val="1E2B3C"/>
              </a:solidFill>
            </a:endParaRPr>
          </a:p>
        </p:txBody>
      </p:sp>
      <p:sp>
        <p:nvSpPr>
          <p:cNvPr id="431" name="Rectangle 7"/>
          <p:cNvSpPr/>
          <p:nvPr/>
        </p:nvSpPr>
        <p:spPr>
          <a:xfrm>
            <a:off x="762000" y="5334000"/>
            <a:ext cx="7112000" cy="1016000"/>
          </a:xfrm>
          <a:prstGeom prst="roundRect">
            <a:avLst/>
          </a:prstGeom>
          <a:solidFill>
            <a:srgbClr val="FDF1D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8A5A00"/>
                </a:solidFill>
              </a:rPr>
              <a:t>Never confirm a match from the score alone. Here the score is 53% against a different Pasig project.</a:t>
            </a:r>
            <a:endParaRPr sz="1300" b="0">
              <a:solidFill>
                <a:srgbClr val="8A5A00"/>
              </a:solidFill>
            </a:endParaRPr>
          </a:p>
        </p:txBody>
      </p:sp>
      <p:sp>
        <p:nvSpPr>
          <p:cNvPr id="432" name="Alert"/>
          <p:cNvSpPr/>
          <p:nvPr/>
        </p:nvSpPr>
        <p:spPr>
          <a:xfrm>
            <a:off x="914400" y="5702300"/>
            <a:ext cx="279400" cy="2794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50000" y="33333"/>
                </a:moveTo>
                <a:lnTo>
                  <a:pt x="50000" y="50000"/>
                </a:lnTo>
                <a:moveTo>
                  <a:pt x="50000" y="66667"/>
                </a:moveTo>
                <a:lnTo>
                  <a:pt x="50042" y="66667"/>
                </a:lnTo>
              </a:path>
            </a:pathLst>
          </a:custGeom>
          <a:noFill/>
          <a:ln w="23283" cap="rnd">
            <a:solidFill>
              <a:srgbClr val="8A5A00"/>
            </a:solidFill>
            <a:round/>
          </a:ln>
        </p:spPr>
        <p:style>
          <a:lnRef idx="1">
            <a:schemeClr val="tx1"/>
          </a:lnRef>
          <a:fillRef idx="0">
            <a:schemeClr val="tx1"/>
          </a:fillRef>
          <a:effectRef idx="0">
            <a:schemeClr val="tx1"/>
          </a:effectRef>
          <a:fontRef idx="minor">
            <a:schemeClr val="tx1"/>
          </a:fontRef>
        </p:style>
      </p:sp>
      <p:sp>
        <p:nvSpPr>
          <p:cNvPr id="1084" name="Slide Number Placeholder"/>
          <p:cNvSpPr>
            <a:spLocks noGrp="1"/>
          </p:cNvSpPr>
          <p:nvPr>
            <p:ph type="sldNum" idx="12"/>
          </p:nvPr>
        </p:nvSpPr>
        <p:spPr/>
        <p:txBody>
          <a:bodyPr/>
          <a:lstStyle/>
          <a:p>
            <a:fld id="{92FA209A-C3A7-4F8D-8E85-A91313DE554C}" type="slidenum">
              <a:rPr/>
              <a:t>‹#›</a:t>
            </a:fld>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4"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435"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Choose exactly one decision</a:t>
            </a:r>
            <a:endParaRPr sz="2600" b="1">
              <a:solidFill>
                <a:srgbClr val="12384D"/>
              </a:solidFill>
            </a:endParaRPr>
          </a:p>
        </p:txBody>
      </p:sp>
      <p:sp>
        <p:nvSpPr>
          <p:cNvPr id="436"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In the example, DBGI asks the dealer for the RFQ reference</a:t>
            </a:r>
            <a:endParaRPr sz="1400" b="0">
              <a:solidFill>
                <a:srgbClr val="5B6B7A"/>
              </a:solidFill>
            </a:endParaRPr>
          </a:p>
        </p:txBody>
      </p:sp>
      <p:sp>
        <p:nvSpPr>
          <p:cNvPr id="437" name="Rectangle 4"/>
          <p:cNvSpPr/>
          <p:nvPr/>
        </p:nvSpPr>
        <p:spPr>
          <a:xfrm>
            <a:off x="8763000" y="508000"/>
            <a:ext cx="2794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3  |  DBGI administrator</a:t>
            </a:r>
            <a:endParaRPr sz="1200" b="1">
              <a:solidFill>
                <a:srgbClr val="FFFFFF"/>
              </a:solidFill>
            </a:endParaRPr>
          </a:p>
        </p:txBody>
      </p:sp>
      <p:pic>
        <p:nvPicPr>
          <p:cNvPr id="439" name="Picture 5" descr="decision-options.png"/>
          <p:cNvPicPr>
            <a:picLocks noChangeAspect="1"/>
          </p:cNvPicPr>
          <p:nvPr/>
        </p:nvPicPr>
        <p:blipFill rotWithShape="1">
          <a:blip r:embed="rId2"/>
          <a:stretch>
            <a:fillRect/>
          </a:stretch>
        </p:blipFill>
        <p:spPr>
          <a:xfrm>
            <a:off x="762000" y="1587500"/>
            <a:ext cx="6604000" cy="4248150"/>
          </a:xfrm>
          <a:prstGeom prst="rect">
            <a:avLst/>
          </a:prstGeom>
          <a:ln w="12700">
            <a:solidFill>
              <a:srgbClr val="C9D6DE"/>
            </a:solidFill>
          </a:ln>
        </p:spPr>
      </p:pic>
      <p:sp>
        <p:nvSpPr>
          <p:cNvPr id="440" name="Rectangle 6"/>
          <p:cNvSpPr/>
          <p:nvPr/>
        </p:nvSpPr>
        <p:spPr>
          <a:xfrm>
            <a:off x="7620000" y="1587500"/>
            <a:ext cx="3937000" cy="30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1">
                <a:solidFill>
                  <a:srgbClr val="12384D"/>
                </a:solidFill>
              </a:rPr>
              <a:t>Link to an existing opportunity</a:t>
            </a:r>
            <a:endParaRPr sz="1400" b="1">
              <a:solidFill>
                <a:srgbClr val="12384D"/>
              </a:solidFill>
            </a:endParaRPr>
          </a:p>
        </p:txBody>
      </p:sp>
      <p:sp>
        <p:nvSpPr>
          <p:cNvPr id="441" name="Rectangle 7"/>
          <p:cNvSpPr/>
          <p:nvPr/>
        </p:nvSpPr>
        <p:spPr>
          <a:xfrm>
            <a:off x="7620000" y="1917700"/>
            <a:ext cx="3937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E2B3C"/>
                </a:solidFill>
              </a:rPr>
              <a:t>This deal is the same procurement as one already in the portal.</a:t>
            </a:r>
            <a:endParaRPr sz="1300" b="0">
              <a:solidFill>
                <a:srgbClr val="1E2B3C"/>
              </a:solidFill>
            </a:endParaRPr>
          </a:p>
        </p:txBody>
      </p:sp>
      <p:sp>
        <p:nvSpPr>
          <p:cNvPr id="442" name="Rectangle 8"/>
          <p:cNvSpPr/>
          <p:nvPr/>
        </p:nvSpPr>
        <p:spPr>
          <a:xfrm>
            <a:off x="7620000" y="2654300"/>
            <a:ext cx="3937000" cy="30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1">
                <a:solidFill>
                  <a:srgbClr val="12384D"/>
                </a:solidFill>
              </a:rPr>
              <a:t>Create a new whole opportunity</a:t>
            </a:r>
            <a:endParaRPr sz="1400" b="1">
              <a:solidFill>
                <a:srgbClr val="12384D"/>
              </a:solidFill>
            </a:endParaRPr>
          </a:p>
        </p:txBody>
      </p:sp>
      <p:sp>
        <p:nvSpPr>
          <p:cNvPr id="443" name="Rectangle 9"/>
          <p:cNvSpPr/>
          <p:nvPr/>
        </p:nvSpPr>
        <p:spPr>
          <a:xfrm>
            <a:off x="7620000" y="2984500"/>
            <a:ext cx="3937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E2B3C"/>
                </a:solidFill>
              </a:rPr>
              <a:t>No existing opportunity fits.</a:t>
            </a:r>
            <a:endParaRPr sz="1300" b="0">
              <a:solidFill>
                <a:srgbClr val="1E2B3C"/>
              </a:solidFill>
            </a:endParaRPr>
          </a:p>
        </p:txBody>
      </p:sp>
      <p:sp>
        <p:nvSpPr>
          <p:cNvPr id="444" name="Rectangle 10"/>
          <p:cNvSpPr/>
          <p:nvPr/>
        </p:nvSpPr>
        <p:spPr>
          <a:xfrm>
            <a:off x="7620000" y="3721100"/>
            <a:ext cx="3937000" cy="30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1">
                <a:solidFill>
                  <a:srgbClr val="12384D"/>
                </a:solidFill>
              </a:rPr>
              <a:t>Request changes</a:t>
            </a:r>
            <a:endParaRPr sz="1400" b="1">
              <a:solidFill>
                <a:srgbClr val="12384D"/>
              </a:solidFill>
            </a:endParaRPr>
          </a:p>
        </p:txBody>
      </p:sp>
      <p:sp>
        <p:nvSpPr>
          <p:cNvPr id="445" name="Rectangle 11"/>
          <p:cNvSpPr/>
          <p:nvPr/>
        </p:nvSpPr>
        <p:spPr>
          <a:xfrm>
            <a:off x="7620000" y="4051300"/>
            <a:ext cx="3937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E2B3C"/>
                </a:solidFill>
              </a:rPr>
              <a:t>Something is missing or wrong. Write exact instructions.</a:t>
            </a:r>
            <a:endParaRPr sz="1300" b="0">
              <a:solidFill>
                <a:srgbClr val="1E2B3C"/>
              </a:solidFill>
            </a:endParaRPr>
          </a:p>
        </p:txBody>
      </p:sp>
      <p:sp>
        <p:nvSpPr>
          <p:cNvPr id="446" name="Rectangle 12"/>
          <p:cNvSpPr/>
          <p:nvPr/>
        </p:nvSpPr>
        <p:spPr>
          <a:xfrm>
            <a:off x="7620000" y="4787900"/>
            <a:ext cx="3937000" cy="30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1">
                <a:solidFill>
                  <a:srgbClr val="12384D"/>
                </a:solidFill>
              </a:rPr>
              <a:t>Reject registration</a:t>
            </a:r>
            <a:endParaRPr sz="1400" b="1">
              <a:solidFill>
                <a:srgbClr val="12384D"/>
              </a:solidFill>
            </a:endParaRPr>
          </a:p>
        </p:txBody>
      </p:sp>
      <p:sp>
        <p:nvSpPr>
          <p:cNvPr id="447" name="Rectangle 13"/>
          <p:cNvSpPr/>
          <p:nvPr/>
        </p:nvSpPr>
        <p:spPr>
          <a:xfrm>
            <a:off x="7620000" y="5118100"/>
            <a:ext cx="3937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E2B3C"/>
                </a:solidFill>
              </a:rPr>
              <a:t>Give a clear business reason.</a:t>
            </a:r>
            <a:endParaRPr sz="1300" b="0">
              <a:solidFill>
                <a:srgbClr val="1E2B3C"/>
              </a:solidFill>
            </a:endParaRPr>
          </a:p>
        </p:txBody>
      </p:sp>
      <p:sp>
        <p:nvSpPr>
          <p:cNvPr id="448" name="Rectangle 14"/>
          <p:cNvSpPr/>
          <p:nvPr/>
        </p:nvSpPr>
        <p:spPr>
          <a:xfrm>
            <a:off x="762000" y="5969000"/>
            <a:ext cx="10795000" cy="4826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12384D"/>
                </a:solidFill>
              </a:rPr>
              <a:t>The company is notified automatically after every decision.</a:t>
            </a:r>
            <a:endParaRPr sz="1300" b="0">
              <a:solidFill>
                <a:srgbClr val="12384D"/>
              </a:solidFill>
            </a:endParaRPr>
          </a:p>
        </p:txBody>
      </p:sp>
      <p:sp>
        <p:nvSpPr>
          <p:cNvPr id="449" name="Bell"/>
          <p:cNvSpPr/>
          <p:nvPr/>
        </p:nvSpPr>
        <p:spPr>
          <a:xfrm>
            <a:off x="914400" y="6070600"/>
            <a:ext cx="279400" cy="279400"/>
          </a:xfrm>
          <a:custGeom>
            <a:avLst/>
            <a:gdLst/>
            <a:ahLst/>
            <a:cxnLst/>
            <a:rect l="l" t="t" r="r" b="b"/>
            <a:pathLst>
              <a:path w="100000" h="100000" fill="none">
                <a:moveTo>
                  <a:pt x="42783" y="87500"/>
                </a:moveTo>
                <a:cubicBezTo>
                  <a:pt x="44272" y="90078"/>
                  <a:pt x="47023" y="91666"/>
                  <a:pt x="50000" y="91666"/>
                </a:cubicBezTo>
                <a:cubicBezTo>
                  <a:pt x="52977" y="91666"/>
                  <a:pt x="55728" y="90078"/>
                  <a:pt x="57217" y="87500"/>
                </a:cubicBezTo>
                <a:moveTo>
                  <a:pt x="13592" y="63858"/>
                </a:moveTo>
                <a:cubicBezTo>
                  <a:pt x="12480" y="65077"/>
                  <a:pt x="12192" y="66838"/>
                  <a:pt x="12857" y="68348"/>
                </a:cubicBezTo>
                <a:cubicBezTo>
                  <a:pt x="13523" y="69858"/>
                  <a:pt x="15017" y="70832"/>
                  <a:pt x="16667" y="70833"/>
                </a:cubicBezTo>
                <a:lnTo>
                  <a:pt x="83333" y="70833"/>
                </a:lnTo>
                <a:cubicBezTo>
                  <a:pt x="84983" y="70834"/>
                  <a:pt x="86478" y="69861"/>
                  <a:pt x="87145" y="68352"/>
                </a:cubicBezTo>
                <a:cubicBezTo>
                  <a:pt x="87813" y="66843"/>
                  <a:pt x="87527" y="65083"/>
                  <a:pt x="86417" y="63863"/>
                </a:cubicBezTo>
                <a:cubicBezTo>
                  <a:pt x="80875" y="58150"/>
                  <a:pt x="75000" y="52079"/>
                  <a:pt x="75000" y="33333"/>
                </a:cubicBezTo>
                <a:cubicBezTo>
                  <a:pt x="75000" y="19526"/>
                  <a:pt x="63807" y="8333"/>
                  <a:pt x="50000" y="8333"/>
                </a:cubicBezTo>
                <a:cubicBezTo>
                  <a:pt x="36193" y="8333"/>
                  <a:pt x="25000" y="19526"/>
                  <a:pt x="25000" y="33333"/>
                </a:cubicBezTo>
                <a:cubicBezTo>
                  <a:pt x="25000" y="52079"/>
                  <a:pt x="19121" y="58150"/>
                  <a:pt x="13592" y="63858"/>
                </a:cubicBez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087" name="Slide Number Placeholder"/>
          <p:cNvSpPr>
            <a:spLocks noGrp="1"/>
          </p:cNvSpPr>
          <p:nvPr>
            <p:ph type="sldNum" idx="12"/>
          </p:nvPr>
        </p:nvSpPr>
        <p:spPr/>
        <p:txBody>
          <a:bodyPr/>
          <a:lstStyle/>
          <a:p>
            <a:fld id="{18C67565-E9B8-43A8-859B-FB8AC9415FF1}" type="slidenum">
              <a:rPr/>
              <a:t>‹#›</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452"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Read what DBGI needs</a:t>
            </a:r>
            <a:endParaRPr sz="2600" b="1">
              <a:solidFill>
                <a:srgbClr val="12384D"/>
              </a:solidFill>
            </a:endParaRPr>
          </a:p>
        </p:txBody>
      </p:sp>
      <p:sp>
        <p:nvSpPr>
          <p:cNvPr id="453"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The registration now shows Changes requested</a:t>
            </a:r>
            <a:endParaRPr sz="1400" b="0">
              <a:solidFill>
                <a:srgbClr val="5B6B7A"/>
              </a:solidFill>
            </a:endParaRPr>
          </a:p>
        </p:txBody>
      </p:sp>
      <p:sp>
        <p:nvSpPr>
          <p:cNvPr id="454" name="Rectangle 4"/>
          <p:cNvSpPr/>
          <p:nvPr/>
        </p:nvSpPr>
        <p:spPr>
          <a:xfrm>
            <a:off x="8763000" y="508000"/>
            <a:ext cx="2794000" cy="355600"/>
          </a:xfrm>
          <a:prstGeom prst="round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4  |  Company user</a:t>
            </a:r>
            <a:endParaRPr sz="1200" b="1">
              <a:solidFill>
                <a:srgbClr val="FFFFFF"/>
              </a:solidFill>
            </a:endParaRPr>
          </a:p>
        </p:txBody>
      </p:sp>
      <p:pic>
        <p:nvPicPr>
          <p:cNvPr id="456" name="Picture 5" descr="changes-requested.png"/>
          <p:cNvPicPr>
            <a:picLocks noChangeAspect="1"/>
          </p:cNvPicPr>
          <p:nvPr/>
        </p:nvPicPr>
        <p:blipFill rotWithShape="1">
          <a:blip r:embed="rId2"/>
          <a:stretch>
            <a:fillRect/>
          </a:stretch>
        </p:blipFill>
        <p:spPr>
          <a:xfrm>
            <a:off x="762000" y="1587500"/>
            <a:ext cx="7617460" cy="1549400"/>
          </a:xfrm>
          <a:prstGeom prst="rect">
            <a:avLst/>
          </a:prstGeom>
          <a:ln w="12700">
            <a:solidFill>
              <a:srgbClr val="C9D6DE"/>
            </a:solidFill>
          </a:ln>
        </p:spPr>
      </p:pic>
      <p:pic>
        <p:nvPicPr>
          <p:cNvPr id="458" name="Picture 6" descr="activity-reason.png"/>
          <p:cNvPicPr>
            <a:picLocks noChangeAspect="1"/>
          </p:cNvPicPr>
          <p:nvPr/>
        </p:nvPicPr>
        <p:blipFill rotWithShape="1">
          <a:blip r:embed="rId3"/>
          <a:stretch>
            <a:fillRect/>
          </a:stretch>
        </p:blipFill>
        <p:spPr>
          <a:xfrm>
            <a:off x="762000" y="3365500"/>
            <a:ext cx="7595870" cy="1549400"/>
          </a:xfrm>
          <a:prstGeom prst="rect">
            <a:avLst/>
          </a:prstGeom>
          <a:ln w="12700">
            <a:solidFill>
              <a:srgbClr val="C9D6DE"/>
            </a:solidFill>
          </a:ln>
        </p:spPr>
      </p:pic>
      <p:sp>
        <p:nvSpPr>
          <p:cNvPr id="459" name="Rectangle 7"/>
          <p:cNvSpPr/>
          <p:nvPr/>
        </p:nvSpPr>
        <p:spPr>
          <a:xfrm>
            <a:off x="8636000" y="1587500"/>
            <a:ext cx="2921000" cy="381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Open the Changes requested notification, or the registration itself.</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Scroll to Activity. DBGI's exact instructions are under Request changes.</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Select EDIT REGISTRATION.</a:t>
            </a:r>
            <a:endParaRPr sz="1300" b="0">
              <a:solidFill>
                <a:srgbClr val="1E2B3C"/>
              </a:solidFill>
            </a:endParaRPr>
          </a:p>
        </p:txBody>
      </p:sp>
      <p:sp>
        <p:nvSpPr>
          <p:cNvPr id="460" name="Rectangle 8"/>
          <p:cNvSpPr/>
          <p:nvPr/>
        </p:nvSpPr>
        <p:spPr>
          <a:xfrm>
            <a:off x="762000" y="5143500"/>
            <a:ext cx="7620000" cy="1143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12384D"/>
                </a:solidFill>
              </a:rPr>
              <a:t>View changes under each Activity entry shows the before and after values for that step.</a:t>
            </a:r>
            <a:endParaRPr sz="1300" b="0">
              <a:solidFill>
                <a:srgbClr val="12384D"/>
              </a:solidFill>
            </a:endParaRPr>
          </a:p>
        </p:txBody>
      </p:sp>
      <p:sp>
        <p:nvSpPr>
          <p:cNvPr id="461" name="Info"/>
          <p:cNvSpPr/>
          <p:nvPr/>
        </p:nvSpPr>
        <p:spPr>
          <a:xfrm>
            <a:off x="914400" y="5575300"/>
            <a:ext cx="279400" cy="2794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50000" y="66667"/>
                </a:moveTo>
                <a:lnTo>
                  <a:pt x="50000" y="50000"/>
                </a:lnTo>
                <a:moveTo>
                  <a:pt x="50000" y="33333"/>
                </a:moveTo>
                <a:lnTo>
                  <a:pt x="50042" y="333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090" name="Slide Number Placeholder"/>
          <p:cNvSpPr>
            <a:spLocks noGrp="1"/>
          </p:cNvSpPr>
          <p:nvPr>
            <p:ph type="sldNum" idx="12"/>
          </p:nvPr>
        </p:nvSpPr>
        <p:spPr/>
        <p:txBody>
          <a:bodyPr/>
          <a:lstStyle/>
          <a:p>
            <a:fld id="{4D469FB7-52EC-4B93-8A4D-4826A82733E2}" type="slidenum">
              <a:rPr/>
              <a:t>‹#›</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464"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Fix only what was asked, then save</a:t>
            </a:r>
            <a:endParaRPr sz="2600" b="1">
              <a:solidFill>
                <a:srgbClr val="12384D"/>
              </a:solidFill>
            </a:endParaRPr>
          </a:p>
        </p:txBody>
      </p:sp>
      <p:sp>
        <p:nvSpPr>
          <p:cNvPr id="465"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The same registration goes back to DBGI</a:t>
            </a:r>
            <a:endParaRPr sz="1400" b="0">
              <a:solidFill>
                <a:srgbClr val="5B6B7A"/>
              </a:solidFill>
            </a:endParaRPr>
          </a:p>
        </p:txBody>
      </p:sp>
      <p:sp>
        <p:nvSpPr>
          <p:cNvPr id="466" name="Rectangle 4"/>
          <p:cNvSpPr/>
          <p:nvPr/>
        </p:nvSpPr>
        <p:spPr>
          <a:xfrm>
            <a:off x="8763000" y="508000"/>
            <a:ext cx="2794000" cy="355600"/>
          </a:xfrm>
          <a:prstGeom prst="round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4  |  Company user</a:t>
            </a:r>
            <a:endParaRPr sz="1200" b="1">
              <a:solidFill>
                <a:srgbClr val="FFFFFF"/>
              </a:solidFill>
            </a:endParaRPr>
          </a:p>
        </p:txBody>
      </p:sp>
      <p:pic>
        <p:nvPicPr>
          <p:cNvPr id="468" name="Picture 5" descr="edit-evidence.png"/>
          <p:cNvPicPr>
            <a:picLocks noChangeAspect="1"/>
          </p:cNvPicPr>
          <p:nvPr/>
        </p:nvPicPr>
        <p:blipFill rotWithShape="1">
          <a:blip r:embed="rId2"/>
          <a:stretch>
            <a:fillRect/>
          </a:stretch>
        </p:blipFill>
        <p:spPr>
          <a:xfrm>
            <a:off x="762000" y="1587500"/>
            <a:ext cx="5693410" cy="2184400"/>
          </a:xfrm>
          <a:prstGeom prst="rect">
            <a:avLst/>
          </a:prstGeom>
          <a:ln w="12700">
            <a:solidFill>
              <a:srgbClr val="C9D6DE"/>
            </a:solidFill>
          </a:ln>
        </p:spPr>
      </p:pic>
      <p:pic>
        <p:nvPicPr>
          <p:cNvPr id="470" name="Picture 6" descr="resubmitted.png"/>
          <p:cNvPicPr>
            <a:picLocks noChangeAspect="1"/>
          </p:cNvPicPr>
          <p:nvPr/>
        </p:nvPicPr>
        <p:blipFill rotWithShape="1">
          <a:blip r:embed="rId3"/>
          <a:stretch>
            <a:fillRect/>
          </a:stretch>
        </p:blipFill>
        <p:spPr>
          <a:xfrm>
            <a:off x="762000" y="3962400"/>
            <a:ext cx="7617460" cy="1549400"/>
          </a:xfrm>
          <a:prstGeom prst="rect">
            <a:avLst/>
          </a:prstGeom>
          <a:ln w="12700">
            <a:solidFill>
              <a:srgbClr val="C9D6DE"/>
            </a:solidFill>
          </a:ln>
        </p:spPr>
      </p:pic>
      <p:sp>
        <p:nvSpPr>
          <p:cNvPr id="471" name="Rectangle 7"/>
          <p:cNvSpPr/>
          <p:nvPr/>
        </p:nvSpPr>
        <p:spPr>
          <a:xfrm>
            <a:off x="8636000" y="1587500"/>
            <a:ext cx="2921000" cy="419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Change only the fields DBGI mentioned. Here, the RFQ reference was added to the evidence.</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Review everything, then select SAVE CHANGES.</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The status becomes Resubmitted. DBGI reviews the corrected version.</a:t>
            </a:r>
            <a:endParaRPr sz="1300" b="0">
              <a:solidFill>
                <a:srgbClr val="1E2B3C"/>
              </a:solidFill>
            </a:endParaRPr>
          </a:p>
        </p:txBody>
      </p:sp>
      <p:sp>
        <p:nvSpPr>
          <p:cNvPr id="472" name="Rectangle 8"/>
          <p:cNvSpPr/>
          <p:nvPr/>
        </p:nvSpPr>
        <p:spPr>
          <a:xfrm>
            <a:off x="762000" y="5689600"/>
            <a:ext cx="10795000" cy="635000"/>
          </a:xfrm>
          <a:prstGeom prst="roundRect">
            <a:avLst/>
          </a:prstGeom>
          <a:solidFill>
            <a:srgbClr val="FDF1D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8A5A00"/>
                </a:solidFill>
              </a:rPr>
              <a:t>Editing a registration that was already Registered also sends it back for review.</a:t>
            </a:r>
            <a:endParaRPr sz="1300" b="0">
              <a:solidFill>
                <a:srgbClr val="8A5A00"/>
              </a:solidFill>
            </a:endParaRPr>
          </a:p>
        </p:txBody>
      </p:sp>
      <p:sp>
        <p:nvSpPr>
          <p:cNvPr id="473" name="Alert"/>
          <p:cNvSpPr/>
          <p:nvPr/>
        </p:nvSpPr>
        <p:spPr>
          <a:xfrm>
            <a:off x="914400" y="5867400"/>
            <a:ext cx="279400" cy="2794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50000" y="33333"/>
                </a:moveTo>
                <a:lnTo>
                  <a:pt x="50000" y="50000"/>
                </a:lnTo>
                <a:moveTo>
                  <a:pt x="50000" y="66667"/>
                </a:moveTo>
                <a:lnTo>
                  <a:pt x="50042" y="66667"/>
                </a:lnTo>
              </a:path>
            </a:pathLst>
          </a:custGeom>
          <a:noFill/>
          <a:ln w="23283" cap="rnd">
            <a:solidFill>
              <a:srgbClr val="8A5A00"/>
            </a:solidFill>
            <a:round/>
          </a:ln>
        </p:spPr>
        <p:style>
          <a:lnRef idx="1">
            <a:schemeClr val="tx1"/>
          </a:lnRef>
          <a:fillRef idx="0">
            <a:schemeClr val="tx1"/>
          </a:fillRef>
          <a:effectRef idx="0">
            <a:schemeClr val="tx1"/>
          </a:effectRef>
          <a:fontRef idx="minor">
            <a:schemeClr val="tx1"/>
          </a:fontRef>
        </p:style>
      </p:sp>
      <p:sp>
        <p:nvSpPr>
          <p:cNvPr id="1093" name="Slide Number Placeholder"/>
          <p:cNvSpPr>
            <a:spLocks noGrp="1"/>
          </p:cNvSpPr>
          <p:nvPr>
            <p:ph type="sldNum" idx="12"/>
          </p:nvPr>
        </p:nvSpPr>
        <p:spPr/>
        <p:txBody>
          <a:bodyPr/>
          <a:lstStyle/>
          <a:p>
            <a:fld id="{3581C090-3B8A-4946-86C5-674662338F4F}" type="slidenum">
              <a:rPr/>
              <a:t>‹#›</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476"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Check the changes, then confirm</a:t>
            </a:r>
            <a:endParaRPr sz="2600" b="1">
              <a:solidFill>
                <a:srgbClr val="12384D"/>
              </a:solidFill>
            </a:endParaRPr>
          </a:p>
        </p:txBody>
      </p:sp>
      <p:sp>
        <p:nvSpPr>
          <p:cNvPr id="477"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Activity shows exactly what the company changed</a:t>
            </a:r>
            <a:endParaRPr sz="1400" b="0">
              <a:solidFill>
                <a:srgbClr val="5B6B7A"/>
              </a:solidFill>
            </a:endParaRPr>
          </a:p>
        </p:txBody>
      </p:sp>
      <p:sp>
        <p:nvSpPr>
          <p:cNvPr id="478" name="Rectangle 4"/>
          <p:cNvSpPr/>
          <p:nvPr/>
        </p:nvSpPr>
        <p:spPr>
          <a:xfrm>
            <a:off x="8763000" y="508000"/>
            <a:ext cx="2794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5  |  DBGI administrator</a:t>
            </a:r>
            <a:endParaRPr sz="1200" b="1">
              <a:solidFill>
                <a:srgbClr val="FFFFFF"/>
              </a:solidFill>
            </a:endParaRPr>
          </a:p>
        </p:txBody>
      </p:sp>
      <p:pic>
        <p:nvPicPr>
          <p:cNvPr id="480" name="Picture 5" descr="activity-changes.png"/>
          <p:cNvPicPr>
            <a:picLocks noChangeAspect="1"/>
          </p:cNvPicPr>
          <p:nvPr/>
        </p:nvPicPr>
        <p:blipFill rotWithShape="1">
          <a:blip r:embed="rId2"/>
          <a:stretch>
            <a:fillRect/>
          </a:stretch>
        </p:blipFill>
        <p:spPr>
          <a:xfrm>
            <a:off x="762000" y="1587500"/>
            <a:ext cx="5330190" cy="2540000"/>
          </a:xfrm>
          <a:prstGeom prst="rect">
            <a:avLst/>
          </a:prstGeom>
          <a:ln w="12700">
            <a:solidFill>
              <a:srgbClr val="C9D6DE"/>
            </a:solidFill>
          </a:ln>
        </p:spPr>
      </p:pic>
      <p:pic>
        <p:nvPicPr>
          <p:cNvPr id="482" name="Picture 6" descr="create-opportunity.png"/>
          <p:cNvPicPr>
            <a:picLocks noChangeAspect="1"/>
          </p:cNvPicPr>
          <p:nvPr/>
        </p:nvPicPr>
        <p:blipFill rotWithShape="1">
          <a:blip r:embed="rId3"/>
          <a:stretch>
            <a:fillRect/>
          </a:stretch>
        </p:blipFill>
        <p:spPr>
          <a:xfrm>
            <a:off x="6350000" y="1587500"/>
            <a:ext cx="5207000" cy="3348990"/>
          </a:xfrm>
          <a:prstGeom prst="rect">
            <a:avLst/>
          </a:prstGeom>
          <a:ln w="12700">
            <a:solidFill>
              <a:srgbClr val="C9D6DE"/>
            </a:solidFill>
          </a:ln>
        </p:spPr>
      </p:pic>
      <p:sp>
        <p:nvSpPr>
          <p:cNvPr id="483" name="Rectangle 7"/>
          <p:cNvSpPr/>
          <p:nvPr/>
        </p:nvSpPr>
        <p:spPr>
          <a:xfrm>
            <a:off x="762000" y="4318000"/>
            <a:ext cx="5334000" cy="2159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Open the Company edit entry and compare old and new values.</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Start review again with a reason.</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Pick the final decision. Here: Create a new whole opportunity, because this is a school division purchase.</a:t>
            </a:r>
            <a:endParaRPr sz="1300" b="0">
              <a:solidFill>
                <a:srgbClr val="1E2B3C"/>
              </a:solidFill>
            </a:endParaRPr>
          </a:p>
        </p:txBody>
      </p:sp>
      <p:sp>
        <p:nvSpPr>
          <p:cNvPr id="484" name="Rectangle 8"/>
          <p:cNvSpPr/>
          <p:nvPr/>
        </p:nvSpPr>
        <p:spPr>
          <a:xfrm>
            <a:off x="6350000" y="5080000"/>
            <a:ext cx="5207000" cy="1270000"/>
          </a:xfrm>
          <a:prstGeom prst="roundRect">
            <a:avLst/>
          </a:prstGeom>
          <a:solidFill>
            <a:srgbClr val="E3F4EC"/>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1D6B48"/>
                </a:solidFill>
              </a:rPr>
              <a:t>Result: Registered, Project: Upcoming. The opportunity now exists and ranking can be calculated.</a:t>
            </a:r>
            <a:endParaRPr sz="1300" b="0">
              <a:solidFill>
                <a:srgbClr val="1D6B48"/>
              </a:solidFill>
            </a:endParaRPr>
          </a:p>
        </p:txBody>
      </p:sp>
      <p:sp>
        <p:nvSpPr>
          <p:cNvPr id="485" name="Check circle"/>
          <p:cNvSpPr/>
          <p:nvPr/>
        </p:nvSpPr>
        <p:spPr>
          <a:xfrm>
            <a:off x="6502400" y="5575300"/>
            <a:ext cx="279400" cy="2794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66667" y="37500"/>
                </a:moveTo>
                <a:lnTo>
                  <a:pt x="43750" y="60417"/>
                </a:lnTo>
                <a:lnTo>
                  <a:pt x="33333" y="50000"/>
                </a:lnTo>
              </a:path>
            </a:pathLst>
          </a:custGeom>
          <a:noFill/>
          <a:ln w="23283" cap="rnd">
            <a:solidFill>
              <a:srgbClr val="1D6B48"/>
            </a:solidFill>
            <a:round/>
          </a:ln>
        </p:spPr>
        <p:style>
          <a:lnRef idx="1">
            <a:schemeClr val="tx1"/>
          </a:lnRef>
          <a:fillRef idx="0">
            <a:schemeClr val="tx1"/>
          </a:fillRef>
          <a:effectRef idx="0">
            <a:schemeClr val="tx1"/>
          </a:effectRef>
          <a:fontRef idx="minor">
            <a:schemeClr val="tx1"/>
          </a:fontRef>
        </p:style>
      </p:sp>
      <p:sp>
        <p:nvSpPr>
          <p:cNvPr id="1096" name="Slide Number Placeholder"/>
          <p:cNvSpPr>
            <a:spLocks noGrp="1"/>
          </p:cNvSpPr>
          <p:nvPr>
            <p:ph type="sldNum" idx="12"/>
          </p:nvPr>
        </p:nvSpPr>
        <p:spPr/>
        <p:txBody>
          <a:bodyPr/>
          <a:lstStyle/>
          <a:p>
            <a:fld id="{F2E35DDB-BDB6-41C9-8A22-79D743663650}" type="slidenum">
              <a:rPr/>
              <a:t>‹#›</a:t>
            </a:fld>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7"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488"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Approve the price</a:t>
            </a:r>
            <a:endParaRPr sz="2600" b="1">
              <a:solidFill>
                <a:srgbClr val="12384D"/>
              </a:solidFill>
            </a:endParaRPr>
          </a:p>
        </p:txBody>
      </p:sp>
      <p:sp>
        <p:nvSpPr>
          <p:cNvPr id="489"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Administration, Price approvals (or the dashboard's Pricing queue)</a:t>
            </a:r>
            <a:endParaRPr sz="1400" b="0">
              <a:solidFill>
                <a:srgbClr val="5B6B7A"/>
              </a:solidFill>
            </a:endParaRPr>
          </a:p>
        </p:txBody>
      </p:sp>
      <p:sp>
        <p:nvSpPr>
          <p:cNvPr id="490" name="Rectangle 4"/>
          <p:cNvSpPr/>
          <p:nvPr/>
        </p:nvSpPr>
        <p:spPr>
          <a:xfrm>
            <a:off x="8763000" y="508000"/>
            <a:ext cx="2794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6  |  DBGI administrator</a:t>
            </a:r>
            <a:endParaRPr sz="1200" b="1">
              <a:solidFill>
                <a:srgbClr val="FFFFFF"/>
              </a:solidFill>
            </a:endParaRPr>
          </a:p>
        </p:txBody>
      </p:sp>
      <p:pic>
        <p:nvPicPr>
          <p:cNvPr id="492" name="Picture 5" descr="pricing-top.png"/>
          <p:cNvPicPr>
            <a:picLocks noChangeAspect="1"/>
          </p:cNvPicPr>
          <p:nvPr/>
        </p:nvPicPr>
        <p:blipFill rotWithShape="1">
          <a:blip r:embed="rId2"/>
          <a:stretch>
            <a:fillRect/>
          </a:stretch>
        </p:blipFill>
        <p:spPr>
          <a:xfrm>
            <a:off x="762000" y="1587500"/>
            <a:ext cx="5334000" cy="2945130"/>
          </a:xfrm>
          <a:prstGeom prst="rect">
            <a:avLst/>
          </a:prstGeom>
          <a:ln w="12700">
            <a:solidFill>
              <a:srgbClr val="C9D6DE"/>
            </a:solidFill>
          </a:ln>
        </p:spPr>
      </p:pic>
      <p:pic>
        <p:nvPicPr>
          <p:cNvPr id="494" name="Picture 6" descr="pricing-items.png"/>
          <p:cNvPicPr>
            <a:picLocks noChangeAspect="1"/>
          </p:cNvPicPr>
          <p:nvPr/>
        </p:nvPicPr>
        <p:blipFill rotWithShape="1">
          <a:blip r:embed="rId3"/>
          <a:stretch>
            <a:fillRect/>
          </a:stretch>
        </p:blipFill>
        <p:spPr>
          <a:xfrm>
            <a:off x="762000" y="4724400"/>
            <a:ext cx="5334000" cy="1643380"/>
          </a:xfrm>
          <a:prstGeom prst="rect">
            <a:avLst/>
          </a:prstGeom>
          <a:ln w="12700">
            <a:solidFill>
              <a:srgbClr val="C9D6DE"/>
            </a:solidFill>
          </a:ln>
        </p:spPr>
      </p:pic>
      <p:sp>
        <p:nvSpPr>
          <p:cNvPr id="495" name="Rectangle 7"/>
          <p:cNvSpPr/>
          <p:nvPr/>
        </p:nvSpPr>
        <p:spPr>
          <a:xfrm>
            <a:off x="6350000" y="1587500"/>
            <a:ext cx="5207000" cy="355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Open the pending category for the registration.</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Set Status: Approved, Partially approved, Rejected, or Changes requested.</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Write the rationale and set Valid until.</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Under Registration item approvals, add the item and its approved unit price.</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Select Save. Reviewed by and Reviewed at are filled in with your name and the time.</a:t>
            </a:r>
            <a:endParaRPr sz="1300" b="0">
              <a:solidFill>
                <a:srgbClr val="1E2B3C"/>
              </a:solidFill>
            </a:endParaRPr>
          </a:p>
        </p:txBody>
      </p:sp>
      <p:sp>
        <p:nvSpPr>
          <p:cNvPr id="496" name="Rectangle 8"/>
          <p:cNvSpPr/>
          <p:nvPr/>
        </p:nvSpPr>
        <p:spPr>
          <a:xfrm>
            <a:off x="6350000" y="5207000"/>
            <a:ext cx="5207000" cy="11684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12384D"/>
                </a:solidFill>
              </a:rPr>
              <a:t>Only this registration's items are offered, each labelled with its reference, such as DBGI-000012.</a:t>
            </a:r>
            <a:endParaRPr sz="1300" b="0">
              <a:solidFill>
                <a:srgbClr val="12384D"/>
              </a:solidFill>
            </a:endParaRPr>
          </a:p>
        </p:txBody>
      </p:sp>
      <p:sp>
        <p:nvSpPr>
          <p:cNvPr id="497" name="Info"/>
          <p:cNvSpPr/>
          <p:nvPr/>
        </p:nvSpPr>
        <p:spPr>
          <a:xfrm>
            <a:off x="6502400" y="5651500"/>
            <a:ext cx="279400" cy="2794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50000" y="66667"/>
                </a:moveTo>
                <a:lnTo>
                  <a:pt x="50000" y="50000"/>
                </a:lnTo>
                <a:moveTo>
                  <a:pt x="50000" y="33333"/>
                </a:moveTo>
                <a:lnTo>
                  <a:pt x="50042" y="333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099" name="Slide Number Placeholder"/>
          <p:cNvSpPr>
            <a:spLocks noGrp="1"/>
          </p:cNvSpPr>
          <p:nvPr>
            <p:ph type="sldNum" idx="12"/>
          </p:nvPr>
        </p:nvSpPr>
        <p:spPr/>
        <p:txBody>
          <a:bodyPr/>
          <a:lstStyle/>
          <a:p>
            <a:fld id="{32C9C87E-8A6C-4B44-888E-C579E651A6D5}" type="slidenum">
              <a:rPr/>
              <a:t>‹#›</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9"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00"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See the decision and the approved price</a:t>
            </a:r>
            <a:endParaRPr sz="2600" b="1">
              <a:solidFill>
                <a:srgbClr val="12384D"/>
              </a:solidFill>
            </a:endParaRPr>
          </a:p>
        </p:txBody>
      </p:sp>
      <p:sp>
        <p:nvSpPr>
          <p:cNvPr id="501"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All three badges now have an answer</a:t>
            </a:r>
            <a:endParaRPr sz="1400" b="0">
              <a:solidFill>
                <a:srgbClr val="5B6B7A"/>
              </a:solidFill>
            </a:endParaRPr>
          </a:p>
        </p:txBody>
      </p:sp>
      <p:sp>
        <p:nvSpPr>
          <p:cNvPr id="502" name="Rectangle 4"/>
          <p:cNvSpPr/>
          <p:nvPr/>
        </p:nvSpPr>
        <p:spPr>
          <a:xfrm>
            <a:off x="8763000" y="508000"/>
            <a:ext cx="2794000" cy="355600"/>
          </a:xfrm>
          <a:prstGeom prst="round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7  |  Company user</a:t>
            </a:r>
            <a:endParaRPr sz="1200" b="1">
              <a:solidFill>
                <a:srgbClr val="FFFFFF"/>
              </a:solidFill>
            </a:endParaRPr>
          </a:p>
        </p:txBody>
      </p:sp>
      <p:pic>
        <p:nvPicPr>
          <p:cNvPr id="504" name="Picture 5" descr="approved-top.png"/>
          <p:cNvPicPr>
            <a:picLocks noChangeAspect="1"/>
          </p:cNvPicPr>
          <p:nvPr/>
        </p:nvPicPr>
        <p:blipFill rotWithShape="1">
          <a:blip r:embed="rId2"/>
          <a:stretch>
            <a:fillRect/>
          </a:stretch>
        </p:blipFill>
        <p:spPr>
          <a:xfrm>
            <a:off x="762000" y="1587500"/>
            <a:ext cx="7112000" cy="1506220"/>
          </a:xfrm>
          <a:prstGeom prst="rect">
            <a:avLst/>
          </a:prstGeom>
          <a:ln w="12700">
            <a:solidFill>
              <a:srgbClr val="C9D6DE"/>
            </a:solidFill>
          </a:ln>
        </p:spPr>
      </p:pic>
      <p:pic>
        <p:nvPicPr>
          <p:cNvPr id="506" name="Picture 6" descr="approved-pricing.png"/>
          <p:cNvPicPr>
            <a:picLocks noChangeAspect="1"/>
          </p:cNvPicPr>
          <p:nvPr/>
        </p:nvPicPr>
        <p:blipFill rotWithShape="1">
          <a:blip r:embed="rId3"/>
          <a:stretch>
            <a:fillRect/>
          </a:stretch>
        </p:blipFill>
        <p:spPr>
          <a:xfrm>
            <a:off x="762000" y="3276600"/>
            <a:ext cx="6615430" cy="3111500"/>
          </a:xfrm>
          <a:prstGeom prst="rect">
            <a:avLst/>
          </a:prstGeom>
          <a:ln w="12700">
            <a:solidFill>
              <a:srgbClr val="C9D6DE"/>
            </a:solidFill>
          </a:ln>
        </p:spPr>
      </p:pic>
      <p:sp>
        <p:nvSpPr>
          <p:cNvPr id="507" name="Rectangle 7"/>
          <p:cNvSpPr/>
          <p:nvPr/>
        </p:nvSpPr>
        <p:spPr>
          <a:xfrm>
            <a:off x="8128000" y="1587500"/>
            <a:ext cx="3429000" cy="482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Badges: Registered, Project: Upcoming, Pricing: Approved.</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Commercial approvals shows the decision, valid-until date, reviewer, and reason.</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Requested products shows the approved unit price: PHP 9,200, not the PHP 9,000 requested.</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Quote only the approved price, and only until the valid-until date.</a:t>
            </a:r>
            <a:endParaRPr sz="1300" b="0">
              <a:solidFill>
                <a:srgbClr val="1E2B3C"/>
              </a:solidFill>
            </a:endParaRPr>
          </a:p>
        </p:txBody>
      </p:sp>
      <p:sp>
        <p:nvSpPr>
          <p:cNvPr id="1102" name="Slide Number Placeholder"/>
          <p:cNvSpPr>
            <a:spLocks noGrp="1"/>
          </p:cNvSpPr>
          <p:nvPr>
            <p:ph type="sldNum" idx="12"/>
          </p:nvPr>
        </p:nvSpPr>
        <p:spPr/>
        <p:txBody>
          <a:bodyPr/>
          <a:lstStyle/>
          <a:p>
            <a:fld id="{6C792AA4-C711-45BF-83AD-4A57D36F8096}" type="slidenum">
              <a:rPr/>
              <a:t>‹#›</a:t>
            </a:fld>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9"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10" name="Rectangle 2"/>
          <p:cNvSpPr/>
          <p:nvPr/>
        </p:nvSpPr>
        <p:spPr>
          <a:xfrm>
            <a:off x="711200" y="533400"/>
            <a:ext cx="8001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Check your ranking</a:t>
            </a:r>
            <a:endParaRPr sz="2600" b="1">
              <a:solidFill>
                <a:srgbClr val="12384D"/>
              </a:solidFill>
            </a:endParaRPr>
          </a:p>
        </p:txBody>
      </p:sp>
      <p:sp>
        <p:nvSpPr>
          <p:cNvPr id="511"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RANKINGS in the top menu</a:t>
            </a:r>
            <a:endParaRPr sz="1400" b="0">
              <a:solidFill>
                <a:srgbClr val="5B6B7A"/>
              </a:solidFill>
            </a:endParaRPr>
          </a:p>
        </p:txBody>
      </p:sp>
      <p:sp>
        <p:nvSpPr>
          <p:cNvPr id="512" name="Rectangle 4"/>
          <p:cNvSpPr/>
          <p:nvPr/>
        </p:nvSpPr>
        <p:spPr>
          <a:xfrm>
            <a:off x="8763000" y="508000"/>
            <a:ext cx="2794000" cy="355600"/>
          </a:xfrm>
          <a:prstGeom prst="round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Step 8  |  Company user</a:t>
            </a:r>
            <a:endParaRPr sz="1200" b="1">
              <a:solidFill>
                <a:srgbClr val="FFFFFF"/>
              </a:solidFill>
            </a:endParaRPr>
          </a:p>
        </p:txBody>
      </p:sp>
      <p:pic>
        <p:nvPicPr>
          <p:cNvPr id="514" name="Picture 5" descr="rankings.png"/>
          <p:cNvPicPr>
            <a:picLocks noChangeAspect="1"/>
          </p:cNvPicPr>
          <p:nvPr/>
        </p:nvPicPr>
        <p:blipFill rotWithShape="1">
          <a:blip r:embed="rId2"/>
          <a:stretch>
            <a:fillRect/>
          </a:stretch>
        </p:blipFill>
        <p:spPr>
          <a:xfrm>
            <a:off x="762000" y="1587500"/>
            <a:ext cx="10795000" cy="3298190"/>
          </a:xfrm>
          <a:prstGeom prst="rect">
            <a:avLst/>
          </a:prstGeom>
          <a:ln w="12700">
            <a:solidFill>
              <a:srgbClr val="C9D6DE"/>
            </a:solidFill>
          </a:ln>
        </p:spPr>
      </p:pic>
      <p:sp>
        <p:nvSpPr>
          <p:cNvPr id="515" name="Rectangle 6"/>
          <p:cNvSpPr/>
          <p:nvPr/>
        </p:nvSpPr>
        <p:spPr>
          <a:xfrm>
            <a:off x="762000" y="5016500"/>
            <a:ext cx="10795000" cy="1397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0800" tIns="25400" rIns="50800" anchor="t">
            <a:noAutofit/>
          </a:bodyPr>
          <a:lstStyle/>
          <a:p>
            <a:pPr marL="342900" indent="-342900" algn="l">
              <a:spcAft>
                <a:spcPts val="600"/>
              </a:spcAft>
              <a:buClr>
                <a:srgbClr val="1B7FA6"/>
              </a:buClr>
              <a:buAutoNum type="arabicPeriod"/>
            </a:pPr>
            <a:r>
              <a:rPr sz="1300" b="0">
                <a:solidFill>
                  <a:srgbClr val="1E2B3C"/>
                </a:solidFill>
              </a:rPr>
              <a:t>Each row is a confirmed opportunity your company registered for, with your rank and the date you became eligible.</a:t>
            </a:r>
            <a:endParaRPr sz="1300" b="0">
              <a:solidFill>
                <a:srgbClr val="1E2B3C"/>
              </a:solidFill>
            </a:endParaRPr>
          </a:p>
          <a:p>
            <a:pPr marL="342900" indent="-342900" algn="l">
              <a:spcAft>
                <a:spcPts val="600"/>
              </a:spcAft>
              <a:buClr>
                <a:srgbClr val="1B7FA6"/>
              </a:buClr>
              <a:buAutoNum type="arabicPeriod"/>
            </a:pPr>
            <a:r>
              <a:rPr sz="1300" b="0">
                <a:solidFill>
                  <a:srgbClr val="1E2B3C"/>
                </a:solidFill>
              </a:rPr>
              <a:t>You only see your own rank. Other companies and their registrations stay private.</a:t>
            </a:r>
            <a:endParaRPr sz="1300" b="0">
              <a:solidFill>
                <a:srgbClr val="1E2B3C"/>
              </a:solidFill>
            </a:endParaRPr>
          </a:p>
        </p:txBody>
      </p:sp>
      <p:sp>
        <p:nvSpPr>
          <p:cNvPr id="1105" name="Slide Number Placeholder"/>
          <p:cNvSpPr>
            <a:spLocks noGrp="1"/>
          </p:cNvSpPr>
          <p:nvPr>
            <p:ph type="sldNum" idx="12"/>
          </p:nvPr>
        </p:nvSpPr>
        <p:spPr/>
        <p:txBody>
          <a:bodyPr/>
          <a:lstStyle/>
          <a:p>
            <a:fld id="{ED1473E2-B8A3-4312-85D3-8022AD2E19E3}" type="slidenum">
              <a:rPr/>
              <a:t>‹#›</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7"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18" name="Rectangle 2"/>
          <p:cNvSpPr/>
          <p:nvPr/>
        </p:nvSpPr>
        <p:spPr>
          <a:xfrm>
            <a:off x="711200" y="533400"/>
            <a:ext cx="10795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Other situations you will meet</a:t>
            </a:r>
            <a:endParaRPr sz="2600" b="1">
              <a:solidFill>
                <a:srgbClr val="12384D"/>
              </a:solidFill>
            </a:endParaRPr>
          </a:p>
        </p:txBody>
      </p:sp>
      <p:sp>
        <p:nvSpPr>
          <p:cNvPr id="519"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Covered step by step in the portal's Help page</a:t>
            </a:r>
            <a:endParaRPr sz="1400" b="0">
              <a:solidFill>
                <a:srgbClr val="5B6B7A"/>
              </a:solidFill>
            </a:endParaRPr>
          </a:p>
        </p:txBody>
      </p:sp>
      <p:sp>
        <p:nvSpPr>
          <p:cNvPr id="520" name="Oval 4"/>
          <p:cNvSpPr/>
          <p:nvPr/>
        </p:nvSpPr>
        <p:spPr>
          <a:xfrm>
            <a:off x="762000" y="1625600"/>
            <a:ext cx="685800" cy="6858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21" name="Users"/>
          <p:cNvSpPr/>
          <p:nvPr/>
        </p:nvSpPr>
        <p:spPr>
          <a:xfrm>
            <a:off x="939800" y="1803400"/>
            <a:ext cx="330200" cy="330200"/>
          </a:xfrm>
          <a:custGeom>
            <a:avLst/>
            <a:gdLst/>
            <a:ahLst/>
            <a:cxnLst/>
            <a:rect l="l" t="t" r="r" b="b"/>
            <a:pathLst>
              <a:path w="100000" h="100000" fill="none">
                <a:moveTo>
                  <a:pt x="66667" y="87500"/>
                </a:moveTo>
                <a:lnTo>
                  <a:pt x="66667" y="79167"/>
                </a:lnTo>
                <a:cubicBezTo>
                  <a:pt x="66667" y="69962"/>
                  <a:pt x="59205" y="62500"/>
                  <a:pt x="50000" y="62500"/>
                </a:cubicBezTo>
                <a:lnTo>
                  <a:pt x="25000" y="62500"/>
                </a:lnTo>
                <a:cubicBezTo>
                  <a:pt x="15795" y="62500"/>
                  <a:pt x="8333" y="69962"/>
                  <a:pt x="8333" y="79167"/>
                </a:cubicBezTo>
                <a:lnTo>
                  <a:pt x="8333" y="87500"/>
                </a:lnTo>
                <a:moveTo>
                  <a:pt x="66667" y="13033"/>
                </a:moveTo>
                <a:cubicBezTo>
                  <a:pt x="74018" y="14939"/>
                  <a:pt x="79151" y="21573"/>
                  <a:pt x="79151" y="29167"/>
                </a:cubicBezTo>
                <a:cubicBezTo>
                  <a:pt x="79151" y="36760"/>
                  <a:pt x="74018" y="43394"/>
                  <a:pt x="66667" y="45300"/>
                </a:cubicBezTo>
                <a:moveTo>
                  <a:pt x="91667" y="87500"/>
                </a:moveTo>
                <a:lnTo>
                  <a:pt x="91667" y="79167"/>
                </a:lnTo>
                <a:cubicBezTo>
                  <a:pt x="91661" y="71571"/>
                  <a:pt x="86521" y="64940"/>
                  <a:pt x="79167" y="63042"/>
                </a:cubicBezTo>
                <a:moveTo>
                  <a:pt x="20833" y="29167"/>
                </a:moveTo>
                <a:cubicBezTo>
                  <a:pt x="20833" y="19962"/>
                  <a:pt x="28295" y="12500"/>
                  <a:pt x="37500" y="12500"/>
                </a:cubicBezTo>
                <a:cubicBezTo>
                  <a:pt x="46705" y="12500"/>
                  <a:pt x="54167" y="19962"/>
                  <a:pt x="54167" y="29167"/>
                </a:cubicBezTo>
                <a:cubicBezTo>
                  <a:pt x="54167" y="38371"/>
                  <a:pt x="46705" y="45833"/>
                  <a:pt x="37500" y="45833"/>
                </a:cubicBezTo>
                <a:cubicBezTo>
                  <a:pt x="28295" y="45833"/>
                  <a:pt x="20833" y="38371"/>
                  <a:pt x="20833" y="29167"/>
                </a:cubicBezTo>
                <a:close/>
              </a:path>
            </a:pathLst>
          </a:custGeom>
          <a:noFill/>
          <a:ln w="27517" cap="rnd">
            <a:solidFill>
              <a:srgbClr val="FFFFFF"/>
            </a:solidFill>
            <a:round/>
          </a:ln>
        </p:spPr>
        <p:style>
          <a:lnRef idx="1">
            <a:schemeClr val="tx1"/>
          </a:lnRef>
          <a:fillRef idx="0">
            <a:schemeClr val="tx1"/>
          </a:fillRef>
          <a:effectRef idx="0">
            <a:schemeClr val="tx1"/>
          </a:effectRef>
          <a:fontRef idx="minor">
            <a:schemeClr val="tx1"/>
          </a:fontRef>
        </p:style>
      </p:sp>
      <p:sp>
        <p:nvSpPr>
          <p:cNvPr id="522" name="Rectangle 6"/>
          <p:cNvSpPr/>
          <p:nvPr/>
        </p:nvSpPr>
        <p:spPr>
          <a:xfrm>
            <a:off x="1651000" y="1625600"/>
            <a:ext cx="9906000" cy="33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500" b="1">
                <a:solidFill>
                  <a:srgbClr val="12384D"/>
                </a:solidFill>
              </a:rPr>
              <a:t>Buyer missing from the End-user list</a:t>
            </a:r>
            <a:endParaRPr sz="1500" b="1">
              <a:solidFill>
                <a:srgbClr val="12384D"/>
              </a:solidFill>
            </a:endParaRPr>
          </a:p>
        </p:txBody>
      </p:sp>
      <p:sp>
        <p:nvSpPr>
          <p:cNvPr id="523" name="Rectangle 7"/>
          <p:cNvSpPr/>
          <p:nvPr/>
        </p:nvSpPr>
        <p:spPr>
          <a:xfrm>
            <a:off x="1651000" y="1955800"/>
            <a:ext cx="9906000" cy="711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E2B3C"/>
                </a:solidFill>
              </a:rPr>
              <a:t>Company: use Add missing End-user. Admin: Administration, End-users; check the official name and address, add aliases, then verify.</a:t>
            </a:r>
            <a:endParaRPr sz="1300" b="0">
              <a:solidFill>
                <a:srgbClr val="1E2B3C"/>
              </a:solidFill>
            </a:endParaRPr>
          </a:p>
        </p:txBody>
      </p:sp>
      <p:sp>
        <p:nvSpPr>
          <p:cNvPr id="524" name="Oval 8"/>
          <p:cNvSpPr/>
          <p:nvPr/>
        </p:nvSpPr>
        <p:spPr>
          <a:xfrm>
            <a:off x="762000" y="2794000"/>
            <a:ext cx="685800" cy="6858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25" name="X"/>
          <p:cNvSpPr/>
          <p:nvPr/>
        </p:nvSpPr>
        <p:spPr>
          <a:xfrm>
            <a:off x="939800" y="2971800"/>
            <a:ext cx="330200" cy="330200"/>
          </a:xfrm>
          <a:custGeom>
            <a:avLst/>
            <a:gdLst/>
            <a:ahLst/>
            <a:cxnLst/>
            <a:rect l="l" t="t" r="r" b="b"/>
            <a:pathLst>
              <a:path w="100000" h="100000" fill="none">
                <a:moveTo>
                  <a:pt x="75000" y="25000"/>
                </a:moveTo>
                <a:lnTo>
                  <a:pt x="25000" y="75000"/>
                </a:lnTo>
                <a:moveTo>
                  <a:pt x="25000" y="25000"/>
                </a:moveTo>
                <a:lnTo>
                  <a:pt x="75000" y="75000"/>
                </a:lnTo>
              </a:path>
            </a:pathLst>
          </a:custGeom>
          <a:noFill/>
          <a:ln w="27517" cap="rnd">
            <a:solidFill>
              <a:srgbClr val="FFFFFF"/>
            </a:solidFill>
            <a:round/>
          </a:ln>
        </p:spPr>
        <p:style>
          <a:lnRef idx="1">
            <a:schemeClr val="tx1"/>
          </a:lnRef>
          <a:fillRef idx="0">
            <a:schemeClr val="tx1"/>
          </a:fillRef>
          <a:effectRef idx="0">
            <a:schemeClr val="tx1"/>
          </a:effectRef>
          <a:fontRef idx="minor">
            <a:schemeClr val="tx1"/>
          </a:fontRef>
        </p:style>
      </p:sp>
      <p:sp>
        <p:nvSpPr>
          <p:cNvPr id="526" name="Rectangle 10"/>
          <p:cNvSpPr/>
          <p:nvPr/>
        </p:nvSpPr>
        <p:spPr>
          <a:xfrm>
            <a:off x="1651000" y="2794000"/>
            <a:ext cx="9906000" cy="33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500" b="1">
                <a:solidFill>
                  <a:srgbClr val="12384D"/>
                </a:solidFill>
              </a:rPr>
              <a:t>Registration rejected</a:t>
            </a:r>
            <a:endParaRPr sz="1500" b="1">
              <a:solidFill>
                <a:srgbClr val="12384D"/>
              </a:solidFill>
            </a:endParaRPr>
          </a:p>
        </p:txBody>
      </p:sp>
      <p:sp>
        <p:nvSpPr>
          <p:cNvPr id="527" name="Rectangle 11"/>
          <p:cNvSpPr/>
          <p:nvPr/>
        </p:nvSpPr>
        <p:spPr>
          <a:xfrm>
            <a:off x="1651000" y="3124200"/>
            <a:ext cx="9906000" cy="711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E2B3C"/>
                </a:solidFill>
              </a:rPr>
              <a:t>Read the reason in Activity. Do not resubmit the same deal as a new registration.</a:t>
            </a:r>
            <a:endParaRPr sz="1300" b="0">
              <a:solidFill>
                <a:srgbClr val="1E2B3C"/>
              </a:solidFill>
            </a:endParaRPr>
          </a:p>
        </p:txBody>
      </p:sp>
      <p:sp>
        <p:nvSpPr>
          <p:cNvPr id="528" name="Oval 12"/>
          <p:cNvSpPr/>
          <p:nvPr/>
        </p:nvSpPr>
        <p:spPr>
          <a:xfrm>
            <a:off x="762000" y="3962400"/>
            <a:ext cx="685800" cy="6858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29" name="Mail"/>
          <p:cNvSpPr/>
          <p:nvPr/>
        </p:nvSpPr>
        <p:spPr>
          <a:xfrm>
            <a:off x="939800" y="4140200"/>
            <a:ext cx="330200" cy="330200"/>
          </a:xfrm>
          <a:custGeom>
            <a:avLst/>
            <a:gdLst/>
            <a:ahLst/>
            <a:cxnLst/>
            <a:rect l="l" t="t" r="r" b="b"/>
            <a:pathLst>
              <a:path w="100000" h="100000" fill="none">
                <a:moveTo>
                  <a:pt x="91667" y="29167"/>
                </a:moveTo>
                <a:lnTo>
                  <a:pt x="54204" y="53029"/>
                </a:lnTo>
                <a:cubicBezTo>
                  <a:pt x="51616" y="54532"/>
                  <a:pt x="48421" y="54532"/>
                  <a:pt x="45833" y="53029"/>
                </a:cubicBezTo>
                <a:lnTo>
                  <a:pt x="8333" y="29167"/>
                </a:lnTo>
                <a:moveTo>
                  <a:pt x="16667" y="16667"/>
                </a:moveTo>
                <a:lnTo>
                  <a:pt x="83333" y="16667"/>
                </a:lnTo>
                <a:cubicBezTo>
                  <a:pt x="87936" y="16667"/>
                  <a:pt x="91667" y="20398"/>
                  <a:pt x="91667" y="25000"/>
                </a:cubicBezTo>
                <a:lnTo>
                  <a:pt x="91667" y="75000"/>
                </a:lnTo>
                <a:cubicBezTo>
                  <a:pt x="91667" y="79603"/>
                  <a:pt x="87936" y="83333"/>
                  <a:pt x="83333" y="83333"/>
                </a:cubicBezTo>
                <a:lnTo>
                  <a:pt x="16667" y="83333"/>
                </a:lnTo>
                <a:cubicBezTo>
                  <a:pt x="12064" y="83333"/>
                  <a:pt x="8333" y="79603"/>
                  <a:pt x="8333" y="75000"/>
                </a:cubicBezTo>
                <a:lnTo>
                  <a:pt x="8333" y="25000"/>
                </a:lnTo>
                <a:cubicBezTo>
                  <a:pt x="8333" y="20398"/>
                  <a:pt x="12064" y="16667"/>
                  <a:pt x="16667" y="16667"/>
                </a:cubicBezTo>
                <a:close/>
              </a:path>
            </a:pathLst>
          </a:custGeom>
          <a:noFill/>
          <a:ln w="27517" cap="rnd">
            <a:solidFill>
              <a:srgbClr val="FFFFFF"/>
            </a:solidFill>
            <a:round/>
          </a:ln>
        </p:spPr>
        <p:style>
          <a:lnRef idx="1">
            <a:schemeClr val="tx1"/>
          </a:lnRef>
          <a:fillRef idx="0">
            <a:schemeClr val="tx1"/>
          </a:fillRef>
          <a:effectRef idx="0">
            <a:schemeClr val="tx1"/>
          </a:effectRef>
          <a:fontRef idx="minor">
            <a:schemeClr val="tx1"/>
          </a:fontRef>
        </p:style>
      </p:sp>
      <p:sp>
        <p:nvSpPr>
          <p:cNvPr id="530" name="Rectangle 14"/>
          <p:cNvSpPr/>
          <p:nvPr/>
        </p:nvSpPr>
        <p:spPr>
          <a:xfrm>
            <a:off x="1651000" y="3962400"/>
            <a:ext cx="9906000" cy="33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500" b="1">
                <a:solidFill>
                  <a:srgbClr val="12384D"/>
                </a:solidFill>
              </a:rPr>
              <a:t>An email failed to send</a:t>
            </a:r>
            <a:endParaRPr sz="1500" b="1">
              <a:solidFill>
                <a:srgbClr val="12384D"/>
              </a:solidFill>
            </a:endParaRPr>
          </a:p>
        </p:txBody>
      </p:sp>
      <p:sp>
        <p:nvSpPr>
          <p:cNvPr id="531" name="Rectangle 15"/>
          <p:cNvSpPr/>
          <p:nvPr/>
        </p:nvSpPr>
        <p:spPr>
          <a:xfrm>
            <a:off x="1651000" y="4292600"/>
            <a:ext cx="9906000" cy="711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E2B3C"/>
                </a:solidFill>
              </a:rPr>
              <a:t>Admin: Administration, Notification deliveries. Fix the address or settings, then retry. The portal notification was never lost.</a:t>
            </a:r>
            <a:endParaRPr sz="1300" b="0">
              <a:solidFill>
                <a:srgbClr val="1E2B3C"/>
              </a:solidFill>
            </a:endParaRPr>
          </a:p>
        </p:txBody>
      </p:sp>
      <p:sp>
        <p:nvSpPr>
          <p:cNvPr id="532" name="Oval 16"/>
          <p:cNvSpPr/>
          <p:nvPr/>
        </p:nvSpPr>
        <p:spPr>
          <a:xfrm>
            <a:off x="762000" y="5130800"/>
            <a:ext cx="685800" cy="6858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33" name="Calendar"/>
          <p:cNvSpPr/>
          <p:nvPr/>
        </p:nvSpPr>
        <p:spPr>
          <a:xfrm>
            <a:off x="939800" y="5308600"/>
            <a:ext cx="330200" cy="330200"/>
          </a:xfrm>
          <a:custGeom>
            <a:avLst/>
            <a:gdLst/>
            <a:ahLst/>
            <a:cxnLst/>
            <a:rect l="l" t="t" r="r" b="b"/>
            <a:pathLst>
              <a:path w="100000" h="100000" fill="none">
                <a:moveTo>
                  <a:pt x="33333" y="8333"/>
                </a:moveTo>
                <a:lnTo>
                  <a:pt x="33333" y="20833"/>
                </a:lnTo>
                <a:moveTo>
                  <a:pt x="66667" y="8333"/>
                </a:moveTo>
                <a:lnTo>
                  <a:pt x="66667" y="20833"/>
                </a:lnTo>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12500" y="37500"/>
                </a:moveTo>
                <a:lnTo>
                  <a:pt x="87500" y="37500"/>
                </a:lnTo>
              </a:path>
            </a:pathLst>
          </a:custGeom>
          <a:noFill/>
          <a:ln w="27517" cap="rnd">
            <a:solidFill>
              <a:srgbClr val="FFFFFF"/>
            </a:solidFill>
            <a:round/>
          </a:ln>
        </p:spPr>
        <p:style>
          <a:lnRef idx="1">
            <a:schemeClr val="tx1"/>
          </a:lnRef>
          <a:fillRef idx="0">
            <a:schemeClr val="tx1"/>
          </a:fillRef>
          <a:effectRef idx="0">
            <a:schemeClr val="tx1"/>
          </a:effectRef>
          <a:fontRef idx="minor">
            <a:schemeClr val="tx1"/>
          </a:fontRef>
        </p:style>
      </p:sp>
      <p:sp>
        <p:nvSpPr>
          <p:cNvPr id="534" name="Rectangle 18"/>
          <p:cNvSpPr/>
          <p:nvPr/>
        </p:nvSpPr>
        <p:spPr>
          <a:xfrm>
            <a:off x="1651000" y="5130800"/>
            <a:ext cx="9906000" cy="33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500" b="1">
                <a:solidFill>
                  <a:srgbClr val="12384D"/>
                </a:solidFill>
              </a:rPr>
              <a:t>An approval is about to expire</a:t>
            </a:r>
            <a:endParaRPr sz="1500" b="1">
              <a:solidFill>
                <a:srgbClr val="12384D"/>
              </a:solidFill>
            </a:endParaRPr>
          </a:p>
        </p:txBody>
      </p:sp>
      <p:sp>
        <p:nvSpPr>
          <p:cNvPr id="535" name="Rectangle 19"/>
          <p:cNvSpPr/>
          <p:nvPr/>
        </p:nvSpPr>
        <p:spPr>
          <a:xfrm>
            <a:off x="1651000" y="5461000"/>
            <a:ext cx="9906000" cy="711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E2B3C"/>
                </a:solidFill>
              </a:rPr>
              <a:t>Admin: the dashboard's Expiring in 30 days card and Price renewals. Each renewal adds 30 days.</a:t>
            </a:r>
            <a:endParaRPr sz="1300" b="0">
              <a:solidFill>
                <a:srgbClr val="1E2B3C"/>
              </a:solidFill>
            </a:endParaRPr>
          </a:p>
        </p:txBody>
      </p:sp>
      <p:sp>
        <p:nvSpPr>
          <p:cNvPr id="1108" name="Slide Number Placeholder"/>
          <p:cNvSpPr>
            <a:spLocks noGrp="1"/>
          </p:cNvSpPr>
          <p:nvPr>
            <p:ph type="sldNum" idx="12"/>
          </p:nvPr>
        </p:nvSpPr>
        <p:spPr/>
        <p:txBody>
          <a:bodyPr/>
          <a:lstStyle/>
          <a:p>
            <a:fld id="{5F867CA9-AA29-4B16-809F-F852F057BB3F}" type="slidenum">
              <a:rPr/>
              <a:t>‹#›</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7"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38" name="Rectangle 2"/>
          <p:cNvSpPr/>
          <p:nvPr/>
        </p:nvSpPr>
        <p:spPr>
          <a:xfrm>
            <a:off x="711200" y="533400"/>
            <a:ext cx="10795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Golden rules</a:t>
            </a:r>
            <a:endParaRPr sz="2600" b="1">
              <a:solidFill>
                <a:srgbClr val="12384D"/>
              </a:solidFill>
            </a:endParaRPr>
          </a:p>
        </p:txBody>
      </p:sp>
      <p:sp>
        <p:nvSpPr>
          <p:cNvPr id="539"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If you remember nothing else, remember these</a:t>
            </a:r>
            <a:endParaRPr sz="1400" b="0">
              <a:solidFill>
                <a:srgbClr val="5B6B7A"/>
              </a:solidFill>
            </a:endParaRPr>
          </a:p>
        </p:txBody>
      </p:sp>
      <p:sp>
        <p:nvSpPr>
          <p:cNvPr id="540" name="Rectangle 4"/>
          <p:cNvSpPr/>
          <p:nvPr/>
        </p:nvSpPr>
        <p:spPr>
          <a:xfrm>
            <a:off x="762000" y="1651000"/>
            <a:ext cx="5270500" cy="1270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41" name="Oval 5"/>
          <p:cNvSpPr/>
          <p:nvPr/>
        </p:nvSpPr>
        <p:spPr>
          <a:xfrm>
            <a:off x="965200" y="1981200"/>
            <a:ext cx="609600" cy="6096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42" name="Alert"/>
          <p:cNvSpPr/>
          <p:nvPr/>
        </p:nvSpPr>
        <p:spPr>
          <a:xfrm>
            <a:off x="1117600" y="2133600"/>
            <a:ext cx="304800" cy="3048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50000" y="33333"/>
                </a:moveTo>
                <a:lnTo>
                  <a:pt x="50000" y="50000"/>
                </a:lnTo>
                <a:moveTo>
                  <a:pt x="50000" y="66667"/>
                </a:moveTo>
                <a:lnTo>
                  <a:pt x="50042" y="66667"/>
                </a:lnTo>
              </a:path>
            </a:pathLst>
          </a:custGeom>
          <a:noFill/>
          <a:ln w="25400" cap="rnd">
            <a:solidFill>
              <a:srgbClr val="FFFFFF"/>
            </a:solidFill>
            <a:round/>
          </a:ln>
        </p:spPr>
        <p:style>
          <a:lnRef idx="1">
            <a:schemeClr val="tx1"/>
          </a:lnRef>
          <a:fillRef idx="0">
            <a:schemeClr val="tx1"/>
          </a:fillRef>
          <a:effectRef idx="0">
            <a:schemeClr val="tx1"/>
          </a:effectRef>
          <a:fontRef idx="minor">
            <a:schemeClr val="tx1"/>
          </a:fontRef>
        </p:style>
      </p:sp>
      <p:sp>
        <p:nvSpPr>
          <p:cNvPr id="543" name="Rectangle 7"/>
          <p:cNvSpPr/>
          <p:nvPr/>
        </p:nvSpPr>
        <p:spPr>
          <a:xfrm>
            <a:off x="1752600" y="1778000"/>
            <a:ext cx="4127500" cy="10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500" b="1">
                <a:solidFill>
                  <a:srgbClr val="12384D"/>
                </a:solidFill>
              </a:rPr>
              <a:t>A requested price is never an approved price.</a:t>
            </a:r>
            <a:endParaRPr sz="1500" b="1">
              <a:solidFill>
                <a:srgbClr val="12384D"/>
              </a:solidFill>
            </a:endParaRPr>
          </a:p>
        </p:txBody>
      </p:sp>
      <p:sp>
        <p:nvSpPr>
          <p:cNvPr id="544" name="Rectangle 8"/>
          <p:cNvSpPr/>
          <p:nvPr/>
        </p:nvSpPr>
        <p:spPr>
          <a:xfrm>
            <a:off x="762000" y="3175000"/>
            <a:ext cx="5270500" cy="1270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45" name="Oval 9"/>
          <p:cNvSpPr/>
          <p:nvPr/>
        </p:nvSpPr>
        <p:spPr>
          <a:xfrm>
            <a:off x="965200" y="3505200"/>
            <a:ext cx="609600" cy="6096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46" name="Document"/>
          <p:cNvSpPr/>
          <p:nvPr/>
        </p:nvSpPr>
        <p:spPr>
          <a:xfrm>
            <a:off x="1117600" y="3657600"/>
            <a:ext cx="304800" cy="3048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5400" cap="rnd">
            <a:solidFill>
              <a:srgbClr val="FFFFFF"/>
            </a:solidFill>
            <a:round/>
          </a:ln>
        </p:spPr>
        <p:style>
          <a:lnRef idx="1">
            <a:schemeClr val="tx1"/>
          </a:lnRef>
          <a:fillRef idx="0">
            <a:schemeClr val="tx1"/>
          </a:fillRef>
          <a:effectRef idx="0">
            <a:schemeClr val="tx1"/>
          </a:effectRef>
          <a:fontRef idx="minor">
            <a:schemeClr val="tx1"/>
          </a:fontRef>
        </p:style>
      </p:sp>
      <p:sp>
        <p:nvSpPr>
          <p:cNvPr id="547" name="Rectangle 11"/>
          <p:cNvSpPr/>
          <p:nvPr/>
        </p:nvSpPr>
        <p:spPr>
          <a:xfrm>
            <a:off x="1752600" y="3302000"/>
            <a:ext cx="4127500" cy="10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500" b="1">
                <a:solidFill>
                  <a:srgbClr val="12384D"/>
                </a:solidFill>
              </a:rPr>
              <a:t>One registration per real opportunity. Edit it; do not duplicate it.</a:t>
            </a:r>
            <a:endParaRPr sz="1500" b="1">
              <a:solidFill>
                <a:srgbClr val="12384D"/>
              </a:solidFill>
            </a:endParaRPr>
          </a:p>
        </p:txBody>
      </p:sp>
      <p:sp>
        <p:nvSpPr>
          <p:cNvPr id="548" name="Rectangle 12"/>
          <p:cNvSpPr/>
          <p:nvPr/>
        </p:nvSpPr>
        <p:spPr>
          <a:xfrm>
            <a:off x="762000" y="4699000"/>
            <a:ext cx="5270500" cy="1270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49" name="Oval 13"/>
          <p:cNvSpPr/>
          <p:nvPr/>
        </p:nvSpPr>
        <p:spPr>
          <a:xfrm>
            <a:off x="965200" y="5029200"/>
            <a:ext cx="609600" cy="6096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50" name="Bell"/>
          <p:cNvSpPr/>
          <p:nvPr/>
        </p:nvSpPr>
        <p:spPr>
          <a:xfrm>
            <a:off x="1117600" y="5181600"/>
            <a:ext cx="304800" cy="304800"/>
          </a:xfrm>
          <a:custGeom>
            <a:avLst/>
            <a:gdLst/>
            <a:ahLst/>
            <a:cxnLst/>
            <a:rect l="l" t="t" r="r" b="b"/>
            <a:pathLst>
              <a:path w="100000" h="100000" fill="none">
                <a:moveTo>
                  <a:pt x="42783" y="87500"/>
                </a:moveTo>
                <a:cubicBezTo>
                  <a:pt x="44272" y="90078"/>
                  <a:pt x="47023" y="91666"/>
                  <a:pt x="50000" y="91666"/>
                </a:cubicBezTo>
                <a:cubicBezTo>
                  <a:pt x="52977" y="91666"/>
                  <a:pt x="55728" y="90078"/>
                  <a:pt x="57217" y="87500"/>
                </a:cubicBezTo>
                <a:moveTo>
                  <a:pt x="13592" y="63858"/>
                </a:moveTo>
                <a:cubicBezTo>
                  <a:pt x="12480" y="65077"/>
                  <a:pt x="12192" y="66838"/>
                  <a:pt x="12857" y="68348"/>
                </a:cubicBezTo>
                <a:cubicBezTo>
                  <a:pt x="13523" y="69858"/>
                  <a:pt x="15017" y="70832"/>
                  <a:pt x="16667" y="70833"/>
                </a:cubicBezTo>
                <a:lnTo>
                  <a:pt x="83333" y="70833"/>
                </a:lnTo>
                <a:cubicBezTo>
                  <a:pt x="84983" y="70834"/>
                  <a:pt x="86478" y="69861"/>
                  <a:pt x="87145" y="68352"/>
                </a:cubicBezTo>
                <a:cubicBezTo>
                  <a:pt x="87813" y="66843"/>
                  <a:pt x="87527" y="65083"/>
                  <a:pt x="86417" y="63863"/>
                </a:cubicBezTo>
                <a:cubicBezTo>
                  <a:pt x="80875" y="58150"/>
                  <a:pt x="75000" y="52079"/>
                  <a:pt x="75000" y="33333"/>
                </a:cubicBezTo>
                <a:cubicBezTo>
                  <a:pt x="75000" y="19526"/>
                  <a:pt x="63807" y="8333"/>
                  <a:pt x="50000" y="8333"/>
                </a:cubicBezTo>
                <a:cubicBezTo>
                  <a:pt x="36193" y="8333"/>
                  <a:pt x="25000" y="19526"/>
                  <a:pt x="25000" y="33333"/>
                </a:cubicBezTo>
                <a:cubicBezTo>
                  <a:pt x="25000" y="52079"/>
                  <a:pt x="19121" y="58150"/>
                  <a:pt x="13592" y="63858"/>
                </a:cubicBezTo>
              </a:path>
            </a:pathLst>
          </a:custGeom>
          <a:noFill/>
          <a:ln w="25400" cap="rnd">
            <a:solidFill>
              <a:srgbClr val="FFFFFF"/>
            </a:solidFill>
            <a:round/>
          </a:ln>
        </p:spPr>
        <p:style>
          <a:lnRef idx="1">
            <a:schemeClr val="tx1"/>
          </a:lnRef>
          <a:fillRef idx="0">
            <a:schemeClr val="tx1"/>
          </a:fillRef>
          <a:effectRef idx="0">
            <a:schemeClr val="tx1"/>
          </a:effectRef>
          <a:fontRef idx="minor">
            <a:schemeClr val="tx1"/>
          </a:fontRef>
        </p:style>
      </p:sp>
      <p:sp>
        <p:nvSpPr>
          <p:cNvPr id="551" name="Rectangle 15"/>
          <p:cNvSpPr/>
          <p:nvPr/>
        </p:nvSpPr>
        <p:spPr>
          <a:xfrm>
            <a:off x="1752600" y="4826000"/>
            <a:ext cx="4127500" cy="10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500" b="1">
                <a:solidFill>
                  <a:srgbClr val="12384D"/>
                </a:solidFill>
              </a:rPr>
              <a:t>The portal notification is the official record. Email is only a copy.</a:t>
            </a:r>
            <a:endParaRPr sz="1500" b="1">
              <a:solidFill>
                <a:srgbClr val="12384D"/>
              </a:solidFill>
            </a:endParaRPr>
          </a:p>
        </p:txBody>
      </p:sp>
      <p:sp>
        <p:nvSpPr>
          <p:cNvPr id="552" name="Rectangle 16"/>
          <p:cNvSpPr/>
          <p:nvPr/>
        </p:nvSpPr>
        <p:spPr>
          <a:xfrm>
            <a:off x="6286500" y="1651000"/>
            <a:ext cx="5270500" cy="1270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53" name="Oval 17"/>
          <p:cNvSpPr/>
          <p:nvPr/>
        </p:nvSpPr>
        <p:spPr>
          <a:xfrm>
            <a:off x="6489700" y="1981200"/>
            <a:ext cx="609600" cy="6096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54" name="Message"/>
          <p:cNvSpPr/>
          <p:nvPr/>
        </p:nvSpPr>
        <p:spPr>
          <a:xfrm>
            <a:off x="6642100" y="2133600"/>
            <a:ext cx="304800" cy="304800"/>
          </a:xfrm>
          <a:custGeom>
            <a:avLst/>
            <a:gdLst/>
            <a:ahLst/>
            <a:cxnLst/>
            <a:rect l="l" t="t" r="r" b="b"/>
            <a:pathLst>
              <a:path w="100000" h="100000" fill="none">
                <a:moveTo>
                  <a:pt x="12467" y="68092"/>
                </a:moveTo>
                <a:cubicBezTo>
                  <a:pt x="13079" y="69637"/>
                  <a:pt x="13216" y="71330"/>
                  <a:pt x="12858" y="72954"/>
                </a:cubicBezTo>
                <a:lnTo>
                  <a:pt x="8421" y="86663"/>
                </a:lnTo>
                <a:cubicBezTo>
                  <a:pt x="8130" y="88076"/>
                  <a:pt x="8591" y="89539"/>
                  <a:pt x="9640" y="90530"/>
                </a:cubicBezTo>
                <a:cubicBezTo>
                  <a:pt x="10689" y="91521"/>
                  <a:pt x="12176" y="91899"/>
                  <a:pt x="13571" y="91529"/>
                </a:cubicBezTo>
                <a:lnTo>
                  <a:pt x="27792" y="87371"/>
                </a:lnTo>
                <a:cubicBezTo>
                  <a:pt x="29324" y="87067"/>
                  <a:pt x="30910" y="87200"/>
                  <a:pt x="32371" y="87754"/>
                </a:cubicBezTo>
                <a:cubicBezTo>
                  <a:pt x="50740" y="96333"/>
                  <a:pt x="72617" y="90445"/>
                  <a:pt x="84199" y="73806"/>
                </a:cubicBezTo>
                <a:cubicBezTo>
                  <a:pt x="95781" y="57167"/>
                  <a:pt x="93706" y="34607"/>
                  <a:pt x="79284" y="20359"/>
                </a:cubicBezTo>
                <a:cubicBezTo>
                  <a:pt x="64861" y="6112"/>
                  <a:pt x="42277" y="4313"/>
                  <a:pt x="25781" y="16097"/>
                </a:cubicBezTo>
                <a:cubicBezTo>
                  <a:pt x="9285" y="27882"/>
                  <a:pt x="3665" y="49829"/>
                  <a:pt x="12467" y="68092"/>
                </a:cubicBezTo>
              </a:path>
            </a:pathLst>
          </a:custGeom>
          <a:noFill/>
          <a:ln w="25400" cap="rnd">
            <a:solidFill>
              <a:srgbClr val="FFFFFF"/>
            </a:solidFill>
            <a:round/>
          </a:ln>
        </p:spPr>
        <p:style>
          <a:lnRef idx="1">
            <a:schemeClr val="tx1"/>
          </a:lnRef>
          <a:fillRef idx="0">
            <a:schemeClr val="tx1"/>
          </a:fillRef>
          <a:effectRef idx="0">
            <a:schemeClr val="tx1"/>
          </a:effectRef>
          <a:fontRef idx="minor">
            <a:schemeClr val="tx1"/>
          </a:fontRef>
        </p:style>
      </p:sp>
      <p:sp>
        <p:nvSpPr>
          <p:cNvPr id="555" name="Rectangle 19"/>
          <p:cNvSpPr/>
          <p:nvPr/>
        </p:nvSpPr>
        <p:spPr>
          <a:xfrm>
            <a:off x="7277100" y="1778000"/>
            <a:ext cx="4127500" cy="10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500" b="1">
                <a:solidFill>
                  <a:srgbClr val="12384D"/>
                </a:solidFill>
              </a:rPr>
              <a:t>Write reasons and instructions someone else can act on without asking you.</a:t>
            </a:r>
            <a:endParaRPr sz="1500" b="1">
              <a:solidFill>
                <a:srgbClr val="12384D"/>
              </a:solidFill>
            </a:endParaRPr>
          </a:p>
        </p:txBody>
      </p:sp>
      <p:sp>
        <p:nvSpPr>
          <p:cNvPr id="556" name="Rectangle 20"/>
          <p:cNvSpPr/>
          <p:nvPr/>
        </p:nvSpPr>
        <p:spPr>
          <a:xfrm>
            <a:off x="6286500" y="3175000"/>
            <a:ext cx="5270500" cy="1270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57" name="Oval 21"/>
          <p:cNvSpPr/>
          <p:nvPr/>
        </p:nvSpPr>
        <p:spPr>
          <a:xfrm>
            <a:off x="6489700" y="3505200"/>
            <a:ext cx="609600" cy="6096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58" name="Check"/>
          <p:cNvSpPr/>
          <p:nvPr/>
        </p:nvSpPr>
        <p:spPr>
          <a:xfrm>
            <a:off x="6642100" y="3657600"/>
            <a:ext cx="304800" cy="304800"/>
          </a:xfrm>
          <a:custGeom>
            <a:avLst/>
            <a:gdLst/>
            <a:ahLst/>
            <a:cxnLst/>
            <a:rect l="l" t="t" r="r" b="b"/>
            <a:pathLst>
              <a:path w="100000" h="100000" fill="none">
                <a:moveTo>
                  <a:pt x="83333" y="25000"/>
                </a:moveTo>
                <a:lnTo>
                  <a:pt x="37500" y="70833"/>
                </a:lnTo>
                <a:lnTo>
                  <a:pt x="16667" y="50000"/>
                </a:lnTo>
              </a:path>
            </a:pathLst>
          </a:custGeom>
          <a:noFill/>
          <a:ln w="25400" cap="rnd">
            <a:solidFill>
              <a:srgbClr val="FFFFFF"/>
            </a:solidFill>
            <a:round/>
          </a:ln>
        </p:spPr>
        <p:style>
          <a:lnRef idx="1">
            <a:schemeClr val="tx1"/>
          </a:lnRef>
          <a:fillRef idx="0">
            <a:schemeClr val="tx1"/>
          </a:fillRef>
          <a:effectRef idx="0">
            <a:schemeClr val="tx1"/>
          </a:effectRef>
          <a:fontRef idx="minor">
            <a:schemeClr val="tx1"/>
          </a:fontRef>
        </p:style>
      </p:sp>
      <p:sp>
        <p:nvSpPr>
          <p:cNvPr id="559" name="Rectangle 23"/>
          <p:cNvSpPr/>
          <p:nvPr/>
        </p:nvSpPr>
        <p:spPr>
          <a:xfrm>
            <a:off x="7277100" y="3302000"/>
            <a:ext cx="4127500" cy="10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500" b="1">
                <a:solidFill>
                  <a:srgbClr val="12384D"/>
                </a:solidFill>
              </a:rPr>
              <a:t>Read the three badges separately: registration, project, pricing.</a:t>
            </a:r>
            <a:endParaRPr sz="1500" b="1">
              <a:solidFill>
                <a:srgbClr val="12384D"/>
              </a:solidFill>
            </a:endParaRPr>
          </a:p>
        </p:txBody>
      </p:sp>
      <p:sp>
        <p:nvSpPr>
          <p:cNvPr id="560" name="Rectangle 24"/>
          <p:cNvSpPr/>
          <p:nvPr/>
        </p:nvSpPr>
        <p:spPr>
          <a:xfrm>
            <a:off x="6286500" y="4699000"/>
            <a:ext cx="5270500" cy="1270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61" name="Oval 25"/>
          <p:cNvSpPr/>
          <p:nvPr/>
        </p:nvSpPr>
        <p:spPr>
          <a:xfrm>
            <a:off x="6489700" y="5029200"/>
            <a:ext cx="609600" cy="6096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62" name="Info"/>
          <p:cNvSpPr/>
          <p:nvPr/>
        </p:nvSpPr>
        <p:spPr>
          <a:xfrm>
            <a:off x="6642100" y="5181600"/>
            <a:ext cx="304800" cy="304800"/>
          </a:xfrm>
          <a:custGeom>
            <a:avLst/>
            <a:gdLst/>
            <a:ahLst/>
            <a:cxnLst/>
            <a:rect l="l" t="t" r="r" b="b"/>
            <a:pathLst>
              <a:path w="100000" h="100000" fill="none">
                <a:moveTo>
                  <a:pt x="8333" y="50000"/>
                </a:moveTo>
                <a:cubicBezTo>
                  <a:pt x="8333" y="26988"/>
                  <a:pt x="26988" y="8333"/>
                  <a:pt x="50000" y="8333"/>
                </a:cubicBezTo>
                <a:cubicBezTo>
                  <a:pt x="73012" y="8333"/>
                  <a:pt x="91667" y="26988"/>
                  <a:pt x="91667" y="50000"/>
                </a:cubicBezTo>
                <a:cubicBezTo>
                  <a:pt x="91667" y="73012"/>
                  <a:pt x="73012" y="91667"/>
                  <a:pt x="50000" y="91667"/>
                </a:cubicBezTo>
                <a:cubicBezTo>
                  <a:pt x="26988" y="91667"/>
                  <a:pt x="8333" y="73012"/>
                  <a:pt x="8333" y="50000"/>
                </a:cubicBezTo>
                <a:close/>
                <a:moveTo>
                  <a:pt x="50000" y="66667"/>
                </a:moveTo>
                <a:lnTo>
                  <a:pt x="50000" y="50000"/>
                </a:lnTo>
                <a:moveTo>
                  <a:pt x="50000" y="33333"/>
                </a:moveTo>
                <a:lnTo>
                  <a:pt x="50042" y="33333"/>
                </a:lnTo>
              </a:path>
            </a:pathLst>
          </a:custGeom>
          <a:noFill/>
          <a:ln w="25400" cap="rnd">
            <a:solidFill>
              <a:srgbClr val="FFFFFF"/>
            </a:solidFill>
            <a:round/>
          </a:ln>
        </p:spPr>
        <p:style>
          <a:lnRef idx="1">
            <a:schemeClr val="tx1"/>
          </a:lnRef>
          <a:fillRef idx="0">
            <a:schemeClr val="tx1"/>
          </a:fillRef>
          <a:effectRef idx="0">
            <a:schemeClr val="tx1"/>
          </a:effectRef>
          <a:fontRef idx="minor">
            <a:schemeClr val="tx1"/>
          </a:fontRef>
        </p:style>
      </p:sp>
      <p:sp>
        <p:nvSpPr>
          <p:cNvPr id="563" name="Rectangle 27"/>
          <p:cNvSpPr/>
          <p:nvPr/>
        </p:nvSpPr>
        <p:spPr>
          <a:xfrm>
            <a:off x="7277100" y="4826000"/>
            <a:ext cx="4127500" cy="10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500" b="1">
                <a:solidFill>
                  <a:srgbClr val="12384D"/>
                </a:solidFill>
              </a:rPr>
              <a:t>Stuck? Open HELP. It has step-by-step guides for your role.</a:t>
            </a:r>
            <a:endParaRPr sz="1500" b="1">
              <a:solidFill>
                <a:srgbClr val="12384D"/>
              </a:solidFill>
            </a:endParaRPr>
          </a:p>
        </p:txBody>
      </p:sp>
      <p:sp>
        <p:nvSpPr>
          <p:cNvPr id="1111" name="Slide Number Placeholder"/>
          <p:cNvSpPr>
            <a:spLocks noGrp="1"/>
          </p:cNvSpPr>
          <p:nvPr>
            <p:ph type="sldNum" idx="12"/>
          </p:nvPr>
        </p:nvSpPr>
        <p:spPr/>
        <p:txBody>
          <a:bodyPr/>
          <a:lstStyle/>
          <a:p>
            <a:fld id="{C1ACB274-83E7-4463-813B-4190E1E94892}" type="slidenum">
              <a:rPr/>
              <a:t>‹#›</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5"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66" name="Rectangle 2"/>
          <p:cNvSpPr/>
          <p:nvPr/>
        </p:nvSpPr>
        <p:spPr>
          <a:xfrm>
            <a:off x="711200" y="533400"/>
            <a:ext cx="10795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Quick reference: where do I go?</a:t>
            </a:r>
            <a:endParaRPr sz="2600" b="1">
              <a:solidFill>
                <a:srgbClr val="12384D"/>
              </a:solidFill>
            </a:endParaRPr>
          </a:p>
        </p:txBody>
      </p:sp>
      <p:graphicFrame>
        <p:nvGraphicFramePr>
          <p:cNvPr id="567" name="Table 3"/>
          <p:cNvGraphicFramePr>
            <a:graphicFrameLocks noGrp="1"/>
          </p:cNvGraphicFramePr>
          <p:nvPr/>
        </p:nvGraphicFramePr>
        <p:xfrm>
          <a:off x="762000" y="1397000"/>
          <a:ext cx="10795000" cy="4572000"/>
        </p:xfrm>
        <a:graphic>
          <a:graphicData uri="http://schemas.openxmlformats.org/drawingml/2006/table">
            <a:tbl>
              <a:tblPr firstRow="1" bandRow="1">
                <a:tableStyleId>{5C22544A-7EE6-4342-B048-85BDC9FD1C3A}</a:tableStyleId>
              </a:tblPr>
              <a:tblGrid>
                <a:gridCol w="4191000"/>
                <a:gridCol w="6604000"/>
              </a:tblGrid>
              <a:tr h="508000">
                <a:tc>
                  <a:txBody>
                    <a:bodyPr/>
                    <a:lstStyle/>
                    <a:p>
                      <a:r>
                        <a:rPr sz="1400"/>
                        <a:t>I want to...</a:t>
                      </a:r>
                      <a:endParaRPr sz="1400"/>
                    </a:p>
                  </a:txBody>
                  <a:tcPr anchor="ctr"/>
                </a:tc>
                <a:tc>
                  <a:txBody>
                    <a:bodyPr/>
                    <a:lstStyle/>
                    <a:p>
                      <a:r>
                        <a:rPr sz="1400"/>
                        <a:t>Go to</a:t>
                      </a:r>
                      <a:endParaRPr sz="1400"/>
                    </a:p>
                  </a:txBody>
                  <a:tcPr anchor="ctr"/>
                </a:tc>
              </a:tr>
              <a:tr h="508000">
                <a:tc>
                  <a:txBody>
                    <a:bodyPr/>
                    <a:lstStyle/>
                    <a:p>
                      <a:r>
                        <a:rPr sz="1400"/>
                        <a:t>Register a new deal</a:t>
                      </a:r>
                      <a:endParaRPr sz="1400"/>
                    </a:p>
                  </a:txBody>
                  <a:tcPr anchor="ctr"/>
                </a:tc>
                <a:tc>
                  <a:txBody>
                    <a:bodyPr/>
                    <a:lstStyle/>
                    <a:p>
                      <a:r>
                        <a:rPr sz="1400"/>
                        <a:t>Registrations, then NEW REGISTRATION</a:t>
                      </a:r>
                      <a:endParaRPr sz="1400"/>
                    </a:p>
                  </a:txBody>
                  <a:tcPr anchor="ctr"/>
                </a:tc>
              </a:tr>
              <a:tr h="508000">
                <a:tc>
                  <a:txBody>
                    <a:bodyPr/>
                    <a:lstStyle/>
                    <a:p>
                      <a:r>
                        <a:rPr sz="1400"/>
                        <a:t>See what DBGI decided</a:t>
                      </a:r>
                      <a:endParaRPr sz="1400"/>
                    </a:p>
                  </a:txBody>
                  <a:tcPr anchor="ctr"/>
                </a:tc>
                <a:tc>
                  <a:txBody>
                    <a:bodyPr/>
                    <a:lstStyle/>
                    <a:p>
                      <a:r>
                        <a:rPr sz="1400"/>
                        <a:t>NOTIFICATIONS, then VIEW REGISTRATION</a:t>
                      </a:r>
                      <a:endParaRPr sz="1400"/>
                    </a:p>
                  </a:txBody>
                  <a:tcPr anchor="ctr"/>
                </a:tc>
              </a:tr>
              <a:tr h="508000">
                <a:tc>
                  <a:txBody>
                    <a:bodyPr/>
                    <a:lstStyle/>
                    <a:p>
                      <a:r>
                        <a:rPr sz="1400"/>
                        <a:t>Fix a registration DBGI sent back</a:t>
                      </a:r>
                      <a:endParaRPr sz="1400"/>
                    </a:p>
                  </a:txBody>
                  <a:tcPr anchor="ctr"/>
                </a:tc>
                <a:tc>
                  <a:txBody>
                    <a:bodyPr/>
                    <a:lstStyle/>
                    <a:p>
                      <a:r>
                        <a:rPr sz="1400"/>
                        <a:t>Open the registration, read Activity, EDIT REGISTRATION</a:t>
                      </a:r>
                      <a:endParaRPr sz="1400"/>
                    </a:p>
                  </a:txBody>
                  <a:tcPr anchor="ctr"/>
                </a:tc>
              </a:tr>
              <a:tr h="508000">
                <a:tc>
                  <a:txBody>
                    <a:bodyPr/>
                    <a:lstStyle/>
                    <a:p>
                      <a:r>
                        <a:rPr sz="1400"/>
                        <a:t>See my approved price</a:t>
                      </a:r>
                      <a:endParaRPr sz="1400"/>
                    </a:p>
                  </a:txBody>
                  <a:tcPr anchor="ctr"/>
                </a:tc>
                <a:tc>
                  <a:txBody>
                    <a:bodyPr/>
                    <a:lstStyle/>
                    <a:p>
                      <a:r>
                        <a:rPr sz="1400"/>
                        <a:t>Open the registration: Commercial approvals and Requested products</a:t>
                      </a:r>
                      <a:endParaRPr sz="1400"/>
                    </a:p>
                  </a:txBody>
                  <a:tcPr anchor="ctr"/>
                </a:tc>
              </a:tr>
              <a:tr h="508000">
                <a:tc>
                  <a:txBody>
                    <a:bodyPr/>
                    <a:lstStyle/>
                    <a:p>
                      <a:r>
                        <a:rPr sz="1400"/>
                        <a:t>See my rank</a:t>
                      </a:r>
                      <a:endParaRPr sz="1400"/>
                    </a:p>
                  </a:txBody>
                  <a:tcPr anchor="ctr"/>
                </a:tc>
                <a:tc>
                  <a:txBody>
                    <a:bodyPr/>
                    <a:lstStyle/>
                    <a:p>
                      <a:r>
                        <a:rPr sz="1400"/>
                        <a:t>RANKINGS</a:t>
                      </a:r>
                      <a:endParaRPr sz="1400"/>
                    </a:p>
                  </a:txBody>
                  <a:tcPr anchor="ctr"/>
                </a:tc>
              </a:tr>
              <a:tr h="508000">
                <a:tc>
                  <a:txBody>
                    <a:bodyPr/>
                    <a:lstStyle/>
                    <a:p>
                      <a:r>
                        <a:rPr sz="1400"/>
                        <a:t>Review a registration (DBGI)</a:t>
                      </a:r>
                      <a:endParaRPr sz="1400"/>
                    </a:p>
                  </a:txBody>
                  <a:tcPr anchor="ctr"/>
                </a:tc>
                <a:tc>
                  <a:txBody>
                    <a:bodyPr/>
                    <a:lstStyle/>
                    <a:p>
                      <a:r>
                        <a:rPr sz="1400"/>
                        <a:t>Administration dashboard, Registration review queue</a:t>
                      </a:r>
                      <a:endParaRPr sz="1400"/>
                    </a:p>
                  </a:txBody>
                  <a:tcPr anchor="ctr"/>
                </a:tc>
              </a:tr>
              <a:tr h="508000">
                <a:tc>
                  <a:txBody>
                    <a:bodyPr/>
                    <a:lstStyle/>
                    <a:p>
                      <a:r>
                        <a:rPr sz="1400"/>
                        <a:t>Decide a price (DBGI)</a:t>
                      </a:r>
                      <a:endParaRPr sz="1400"/>
                    </a:p>
                  </a:txBody>
                  <a:tcPr anchor="ctr"/>
                </a:tc>
                <a:tc>
                  <a:txBody>
                    <a:bodyPr/>
                    <a:lstStyle/>
                    <a:p>
                      <a:r>
                        <a:rPr sz="1400"/>
                        <a:t>Administration, Price approvals</a:t>
                      </a:r>
                      <a:endParaRPr sz="1400"/>
                    </a:p>
                  </a:txBody>
                  <a:tcPr anchor="ctr"/>
                </a:tc>
              </a:tr>
              <a:tr h="508000">
                <a:tc>
                  <a:txBody>
                    <a:bodyPr/>
                    <a:lstStyle/>
                    <a:p>
                      <a:r>
                        <a:rPr sz="1400"/>
                        <a:t>Get step-by-step help</a:t>
                      </a:r>
                      <a:endParaRPr sz="1400"/>
                    </a:p>
                  </a:txBody>
                  <a:tcPr anchor="ctr"/>
                </a:tc>
                <a:tc>
                  <a:txBody>
                    <a:bodyPr/>
                    <a:lstStyle/>
                    <a:p>
                      <a:r>
                        <a:rPr sz="1400"/>
                        <a:t>HELP in the top menu</a:t>
                      </a:r>
                      <a:endParaRPr sz="1400"/>
                    </a:p>
                  </a:txBody>
                  <a:tcPr anchor="ctr"/>
                </a:tc>
              </a:tr>
            </a:tbl>
          </a:graphicData>
        </a:graphic>
      </p:graphicFrame>
      <p:sp>
        <p:nvSpPr>
          <p:cNvPr id="1114" name="Slide Number Placeholder"/>
          <p:cNvSpPr>
            <a:spLocks noGrp="1"/>
          </p:cNvSpPr>
          <p:nvPr>
            <p:ph type="sldNum" idx="12"/>
          </p:nvPr>
        </p:nvSpPr>
        <p:spPr/>
        <p:txBody>
          <a:bodyPr/>
          <a:lstStyle/>
          <a:p>
            <a:fld id="{04DE16EB-4549-4654-8ABF-75DC5CCEF245}" type="slidenum">
              <a:rPr/>
              <a:t>‹#›</a:t>
            </a:fld>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2384D"/>
        </a:solidFill>
        <a:effectLst/>
      </p:bgPr>
    </p:bg>
    <p:spTree>
      <p:nvGrpSpPr>
        <p:cNvPr id="1" name=""/>
        <p:cNvGrpSpPr/>
        <p:nvPr/>
      </p:nvGrpSpPr>
      <p:grpSpPr>
        <a:xfrm>
          <a:off x="0" y="0"/>
          <a:ext cx="0" cy="0"/>
          <a:chOff x="0" y="0"/>
          <a:chExt cx="0" cy="0"/>
        </a:xfrm>
      </p:grpSpPr>
      <p:sp>
        <p:nvSpPr>
          <p:cNvPr id="569" name="Rectangle 1"/>
          <p:cNvSpPr/>
          <p:nvPr/>
        </p:nvSpPr>
        <p:spPr>
          <a:xfrm>
            <a:off x="762000" y="1397000"/>
            <a:ext cx="889000" cy="101600"/>
          </a:xfrm>
          <a:prstGeom prst="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70" name="Rectangle 2"/>
          <p:cNvSpPr/>
          <p:nvPr/>
        </p:nvSpPr>
        <p:spPr>
          <a:xfrm>
            <a:off x="711200" y="1651000"/>
            <a:ext cx="10922000" cy="76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3400" b="1">
                <a:solidFill>
                  <a:srgbClr val="FFFFFF"/>
                </a:solidFill>
              </a:rPr>
              <a:t>Your answers decide what we build next</a:t>
            </a:r>
            <a:endParaRPr sz="3400" b="1">
              <a:solidFill>
                <a:srgbClr val="FFFFFF"/>
              </a:solidFill>
            </a:endParaRPr>
          </a:p>
        </p:txBody>
      </p:sp>
      <p:sp>
        <p:nvSpPr>
          <p:cNvPr id="571" name="Rectangle 3"/>
          <p:cNvSpPr/>
          <p:nvPr/>
        </p:nvSpPr>
        <p:spPr>
          <a:xfrm>
            <a:off x="736600" y="2438400"/>
            <a:ext cx="10668000" cy="76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700" b="0">
                <a:solidFill>
                  <a:srgbClr val="B9D4E0"/>
                </a:solidFill>
              </a:rPr>
              <a:t>The next 21 slides each ask one question about how DBGI handles deals. There are no wrong answers: you know the process, the portal should follow it.</a:t>
            </a:r>
            <a:endParaRPr sz="1700" b="0">
              <a:solidFill>
                <a:srgbClr val="B9D4E0"/>
              </a:solidFill>
            </a:endParaRPr>
          </a:p>
        </p:txBody>
      </p:sp>
      <p:sp>
        <p:nvSpPr>
          <p:cNvPr id="572" name="Oval 4"/>
          <p:cNvSpPr/>
          <p:nvPr/>
        </p:nvSpPr>
        <p:spPr>
          <a:xfrm>
            <a:off x="762000" y="3619500"/>
            <a:ext cx="457200" cy="457200"/>
          </a:xfrm>
          <a:prstGeom prst="ellipse">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600" b="1">
                <a:solidFill>
                  <a:srgbClr val="12384D"/>
                </a:solidFill>
              </a:rPr>
              <a:t>1</a:t>
            </a:r>
            <a:endParaRPr sz="1600" b="1">
              <a:solidFill>
                <a:srgbClr val="12384D"/>
              </a:solidFill>
            </a:endParaRPr>
          </a:p>
        </p:txBody>
      </p:sp>
      <p:sp>
        <p:nvSpPr>
          <p:cNvPr id="573" name="Rectangle 5"/>
          <p:cNvSpPr/>
          <p:nvPr/>
        </p:nvSpPr>
        <p:spPr>
          <a:xfrm>
            <a:off x="1397000" y="3644900"/>
            <a:ext cx="101600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600" b="0">
                <a:solidFill>
                  <a:srgbClr val="FFFFFF"/>
                </a:solidFill>
              </a:rPr>
              <a:t>Open the Word "DBGI Portal Answer Form" beside these slides. Each row matches one slide, A1 to D4.</a:t>
            </a:r>
            <a:endParaRPr sz="1600" b="0">
              <a:solidFill>
                <a:srgbClr val="FFFFFF"/>
              </a:solidFill>
            </a:endParaRPr>
          </a:p>
        </p:txBody>
      </p:sp>
      <p:sp>
        <p:nvSpPr>
          <p:cNvPr id="574" name="Oval 6"/>
          <p:cNvSpPr/>
          <p:nvPr/>
        </p:nvSpPr>
        <p:spPr>
          <a:xfrm>
            <a:off x="762000" y="4279900"/>
            <a:ext cx="457200" cy="457200"/>
          </a:xfrm>
          <a:prstGeom prst="ellipse">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600" b="1">
                <a:solidFill>
                  <a:srgbClr val="12384D"/>
                </a:solidFill>
              </a:rPr>
              <a:t>2</a:t>
            </a:r>
            <a:endParaRPr sz="1600" b="1">
              <a:solidFill>
                <a:srgbClr val="12384D"/>
              </a:solidFill>
            </a:endParaRPr>
          </a:p>
        </p:txBody>
      </p:sp>
      <p:sp>
        <p:nvSpPr>
          <p:cNvPr id="575" name="Rectangle 7"/>
          <p:cNvSpPr/>
          <p:nvPr/>
        </p:nvSpPr>
        <p:spPr>
          <a:xfrm>
            <a:off x="1397000" y="4305300"/>
            <a:ext cx="101600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600" b="0">
                <a:solidFill>
                  <a:srgbClr val="FFFFFF"/>
                </a:solidFill>
              </a:rPr>
              <a:t>On each slide, read what the portal does today, then pick a choice in the form, keep today, or write your own.</a:t>
            </a:r>
            <a:endParaRPr sz="1600" b="0">
              <a:solidFill>
                <a:srgbClr val="FFFFFF"/>
              </a:solidFill>
            </a:endParaRPr>
          </a:p>
        </p:txBody>
      </p:sp>
      <p:sp>
        <p:nvSpPr>
          <p:cNvPr id="576" name="Oval 8"/>
          <p:cNvSpPr/>
          <p:nvPr/>
        </p:nvSpPr>
        <p:spPr>
          <a:xfrm>
            <a:off x="762000" y="4940300"/>
            <a:ext cx="457200" cy="457200"/>
          </a:xfrm>
          <a:prstGeom prst="ellipse">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600" b="1">
                <a:solidFill>
                  <a:srgbClr val="12384D"/>
                </a:solidFill>
              </a:rPr>
              <a:t>3</a:t>
            </a:r>
            <a:endParaRPr sz="1600" b="1">
              <a:solidFill>
                <a:srgbClr val="12384D"/>
              </a:solidFill>
            </a:endParaRPr>
          </a:p>
        </p:txBody>
      </p:sp>
      <p:sp>
        <p:nvSpPr>
          <p:cNvPr id="577" name="Rectangle 9"/>
          <p:cNvSpPr/>
          <p:nvPr/>
        </p:nvSpPr>
        <p:spPr>
          <a:xfrm>
            <a:off x="1397000" y="4965700"/>
            <a:ext cx="101600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600" b="0">
                <a:solidFill>
                  <a:srgbClr val="FFFFFF"/>
                </a:solidFill>
              </a:rPr>
              <a:t>The first choice is only a suggestion. Skip anything outside your area; Part A matters most.</a:t>
            </a:r>
            <a:endParaRPr sz="1600" b="0">
              <a:solidFill>
                <a:srgbClr val="FFFFFF"/>
              </a:solidFill>
            </a:endParaRPr>
          </a:p>
        </p:txBody>
      </p:sp>
      <p:sp>
        <p:nvSpPr>
          <p:cNvPr id="578" name="Oval 10"/>
          <p:cNvSpPr/>
          <p:nvPr/>
        </p:nvSpPr>
        <p:spPr>
          <a:xfrm>
            <a:off x="762000" y="5600700"/>
            <a:ext cx="457200" cy="457200"/>
          </a:xfrm>
          <a:prstGeom prst="ellipse">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600" b="1">
                <a:solidFill>
                  <a:srgbClr val="12384D"/>
                </a:solidFill>
              </a:rPr>
              <a:t>4</a:t>
            </a:r>
            <a:endParaRPr sz="1600" b="1">
              <a:solidFill>
                <a:srgbClr val="12384D"/>
              </a:solidFill>
            </a:endParaRPr>
          </a:p>
        </p:txBody>
      </p:sp>
      <p:sp>
        <p:nvSpPr>
          <p:cNvPr id="579" name="Rectangle 11"/>
          <p:cNvSpPr/>
          <p:nvPr/>
        </p:nvSpPr>
        <p:spPr>
          <a:xfrm>
            <a:off x="1397000" y="5626100"/>
            <a:ext cx="101600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600" b="0">
                <a:solidFill>
                  <a:srgbClr val="FFFFFF"/>
                </a:solidFill>
              </a:rPr>
              <a:t>Save the form and send it back to the person who sent you this deck.</a:t>
            </a:r>
            <a:endParaRPr sz="1600" b="0">
              <a:solidFill>
                <a:srgbClr val="FFFFFF"/>
              </a:solidFill>
            </a:endParaRPr>
          </a:p>
        </p:txBody>
      </p:sp>
      <p:sp>
        <p:nvSpPr>
          <p:cNvPr id="1117" name="Slide Number Placeholder"/>
          <p:cNvSpPr>
            <a:spLocks noGrp="1"/>
          </p:cNvSpPr>
          <p:nvPr>
            <p:ph type="sldNum" idx="12"/>
          </p:nvPr>
        </p:nvSpPr>
        <p:spPr/>
        <p:txBody>
          <a:bodyPr/>
          <a:lstStyle/>
          <a:p>
            <a:fld id="{C88BB43A-D0FF-4F99-8EB8-B9EAA4A07400}" type="slidenum">
              <a:rPr/>
              <a:t>‹#›</a:t>
            </a:fld>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1"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82"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A1. Is this the process DBGI wants?</a:t>
            </a:r>
            <a:endParaRPr sz="2200" b="1">
              <a:solidFill>
                <a:srgbClr val="12384D"/>
              </a:solidFill>
            </a:endParaRPr>
          </a:p>
        </p:txBody>
      </p:sp>
      <p:sp>
        <p:nvSpPr>
          <p:cNvPr id="583"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A  |  1 of 21</a:t>
            </a:r>
            <a:endParaRPr sz="1200" b="1">
              <a:solidFill>
                <a:srgbClr val="FFFFFF"/>
              </a:solidFill>
            </a:endParaRPr>
          </a:p>
        </p:txBody>
      </p:sp>
      <p:sp>
        <p:nvSpPr>
          <p:cNvPr id="584"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585" name="Rectangle 5"/>
          <p:cNvSpPr/>
          <p:nvPr/>
        </p:nvSpPr>
        <p:spPr>
          <a:xfrm>
            <a:off x="762000" y="1701800"/>
            <a:ext cx="5334000" cy="1371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DBGI has no deal registration system yet; the portal will be the first. It follows this process: a partner registers a deal, DBGI checks it, decides who was first, then approves a special price. Is that the process DBGI wants partners to follow?</a:t>
            </a:r>
            <a:endParaRPr sz="1400" b="0">
              <a:solidFill>
                <a:srgbClr val="1E2B3C"/>
              </a:solidFill>
            </a:endParaRPr>
          </a:p>
        </p:txBody>
      </p:sp>
      <p:sp>
        <p:nvSpPr>
          <p:cNvPr id="586" name="Rectangle 6"/>
          <p:cNvSpPr/>
          <p:nvPr/>
        </p:nvSpPr>
        <p:spPr>
          <a:xfrm>
            <a:off x="762000" y="3251200"/>
            <a:ext cx="5334000" cy="1016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87" name="Rectangle 7"/>
          <p:cNvSpPr/>
          <p:nvPr/>
        </p:nvSpPr>
        <p:spPr>
          <a:xfrm>
            <a:off x="965200" y="3378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588" name="Rectangle 8"/>
          <p:cNvSpPr/>
          <p:nvPr/>
        </p:nvSpPr>
        <p:spPr>
          <a:xfrm>
            <a:off x="965200" y="3657600"/>
            <a:ext cx="4978400" cy="558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The portal does exactly that loop, end to end, with notifications.</a:t>
            </a:r>
            <a:endParaRPr sz="1300" b="0">
              <a:solidFill>
                <a:srgbClr val="12384D"/>
              </a:solidFill>
            </a:endParaRPr>
          </a:p>
        </p:txBody>
      </p:sp>
      <p:sp>
        <p:nvSpPr>
          <p:cNvPr id="589" name="Rectangle 9"/>
          <p:cNvSpPr/>
          <p:nvPr/>
        </p:nvSpPr>
        <p:spPr>
          <a:xfrm>
            <a:off x="762000" y="43942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confidence that the remaining work is on the right path.</a:t>
            </a:r>
            <a:endParaRPr sz="1200" b="0">
              <a:solidFill>
                <a:srgbClr val="5B6B7A"/>
              </a:solidFill>
            </a:endParaRPr>
          </a:p>
        </p:txBody>
      </p:sp>
      <p:sp>
        <p:nvSpPr>
          <p:cNvPr id="590"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TELL US</a:t>
            </a:r>
            <a:endParaRPr sz="1100" b="1">
              <a:solidFill>
                <a:srgbClr val="1B7FA6"/>
              </a:solidFill>
            </a:endParaRPr>
          </a:p>
        </p:txBody>
      </p:sp>
      <p:sp>
        <p:nvSpPr>
          <p:cNvPr id="591" name="Rectangle 11"/>
          <p:cNvSpPr/>
          <p:nvPr/>
        </p:nvSpPr>
        <p:spPr>
          <a:xfrm>
            <a:off x="6477000" y="1752600"/>
            <a:ext cx="5080000" cy="1397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400" b="0">
                <a:solidFill>
                  <a:srgbClr val="12384D"/>
                </a:solidFill>
              </a:rPr>
              <a:t>Is anything in this process wrong or missing for DBGI? What would you change?</a:t>
            </a:r>
            <a:endParaRPr sz="1400" b="0">
              <a:solidFill>
                <a:srgbClr val="12384D"/>
              </a:solidFill>
            </a:endParaRPr>
          </a:p>
        </p:txBody>
      </p:sp>
      <p:sp>
        <p:nvSpPr>
          <p:cNvPr id="592" name="Message"/>
          <p:cNvSpPr/>
          <p:nvPr/>
        </p:nvSpPr>
        <p:spPr>
          <a:xfrm>
            <a:off x="6629400" y="2311400"/>
            <a:ext cx="279400" cy="279400"/>
          </a:xfrm>
          <a:custGeom>
            <a:avLst/>
            <a:gdLst/>
            <a:ahLst/>
            <a:cxnLst/>
            <a:rect l="l" t="t" r="r" b="b"/>
            <a:pathLst>
              <a:path w="100000" h="100000" fill="none">
                <a:moveTo>
                  <a:pt x="12467" y="68092"/>
                </a:moveTo>
                <a:cubicBezTo>
                  <a:pt x="13079" y="69637"/>
                  <a:pt x="13216" y="71330"/>
                  <a:pt x="12858" y="72954"/>
                </a:cubicBezTo>
                <a:lnTo>
                  <a:pt x="8421" y="86663"/>
                </a:lnTo>
                <a:cubicBezTo>
                  <a:pt x="8130" y="88076"/>
                  <a:pt x="8591" y="89539"/>
                  <a:pt x="9640" y="90530"/>
                </a:cubicBezTo>
                <a:cubicBezTo>
                  <a:pt x="10689" y="91521"/>
                  <a:pt x="12176" y="91899"/>
                  <a:pt x="13571" y="91529"/>
                </a:cubicBezTo>
                <a:lnTo>
                  <a:pt x="27792" y="87371"/>
                </a:lnTo>
                <a:cubicBezTo>
                  <a:pt x="29324" y="87067"/>
                  <a:pt x="30910" y="87200"/>
                  <a:pt x="32371" y="87754"/>
                </a:cubicBezTo>
                <a:cubicBezTo>
                  <a:pt x="50740" y="96333"/>
                  <a:pt x="72617" y="90445"/>
                  <a:pt x="84199" y="73806"/>
                </a:cubicBezTo>
                <a:cubicBezTo>
                  <a:pt x="95781" y="57167"/>
                  <a:pt x="93706" y="34607"/>
                  <a:pt x="79284" y="20359"/>
                </a:cubicBezTo>
                <a:cubicBezTo>
                  <a:pt x="64861" y="6112"/>
                  <a:pt x="42277" y="4313"/>
                  <a:pt x="25781" y="16097"/>
                </a:cubicBezTo>
                <a:cubicBezTo>
                  <a:pt x="9285" y="27882"/>
                  <a:pt x="3665" y="49829"/>
                  <a:pt x="12467" y="68092"/>
                </a:cubicBez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593" name="Picture"/>
          <p:cNvSpPr/>
          <p:nvPr/>
        </p:nvSpPr>
        <p:spPr>
          <a:xfrm>
            <a:off x="6502400" y="33274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594" name="Rectangle 14"/>
          <p:cNvSpPr/>
          <p:nvPr/>
        </p:nvSpPr>
        <p:spPr>
          <a:xfrm>
            <a:off x="6807200" y="32766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3, The journey we will follow</a:t>
            </a:r>
            <a:endParaRPr sz="1200" b="0">
              <a:solidFill>
                <a:srgbClr val="1B7FA6"/>
              </a:solidFill>
            </a:endParaRPr>
          </a:p>
        </p:txBody>
      </p:sp>
      <p:sp>
        <p:nvSpPr>
          <p:cNvPr id="595" name="Rectangle 15"/>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596"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597" name="Rectangle 17"/>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A1:  write your answer in Notes</a:t>
            </a:r>
            <a:endParaRPr sz="1400" b="1">
              <a:solidFill>
                <a:srgbClr val="12384D"/>
              </a:solidFill>
            </a:endParaRPr>
          </a:p>
        </p:txBody>
      </p:sp>
      <p:sp>
        <p:nvSpPr>
          <p:cNvPr id="1120" name="Slide Number Placeholder"/>
          <p:cNvSpPr>
            <a:spLocks noGrp="1"/>
          </p:cNvSpPr>
          <p:nvPr>
            <p:ph type="sldNum" idx="12"/>
          </p:nvPr>
        </p:nvSpPr>
        <p:spPr/>
        <p:txBody>
          <a:bodyPr/>
          <a:lstStyle/>
          <a:p>
            <a:fld id="{69B8C1B4-314F-41AA-82F7-95875421752B}" type="slidenum">
              <a:rPr/>
              <a:t>‹#›</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9"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00"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A2. What about deals partners already told DBGI about?</a:t>
            </a:r>
            <a:endParaRPr sz="2200" b="1">
              <a:solidFill>
                <a:srgbClr val="12384D"/>
              </a:solidFill>
            </a:endParaRPr>
          </a:p>
        </p:txBody>
      </p:sp>
      <p:sp>
        <p:nvSpPr>
          <p:cNvPr id="601"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A  |  2 of 21</a:t>
            </a:r>
            <a:endParaRPr sz="1200" b="1">
              <a:solidFill>
                <a:srgbClr val="FFFFFF"/>
              </a:solidFill>
            </a:endParaRPr>
          </a:p>
        </p:txBody>
      </p:sp>
      <p:sp>
        <p:nvSpPr>
          <p:cNvPr id="602"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603" name="Rectangle 5"/>
          <p:cNvSpPr/>
          <p:nvPr/>
        </p:nvSpPr>
        <p:spPr>
          <a:xfrm>
            <a:off x="762000" y="1701800"/>
            <a:ext cx="5334000" cy="1117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Before the portal goes live, partners may already have told DBGI about deals by email, phone, or chat, or been promised a special price. When the portal starts, do those deals keep their place in line?</a:t>
            </a:r>
            <a:endParaRPr sz="1400" b="0">
              <a:solidFill>
                <a:srgbClr val="1E2B3C"/>
              </a:solidFill>
            </a:endParaRPr>
          </a:p>
        </p:txBody>
      </p:sp>
      <p:sp>
        <p:nvSpPr>
          <p:cNvPr id="604" name="Rectangle 6"/>
          <p:cNvSpPr/>
          <p:nvPr/>
        </p:nvSpPr>
        <p:spPr>
          <a:xfrm>
            <a:off x="762000" y="2997200"/>
            <a:ext cx="5334000" cy="14732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05" name="Rectangle 7"/>
          <p:cNvSpPr/>
          <p:nvPr/>
        </p:nvSpPr>
        <p:spPr>
          <a:xfrm>
            <a:off x="965200" y="3124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606" name="Rectangle 8"/>
          <p:cNvSpPr/>
          <p:nvPr/>
        </p:nvSpPr>
        <p:spPr>
          <a:xfrm>
            <a:off x="965200" y="3403600"/>
            <a:ext cx="4978400" cy="10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The portal only knows deals entered into it, and ranks them by the time they were submitted in the portal. An older deal entered after launch counts from its entry time; nobody can enter an earlier date.</a:t>
            </a:r>
            <a:endParaRPr sz="1300" b="0">
              <a:solidFill>
                <a:srgbClr val="12384D"/>
              </a:solidFill>
            </a:endParaRPr>
          </a:p>
        </p:txBody>
      </p:sp>
      <p:sp>
        <p:nvSpPr>
          <p:cNvPr id="607" name="Rectangle 9"/>
          <p:cNvSpPr/>
          <p:nvPr/>
        </p:nvSpPr>
        <p:spPr>
          <a:xfrm>
            <a:off x="762000" y="45974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the launch plan, and whether the portal needs a way to enter older deals with their original date.</a:t>
            </a:r>
            <a:endParaRPr sz="1200" b="0">
              <a:solidFill>
                <a:srgbClr val="5B6B7A"/>
              </a:solidFill>
            </a:endParaRPr>
          </a:p>
        </p:txBody>
      </p:sp>
      <p:sp>
        <p:nvSpPr>
          <p:cNvPr id="608"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609" name="Rectangle 11"/>
          <p:cNvSpPr/>
          <p:nvPr/>
        </p:nvSpPr>
        <p:spPr>
          <a:xfrm>
            <a:off x="6477000" y="1752600"/>
            <a:ext cx="5080000" cy="9906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10" name="Oval 12"/>
          <p:cNvSpPr/>
          <p:nvPr/>
        </p:nvSpPr>
        <p:spPr>
          <a:xfrm>
            <a:off x="6629400" y="20574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611" name="Rectangle 13"/>
          <p:cNvSpPr/>
          <p:nvPr/>
        </p:nvSpPr>
        <p:spPr>
          <a:xfrm>
            <a:off x="7137400" y="1803400"/>
            <a:ext cx="4318000" cy="889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Start fresh: only deals submitted in the portal count, and partners are told the launch date in advance</a:t>
            </a:r>
            <a:endParaRPr sz="1300" b="0">
              <a:solidFill>
                <a:srgbClr val="1E2B3C"/>
              </a:solidFill>
            </a:endParaRPr>
          </a:p>
        </p:txBody>
      </p:sp>
      <p:sp>
        <p:nvSpPr>
          <p:cNvPr id="612" name="Rectangle 14"/>
          <p:cNvSpPr/>
          <p:nvPr/>
        </p:nvSpPr>
        <p:spPr>
          <a:xfrm>
            <a:off x="6477000" y="28702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13" name="Oval 15"/>
          <p:cNvSpPr/>
          <p:nvPr/>
        </p:nvSpPr>
        <p:spPr>
          <a:xfrm>
            <a:off x="6629400" y="30607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614" name="Rectangle 16"/>
          <p:cNvSpPr/>
          <p:nvPr/>
        </p:nvSpPr>
        <p:spPr>
          <a:xfrm>
            <a:off x="7137400" y="29210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DBGI enters known deals at launch, with proof of the earlier date, and ranks them first</a:t>
            </a:r>
            <a:endParaRPr sz="1300" b="0">
              <a:solidFill>
                <a:srgbClr val="1E2B3C"/>
              </a:solidFill>
            </a:endParaRPr>
          </a:p>
        </p:txBody>
      </p:sp>
      <p:sp>
        <p:nvSpPr>
          <p:cNvPr id="615" name="Rectangle 17"/>
          <p:cNvSpPr/>
          <p:nvPr/>
        </p:nvSpPr>
        <p:spPr>
          <a:xfrm>
            <a:off x="6477000" y="3759200"/>
            <a:ext cx="5080000" cy="9906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16" name="Oval 18"/>
          <p:cNvSpPr/>
          <p:nvPr/>
        </p:nvSpPr>
        <p:spPr>
          <a:xfrm>
            <a:off x="6629400" y="40640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c</a:t>
            </a:r>
            <a:endParaRPr sz="1400" b="1">
              <a:solidFill>
                <a:srgbClr val="FFFFFF"/>
              </a:solidFill>
            </a:endParaRPr>
          </a:p>
        </p:txBody>
      </p:sp>
      <p:sp>
        <p:nvSpPr>
          <p:cNvPr id="617" name="Rectangle 19"/>
          <p:cNvSpPr/>
          <p:nvPr/>
        </p:nvSpPr>
        <p:spPr>
          <a:xfrm>
            <a:off x="7137400" y="3810000"/>
            <a:ext cx="4318000" cy="889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Partners get a short window (for example two weeks) to register existing deals, which DBGI reviews case by case</a:t>
            </a:r>
            <a:endParaRPr sz="1300" b="0">
              <a:solidFill>
                <a:srgbClr val="1E2B3C"/>
              </a:solidFill>
            </a:endParaRPr>
          </a:p>
        </p:txBody>
      </p:sp>
      <p:sp>
        <p:nvSpPr>
          <p:cNvPr id="618" name="Rectangle 20"/>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19"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620" name="Rectangle 22"/>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A2:  pick a choice, keep today, or write your own</a:t>
            </a:r>
            <a:endParaRPr sz="1400" b="1">
              <a:solidFill>
                <a:srgbClr val="12384D"/>
              </a:solidFill>
            </a:endParaRPr>
          </a:p>
        </p:txBody>
      </p:sp>
      <p:sp>
        <p:nvSpPr>
          <p:cNvPr id="1123" name="Slide Number Placeholder"/>
          <p:cNvSpPr>
            <a:spLocks noGrp="1"/>
          </p:cNvSpPr>
          <p:nvPr>
            <p:ph type="sldNum" idx="12"/>
          </p:nvPr>
        </p:nvSpPr>
        <p:spPr/>
        <p:txBody>
          <a:bodyPr/>
          <a:lstStyle/>
          <a:p>
            <a:fld id="{A25D75BB-123F-4917-80B9-1E1597FFA67E}" type="slidenum">
              <a:rPr/>
              <a:t>‹#›</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2"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23"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A3. Who will actually use it first?</a:t>
            </a:r>
            <a:endParaRPr sz="2200" b="1">
              <a:solidFill>
                <a:srgbClr val="12384D"/>
              </a:solidFill>
            </a:endParaRPr>
          </a:p>
        </p:txBody>
      </p:sp>
      <p:sp>
        <p:nvSpPr>
          <p:cNvPr id="624"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A  |  3 of 21</a:t>
            </a:r>
            <a:endParaRPr sz="1200" b="1">
              <a:solidFill>
                <a:srgbClr val="FFFFFF"/>
              </a:solidFill>
            </a:endParaRPr>
          </a:p>
        </p:txBody>
      </p:sp>
      <p:sp>
        <p:nvSpPr>
          <p:cNvPr id="625"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626"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Which DBGI staff review registrations, and which partner companies should try it first.</a:t>
            </a:r>
            <a:endParaRPr sz="1400" b="0">
              <a:solidFill>
                <a:srgbClr val="1E2B3C"/>
              </a:solidFill>
            </a:endParaRPr>
          </a:p>
        </p:txBody>
      </p:sp>
      <p:sp>
        <p:nvSpPr>
          <p:cNvPr id="627" name="Rectangle 6"/>
          <p:cNvSpPr/>
          <p:nvPr/>
        </p:nvSpPr>
        <p:spPr>
          <a:xfrm>
            <a:off x="762000" y="2489200"/>
            <a:ext cx="5334000" cy="1016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28"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629" name="Rectangle 8"/>
          <p:cNvSpPr/>
          <p:nvPr/>
        </p:nvSpPr>
        <p:spPr>
          <a:xfrm>
            <a:off x="965200" y="2895600"/>
            <a:ext cx="4978400" cy="558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Two roles exist: company user (partner staff) and DBGI administrator. All DBGI admins can do everything.</a:t>
            </a:r>
            <a:endParaRPr sz="1300" b="0">
              <a:solidFill>
                <a:srgbClr val="12384D"/>
              </a:solidFill>
            </a:endParaRPr>
          </a:p>
        </p:txBody>
      </p:sp>
      <p:sp>
        <p:nvSpPr>
          <p:cNvPr id="630" name="Rectangle 9"/>
          <p:cNvSpPr/>
          <p:nvPr/>
        </p:nvSpPr>
        <p:spPr>
          <a:xfrm>
            <a:off x="762000" y="36322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user accounts, training, and whether DBGI needs separate reviewer and pricing roles.</a:t>
            </a:r>
            <a:endParaRPr sz="1200" b="0">
              <a:solidFill>
                <a:srgbClr val="5B6B7A"/>
              </a:solidFill>
            </a:endParaRPr>
          </a:p>
        </p:txBody>
      </p:sp>
      <p:sp>
        <p:nvSpPr>
          <p:cNvPr id="631"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632" name="Rectangle 11"/>
          <p:cNvSpPr/>
          <p:nvPr/>
        </p:nvSpPr>
        <p:spPr>
          <a:xfrm>
            <a:off x="6477000" y="17526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33" name="Oval 12"/>
          <p:cNvSpPr/>
          <p:nvPr/>
        </p:nvSpPr>
        <p:spPr>
          <a:xfrm>
            <a:off x="6629400" y="19431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634" name="Rectangle 13"/>
          <p:cNvSpPr/>
          <p:nvPr/>
        </p:nvSpPr>
        <p:spPr>
          <a:xfrm>
            <a:off x="7137400" y="18034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A small pilot with 2 to 3 trusted partners and one DBGI reviewer</a:t>
            </a:r>
            <a:endParaRPr sz="1300" b="0">
              <a:solidFill>
                <a:srgbClr val="1E2B3C"/>
              </a:solidFill>
            </a:endParaRPr>
          </a:p>
        </p:txBody>
      </p:sp>
      <p:sp>
        <p:nvSpPr>
          <p:cNvPr id="635" name="Rectangle 14"/>
          <p:cNvSpPr/>
          <p:nvPr/>
        </p:nvSpPr>
        <p:spPr>
          <a:xfrm>
            <a:off x="6477000" y="2641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36" name="Oval 15"/>
          <p:cNvSpPr/>
          <p:nvPr/>
        </p:nvSpPr>
        <p:spPr>
          <a:xfrm>
            <a:off x="6629400" y="2717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637" name="Rectangle 16"/>
          <p:cNvSpPr/>
          <p:nvPr/>
        </p:nvSpPr>
        <p:spPr>
          <a:xfrm>
            <a:off x="7137400" y="2692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All partners at once</a:t>
            </a:r>
            <a:endParaRPr sz="1300" b="0">
              <a:solidFill>
                <a:srgbClr val="1E2B3C"/>
              </a:solidFill>
            </a:endParaRPr>
          </a:p>
        </p:txBody>
      </p:sp>
      <p:sp>
        <p:nvSpPr>
          <p:cNvPr id="638" name="Picture"/>
          <p:cNvSpPr/>
          <p:nvPr/>
        </p:nvSpPr>
        <p:spPr>
          <a:xfrm>
            <a:off x="6502400" y="33528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639" name="Rectangle 18"/>
          <p:cNvSpPr/>
          <p:nvPr/>
        </p:nvSpPr>
        <p:spPr>
          <a:xfrm>
            <a:off x="6807200" y="33020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2, Two kinds of users</a:t>
            </a:r>
            <a:endParaRPr sz="1200" b="0">
              <a:solidFill>
                <a:srgbClr val="1B7FA6"/>
              </a:solidFill>
            </a:endParaRPr>
          </a:p>
        </p:txBody>
      </p:sp>
      <p:sp>
        <p:nvSpPr>
          <p:cNvPr id="640" name="Rectangle 19"/>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41"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642" name="Rectangle 21"/>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A3:  pick a choice, keep today, or write your own</a:t>
            </a:r>
            <a:endParaRPr sz="1400" b="1">
              <a:solidFill>
                <a:srgbClr val="12384D"/>
              </a:solidFill>
            </a:endParaRPr>
          </a:p>
        </p:txBody>
      </p:sp>
      <p:sp>
        <p:nvSpPr>
          <p:cNvPr id="1126" name="Slide Number Placeholder"/>
          <p:cNvSpPr>
            <a:spLocks noGrp="1"/>
          </p:cNvSpPr>
          <p:nvPr>
            <p:ph type="sldNum" idx="12"/>
          </p:nvPr>
        </p:nvSpPr>
        <p:spPr/>
        <p:txBody>
          <a:bodyPr/>
          <a:lstStyle/>
          <a:p>
            <a:fld id="{F2CADB88-B499-4338-8237-59C19F108A61}" type="slidenum">
              <a:rPr/>
              <a:t>‹#›</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4"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45"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A4. What must work on day one, and what can wait?</a:t>
            </a:r>
            <a:endParaRPr sz="2200" b="1">
              <a:solidFill>
                <a:srgbClr val="12384D"/>
              </a:solidFill>
            </a:endParaRPr>
          </a:p>
        </p:txBody>
      </p:sp>
      <p:sp>
        <p:nvSpPr>
          <p:cNvPr id="646"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A  |  4 of 21</a:t>
            </a:r>
            <a:endParaRPr sz="1200" b="1">
              <a:solidFill>
                <a:srgbClr val="FFFFFF"/>
              </a:solidFill>
            </a:endParaRPr>
          </a:p>
        </p:txBody>
      </p:sp>
      <p:sp>
        <p:nvSpPr>
          <p:cNvPr id="647"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648" name="Rectangle 5"/>
          <p:cNvSpPr/>
          <p:nvPr/>
        </p:nvSpPr>
        <p:spPr>
          <a:xfrm>
            <a:off x="762000" y="1701800"/>
            <a:ext cx="5334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The smallest version DBGI would actually use.</a:t>
            </a:r>
            <a:endParaRPr sz="1400" b="0">
              <a:solidFill>
                <a:srgbClr val="1E2B3C"/>
              </a:solidFill>
            </a:endParaRPr>
          </a:p>
        </p:txBody>
      </p:sp>
      <p:sp>
        <p:nvSpPr>
          <p:cNvPr id="649" name="Rectangle 6"/>
          <p:cNvSpPr/>
          <p:nvPr/>
        </p:nvSpPr>
        <p:spPr>
          <a:xfrm>
            <a:off x="762000" y="2235200"/>
            <a:ext cx="5334000" cy="12446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50" name="Rectangle 7"/>
          <p:cNvSpPr/>
          <p:nvPr/>
        </p:nvSpPr>
        <p:spPr>
          <a:xfrm>
            <a:off x="965200" y="2362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651" name="Rectangle 8"/>
          <p:cNvSpPr/>
          <p:nvPr/>
        </p:nvSpPr>
        <p:spPr>
          <a:xfrm>
            <a:off x="965200" y="2641600"/>
            <a:ext cx="4978400" cy="787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Registration, review, ranking, and price approval work. Withdrawal, merging deals, price history, and reorders do not exist yet.</a:t>
            </a:r>
            <a:endParaRPr sz="1300" b="0">
              <a:solidFill>
                <a:srgbClr val="12384D"/>
              </a:solidFill>
            </a:endParaRPr>
          </a:p>
        </p:txBody>
      </p:sp>
      <p:sp>
        <p:nvSpPr>
          <p:cNvPr id="652" name="Rectangle 9"/>
          <p:cNvSpPr/>
          <p:nvPr/>
        </p:nvSpPr>
        <p:spPr>
          <a:xfrm>
            <a:off x="762000" y="36068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the launch date and what is in scope for it.</a:t>
            </a:r>
            <a:endParaRPr sz="1200" b="0">
              <a:solidFill>
                <a:srgbClr val="5B6B7A"/>
              </a:solidFill>
            </a:endParaRPr>
          </a:p>
        </p:txBody>
      </p:sp>
      <p:sp>
        <p:nvSpPr>
          <p:cNvPr id="653"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654" name="Rectangle 11"/>
          <p:cNvSpPr/>
          <p:nvPr/>
        </p:nvSpPr>
        <p:spPr>
          <a:xfrm>
            <a:off x="6477000" y="1752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55" name="Oval 12"/>
          <p:cNvSpPr/>
          <p:nvPr/>
        </p:nvSpPr>
        <p:spPr>
          <a:xfrm>
            <a:off x="6629400" y="1828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656" name="Rectangle 13"/>
          <p:cNvSpPr/>
          <p:nvPr/>
        </p:nvSpPr>
        <p:spPr>
          <a:xfrm>
            <a:off x="7137400" y="1803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Launch with today's loop plus withdrawal</a:t>
            </a:r>
            <a:endParaRPr sz="1300" b="0">
              <a:solidFill>
                <a:srgbClr val="1E2B3C"/>
              </a:solidFill>
            </a:endParaRPr>
          </a:p>
        </p:txBody>
      </p:sp>
      <p:sp>
        <p:nvSpPr>
          <p:cNvPr id="657" name="Rectangle 14"/>
          <p:cNvSpPr/>
          <p:nvPr/>
        </p:nvSpPr>
        <p:spPr>
          <a:xfrm>
            <a:off x="6477000" y="24130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58" name="Oval 15"/>
          <p:cNvSpPr/>
          <p:nvPr/>
        </p:nvSpPr>
        <p:spPr>
          <a:xfrm>
            <a:off x="6629400" y="24892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659" name="Rectangle 16"/>
          <p:cNvSpPr/>
          <p:nvPr/>
        </p:nvSpPr>
        <p:spPr>
          <a:xfrm>
            <a:off x="7137400" y="24638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Wait for pricing history too</a:t>
            </a:r>
            <a:endParaRPr sz="1300" b="0">
              <a:solidFill>
                <a:srgbClr val="1E2B3C"/>
              </a:solidFill>
            </a:endParaRPr>
          </a:p>
        </p:txBody>
      </p:sp>
      <p:sp>
        <p:nvSpPr>
          <p:cNvPr id="660" name="Rectangle 17"/>
          <p:cNvSpPr/>
          <p:nvPr/>
        </p:nvSpPr>
        <p:spPr>
          <a:xfrm>
            <a:off x="6477000" y="30734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61" name="Oval 18"/>
          <p:cNvSpPr/>
          <p:nvPr/>
        </p:nvSpPr>
        <p:spPr>
          <a:xfrm>
            <a:off x="6629400" y="31496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c</a:t>
            </a:r>
            <a:endParaRPr sz="1400" b="1">
              <a:solidFill>
                <a:srgbClr val="FFFFFF"/>
              </a:solidFill>
            </a:endParaRPr>
          </a:p>
        </p:txBody>
      </p:sp>
      <p:sp>
        <p:nvSpPr>
          <p:cNvPr id="662" name="Rectangle 19"/>
          <p:cNvSpPr/>
          <p:nvPr/>
        </p:nvSpPr>
        <p:spPr>
          <a:xfrm>
            <a:off x="7137400" y="31242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Wait for reorders as well</a:t>
            </a:r>
            <a:endParaRPr sz="1300" b="0">
              <a:solidFill>
                <a:srgbClr val="1E2B3C"/>
              </a:solidFill>
            </a:endParaRPr>
          </a:p>
        </p:txBody>
      </p:sp>
      <p:sp>
        <p:nvSpPr>
          <p:cNvPr id="663" name="Rectangle 20"/>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64"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665" name="Rectangle 22"/>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A4:  pick a choice, keep today, or write your own</a:t>
            </a:r>
            <a:endParaRPr sz="1400" b="1">
              <a:solidFill>
                <a:srgbClr val="12384D"/>
              </a:solidFill>
            </a:endParaRPr>
          </a:p>
        </p:txBody>
      </p:sp>
      <p:sp>
        <p:nvSpPr>
          <p:cNvPr id="1129" name="Slide Number Placeholder"/>
          <p:cNvSpPr>
            <a:spLocks noGrp="1"/>
          </p:cNvSpPr>
          <p:nvPr>
            <p:ph type="sldNum" idx="12"/>
          </p:nvPr>
        </p:nvSpPr>
        <p:spPr/>
        <p:txBody>
          <a:bodyPr/>
          <a:lstStyle/>
          <a:p>
            <a:fld id="{20DA63C4-2A02-4A9D-8309-223C9070563C}" type="slidenum">
              <a:rPr/>
              <a:t>‹#›</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7"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68"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A5. Do the words make sense to partners?</a:t>
            </a:r>
            <a:endParaRPr sz="2200" b="1">
              <a:solidFill>
                <a:srgbClr val="12384D"/>
              </a:solidFill>
            </a:endParaRPr>
          </a:p>
        </p:txBody>
      </p:sp>
      <p:sp>
        <p:nvSpPr>
          <p:cNvPr id="669"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A  |  5 of 21</a:t>
            </a:r>
            <a:endParaRPr sz="1200" b="1">
              <a:solidFill>
                <a:srgbClr val="FFFFFF"/>
              </a:solidFill>
            </a:endParaRPr>
          </a:p>
        </p:txBody>
      </p:sp>
      <p:sp>
        <p:nvSpPr>
          <p:cNvPr id="670"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671"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Labels like "Registered", "Changes requested", "Review required after edit", "Opportunity scope", "Lot".</a:t>
            </a:r>
            <a:endParaRPr sz="1400" b="0">
              <a:solidFill>
                <a:srgbClr val="1E2B3C"/>
              </a:solidFill>
            </a:endParaRPr>
          </a:p>
        </p:txBody>
      </p:sp>
      <p:sp>
        <p:nvSpPr>
          <p:cNvPr id="672" name="Rectangle 6"/>
          <p:cNvSpPr/>
          <p:nvPr/>
        </p:nvSpPr>
        <p:spPr>
          <a:xfrm>
            <a:off x="762000" y="2489200"/>
            <a:ext cx="5334000" cy="12446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73"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674" name="Rectangle 8"/>
          <p:cNvSpPr/>
          <p:nvPr/>
        </p:nvSpPr>
        <p:spPr>
          <a:xfrm>
            <a:off x="965200" y="2895600"/>
            <a:ext cx="4978400" cy="787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Registration statuses are Submitted, Under review, Changes requested, Resubmitted, Registered, Review required after edit, Approved, and Rejected.</a:t>
            </a:r>
            <a:endParaRPr sz="1300" b="0">
              <a:solidFill>
                <a:srgbClr val="12384D"/>
              </a:solidFill>
            </a:endParaRPr>
          </a:p>
        </p:txBody>
      </p:sp>
      <p:sp>
        <p:nvSpPr>
          <p:cNvPr id="675" name="Rectangle 9"/>
          <p:cNvSpPr/>
          <p:nvPr/>
        </p:nvSpPr>
        <p:spPr>
          <a:xfrm>
            <a:off x="762000" y="38608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final screen labels and help text.</a:t>
            </a:r>
            <a:endParaRPr sz="1200" b="0">
              <a:solidFill>
                <a:srgbClr val="5B6B7A"/>
              </a:solidFill>
            </a:endParaRPr>
          </a:p>
        </p:txBody>
      </p:sp>
      <p:sp>
        <p:nvSpPr>
          <p:cNvPr id="676"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TELL US</a:t>
            </a:r>
            <a:endParaRPr sz="1100" b="1">
              <a:solidFill>
                <a:srgbClr val="1B7FA6"/>
              </a:solidFill>
            </a:endParaRPr>
          </a:p>
        </p:txBody>
      </p:sp>
      <p:sp>
        <p:nvSpPr>
          <p:cNvPr id="677" name="Rectangle 11"/>
          <p:cNvSpPr/>
          <p:nvPr/>
        </p:nvSpPr>
        <p:spPr>
          <a:xfrm>
            <a:off x="6477000" y="1752600"/>
            <a:ext cx="5080000" cy="1397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400" b="0">
                <a:solidFill>
                  <a:srgbClr val="12384D"/>
                </a:solidFill>
              </a:rPr>
              <a:t>Would a partner understand these labels? Which words would partners and DBGI staff expect instead?</a:t>
            </a:r>
            <a:endParaRPr sz="1400" b="0">
              <a:solidFill>
                <a:srgbClr val="12384D"/>
              </a:solidFill>
            </a:endParaRPr>
          </a:p>
        </p:txBody>
      </p:sp>
      <p:sp>
        <p:nvSpPr>
          <p:cNvPr id="678" name="Message"/>
          <p:cNvSpPr/>
          <p:nvPr/>
        </p:nvSpPr>
        <p:spPr>
          <a:xfrm>
            <a:off x="6629400" y="2311400"/>
            <a:ext cx="279400" cy="279400"/>
          </a:xfrm>
          <a:custGeom>
            <a:avLst/>
            <a:gdLst/>
            <a:ahLst/>
            <a:cxnLst/>
            <a:rect l="l" t="t" r="r" b="b"/>
            <a:pathLst>
              <a:path w="100000" h="100000" fill="none">
                <a:moveTo>
                  <a:pt x="12467" y="68092"/>
                </a:moveTo>
                <a:cubicBezTo>
                  <a:pt x="13079" y="69637"/>
                  <a:pt x="13216" y="71330"/>
                  <a:pt x="12858" y="72954"/>
                </a:cubicBezTo>
                <a:lnTo>
                  <a:pt x="8421" y="86663"/>
                </a:lnTo>
                <a:cubicBezTo>
                  <a:pt x="8130" y="88076"/>
                  <a:pt x="8591" y="89539"/>
                  <a:pt x="9640" y="90530"/>
                </a:cubicBezTo>
                <a:cubicBezTo>
                  <a:pt x="10689" y="91521"/>
                  <a:pt x="12176" y="91899"/>
                  <a:pt x="13571" y="91529"/>
                </a:cubicBezTo>
                <a:lnTo>
                  <a:pt x="27792" y="87371"/>
                </a:lnTo>
                <a:cubicBezTo>
                  <a:pt x="29324" y="87067"/>
                  <a:pt x="30910" y="87200"/>
                  <a:pt x="32371" y="87754"/>
                </a:cubicBezTo>
                <a:cubicBezTo>
                  <a:pt x="50740" y="96333"/>
                  <a:pt x="72617" y="90445"/>
                  <a:pt x="84199" y="73806"/>
                </a:cubicBezTo>
                <a:cubicBezTo>
                  <a:pt x="95781" y="57167"/>
                  <a:pt x="93706" y="34607"/>
                  <a:pt x="79284" y="20359"/>
                </a:cubicBezTo>
                <a:cubicBezTo>
                  <a:pt x="64861" y="6112"/>
                  <a:pt x="42277" y="4313"/>
                  <a:pt x="25781" y="16097"/>
                </a:cubicBezTo>
                <a:cubicBezTo>
                  <a:pt x="9285" y="27882"/>
                  <a:pt x="3665" y="49829"/>
                  <a:pt x="12467" y="68092"/>
                </a:cubicBez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679" name="Picture"/>
          <p:cNvSpPr/>
          <p:nvPr/>
        </p:nvSpPr>
        <p:spPr>
          <a:xfrm>
            <a:off x="6502400" y="33274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680" name="Rectangle 14"/>
          <p:cNvSpPr/>
          <p:nvPr/>
        </p:nvSpPr>
        <p:spPr>
          <a:xfrm>
            <a:off x="6807200" y="32766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5, Read the three status badges</a:t>
            </a:r>
            <a:endParaRPr sz="1200" b="0">
              <a:solidFill>
                <a:srgbClr val="1B7FA6"/>
              </a:solidFill>
            </a:endParaRPr>
          </a:p>
        </p:txBody>
      </p:sp>
      <p:sp>
        <p:nvSpPr>
          <p:cNvPr id="681" name="Rectangle 15"/>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82"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683" name="Rectangle 17"/>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A5:  write your answer in Notes</a:t>
            </a:r>
            <a:endParaRPr sz="1400" b="1">
              <a:solidFill>
                <a:srgbClr val="12384D"/>
              </a:solidFill>
            </a:endParaRPr>
          </a:p>
        </p:txBody>
      </p:sp>
      <p:sp>
        <p:nvSpPr>
          <p:cNvPr id="1132" name="Slide Number Placeholder"/>
          <p:cNvSpPr>
            <a:spLocks noGrp="1"/>
          </p:cNvSpPr>
          <p:nvPr>
            <p:ph type="sldNum" idx="12"/>
          </p:nvPr>
        </p:nvSpPr>
        <p:spPr/>
        <p:txBody>
          <a:bodyPr/>
          <a:lstStyle/>
          <a:p>
            <a:fld id="{CC6ABD80-DCB7-434E-8AA4-FAC1A04A5B47}" type="slidenum">
              <a:rPr/>
              <a:t>‹#›</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86"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B1. Can partners edit a deal after submitting it?</a:t>
            </a:r>
            <a:endParaRPr sz="2200" b="1">
              <a:solidFill>
                <a:srgbClr val="12384D"/>
              </a:solidFill>
            </a:endParaRPr>
          </a:p>
        </p:txBody>
      </p:sp>
      <p:sp>
        <p:nvSpPr>
          <p:cNvPr id="687"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B  |  6 of 21</a:t>
            </a:r>
            <a:endParaRPr sz="1200" b="1">
              <a:solidFill>
                <a:srgbClr val="FFFFFF"/>
              </a:solidFill>
            </a:endParaRPr>
          </a:p>
        </p:txBody>
      </p:sp>
      <p:sp>
        <p:nvSpPr>
          <p:cNvPr id="688"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689"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Once a partner submits, can they keep changing it, or only when DBGI asks?</a:t>
            </a:r>
            <a:endParaRPr sz="1400" b="0">
              <a:solidFill>
                <a:srgbClr val="1E2B3C"/>
              </a:solidFill>
            </a:endParaRPr>
          </a:p>
        </p:txBody>
      </p:sp>
      <p:sp>
        <p:nvSpPr>
          <p:cNvPr id="690" name="Rectangle 6"/>
          <p:cNvSpPr/>
          <p:nvPr/>
        </p:nvSpPr>
        <p:spPr>
          <a:xfrm>
            <a:off x="762000" y="2489200"/>
            <a:ext cx="5334000" cy="17018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91"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692" name="Rectangle 8"/>
          <p:cNvSpPr/>
          <p:nvPr/>
        </p:nvSpPr>
        <p:spPr>
          <a:xfrm>
            <a:off x="965200" y="2895600"/>
            <a:ext cx="4978400" cy="1244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Partners can edit at any time. Products and prices lock once DBGI starts the price review. Editing a deal that is already Registered sends it back to DBGI ("Review required after edit"), but it keeps its original place in line.</a:t>
            </a:r>
            <a:endParaRPr sz="1300" b="0">
              <a:solidFill>
                <a:srgbClr val="12384D"/>
              </a:solidFill>
            </a:endParaRPr>
          </a:p>
        </p:txBody>
      </p:sp>
      <p:sp>
        <p:nvSpPr>
          <p:cNvPr id="693" name="Rectangle 9"/>
          <p:cNvSpPr/>
          <p:nvPr/>
        </p:nvSpPr>
        <p:spPr>
          <a:xfrm>
            <a:off x="762000" y="43180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final editing rules and status flow.</a:t>
            </a:r>
            <a:endParaRPr sz="1200" b="0">
              <a:solidFill>
                <a:srgbClr val="5B6B7A"/>
              </a:solidFill>
            </a:endParaRPr>
          </a:p>
        </p:txBody>
      </p:sp>
      <p:sp>
        <p:nvSpPr>
          <p:cNvPr id="694"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695" name="Rectangle 11"/>
          <p:cNvSpPr/>
          <p:nvPr/>
        </p:nvSpPr>
        <p:spPr>
          <a:xfrm>
            <a:off x="6477000" y="1752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96" name="Oval 12"/>
          <p:cNvSpPr/>
          <p:nvPr/>
        </p:nvSpPr>
        <p:spPr>
          <a:xfrm>
            <a:off x="6629400" y="1828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697" name="Rectangle 13"/>
          <p:cNvSpPr/>
          <p:nvPr/>
        </p:nvSpPr>
        <p:spPr>
          <a:xfrm>
            <a:off x="7137400" y="1803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Keep today's rule</a:t>
            </a:r>
            <a:endParaRPr sz="1300" b="0">
              <a:solidFill>
                <a:srgbClr val="1E2B3C"/>
              </a:solidFill>
            </a:endParaRPr>
          </a:p>
        </p:txBody>
      </p:sp>
      <p:sp>
        <p:nvSpPr>
          <p:cNvPr id="698" name="Rectangle 14"/>
          <p:cNvSpPr/>
          <p:nvPr/>
        </p:nvSpPr>
        <p:spPr>
          <a:xfrm>
            <a:off x="6477000" y="24130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699" name="Oval 15"/>
          <p:cNvSpPr/>
          <p:nvPr/>
        </p:nvSpPr>
        <p:spPr>
          <a:xfrm>
            <a:off x="6629400" y="24892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700" name="Rectangle 16"/>
          <p:cNvSpPr/>
          <p:nvPr/>
        </p:nvSpPr>
        <p:spPr>
          <a:xfrm>
            <a:off x="7137400" y="24638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Only edit when DBGI requests changes</a:t>
            </a:r>
            <a:endParaRPr sz="1300" b="0">
              <a:solidFill>
                <a:srgbClr val="1E2B3C"/>
              </a:solidFill>
            </a:endParaRPr>
          </a:p>
        </p:txBody>
      </p:sp>
      <p:sp>
        <p:nvSpPr>
          <p:cNvPr id="701" name="Rectangle 17"/>
          <p:cNvSpPr/>
          <p:nvPr/>
        </p:nvSpPr>
        <p:spPr>
          <a:xfrm>
            <a:off x="6477000" y="30734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02" name="Oval 18"/>
          <p:cNvSpPr/>
          <p:nvPr/>
        </p:nvSpPr>
        <p:spPr>
          <a:xfrm>
            <a:off x="6629400" y="32639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c</a:t>
            </a:r>
            <a:endParaRPr sz="1400" b="1">
              <a:solidFill>
                <a:srgbClr val="FFFFFF"/>
              </a:solidFill>
            </a:endParaRPr>
          </a:p>
        </p:txBody>
      </p:sp>
      <p:sp>
        <p:nvSpPr>
          <p:cNvPr id="703" name="Rectangle 19"/>
          <p:cNvSpPr/>
          <p:nvPr/>
        </p:nvSpPr>
        <p:spPr>
          <a:xfrm>
            <a:off x="7137400" y="31242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Allow small fixes freely, re-review for big ones</a:t>
            </a:r>
            <a:endParaRPr sz="1300" b="0">
              <a:solidFill>
                <a:srgbClr val="1E2B3C"/>
              </a:solidFill>
            </a:endParaRPr>
          </a:p>
        </p:txBody>
      </p:sp>
      <p:sp>
        <p:nvSpPr>
          <p:cNvPr id="704" name="Picture"/>
          <p:cNvSpPr/>
          <p:nvPr/>
        </p:nvSpPr>
        <p:spPr>
          <a:xfrm>
            <a:off x="6502400" y="40132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705" name="Rectangle 21"/>
          <p:cNvSpPr/>
          <p:nvPr/>
        </p:nvSpPr>
        <p:spPr>
          <a:xfrm>
            <a:off x="6807200" y="39624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15, Fix only what was asked</a:t>
            </a:r>
            <a:endParaRPr sz="1200" b="0">
              <a:solidFill>
                <a:srgbClr val="1B7FA6"/>
              </a:solidFill>
            </a:endParaRPr>
          </a:p>
        </p:txBody>
      </p:sp>
      <p:sp>
        <p:nvSpPr>
          <p:cNvPr id="706" name="Rectangle 22"/>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07"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708" name="Rectangle 24"/>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B1:  pick a choice, keep today, or write your own</a:t>
            </a:r>
            <a:endParaRPr sz="1400" b="1">
              <a:solidFill>
                <a:srgbClr val="12384D"/>
              </a:solidFill>
            </a:endParaRPr>
          </a:p>
        </p:txBody>
      </p:sp>
      <p:sp>
        <p:nvSpPr>
          <p:cNvPr id="1135" name="Slide Number Placeholder"/>
          <p:cNvSpPr>
            <a:spLocks noGrp="1"/>
          </p:cNvSpPr>
          <p:nvPr>
            <p:ph type="sldNum" idx="12"/>
          </p:nvPr>
        </p:nvSpPr>
        <p:spPr/>
        <p:txBody>
          <a:bodyPr/>
          <a:lstStyle/>
          <a:p>
            <a:fld id="{8F102130-0A8A-4CBB-89F9-48638E711EDA}" type="slidenum">
              <a:rPr/>
              <a:t>‹#›</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0"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11"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B2. Can a partner withdraw a deal, and can it come back?</a:t>
            </a:r>
            <a:endParaRPr sz="2200" b="1">
              <a:solidFill>
                <a:srgbClr val="12384D"/>
              </a:solidFill>
            </a:endParaRPr>
          </a:p>
        </p:txBody>
      </p:sp>
      <p:sp>
        <p:nvSpPr>
          <p:cNvPr id="712"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B  |  7 of 21</a:t>
            </a:r>
            <a:endParaRPr sz="1200" b="1">
              <a:solidFill>
                <a:srgbClr val="FFFFFF"/>
              </a:solidFill>
            </a:endParaRPr>
          </a:p>
        </p:txBody>
      </p:sp>
      <p:sp>
        <p:nvSpPr>
          <p:cNvPr id="713"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714"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A partner drops out of a deal. Do they lose their place permanently, and does DBGI need to confirm it?</a:t>
            </a:r>
            <a:endParaRPr sz="1400" b="0">
              <a:solidFill>
                <a:srgbClr val="1E2B3C"/>
              </a:solidFill>
            </a:endParaRPr>
          </a:p>
        </p:txBody>
      </p:sp>
      <p:sp>
        <p:nvSpPr>
          <p:cNvPr id="715" name="Rectangle 6"/>
          <p:cNvSpPr/>
          <p:nvPr/>
        </p:nvSpPr>
        <p:spPr>
          <a:xfrm>
            <a:off x="762000" y="2489200"/>
            <a:ext cx="5334000" cy="7874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16"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717" name="Rectangle 8"/>
          <p:cNvSpPr/>
          <p:nvPr/>
        </p:nvSpPr>
        <p:spPr>
          <a:xfrm>
            <a:off x="965200" y="2895600"/>
            <a:ext cx="4978400" cy="33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There is no withdrawal. DBGI can only reject.</a:t>
            </a:r>
            <a:endParaRPr sz="1300" b="0">
              <a:solidFill>
                <a:srgbClr val="12384D"/>
              </a:solidFill>
            </a:endParaRPr>
          </a:p>
        </p:txBody>
      </p:sp>
      <p:sp>
        <p:nvSpPr>
          <p:cNvPr id="718" name="Rectangle 9"/>
          <p:cNvSpPr/>
          <p:nvPr/>
        </p:nvSpPr>
        <p:spPr>
          <a:xfrm>
            <a:off x="762000" y="34036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the withdrawal feature (the next planned build).</a:t>
            </a:r>
            <a:endParaRPr sz="1200" b="0">
              <a:solidFill>
                <a:srgbClr val="5B6B7A"/>
              </a:solidFill>
            </a:endParaRPr>
          </a:p>
        </p:txBody>
      </p:sp>
      <p:sp>
        <p:nvSpPr>
          <p:cNvPr id="719"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720" name="Rectangle 11"/>
          <p:cNvSpPr/>
          <p:nvPr/>
        </p:nvSpPr>
        <p:spPr>
          <a:xfrm>
            <a:off x="6477000" y="17526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21" name="Oval 12"/>
          <p:cNvSpPr/>
          <p:nvPr/>
        </p:nvSpPr>
        <p:spPr>
          <a:xfrm>
            <a:off x="6629400" y="19431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722" name="Rectangle 13"/>
          <p:cNvSpPr/>
          <p:nvPr/>
        </p:nvSpPr>
        <p:spPr>
          <a:xfrm>
            <a:off x="7137400" y="18034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Partner requests, DBGI confirms, the place in line is lost for good</a:t>
            </a:r>
            <a:endParaRPr sz="1300" b="0">
              <a:solidFill>
                <a:srgbClr val="1E2B3C"/>
              </a:solidFill>
            </a:endParaRPr>
          </a:p>
        </p:txBody>
      </p:sp>
      <p:sp>
        <p:nvSpPr>
          <p:cNvPr id="723" name="Rectangle 14"/>
          <p:cNvSpPr/>
          <p:nvPr/>
        </p:nvSpPr>
        <p:spPr>
          <a:xfrm>
            <a:off x="6477000" y="26416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24" name="Oval 15"/>
          <p:cNvSpPr/>
          <p:nvPr/>
        </p:nvSpPr>
        <p:spPr>
          <a:xfrm>
            <a:off x="6629400" y="28321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725" name="Rectangle 16"/>
          <p:cNvSpPr/>
          <p:nvPr/>
        </p:nvSpPr>
        <p:spPr>
          <a:xfrm>
            <a:off x="7137400" y="26924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Partner withdraws instantly, DBGI is notified</a:t>
            </a:r>
            <a:endParaRPr sz="1300" b="0">
              <a:solidFill>
                <a:srgbClr val="1E2B3C"/>
              </a:solidFill>
            </a:endParaRPr>
          </a:p>
        </p:txBody>
      </p:sp>
      <p:sp>
        <p:nvSpPr>
          <p:cNvPr id="726" name="Rectangle 17"/>
          <p:cNvSpPr/>
          <p:nvPr/>
        </p:nvSpPr>
        <p:spPr>
          <a:xfrm>
            <a:off x="6477000" y="35306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27" name="Oval 18"/>
          <p:cNvSpPr/>
          <p:nvPr/>
        </p:nvSpPr>
        <p:spPr>
          <a:xfrm>
            <a:off x="6629400" y="37211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c</a:t>
            </a:r>
            <a:endParaRPr sz="1400" b="1">
              <a:solidFill>
                <a:srgbClr val="FFFFFF"/>
              </a:solidFill>
            </a:endParaRPr>
          </a:p>
        </p:txBody>
      </p:sp>
      <p:sp>
        <p:nvSpPr>
          <p:cNvPr id="728" name="Rectangle 19"/>
          <p:cNvSpPr/>
          <p:nvPr/>
        </p:nvSpPr>
        <p:spPr>
          <a:xfrm>
            <a:off x="7137400" y="35814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Withdrawn deals can be restored within a set time with their original place</a:t>
            </a:r>
            <a:endParaRPr sz="1300" b="0">
              <a:solidFill>
                <a:srgbClr val="1E2B3C"/>
              </a:solidFill>
            </a:endParaRPr>
          </a:p>
        </p:txBody>
      </p:sp>
      <p:sp>
        <p:nvSpPr>
          <p:cNvPr id="729" name="Picture"/>
          <p:cNvSpPr/>
          <p:nvPr/>
        </p:nvSpPr>
        <p:spPr>
          <a:xfrm>
            <a:off x="6502400" y="44704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730" name="Rectangle 21"/>
          <p:cNvSpPr/>
          <p:nvPr/>
        </p:nvSpPr>
        <p:spPr>
          <a:xfrm>
            <a:off x="6807200" y="44196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13, Choose exactly one decision</a:t>
            </a:r>
            <a:endParaRPr sz="1200" b="0">
              <a:solidFill>
                <a:srgbClr val="1B7FA6"/>
              </a:solidFill>
            </a:endParaRPr>
          </a:p>
        </p:txBody>
      </p:sp>
      <p:sp>
        <p:nvSpPr>
          <p:cNvPr id="731" name="Rectangle 22"/>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32"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733" name="Rectangle 24"/>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B2:  pick a choice, keep today, or write your own</a:t>
            </a:r>
            <a:endParaRPr sz="1400" b="1">
              <a:solidFill>
                <a:srgbClr val="12384D"/>
              </a:solidFill>
            </a:endParaRPr>
          </a:p>
        </p:txBody>
      </p:sp>
      <p:sp>
        <p:nvSpPr>
          <p:cNvPr id="1138" name="Slide Number Placeholder"/>
          <p:cNvSpPr>
            <a:spLocks noGrp="1"/>
          </p:cNvSpPr>
          <p:nvPr>
            <p:ph type="sldNum" idx="12"/>
          </p:nvPr>
        </p:nvSpPr>
        <p:spPr/>
        <p:txBody>
          <a:bodyPr/>
          <a:lstStyle/>
          <a:p>
            <a:fld id="{76977E4B-5CEA-4025-8B70-AC24C01FA0F0}" type="slidenum">
              <a:rPr/>
              <a:t>‹#›</a:t>
            </a:fld>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5"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36"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B3. What happens when two registrations turn out to be one deal, or one turns out to be two?</a:t>
            </a:r>
            <a:endParaRPr sz="2200" b="1">
              <a:solidFill>
                <a:srgbClr val="12384D"/>
              </a:solidFill>
            </a:endParaRPr>
          </a:p>
        </p:txBody>
      </p:sp>
      <p:sp>
        <p:nvSpPr>
          <p:cNvPr id="737"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B  |  8 of 21</a:t>
            </a:r>
            <a:endParaRPr sz="1200" b="1">
              <a:solidFill>
                <a:srgbClr val="FFFFFF"/>
              </a:solidFill>
            </a:endParaRPr>
          </a:p>
        </p:txBody>
      </p:sp>
      <p:sp>
        <p:nvSpPr>
          <p:cNvPr id="738"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739" name="Rectangle 5"/>
          <p:cNvSpPr/>
          <p:nvPr/>
        </p:nvSpPr>
        <p:spPr>
          <a:xfrm>
            <a:off x="762000" y="1701800"/>
            <a:ext cx="5334000" cy="1117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DBGI later learns two partner registrations are the same tender (merge), or one registration actually covers two separate lots (split). Who keeps first place, and what happens to approved prices?</a:t>
            </a:r>
            <a:endParaRPr sz="1400" b="0">
              <a:solidFill>
                <a:srgbClr val="1E2B3C"/>
              </a:solidFill>
            </a:endParaRPr>
          </a:p>
        </p:txBody>
      </p:sp>
      <p:sp>
        <p:nvSpPr>
          <p:cNvPr id="740" name="Rectangle 6"/>
          <p:cNvSpPr/>
          <p:nvPr/>
        </p:nvSpPr>
        <p:spPr>
          <a:xfrm>
            <a:off x="762000" y="2997200"/>
            <a:ext cx="5334000" cy="12446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41" name="Rectangle 7"/>
          <p:cNvSpPr/>
          <p:nvPr/>
        </p:nvSpPr>
        <p:spPr>
          <a:xfrm>
            <a:off x="965200" y="3124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742" name="Rectangle 8"/>
          <p:cNvSpPr/>
          <p:nvPr/>
        </p:nvSpPr>
        <p:spPr>
          <a:xfrm>
            <a:off x="965200" y="3403600"/>
            <a:ext cx="4978400" cy="787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DBGI groups matching registrations under one opportunity and lot when reviewing. There is no merge or split afterwards.</a:t>
            </a:r>
            <a:endParaRPr sz="1300" b="0">
              <a:solidFill>
                <a:srgbClr val="12384D"/>
              </a:solidFill>
            </a:endParaRPr>
          </a:p>
        </p:txBody>
      </p:sp>
      <p:sp>
        <p:nvSpPr>
          <p:cNvPr id="743" name="Rectangle 9"/>
          <p:cNvSpPr/>
          <p:nvPr/>
        </p:nvSpPr>
        <p:spPr>
          <a:xfrm>
            <a:off x="762000" y="43688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merge and split tools.</a:t>
            </a:r>
            <a:endParaRPr sz="1200" b="0">
              <a:solidFill>
                <a:srgbClr val="5B6B7A"/>
              </a:solidFill>
            </a:endParaRPr>
          </a:p>
        </p:txBody>
      </p:sp>
      <p:sp>
        <p:nvSpPr>
          <p:cNvPr id="744"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745" name="Rectangle 11"/>
          <p:cNvSpPr/>
          <p:nvPr/>
        </p:nvSpPr>
        <p:spPr>
          <a:xfrm>
            <a:off x="6477000" y="1752600"/>
            <a:ext cx="5080000" cy="9906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46" name="Oval 12"/>
          <p:cNvSpPr/>
          <p:nvPr/>
        </p:nvSpPr>
        <p:spPr>
          <a:xfrm>
            <a:off x="6629400" y="20574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747" name="Rectangle 13"/>
          <p:cNvSpPr/>
          <p:nvPr/>
        </p:nvSpPr>
        <p:spPr>
          <a:xfrm>
            <a:off x="7137400" y="1803400"/>
            <a:ext cx="4318000" cy="889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Always keep each registration's original submission time for ranking, and re-review prices after any merge or split</a:t>
            </a:r>
            <a:endParaRPr sz="1300" b="0">
              <a:solidFill>
                <a:srgbClr val="1E2B3C"/>
              </a:solidFill>
            </a:endParaRPr>
          </a:p>
        </p:txBody>
      </p:sp>
      <p:sp>
        <p:nvSpPr>
          <p:cNvPr id="748" name="Rectangle 14"/>
          <p:cNvSpPr/>
          <p:nvPr/>
        </p:nvSpPr>
        <p:spPr>
          <a:xfrm>
            <a:off x="6477000" y="28702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49" name="Oval 15"/>
          <p:cNvSpPr/>
          <p:nvPr/>
        </p:nvSpPr>
        <p:spPr>
          <a:xfrm>
            <a:off x="6629400" y="30607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750" name="Rectangle 16"/>
          <p:cNvSpPr/>
          <p:nvPr/>
        </p:nvSpPr>
        <p:spPr>
          <a:xfrm>
            <a:off x="7137400" y="29210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DBGI decides case by case with a written reason</a:t>
            </a:r>
            <a:endParaRPr sz="1300" b="0">
              <a:solidFill>
                <a:srgbClr val="1E2B3C"/>
              </a:solidFill>
            </a:endParaRPr>
          </a:p>
        </p:txBody>
      </p:sp>
      <p:sp>
        <p:nvSpPr>
          <p:cNvPr id="751" name="Picture"/>
          <p:cNvSpPr/>
          <p:nvPr/>
        </p:nvSpPr>
        <p:spPr>
          <a:xfrm>
            <a:off x="6502400" y="38100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752" name="Rectangle 18"/>
          <p:cNvSpPr/>
          <p:nvPr/>
        </p:nvSpPr>
        <p:spPr>
          <a:xfrm>
            <a:off x="6807200" y="37592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16, Check the changes, then confirm</a:t>
            </a:r>
            <a:endParaRPr sz="1200" b="0">
              <a:solidFill>
                <a:srgbClr val="1B7FA6"/>
              </a:solidFill>
            </a:endParaRPr>
          </a:p>
        </p:txBody>
      </p:sp>
      <p:sp>
        <p:nvSpPr>
          <p:cNvPr id="753" name="Rectangle 19"/>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54"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755" name="Rectangle 21"/>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B3:  pick a choice, keep today, or write your own</a:t>
            </a:r>
            <a:endParaRPr sz="1400" b="1">
              <a:solidFill>
                <a:srgbClr val="12384D"/>
              </a:solidFill>
            </a:endParaRPr>
          </a:p>
        </p:txBody>
      </p:sp>
      <p:sp>
        <p:nvSpPr>
          <p:cNvPr id="1141" name="Slide Number Placeholder"/>
          <p:cNvSpPr>
            <a:spLocks noGrp="1"/>
          </p:cNvSpPr>
          <p:nvPr>
            <p:ph type="sldNum" idx="12"/>
          </p:nvPr>
        </p:nvSpPr>
        <p:spPr/>
        <p:txBody>
          <a:bodyPr/>
          <a:lstStyle/>
          <a:p>
            <a:fld id="{9A0DB81F-7F0B-4B60-8552-86EC2BBBBBF5}" type="slidenum">
              <a:rPr/>
              <a:t>‹#›</a:t>
            </a:fld>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58"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B4. Who decides Won, Lost, Cancelled, or On hold?</a:t>
            </a:r>
            <a:endParaRPr sz="2200" b="1">
              <a:solidFill>
                <a:srgbClr val="12384D"/>
              </a:solidFill>
            </a:endParaRPr>
          </a:p>
        </p:txBody>
      </p:sp>
      <p:sp>
        <p:nvSpPr>
          <p:cNvPr id="759"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B  |  9 of 21</a:t>
            </a:r>
            <a:endParaRPr sz="1200" b="1">
              <a:solidFill>
                <a:srgbClr val="FFFFFF"/>
              </a:solidFill>
            </a:endParaRPr>
          </a:p>
        </p:txBody>
      </p:sp>
      <p:sp>
        <p:nvSpPr>
          <p:cNvPr id="760"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761"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Who marks the outcome of the government project, and should partners be able to report it?</a:t>
            </a:r>
            <a:endParaRPr sz="1400" b="0">
              <a:solidFill>
                <a:srgbClr val="1E2B3C"/>
              </a:solidFill>
            </a:endParaRPr>
          </a:p>
        </p:txBody>
      </p:sp>
      <p:sp>
        <p:nvSpPr>
          <p:cNvPr id="762" name="Rectangle 6"/>
          <p:cNvSpPr/>
          <p:nvPr/>
        </p:nvSpPr>
        <p:spPr>
          <a:xfrm>
            <a:off x="762000" y="2489200"/>
            <a:ext cx="5334000" cy="1016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63"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764" name="Rectangle 8"/>
          <p:cNvSpPr/>
          <p:nvPr/>
        </p:nvSpPr>
        <p:spPr>
          <a:xfrm>
            <a:off x="965200" y="2895600"/>
            <a:ext cx="4978400" cy="558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Only DBGI administrators set it, with a reason. Partners cannot.</a:t>
            </a:r>
            <a:endParaRPr sz="1300" b="0">
              <a:solidFill>
                <a:srgbClr val="12384D"/>
              </a:solidFill>
            </a:endParaRPr>
          </a:p>
        </p:txBody>
      </p:sp>
      <p:sp>
        <p:nvSpPr>
          <p:cNvPr id="765" name="Rectangle 9"/>
          <p:cNvSpPr/>
          <p:nvPr/>
        </p:nvSpPr>
        <p:spPr>
          <a:xfrm>
            <a:off x="762000" y="36322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outcome tracking and win and loss reports.</a:t>
            </a:r>
            <a:endParaRPr sz="1200" b="0">
              <a:solidFill>
                <a:srgbClr val="5B6B7A"/>
              </a:solidFill>
            </a:endParaRPr>
          </a:p>
        </p:txBody>
      </p:sp>
      <p:sp>
        <p:nvSpPr>
          <p:cNvPr id="766"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767" name="Rectangle 11"/>
          <p:cNvSpPr/>
          <p:nvPr/>
        </p:nvSpPr>
        <p:spPr>
          <a:xfrm>
            <a:off x="6477000" y="1752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68" name="Oval 12"/>
          <p:cNvSpPr/>
          <p:nvPr/>
        </p:nvSpPr>
        <p:spPr>
          <a:xfrm>
            <a:off x="6629400" y="1828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769" name="Rectangle 13"/>
          <p:cNvSpPr/>
          <p:nvPr/>
        </p:nvSpPr>
        <p:spPr>
          <a:xfrm>
            <a:off x="7137400" y="1803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Keep DBGI only</a:t>
            </a:r>
            <a:endParaRPr sz="1300" b="0">
              <a:solidFill>
                <a:srgbClr val="1E2B3C"/>
              </a:solidFill>
            </a:endParaRPr>
          </a:p>
        </p:txBody>
      </p:sp>
      <p:sp>
        <p:nvSpPr>
          <p:cNvPr id="770" name="Rectangle 14"/>
          <p:cNvSpPr/>
          <p:nvPr/>
        </p:nvSpPr>
        <p:spPr>
          <a:xfrm>
            <a:off x="6477000" y="24130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71" name="Oval 15"/>
          <p:cNvSpPr/>
          <p:nvPr/>
        </p:nvSpPr>
        <p:spPr>
          <a:xfrm>
            <a:off x="6629400" y="24892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772" name="Rectangle 16"/>
          <p:cNvSpPr/>
          <p:nvPr/>
        </p:nvSpPr>
        <p:spPr>
          <a:xfrm>
            <a:off x="7137400" y="24638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Partners report, DBGI confirms</a:t>
            </a:r>
            <a:endParaRPr sz="1300" b="0">
              <a:solidFill>
                <a:srgbClr val="1E2B3C"/>
              </a:solidFill>
            </a:endParaRPr>
          </a:p>
        </p:txBody>
      </p:sp>
      <p:sp>
        <p:nvSpPr>
          <p:cNvPr id="773" name="Picture"/>
          <p:cNvSpPr/>
          <p:nvPr/>
        </p:nvSpPr>
        <p:spPr>
          <a:xfrm>
            <a:off x="6502400" y="31242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774" name="Rectangle 18"/>
          <p:cNvSpPr/>
          <p:nvPr/>
        </p:nvSpPr>
        <p:spPr>
          <a:xfrm>
            <a:off x="6807200" y="30734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5, Read the three status badges</a:t>
            </a:r>
            <a:endParaRPr sz="1200" b="0">
              <a:solidFill>
                <a:srgbClr val="1B7FA6"/>
              </a:solidFill>
            </a:endParaRPr>
          </a:p>
        </p:txBody>
      </p:sp>
      <p:sp>
        <p:nvSpPr>
          <p:cNvPr id="775" name="Rectangle 19"/>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76"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777" name="Rectangle 21"/>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B4:  pick a choice, keep today, or write your own</a:t>
            </a:r>
            <a:endParaRPr sz="1400" b="1">
              <a:solidFill>
                <a:srgbClr val="12384D"/>
              </a:solidFill>
            </a:endParaRPr>
          </a:p>
        </p:txBody>
      </p:sp>
      <p:sp>
        <p:nvSpPr>
          <p:cNvPr id="1144" name="Slide Number Placeholder"/>
          <p:cNvSpPr>
            <a:spLocks noGrp="1"/>
          </p:cNvSpPr>
          <p:nvPr>
            <p:ph type="sldNum" idx="12"/>
          </p:nvPr>
        </p:nvSpPr>
        <p:spPr/>
        <p:txBody>
          <a:bodyPr/>
          <a:lstStyle/>
          <a:p>
            <a:fld id="{A5288D33-BBAA-4D9F-8F9E-DF2657CB7F02}" type="slidenum">
              <a:rPr/>
              <a:t>‹#›</a:t>
            </a:fld>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9"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80"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B5. What if two partners register at exactly the same moment?</a:t>
            </a:r>
            <a:endParaRPr sz="2200" b="1">
              <a:solidFill>
                <a:srgbClr val="12384D"/>
              </a:solidFill>
            </a:endParaRPr>
          </a:p>
        </p:txBody>
      </p:sp>
      <p:sp>
        <p:nvSpPr>
          <p:cNvPr id="781"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B  |  10 of 21</a:t>
            </a:r>
            <a:endParaRPr sz="1200" b="1">
              <a:solidFill>
                <a:srgbClr val="FFFFFF"/>
              </a:solidFill>
            </a:endParaRPr>
          </a:p>
        </p:txBody>
      </p:sp>
      <p:sp>
        <p:nvSpPr>
          <p:cNvPr id="782"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783"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First come, first served. Ties are very rare, but the rule should be known.</a:t>
            </a:r>
            <a:endParaRPr sz="1400" b="0">
              <a:solidFill>
                <a:srgbClr val="1E2B3C"/>
              </a:solidFill>
            </a:endParaRPr>
          </a:p>
        </p:txBody>
      </p:sp>
      <p:sp>
        <p:nvSpPr>
          <p:cNvPr id="784" name="Rectangle 6"/>
          <p:cNvSpPr/>
          <p:nvPr/>
        </p:nvSpPr>
        <p:spPr>
          <a:xfrm>
            <a:off x="762000" y="2489200"/>
            <a:ext cx="5334000" cy="1016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85"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786" name="Rectangle 8"/>
          <p:cNvSpPr/>
          <p:nvPr/>
        </p:nvSpPr>
        <p:spPr>
          <a:xfrm>
            <a:off x="965200" y="2895600"/>
            <a:ext cx="4978400" cy="558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The earliest server-recorded submission time wins. Identical times share a rank and are marked as tied.</a:t>
            </a:r>
            <a:endParaRPr sz="1300" b="0">
              <a:solidFill>
                <a:srgbClr val="12384D"/>
              </a:solidFill>
            </a:endParaRPr>
          </a:p>
        </p:txBody>
      </p:sp>
      <p:sp>
        <p:nvSpPr>
          <p:cNvPr id="787" name="Rectangle 9"/>
          <p:cNvSpPr/>
          <p:nvPr/>
        </p:nvSpPr>
        <p:spPr>
          <a:xfrm>
            <a:off x="762000" y="36322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the final ranking rule.</a:t>
            </a:r>
            <a:endParaRPr sz="1200" b="0">
              <a:solidFill>
                <a:srgbClr val="5B6B7A"/>
              </a:solidFill>
            </a:endParaRPr>
          </a:p>
        </p:txBody>
      </p:sp>
      <p:sp>
        <p:nvSpPr>
          <p:cNvPr id="788"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789" name="Rectangle 11"/>
          <p:cNvSpPr/>
          <p:nvPr/>
        </p:nvSpPr>
        <p:spPr>
          <a:xfrm>
            <a:off x="6477000" y="1752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90" name="Oval 12"/>
          <p:cNvSpPr/>
          <p:nvPr/>
        </p:nvSpPr>
        <p:spPr>
          <a:xfrm>
            <a:off x="6629400" y="1828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791" name="Rectangle 13"/>
          <p:cNvSpPr/>
          <p:nvPr/>
        </p:nvSpPr>
        <p:spPr>
          <a:xfrm>
            <a:off x="7137400" y="1803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Keep a shared rank, DBGI decides</a:t>
            </a:r>
            <a:endParaRPr sz="1300" b="0">
              <a:solidFill>
                <a:srgbClr val="1E2B3C"/>
              </a:solidFill>
            </a:endParaRPr>
          </a:p>
        </p:txBody>
      </p:sp>
      <p:sp>
        <p:nvSpPr>
          <p:cNvPr id="792" name="Rectangle 14"/>
          <p:cNvSpPr/>
          <p:nvPr/>
        </p:nvSpPr>
        <p:spPr>
          <a:xfrm>
            <a:off x="6477000" y="24130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93" name="Oval 15"/>
          <p:cNvSpPr/>
          <p:nvPr/>
        </p:nvSpPr>
        <p:spPr>
          <a:xfrm>
            <a:off x="6629400" y="24892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794" name="Rectangle 16"/>
          <p:cNvSpPr/>
          <p:nvPr/>
        </p:nvSpPr>
        <p:spPr>
          <a:xfrm>
            <a:off x="7137400" y="24638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The better-documented registration wins</a:t>
            </a:r>
            <a:endParaRPr sz="1300" b="0">
              <a:solidFill>
                <a:srgbClr val="1E2B3C"/>
              </a:solidFill>
            </a:endParaRPr>
          </a:p>
        </p:txBody>
      </p:sp>
      <p:sp>
        <p:nvSpPr>
          <p:cNvPr id="795" name="Picture"/>
          <p:cNvSpPr/>
          <p:nvPr/>
        </p:nvSpPr>
        <p:spPr>
          <a:xfrm>
            <a:off x="6502400" y="31242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796" name="Rectangle 18"/>
          <p:cNvSpPr/>
          <p:nvPr/>
        </p:nvSpPr>
        <p:spPr>
          <a:xfrm>
            <a:off x="6807200" y="30734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19, Check your ranking</a:t>
            </a:r>
            <a:endParaRPr sz="1200" b="0">
              <a:solidFill>
                <a:srgbClr val="1B7FA6"/>
              </a:solidFill>
            </a:endParaRPr>
          </a:p>
        </p:txBody>
      </p:sp>
      <p:sp>
        <p:nvSpPr>
          <p:cNvPr id="797" name="Rectangle 19"/>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798"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799" name="Rectangle 21"/>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B5:  pick a choice, keep today, or write your own</a:t>
            </a:r>
            <a:endParaRPr sz="1400" b="1">
              <a:solidFill>
                <a:srgbClr val="12384D"/>
              </a:solidFill>
            </a:endParaRPr>
          </a:p>
        </p:txBody>
      </p:sp>
      <p:sp>
        <p:nvSpPr>
          <p:cNvPr id="1147" name="Slide Number Placeholder"/>
          <p:cNvSpPr>
            <a:spLocks noGrp="1"/>
          </p:cNvSpPr>
          <p:nvPr>
            <p:ph type="sldNum" idx="12"/>
          </p:nvPr>
        </p:nvSpPr>
        <p:spPr/>
        <p:txBody>
          <a:bodyPr/>
          <a:lstStyle/>
          <a:p>
            <a:fld id="{42D87927-9391-4972-8C9A-DD0B86DF8EEF}" type="slidenum">
              <a:rPr/>
              <a:t>‹#›</a:t>
            </a:fld>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1"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02"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B6. How long does an early registration stay valid?</a:t>
            </a:r>
            <a:endParaRPr sz="2200" b="1">
              <a:solidFill>
                <a:srgbClr val="12384D"/>
              </a:solidFill>
            </a:endParaRPr>
          </a:p>
        </p:txBody>
      </p:sp>
      <p:sp>
        <p:nvSpPr>
          <p:cNvPr id="803"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B  |  11 of 21</a:t>
            </a:r>
            <a:endParaRPr sz="1200" b="1">
              <a:solidFill>
                <a:srgbClr val="FFFFFF"/>
              </a:solidFill>
            </a:endParaRPr>
          </a:p>
        </p:txBody>
      </p:sp>
      <p:sp>
        <p:nvSpPr>
          <p:cNvPr id="804"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805" name="Rectangle 5"/>
          <p:cNvSpPr/>
          <p:nvPr/>
        </p:nvSpPr>
        <p:spPr>
          <a:xfrm>
            <a:off x="762000" y="1701800"/>
            <a:ext cx="5334000" cy="863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A partner registers a deal before the government posts the tender (an advance registration). How long can it wait, and how specific must it be to count?</a:t>
            </a:r>
            <a:endParaRPr sz="1400" b="0">
              <a:solidFill>
                <a:srgbClr val="1E2B3C"/>
              </a:solidFill>
            </a:endParaRPr>
          </a:p>
        </p:txBody>
      </p:sp>
      <p:sp>
        <p:nvSpPr>
          <p:cNvPr id="806" name="Rectangle 6"/>
          <p:cNvSpPr/>
          <p:nvPr/>
        </p:nvSpPr>
        <p:spPr>
          <a:xfrm>
            <a:off x="762000" y="2743200"/>
            <a:ext cx="5334000" cy="1016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07" name="Rectangle 7"/>
          <p:cNvSpPr/>
          <p:nvPr/>
        </p:nvSpPr>
        <p:spPr>
          <a:xfrm>
            <a:off x="965200" y="2870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808" name="Rectangle 8"/>
          <p:cNvSpPr/>
          <p:nvPr/>
        </p:nvSpPr>
        <p:spPr>
          <a:xfrm>
            <a:off x="965200" y="3149600"/>
            <a:ext cx="4978400" cy="558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No time limit and no reminders. DBGI judges whether the evidence is specific enough.</a:t>
            </a:r>
            <a:endParaRPr sz="1300" b="0">
              <a:solidFill>
                <a:srgbClr val="12384D"/>
              </a:solidFill>
            </a:endParaRPr>
          </a:p>
        </p:txBody>
      </p:sp>
      <p:sp>
        <p:nvSpPr>
          <p:cNvPr id="809" name="Rectangle 9"/>
          <p:cNvSpPr/>
          <p:nvPr/>
        </p:nvSpPr>
        <p:spPr>
          <a:xfrm>
            <a:off x="762000" y="38862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expiry and reminder emails for early registrations.</a:t>
            </a:r>
            <a:endParaRPr sz="1200" b="0">
              <a:solidFill>
                <a:srgbClr val="5B6B7A"/>
              </a:solidFill>
            </a:endParaRPr>
          </a:p>
        </p:txBody>
      </p:sp>
      <p:sp>
        <p:nvSpPr>
          <p:cNvPr id="810"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811" name="Rectangle 11"/>
          <p:cNvSpPr/>
          <p:nvPr/>
        </p:nvSpPr>
        <p:spPr>
          <a:xfrm>
            <a:off x="6477000" y="17526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12" name="Oval 12"/>
          <p:cNvSpPr/>
          <p:nvPr/>
        </p:nvSpPr>
        <p:spPr>
          <a:xfrm>
            <a:off x="6629400" y="19431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813" name="Rectangle 13"/>
          <p:cNvSpPr/>
          <p:nvPr/>
        </p:nvSpPr>
        <p:spPr>
          <a:xfrm>
            <a:off x="7137400" y="18034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60 days, with a reminder 7 days before, then DBGI reviews</a:t>
            </a:r>
            <a:endParaRPr sz="1300" b="0">
              <a:solidFill>
                <a:srgbClr val="1E2B3C"/>
              </a:solidFill>
            </a:endParaRPr>
          </a:p>
        </p:txBody>
      </p:sp>
      <p:sp>
        <p:nvSpPr>
          <p:cNvPr id="814" name="Rectangle 14"/>
          <p:cNvSpPr/>
          <p:nvPr/>
        </p:nvSpPr>
        <p:spPr>
          <a:xfrm>
            <a:off x="6477000" y="2641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15" name="Oval 15"/>
          <p:cNvSpPr/>
          <p:nvPr/>
        </p:nvSpPr>
        <p:spPr>
          <a:xfrm>
            <a:off x="6629400" y="2717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816" name="Rectangle 16"/>
          <p:cNvSpPr/>
          <p:nvPr/>
        </p:nvSpPr>
        <p:spPr>
          <a:xfrm>
            <a:off x="7137400" y="2692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No limit, DBGI cleans up manually</a:t>
            </a:r>
            <a:endParaRPr sz="1300" b="0">
              <a:solidFill>
                <a:srgbClr val="1E2B3C"/>
              </a:solidFill>
            </a:endParaRPr>
          </a:p>
        </p:txBody>
      </p:sp>
      <p:sp>
        <p:nvSpPr>
          <p:cNvPr id="817" name="Picture"/>
          <p:cNvSpPr/>
          <p:nvPr/>
        </p:nvSpPr>
        <p:spPr>
          <a:xfrm>
            <a:off x="6502400" y="33528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818" name="Rectangle 18"/>
          <p:cNvSpPr/>
          <p:nvPr/>
        </p:nvSpPr>
        <p:spPr>
          <a:xfrm>
            <a:off x="6807200" y="33020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8, Describe your evidence</a:t>
            </a:r>
            <a:endParaRPr sz="1200" b="0">
              <a:solidFill>
                <a:srgbClr val="1B7FA6"/>
              </a:solidFill>
            </a:endParaRPr>
          </a:p>
        </p:txBody>
      </p:sp>
      <p:sp>
        <p:nvSpPr>
          <p:cNvPr id="819" name="Rectangle 19"/>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20"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821" name="Rectangle 21"/>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B6:  pick a choice, keep today, or write your own</a:t>
            </a:r>
            <a:endParaRPr sz="1400" b="1">
              <a:solidFill>
                <a:srgbClr val="12384D"/>
              </a:solidFill>
            </a:endParaRPr>
          </a:p>
        </p:txBody>
      </p:sp>
      <p:sp>
        <p:nvSpPr>
          <p:cNvPr id="1150" name="Slide Number Placeholder"/>
          <p:cNvSpPr>
            <a:spLocks noGrp="1"/>
          </p:cNvSpPr>
          <p:nvPr>
            <p:ph type="sldNum" idx="12"/>
          </p:nvPr>
        </p:nvSpPr>
        <p:spPr/>
        <p:txBody>
          <a:bodyPr/>
          <a:lstStyle/>
          <a:p>
            <a:fld id="{B0CD13BB-211F-46C1-8A95-6E8277DF4C6C}" type="slidenum">
              <a:rPr/>
              <a:t>‹#›</a:t>
            </a:fld>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24"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B7. What if the government postpones, cancels, or reposts a tender?</a:t>
            </a:r>
            <a:endParaRPr sz="2200" b="1">
              <a:solidFill>
                <a:srgbClr val="12384D"/>
              </a:solidFill>
            </a:endParaRPr>
          </a:p>
        </p:txBody>
      </p:sp>
      <p:sp>
        <p:nvSpPr>
          <p:cNvPr id="825"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B  |  12 of 21</a:t>
            </a:r>
            <a:endParaRPr sz="1200" b="1">
              <a:solidFill>
                <a:srgbClr val="FFFFFF"/>
              </a:solidFill>
            </a:endParaRPr>
          </a:p>
        </p:txBody>
      </p:sp>
      <p:sp>
        <p:nvSpPr>
          <p:cNvPr id="826"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827"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Does the partner keep their place when the same project is posted again?</a:t>
            </a:r>
            <a:endParaRPr sz="1400" b="0">
              <a:solidFill>
                <a:srgbClr val="1E2B3C"/>
              </a:solidFill>
            </a:endParaRPr>
          </a:p>
        </p:txBody>
      </p:sp>
      <p:sp>
        <p:nvSpPr>
          <p:cNvPr id="828" name="Rectangle 6"/>
          <p:cNvSpPr/>
          <p:nvPr/>
        </p:nvSpPr>
        <p:spPr>
          <a:xfrm>
            <a:off x="762000" y="2489200"/>
            <a:ext cx="5334000" cy="1016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29"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830" name="Rectangle 8"/>
          <p:cNvSpPr/>
          <p:nvPr/>
        </p:nvSpPr>
        <p:spPr>
          <a:xfrm>
            <a:off x="965200" y="2895600"/>
            <a:ext cx="4978400" cy="558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Not handled. DBGI can only set the project status to Cancelled or On hold.</a:t>
            </a:r>
            <a:endParaRPr sz="1300" b="0">
              <a:solidFill>
                <a:srgbClr val="12384D"/>
              </a:solidFill>
            </a:endParaRPr>
          </a:p>
        </p:txBody>
      </p:sp>
      <p:sp>
        <p:nvSpPr>
          <p:cNvPr id="831" name="Rectangle 9"/>
          <p:cNvSpPr/>
          <p:nvPr/>
        </p:nvSpPr>
        <p:spPr>
          <a:xfrm>
            <a:off x="762000" y="36322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notice-change handling.</a:t>
            </a:r>
            <a:endParaRPr sz="1200" b="0">
              <a:solidFill>
                <a:srgbClr val="5B6B7A"/>
              </a:solidFill>
            </a:endParaRPr>
          </a:p>
        </p:txBody>
      </p:sp>
      <p:sp>
        <p:nvSpPr>
          <p:cNvPr id="832"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833" name="Rectangle 11"/>
          <p:cNvSpPr/>
          <p:nvPr/>
        </p:nvSpPr>
        <p:spPr>
          <a:xfrm>
            <a:off x="6477000" y="17526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34" name="Oval 12"/>
          <p:cNvSpPr/>
          <p:nvPr/>
        </p:nvSpPr>
        <p:spPr>
          <a:xfrm>
            <a:off x="6629400" y="19431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835" name="Rectangle 13"/>
          <p:cNvSpPr/>
          <p:nvPr/>
        </p:nvSpPr>
        <p:spPr>
          <a:xfrm>
            <a:off x="7137400" y="18034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A repost of the same project keeps the original place in line</a:t>
            </a:r>
            <a:endParaRPr sz="1300" b="0">
              <a:solidFill>
                <a:srgbClr val="1E2B3C"/>
              </a:solidFill>
            </a:endParaRPr>
          </a:p>
        </p:txBody>
      </p:sp>
      <p:sp>
        <p:nvSpPr>
          <p:cNvPr id="836" name="Rectangle 14"/>
          <p:cNvSpPr/>
          <p:nvPr/>
        </p:nvSpPr>
        <p:spPr>
          <a:xfrm>
            <a:off x="6477000" y="2641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37" name="Oval 15"/>
          <p:cNvSpPr/>
          <p:nvPr/>
        </p:nvSpPr>
        <p:spPr>
          <a:xfrm>
            <a:off x="6629400" y="2717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838" name="Rectangle 16"/>
          <p:cNvSpPr/>
          <p:nvPr/>
        </p:nvSpPr>
        <p:spPr>
          <a:xfrm>
            <a:off x="7137400" y="2692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A repost starts a new race</a:t>
            </a:r>
            <a:endParaRPr sz="1300" b="0">
              <a:solidFill>
                <a:srgbClr val="1E2B3C"/>
              </a:solidFill>
            </a:endParaRPr>
          </a:p>
        </p:txBody>
      </p:sp>
      <p:sp>
        <p:nvSpPr>
          <p:cNvPr id="839" name="Rectangle 17"/>
          <p:cNvSpPr/>
          <p:nvPr/>
        </p:nvSpPr>
        <p:spPr>
          <a:xfrm>
            <a:off x="6477000" y="33020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40" name="Oval 18"/>
          <p:cNvSpPr/>
          <p:nvPr/>
        </p:nvSpPr>
        <p:spPr>
          <a:xfrm>
            <a:off x="6629400" y="33782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c</a:t>
            </a:r>
            <a:endParaRPr sz="1400" b="1">
              <a:solidFill>
                <a:srgbClr val="FFFFFF"/>
              </a:solidFill>
            </a:endParaRPr>
          </a:p>
        </p:txBody>
      </p:sp>
      <p:sp>
        <p:nvSpPr>
          <p:cNvPr id="841" name="Rectangle 19"/>
          <p:cNvSpPr/>
          <p:nvPr/>
        </p:nvSpPr>
        <p:spPr>
          <a:xfrm>
            <a:off x="7137400" y="33528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DBGI decides each time</a:t>
            </a:r>
            <a:endParaRPr sz="1300" b="0">
              <a:solidFill>
                <a:srgbClr val="1E2B3C"/>
              </a:solidFill>
            </a:endParaRPr>
          </a:p>
        </p:txBody>
      </p:sp>
      <p:sp>
        <p:nvSpPr>
          <p:cNvPr id="842" name="Picture"/>
          <p:cNvSpPr/>
          <p:nvPr/>
        </p:nvSpPr>
        <p:spPr>
          <a:xfrm>
            <a:off x="6502400" y="40132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843" name="Rectangle 21"/>
          <p:cNvSpPr/>
          <p:nvPr/>
        </p:nvSpPr>
        <p:spPr>
          <a:xfrm>
            <a:off x="6807200" y="39624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5, Read the three status badges</a:t>
            </a:r>
            <a:endParaRPr sz="1200" b="0">
              <a:solidFill>
                <a:srgbClr val="1B7FA6"/>
              </a:solidFill>
            </a:endParaRPr>
          </a:p>
        </p:txBody>
      </p:sp>
      <p:sp>
        <p:nvSpPr>
          <p:cNvPr id="844" name="Rectangle 22"/>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45"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846" name="Rectangle 24"/>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B7:  pick a choice, keep today, or write your own</a:t>
            </a:r>
            <a:endParaRPr sz="1400" b="1">
              <a:solidFill>
                <a:srgbClr val="12384D"/>
              </a:solidFill>
            </a:endParaRPr>
          </a:p>
        </p:txBody>
      </p:sp>
      <p:sp>
        <p:nvSpPr>
          <p:cNvPr id="1153" name="Slide Number Placeholder"/>
          <p:cNvSpPr>
            <a:spLocks noGrp="1"/>
          </p:cNvSpPr>
          <p:nvPr>
            <p:ph type="sldNum" idx="12"/>
          </p:nvPr>
        </p:nvSpPr>
        <p:spPr/>
        <p:txBody>
          <a:bodyPr/>
          <a:lstStyle/>
          <a:p>
            <a:fld id="{D37FABD9-B00B-4D1C-8B97-DB0B98055511}" type="slidenum">
              <a:rPr/>
              <a:t>‹#›</a:t>
            </a:fld>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8"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49"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C1. How long is an approved special price valid?</a:t>
            </a:r>
            <a:endParaRPr sz="2200" b="1">
              <a:solidFill>
                <a:srgbClr val="12384D"/>
              </a:solidFill>
            </a:endParaRPr>
          </a:p>
        </p:txBody>
      </p:sp>
      <p:sp>
        <p:nvSpPr>
          <p:cNvPr id="850"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C  |  13 of 21</a:t>
            </a:r>
            <a:endParaRPr sz="1200" b="1">
              <a:solidFill>
                <a:srgbClr val="FFFFFF"/>
              </a:solidFill>
            </a:endParaRPr>
          </a:p>
        </p:txBody>
      </p:sp>
      <p:sp>
        <p:nvSpPr>
          <p:cNvPr id="851"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852" name="Rectangle 5"/>
          <p:cNvSpPr/>
          <p:nvPr/>
        </p:nvSpPr>
        <p:spPr>
          <a:xfrm>
            <a:off x="762000" y="1701800"/>
            <a:ext cx="5334000" cy="863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When DBGI approves a discount for a deal, how many days before it expires, and when should the partner be reminded?</a:t>
            </a:r>
            <a:endParaRPr sz="1400" b="0">
              <a:solidFill>
                <a:srgbClr val="1E2B3C"/>
              </a:solidFill>
            </a:endParaRPr>
          </a:p>
        </p:txBody>
      </p:sp>
      <p:sp>
        <p:nvSpPr>
          <p:cNvPr id="853" name="Rectangle 6"/>
          <p:cNvSpPr/>
          <p:nvPr/>
        </p:nvSpPr>
        <p:spPr>
          <a:xfrm>
            <a:off x="762000" y="2743200"/>
            <a:ext cx="5334000" cy="1016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54" name="Rectangle 7"/>
          <p:cNvSpPr/>
          <p:nvPr/>
        </p:nvSpPr>
        <p:spPr>
          <a:xfrm>
            <a:off x="965200" y="2870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855" name="Rectangle 8"/>
          <p:cNvSpPr/>
          <p:nvPr/>
        </p:nvSpPr>
        <p:spPr>
          <a:xfrm>
            <a:off x="965200" y="3149600"/>
            <a:ext cx="4978400" cy="558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DBGI types an expiry date by hand each time (no default). Renewals add 30 days, which is already decided.</a:t>
            </a:r>
            <a:endParaRPr sz="1300" b="0">
              <a:solidFill>
                <a:srgbClr val="12384D"/>
              </a:solidFill>
            </a:endParaRPr>
          </a:p>
        </p:txBody>
      </p:sp>
      <p:sp>
        <p:nvSpPr>
          <p:cNvPr id="856" name="Rectangle 9"/>
          <p:cNvSpPr/>
          <p:nvPr/>
        </p:nvSpPr>
        <p:spPr>
          <a:xfrm>
            <a:off x="762000" y="38862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default expiry and reminders.</a:t>
            </a:r>
            <a:endParaRPr sz="1200" b="0">
              <a:solidFill>
                <a:srgbClr val="5B6B7A"/>
              </a:solidFill>
            </a:endParaRPr>
          </a:p>
        </p:txBody>
      </p:sp>
      <p:sp>
        <p:nvSpPr>
          <p:cNvPr id="857"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858" name="Rectangle 11"/>
          <p:cNvSpPr/>
          <p:nvPr/>
        </p:nvSpPr>
        <p:spPr>
          <a:xfrm>
            <a:off x="6477000" y="1752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59" name="Oval 12"/>
          <p:cNvSpPr/>
          <p:nvPr/>
        </p:nvSpPr>
        <p:spPr>
          <a:xfrm>
            <a:off x="6629400" y="1828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860" name="Rectangle 13"/>
          <p:cNvSpPr/>
          <p:nvPr/>
        </p:nvSpPr>
        <p:spPr>
          <a:xfrm>
            <a:off x="7137400" y="1803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90 days, reminder 14 days before</a:t>
            </a:r>
            <a:endParaRPr sz="1300" b="0">
              <a:solidFill>
                <a:srgbClr val="1E2B3C"/>
              </a:solidFill>
            </a:endParaRPr>
          </a:p>
        </p:txBody>
      </p:sp>
      <p:sp>
        <p:nvSpPr>
          <p:cNvPr id="861" name="Rectangle 14"/>
          <p:cNvSpPr/>
          <p:nvPr/>
        </p:nvSpPr>
        <p:spPr>
          <a:xfrm>
            <a:off x="6477000" y="24130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62" name="Oval 15"/>
          <p:cNvSpPr/>
          <p:nvPr/>
        </p:nvSpPr>
        <p:spPr>
          <a:xfrm>
            <a:off x="6629400" y="24892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863" name="Rectangle 16"/>
          <p:cNvSpPr/>
          <p:nvPr/>
        </p:nvSpPr>
        <p:spPr>
          <a:xfrm>
            <a:off x="7137400" y="24638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Until the tender's delivery date</a:t>
            </a:r>
            <a:endParaRPr sz="1300" b="0">
              <a:solidFill>
                <a:srgbClr val="1E2B3C"/>
              </a:solidFill>
            </a:endParaRPr>
          </a:p>
        </p:txBody>
      </p:sp>
      <p:sp>
        <p:nvSpPr>
          <p:cNvPr id="864" name="Rectangle 17"/>
          <p:cNvSpPr/>
          <p:nvPr/>
        </p:nvSpPr>
        <p:spPr>
          <a:xfrm>
            <a:off x="6477000" y="30734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65" name="Oval 18"/>
          <p:cNvSpPr/>
          <p:nvPr/>
        </p:nvSpPr>
        <p:spPr>
          <a:xfrm>
            <a:off x="6629400" y="31496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c</a:t>
            </a:r>
            <a:endParaRPr sz="1400" b="1">
              <a:solidFill>
                <a:srgbClr val="FFFFFF"/>
              </a:solidFill>
            </a:endParaRPr>
          </a:p>
        </p:txBody>
      </p:sp>
      <p:sp>
        <p:nvSpPr>
          <p:cNvPr id="866" name="Rectangle 19"/>
          <p:cNvSpPr/>
          <p:nvPr/>
        </p:nvSpPr>
        <p:spPr>
          <a:xfrm>
            <a:off x="7137400" y="31242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Keep typing it each time</a:t>
            </a:r>
            <a:endParaRPr sz="1300" b="0">
              <a:solidFill>
                <a:srgbClr val="1E2B3C"/>
              </a:solidFill>
            </a:endParaRPr>
          </a:p>
        </p:txBody>
      </p:sp>
      <p:sp>
        <p:nvSpPr>
          <p:cNvPr id="867" name="Picture"/>
          <p:cNvSpPr/>
          <p:nvPr/>
        </p:nvSpPr>
        <p:spPr>
          <a:xfrm>
            <a:off x="6502400" y="37846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868" name="Rectangle 21"/>
          <p:cNvSpPr/>
          <p:nvPr/>
        </p:nvSpPr>
        <p:spPr>
          <a:xfrm>
            <a:off x="6807200" y="37338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18, See the approved price</a:t>
            </a:r>
            <a:endParaRPr sz="1200" b="0">
              <a:solidFill>
                <a:srgbClr val="1B7FA6"/>
              </a:solidFill>
            </a:endParaRPr>
          </a:p>
        </p:txBody>
      </p:sp>
      <p:sp>
        <p:nvSpPr>
          <p:cNvPr id="869" name="Rectangle 22"/>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70"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871" name="Rectangle 24"/>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C1:  pick a choice, keep today, or write your own</a:t>
            </a:r>
            <a:endParaRPr sz="1400" b="1">
              <a:solidFill>
                <a:srgbClr val="12384D"/>
              </a:solidFill>
            </a:endParaRPr>
          </a:p>
        </p:txBody>
      </p:sp>
      <p:sp>
        <p:nvSpPr>
          <p:cNvPr id="1156" name="Slide Number Placeholder"/>
          <p:cNvSpPr>
            <a:spLocks noGrp="1"/>
          </p:cNvSpPr>
          <p:nvPr>
            <p:ph type="sldNum" idx="12"/>
          </p:nvPr>
        </p:nvSpPr>
        <p:spPr/>
        <p:txBody>
          <a:bodyPr/>
          <a:lstStyle/>
          <a:p>
            <a:fld id="{5B404BC1-014C-488B-8334-FE6DEE01E96E}" type="slidenum">
              <a:rPr/>
              <a:t>‹#›</a:t>
            </a:fld>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3"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74"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C2. Are prices with or without VAT?</a:t>
            </a:r>
            <a:endParaRPr sz="2200" b="1">
              <a:solidFill>
                <a:srgbClr val="12384D"/>
              </a:solidFill>
            </a:endParaRPr>
          </a:p>
        </p:txBody>
      </p:sp>
      <p:sp>
        <p:nvSpPr>
          <p:cNvPr id="875"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C  |  14 of 21</a:t>
            </a:r>
            <a:endParaRPr sz="1200" b="1">
              <a:solidFill>
                <a:srgbClr val="FFFFFF"/>
              </a:solidFill>
            </a:endParaRPr>
          </a:p>
        </p:txBody>
      </p:sp>
      <p:sp>
        <p:nvSpPr>
          <p:cNvPr id="876"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877"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When a partner enters a requested price, or DBGI approves one, does it include 12% VAT?</a:t>
            </a:r>
            <a:endParaRPr sz="1400" b="0">
              <a:solidFill>
                <a:srgbClr val="1E2B3C"/>
              </a:solidFill>
            </a:endParaRPr>
          </a:p>
        </p:txBody>
      </p:sp>
      <p:sp>
        <p:nvSpPr>
          <p:cNvPr id="878" name="Rectangle 6"/>
          <p:cNvSpPr/>
          <p:nvPr/>
        </p:nvSpPr>
        <p:spPr>
          <a:xfrm>
            <a:off x="762000" y="2489200"/>
            <a:ext cx="5334000" cy="1016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79"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880" name="Rectangle 8"/>
          <p:cNvSpPr/>
          <p:nvPr/>
        </p:nvSpPr>
        <p:spPr>
          <a:xfrm>
            <a:off x="965200" y="2895600"/>
            <a:ext cx="4978400" cy="558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The portal has no VAT handling. Each price is a single number.</a:t>
            </a:r>
            <a:endParaRPr sz="1300" b="0">
              <a:solidFill>
                <a:srgbClr val="12384D"/>
              </a:solidFill>
            </a:endParaRPr>
          </a:p>
        </p:txBody>
      </p:sp>
      <p:sp>
        <p:nvSpPr>
          <p:cNvPr id="881" name="Rectangle 9"/>
          <p:cNvSpPr/>
          <p:nvPr/>
        </p:nvSpPr>
        <p:spPr>
          <a:xfrm>
            <a:off x="762000" y="36322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price history and correct totals. This must be confirmed by finance before launch.</a:t>
            </a:r>
            <a:endParaRPr sz="1200" b="0">
              <a:solidFill>
                <a:srgbClr val="5B6B7A"/>
              </a:solidFill>
            </a:endParaRPr>
          </a:p>
        </p:txBody>
      </p:sp>
      <p:sp>
        <p:nvSpPr>
          <p:cNvPr id="882"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883" name="Rectangle 11"/>
          <p:cNvSpPr/>
          <p:nvPr/>
        </p:nvSpPr>
        <p:spPr>
          <a:xfrm>
            <a:off x="6477000" y="1752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84" name="Oval 12"/>
          <p:cNvSpPr/>
          <p:nvPr/>
        </p:nvSpPr>
        <p:spPr>
          <a:xfrm>
            <a:off x="6629400" y="1828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885" name="Rectangle 13"/>
          <p:cNvSpPr/>
          <p:nvPr/>
        </p:nvSpPr>
        <p:spPr>
          <a:xfrm>
            <a:off x="7137400" y="1803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All prices VAT-inclusive</a:t>
            </a:r>
            <a:endParaRPr sz="1300" b="0">
              <a:solidFill>
                <a:srgbClr val="1E2B3C"/>
              </a:solidFill>
            </a:endParaRPr>
          </a:p>
        </p:txBody>
      </p:sp>
      <p:sp>
        <p:nvSpPr>
          <p:cNvPr id="886" name="Rectangle 14"/>
          <p:cNvSpPr/>
          <p:nvPr/>
        </p:nvSpPr>
        <p:spPr>
          <a:xfrm>
            <a:off x="6477000" y="24130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87" name="Oval 15"/>
          <p:cNvSpPr/>
          <p:nvPr/>
        </p:nvSpPr>
        <p:spPr>
          <a:xfrm>
            <a:off x="6629400" y="24892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888" name="Rectangle 16"/>
          <p:cNvSpPr/>
          <p:nvPr/>
        </p:nvSpPr>
        <p:spPr>
          <a:xfrm>
            <a:off x="7137400" y="24638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All VAT-exclusive</a:t>
            </a:r>
            <a:endParaRPr sz="1300" b="0">
              <a:solidFill>
                <a:srgbClr val="1E2B3C"/>
              </a:solidFill>
            </a:endParaRPr>
          </a:p>
        </p:txBody>
      </p:sp>
      <p:sp>
        <p:nvSpPr>
          <p:cNvPr id="889" name="Rectangle 17"/>
          <p:cNvSpPr/>
          <p:nvPr/>
        </p:nvSpPr>
        <p:spPr>
          <a:xfrm>
            <a:off x="6477000" y="30734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90" name="Oval 18"/>
          <p:cNvSpPr/>
          <p:nvPr/>
        </p:nvSpPr>
        <p:spPr>
          <a:xfrm>
            <a:off x="6629400" y="31496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c</a:t>
            </a:r>
            <a:endParaRPr sz="1400" b="1">
              <a:solidFill>
                <a:srgbClr val="FFFFFF"/>
              </a:solidFill>
            </a:endParaRPr>
          </a:p>
        </p:txBody>
      </p:sp>
      <p:sp>
        <p:nvSpPr>
          <p:cNvPr id="891" name="Rectangle 19"/>
          <p:cNvSpPr/>
          <p:nvPr/>
        </p:nvSpPr>
        <p:spPr>
          <a:xfrm>
            <a:off x="7137400" y="31242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Set per product</a:t>
            </a:r>
            <a:endParaRPr sz="1300" b="0">
              <a:solidFill>
                <a:srgbClr val="1E2B3C"/>
              </a:solidFill>
            </a:endParaRPr>
          </a:p>
        </p:txBody>
      </p:sp>
      <p:sp>
        <p:nvSpPr>
          <p:cNvPr id="892" name="Picture"/>
          <p:cNvSpPr/>
          <p:nvPr/>
        </p:nvSpPr>
        <p:spPr>
          <a:xfrm>
            <a:off x="6502400" y="37846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893" name="Rectangle 21"/>
          <p:cNvSpPr/>
          <p:nvPr/>
        </p:nvSpPr>
        <p:spPr>
          <a:xfrm>
            <a:off x="6807200" y="37338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7, Add the products you need</a:t>
            </a:r>
            <a:endParaRPr sz="1200" b="0">
              <a:solidFill>
                <a:srgbClr val="1B7FA6"/>
              </a:solidFill>
            </a:endParaRPr>
          </a:p>
        </p:txBody>
      </p:sp>
      <p:sp>
        <p:nvSpPr>
          <p:cNvPr id="894" name="Rectangle 22"/>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95"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896" name="Rectangle 24"/>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C2:  pick a choice, keep today, or write your own</a:t>
            </a:r>
            <a:endParaRPr sz="1400" b="1">
              <a:solidFill>
                <a:srgbClr val="12384D"/>
              </a:solidFill>
            </a:endParaRPr>
          </a:p>
        </p:txBody>
      </p:sp>
      <p:sp>
        <p:nvSpPr>
          <p:cNvPr id="1159" name="Slide Number Placeholder"/>
          <p:cNvSpPr>
            <a:spLocks noGrp="1"/>
          </p:cNvSpPr>
          <p:nvPr>
            <p:ph type="sldNum" idx="12"/>
          </p:nvPr>
        </p:nvSpPr>
        <p:spPr/>
        <p:txBody>
          <a:bodyPr/>
          <a:lstStyle/>
          <a:p>
            <a:fld id="{482FE2B0-41F3-4ADE-8001-DB20630F7E5B}" type="slidenum">
              <a:rPr/>
              <a:t>‹#›</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8"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899"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C3. How should totals be rounded?</a:t>
            </a:r>
            <a:endParaRPr sz="2200" b="1">
              <a:solidFill>
                <a:srgbClr val="12384D"/>
              </a:solidFill>
            </a:endParaRPr>
          </a:p>
        </p:txBody>
      </p:sp>
      <p:sp>
        <p:nvSpPr>
          <p:cNvPr id="900"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C  |  15 of 21</a:t>
            </a:r>
            <a:endParaRPr sz="1200" b="1">
              <a:solidFill>
                <a:srgbClr val="FFFFFF"/>
              </a:solidFill>
            </a:endParaRPr>
          </a:p>
        </p:txBody>
      </p:sp>
      <p:sp>
        <p:nvSpPr>
          <p:cNvPr id="901"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902"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Quantity times discounted price can produce fractions of a centavo.</a:t>
            </a:r>
            <a:endParaRPr sz="1400" b="0">
              <a:solidFill>
                <a:srgbClr val="1E2B3C"/>
              </a:solidFill>
            </a:endParaRPr>
          </a:p>
        </p:txBody>
      </p:sp>
      <p:sp>
        <p:nvSpPr>
          <p:cNvPr id="903" name="Rectangle 6"/>
          <p:cNvSpPr/>
          <p:nvPr/>
        </p:nvSpPr>
        <p:spPr>
          <a:xfrm>
            <a:off x="762000" y="2489200"/>
            <a:ext cx="5334000" cy="7874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04"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905" name="Rectangle 8"/>
          <p:cNvSpPr/>
          <p:nvPr/>
        </p:nvSpPr>
        <p:spPr>
          <a:xfrm>
            <a:off x="965200" y="2895600"/>
            <a:ext cx="4978400" cy="33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Line totals are rounded to two decimals.</a:t>
            </a:r>
            <a:endParaRPr sz="1300" b="0">
              <a:solidFill>
                <a:srgbClr val="12384D"/>
              </a:solidFill>
            </a:endParaRPr>
          </a:p>
        </p:txBody>
      </p:sp>
      <p:sp>
        <p:nvSpPr>
          <p:cNvPr id="906" name="Rectangle 9"/>
          <p:cNvSpPr/>
          <p:nvPr/>
        </p:nvSpPr>
        <p:spPr>
          <a:xfrm>
            <a:off x="762000" y="34036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totals that match DBGI's quotations.</a:t>
            </a:r>
            <a:endParaRPr sz="1200" b="0">
              <a:solidFill>
                <a:srgbClr val="5B6B7A"/>
              </a:solidFill>
            </a:endParaRPr>
          </a:p>
        </p:txBody>
      </p:sp>
      <p:sp>
        <p:nvSpPr>
          <p:cNvPr id="907"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908" name="Rectangle 11"/>
          <p:cNvSpPr/>
          <p:nvPr/>
        </p:nvSpPr>
        <p:spPr>
          <a:xfrm>
            <a:off x="6477000" y="1752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09" name="Oval 12"/>
          <p:cNvSpPr/>
          <p:nvPr/>
        </p:nvSpPr>
        <p:spPr>
          <a:xfrm>
            <a:off x="6629400" y="1828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910" name="Rectangle 13"/>
          <p:cNvSpPr/>
          <p:nvPr/>
        </p:nvSpPr>
        <p:spPr>
          <a:xfrm>
            <a:off x="7137400" y="1803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Round each line to 2 decimals, add the lines</a:t>
            </a:r>
            <a:endParaRPr sz="1300" b="0">
              <a:solidFill>
                <a:srgbClr val="1E2B3C"/>
              </a:solidFill>
            </a:endParaRPr>
          </a:p>
        </p:txBody>
      </p:sp>
      <p:sp>
        <p:nvSpPr>
          <p:cNvPr id="911" name="Rectangle 14"/>
          <p:cNvSpPr/>
          <p:nvPr/>
        </p:nvSpPr>
        <p:spPr>
          <a:xfrm>
            <a:off x="6477000" y="24130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12" name="Oval 15"/>
          <p:cNvSpPr/>
          <p:nvPr/>
        </p:nvSpPr>
        <p:spPr>
          <a:xfrm>
            <a:off x="6629400" y="24892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913" name="Rectangle 16"/>
          <p:cNvSpPr/>
          <p:nvPr/>
        </p:nvSpPr>
        <p:spPr>
          <a:xfrm>
            <a:off x="7137400" y="24638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Round only the grand total</a:t>
            </a:r>
            <a:endParaRPr sz="1300" b="0">
              <a:solidFill>
                <a:srgbClr val="1E2B3C"/>
              </a:solidFill>
            </a:endParaRPr>
          </a:p>
        </p:txBody>
      </p:sp>
      <p:sp>
        <p:nvSpPr>
          <p:cNvPr id="914" name="Picture"/>
          <p:cNvSpPr/>
          <p:nvPr/>
        </p:nvSpPr>
        <p:spPr>
          <a:xfrm>
            <a:off x="6502400" y="31242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915" name="Rectangle 18"/>
          <p:cNvSpPr/>
          <p:nvPr/>
        </p:nvSpPr>
        <p:spPr>
          <a:xfrm>
            <a:off x="6807200" y="30734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7, Add the products you need</a:t>
            </a:r>
            <a:endParaRPr sz="1200" b="0">
              <a:solidFill>
                <a:srgbClr val="1B7FA6"/>
              </a:solidFill>
            </a:endParaRPr>
          </a:p>
        </p:txBody>
      </p:sp>
      <p:sp>
        <p:nvSpPr>
          <p:cNvPr id="916" name="Rectangle 19"/>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17"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918" name="Rectangle 21"/>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C3:  pick a choice, keep today, or write your own</a:t>
            </a:r>
            <a:endParaRPr sz="1400" b="1">
              <a:solidFill>
                <a:srgbClr val="12384D"/>
              </a:solidFill>
            </a:endParaRPr>
          </a:p>
        </p:txBody>
      </p:sp>
      <p:sp>
        <p:nvSpPr>
          <p:cNvPr id="1162" name="Slide Number Placeholder"/>
          <p:cNvSpPr>
            <a:spLocks noGrp="1"/>
          </p:cNvSpPr>
          <p:nvPr>
            <p:ph type="sldNum" idx="12"/>
          </p:nvPr>
        </p:nvSpPr>
        <p:spPr/>
        <p:txBody>
          <a:bodyPr/>
          <a:lstStyle/>
          <a:p>
            <a:fld id="{15308F28-484E-456D-8A22-933197D5C258}" type="slidenum">
              <a:rPr/>
              <a:t>‹#›</a:t>
            </a:fld>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0"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21"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C4. Can DBGI approve a price for a product that is not in the catalog yet?</a:t>
            </a:r>
            <a:endParaRPr sz="2200" b="1">
              <a:solidFill>
                <a:srgbClr val="12384D"/>
              </a:solidFill>
            </a:endParaRPr>
          </a:p>
        </p:txBody>
      </p:sp>
      <p:sp>
        <p:nvSpPr>
          <p:cNvPr id="922"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C  |  16 of 21</a:t>
            </a:r>
            <a:endParaRPr sz="1200" b="1">
              <a:solidFill>
                <a:srgbClr val="FFFFFF"/>
              </a:solidFill>
            </a:endParaRPr>
          </a:p>
        </p:txBody>
      </p:sp>
      <p:sp>
        <p:nvSpPr>
          <p:cNvPr id="923"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924"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Partners can request products not in the portal's list (typed by hand). Can those get an approved price?</a:t>
            </a:r>
            <a:endParaRPr sz="1400" b="0">
              <a:solidFill>
                <a:srgbClr val="1E2B3C"/>
              </a:solidFill>
            </a:endParaRPr>
          </a:p>
        </p:txBody>
      </p:sp>
      <p:sp>
        <p:nvSpPr>
          <p:cNvPr id="925" name="Rectangle 6"/>
          <p:cNvSpPr/>
          <p:nvPr/>
        </p:nvSpPr>
        <p:spPr>
          <a:xfrm>
            <a:off x="762000" y="2489200"/>
            <a:ext cx="5334000" cy="14732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26"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927" name="Rectangle 8"/>
          <p:cNvSpPr/>
          <p:nvPr/>
        </p:nvSpPr>
        <p:spPr>
          <a:xfrm>
            <a:off x="965200" y="2895600"/>
            <a:ext cx="4978400" cy="101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Partners can request them, but they get no price review at all. Price approvals are only created for catalog products, so a typed product cannot receive an approved price.</a:t>
            </a:r>
            <a:endParaRPr sz="1300" b="0">
              <a:solidFill>
                <a:srgbClr val="12384D"/>
              </a:solidFill>
            </a:endParaRPr>
          </a:p>
        </p:txBody>
      </p:sp>
      <p:sp>
        <p:nvSpPr>
          <p:cNvPr id="928" name="Rectangle 9"/>
          <p:cNvSpPr/>
          <p:nvPr/>
        </p:nvSpPr>
        <p:spPr>
          <a:xfrm>
            <a:off x="762000" y="40894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the catalog onboarding rule.</a:t>
            </a:r>
            <a:endParaRPr sz="1200" b="0">
              <a:solidFill>
                <a:srgbClr val="5B6B7A"/>
              </a:solidFill>
            </a:endParaRPr>
          </a:p>
        </p:txBody>
      </p:sp>
      <p:sp>
        <p:nvSpPr>
          <p:cNvPr id="929"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930" name="Rectangle 11"/>
          <p:cNvSpPr/>
          <p:nvPr/>
        </p:nvSpPr>
        <p:spPr>
          <a:xfrm>
            <a:off x="6477000" y="17526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31" name="Oval 12"/>
          <p:cNvSpPr/>
          <p:nvPr/>
        </p:nvSpPr>
        <p:spPr>
          <a:xfrm>
            <a:off x="6629400" y="19431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932" name="Rectangle 13"/>
          <p:cNvSpPr/>
          <p:nvPr/>
        </p:nvSpPr>
        <p:spPr>
          <a:xfrm>
            <a:off x="7137400" y="18034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DBGI adds the product to the catalog first, then it gets reviewed</a:t>
            </a:r>
            <a:endParaRPr sz="1300" b="0">
              <a:solidFill>
                <a:srgbClr val="1E2B3C"/>
              </a:solidFill>
            </a:endParaRPr>
          </a:p>
        </p:txBody>
      </p:sp>
      <p:sp>
        <p:nvSpPr>
          <p:cNvPr id="933" name="Rectangle 14"/>
          <p:cNvSpPr/>
          <p:nvPr/>
        </p:nvSpPr>
        <p:spPr>
          <a:xfrm>
            <a:off x="6477000" y="26416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34" name="Oval 15"/>
          <p:cNvSpPr/>
          <p:nvPr/>
        </p:nvSpPr>
        <p:spPr>
          <a:xfrm>
            <a:off x="6629400" y="28321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935" name="Rectangle 16"/>
          <p:cNvSpPr/>
          <p:nvPr/>
        </p:nvSpPr>
        <p:spPr>
          <a:xfrm>
            <a:off x="7137400" y="26924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Approve it as typed, under an "Other products" group</a:t>
            </a:r>
            <a:endParaRPr sz="1300" b="0">
              <a:solidFill>
                <a:srgbClr val="1E2B3C"/>
              </a:solidFill>
            </a:endParaRPr>
          </a:p>
        </p:txBody>
      </p:sp>
      <p:sp>
        <p:nvSpPr>
          <p:cNvPr id="936" name="Picture"/>
          <p:cNvSpPr/>
          <p:nvPr/>
        </p:nvSpPr>
        <p:spPr>
          <a:xfrm>
            <a:off x="6502400" y="35814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937" name="Rectangle 18"/>
          <p:cNvSpPr/>
          <p:nvPr/>
        </p:nvSpPr>
        <p:spPr>
          <a:xfrm>
            <a:off x="6807200" y="35306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7, Add the products you need</a:t>
            </a:r>
            <a:endParaRPr sz="1200" b="0">
              <a:solidFill>
                <a:srgbClr val="1B7FA6"/>
              </a:solidFill>
            </a:endParaRPr>
          </a:p>
        </p:txBody>
      </p:sp>
      <p:sp>
        <p:nvSpPr>
          <p:cNvPr id="938" name="Rectangle 19"/>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39"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940" name="Rectangle 21"/>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C4:  pick a choice, keep today, or write your own</a:t>
            </a:r>
            <a:endParaRPr sz="1400" b="1">
              <a:solidFill>
                <a:srgbClr val="12384D"/>
              </a:solidFill>
            </a:endParaRPr>
          </a:p>
        </p:txBody>
      </p:sp>
      <p:sp>
        <p:nvSpPr>
          <p:cNvPr id="1165" name="Slide Number Placeholder"/>
          <p:cNvSpPr>
            <a:spLocks noGrp="1"/>
          </p:cNvSpPr>
          <p:nvPr>
            <p:ph type="sldNum" idx="12"/>
          </p:nvPr>
        </p:nvSpPr>
        <p:spPr/>
        <p:txBody>
          <a:bodyPr/>
          <a:lstStyle/>
          <a:p>
            <a:fld id="{DBA8E689-B97F-4808-825B-0EF07E46C53D}" type="slidenum">
              <a:rPr/>
              <a:t>‹#›</a:t>
            </a:fld>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43"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C5. What can partners see about prices?</a:t>
            </a:r>
            <a:endParaRPr sz="2200" b="1">
              <a:solidFill>
                <a:srgbClr val="12384D"/>
              </a:solidFill>
            </a:endParaRPr>
          </a:p>
        </p:txBody>
      </p:sp>
      <p:sp>
        <p:nvSpPr>
          <p:cNvPr id="944"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C  |  17 of 21</a:t>
            </a:r>
            <a:endParaRPr sz="1200" b="1">
              <a:solidFill>
                <a:srgbClr val="FFFFFF"/>
              </a:solidFill>
            </a:endParaRPr>
          </a:p>
        </p:txBody>
      </p:sp>
      <p:sp>
        <p:nvSpPr>
          <p:cNvPr id="945"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946"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List prices, their own approved prices, or nothing until approved?</a:t>
            </a:r>
            <a:endParaRPr sz="1400" b="0">
              <a:solidFill>
                <a:srgbClr val="1E2B3C"/>
              </a:solidFill>
            </a:endParaRPr>
          </a:p>
        </p:txBody>
      </p:sp>
      <p:sp>
        <p:nvSpPr>
          <p:cNvPr id="947" name="Rectangle 6"/>
          <p:cNvSpPr/>
          <p:nvPr/>
        </p:nvSpPr>
        <p:spPr>
          <a:xfrm>
            <a:off x="762000" y="2489200"/>
            <a:ext cx="5334000" cy="12446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48"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949" name="Rectangle 8"/>
          <p:cNvSpPr/>
          <p:nvPr/>
        </p:nvSpPr>
        <p:spPr>
          <a:xfrm>
            <a:off x="965200" y="2895600"/>
            <a:ext cx="4978400" cy="787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Partners see the list price at request time and their own approved prices. They never see other partners' prices.</a:t>
            </a:r>
            <a:endParaRPr sz="1300" b="0">
              <a:solidFill>
                <a:srgbClr val="12384D"/>
              </a:solidFill>
            </a:endParaRPr>
          </a:p>
        </p:txBody>
      </p:sp>
      <p:sp>
        <p:nvSpPr>
          <p:cNvPr id="950" name="Rectangle 9"/>
          <p:cNvSpPr/>
          <p:nvPr/>
        </p:nvSpPr>
        <p:spPr>
          <a:xfrm>
            <a:off x="762000" y="3860800"/>
            <a:ext cx="5334000" cy="584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5B6B7A"/>
                </a:solidFill>
              </a:rPr>
              <a:t>Why it matters: final price visibility in screens and exports.</a:t>
            </a:r>
            <a:endParaRPr sz="1200" b="0">
              <a:solidFill>
                <a:srgbClr val="5B6B7A"/>
              </a:solidFill>
            </a:endParaRPr>
          </a:p>
        </p:txBody>
      </p:sp>
      <p:sp>
        <p:nvSpPr>
          <p:cNvPr id="951" name="Rectangle 10"/>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952" name="Rectangle 11"/>
          <p:cNvSpPr/>
          <p:nvPr/>
        </p:nvSpPr>
        <p:spPr>
          <a:xfrm>
            <a:off x="6477000" y="1752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53" name="Oval 12"/>
          <p:cNvSpPr/>
          <p:nvPr/>
        </p:nvSpPr>
        <p:spPr>
          <a:xfrm>
            <a:off x="6629400" y="1828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954" name="Rectangle 13"/>
          <p:cNvSpPr/>
          <p:nvPr/>
        </p:nvSpPr>
        <p:spPr>
          <a:xfrm>
            <a:off x="7137400" y="1803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Keep today's rule</a:t>
            </a:r>
            <a:endParaRPr sz="1300" b="0">
              <a:solidFill>
                <a:srgbClr val="1E2B3C"/>
              </a:solidFill>
            </a:endParaRPr>
          </a:p>
        </p:txBody>
      </p:sp>
      <p:sp>
        <p:nvSpPr>
          <p:cNvPr id="955" name="Rectangle 14"/>
          <p:cNvSpPr/>
          <p:nvPr/>
        </p:nvSpPr>
        <p:spPr>
          <a:xfrm>
            <a:off x="6477000" y="24130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56" name="Oval 15"/>
          <p:cNvSpPr/>
          <p:nvPr/>
        </p:nvSpPr>
        <p:spPr>
          <a:xfrm>
            <a:off x="6629400" y="24892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957" name="Rectangle 16"/>
          <p:cNvSpPr/>
          <p:nvPr/>
        </p:nvSpPr>
        <p:spPr>
          <a:xfrm>
            <a:off x="7137400" y="24638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Hide list prices too</a:t>
            </a:r>
            <a:endParaRPr sz="1300" b="0">
              <a:solidFill>
                <a:srgbClr val="1E2B3C"/>
              </a:solidFill>
            </a:endParaRPr>
          </a:p>
        </p:txBody>
      </p:sp>
      <p:sp>
        <p:nvSpPr>
          <p:cNvPr id="958" name="Picture"/>
          <p:cNvSpPr/>
          <p:nvPr/>
        </p:nvSpPr>
        <p:spPr>
          <a:xfrm>
            <a:off x="6502400" y="31242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959" name="Rectangle 18"/>
          <p:cNvSpPr/>
          <p:nvPr/>
        </p:nvSpPr>
        <p:spPr>
          <a:xfrm>
            <a:off x="6807200" y="30734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18, See the approved price</a:t>
            </a:r>
            <a:endParaRPr sz="1200" b="0">
              <a:solidFill>
                <a:srgbClr val="1B7FA6"/>
              </a:solidFill>
            </a:endParaRPr>
          </a:p>
        </p:txBody>
      </p:sp>
      <p:sp>
        <p:nvSpPr>
          <p:cNvPr id="960" name="Rectangle 19"/>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61"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962" name="Rectangle 21"/>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C5:  pick a choice, keep today, or write your own</a:t>
            </a:r>
            <a:endParaRPr sz="1400" b="1">
              <a:solidFill>
                <a:srgbClr val="12384D"/>
              </a:solidFill>
            </a:endParaRPr>
          </a:p>
        </p:txBody>
      </p:sp>
      <p:sp>
        <p:nvSpPr>
          <p:cNvPr id="1168" name="Slide Number Placeholder"/>
          <p:cNvSpPr>
            <a:spLocks noGrp="1"/>
          </p:cNvSpPr>
          <p:nvPr>
            <p:ph type="sldNum" idx="12"/>
          </p:nvPr>
        </p:nvSpPr>
        <p:spPr/>
        <p:txBody>
          <a:bodyPr/>
          <a:lstStyle/>
          <a:p>
            <a:fld id="{2C613433-3098-412C-8341-209F9FAF5C71}" type="slidenum">
              <a:rPr/>
              <a:t>‹#›</a:t>
            </a:fld>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4"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65"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D1. Repeat orders on an approved price</a:t>
            </a:r>
            <a:endParaRPr sz="2200" b="1">
              <a:solidFill>
                <a:srgbClr val="12384D"/>
              </a:solidFill>
            </a:endParaRPr>
          </a:p>
        </p:txBody>
      </p:sp>
      <p:sp>
        <p:nvSpPr>
          <p:cNvPr id="966"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D  |  18 of 21</a:t>
            </a:r>
            <a:endParaRPr sz="1200" b="1">
              <a:solidFill>
                <a:srgbClr val="FFFFFF"/>
              </a:solidFill>
            </a:endParaRPr>
          </a:p>
        </p:txBody>
      </p:sp>
      <p:sp>
        <p:nvSpPr>
          <p:cNvPr id="967"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968" name="Rectangle 5"/>
          <p:cNvSpPr/>
          <p:nvPr/>
        </p:nvSpPr>
        <p:spPr>
          <a:xfrm>
            <a:off x="762000" y="1701800"/>
            <a:ext cx="5334000" cy="863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After approval, a partner places more orders for the same customer. What proof is needed, and how does DBGI spot duplicates?</a:t>
            </a:r>
            <a:endParaRPr sz="1400" b="0">
              <a:solidFill>
                <a:srgbClr val="1E2B3C"/>
              </a:solidFill>
            </a:endParaRPr>
          </a:p>
        </p:txBody>
      </p:sp>
      <p:sp>
        <p:nvSpPr>
          <p:cNvPr id="969" name="Rectangle 6"/>
          <p:cNvSpPr/>
          <p:nvPr/>
        </p:nvSpPr>
        <p:spPr>
          <a:xfrm>
            <a:off x="762000" y="2743200"/>
            <a:ext cx="5334000" cy="7874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70" name="Rectangle 7"/>
          <p:cNvSpPr/>
          <p:nvPr/>
        </p:nvSpPr>
        <p:spPr>
          <a:xfrm>
            <a:off x="965200" y="2870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971" name="Rectangle 8"/>
          <p:cNvSpPr/>
          <p:nvPr/>
        </p:nvSpPr>
        <p:spPr>
          <a:xfrm>
            <a:off x="965200" y="3149600"/>
            <a:ext cx="4978400" cy="33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Not built yet. It depends on Part C.</a:t>
            </a:r>
            <a:endParaRPr sz="1300" b="0">
              <a:solidFill>
                <a:srgbClr val="12384D"/>
              </a:solidFill>
            </a:endParaRPr>
          </a:p>
        </p:txBody>
      </p:sp>
      <p:sp>
        <p:nvSpPr>
          <p:cNvPr id="972" name="Rectangle 9"/>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TELL US</a:t>
            </a:r>
            <a:endParaRPr sz="1100" b="1">
              <a:solidFill>
                <a:srgbClr val="1B7FA6"/>
              </a:solidFill>
            </a:endParaRPr>
          </a:p>
        </p:txBody>
      </p:sp>
      <p:sp>
        <p:nvSpPr>
          <p:cNvPr id="973" name="Rectangle 10"/>
          <p:cNvSpPr/>
          <p:nvPr/>
        </p:nvSpPr>
        <p:spPr>
          <a:xfrm>
            <a:off x="6477000" y="1752600"/>
            <a:ext cx="5080000" cy="1397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400" b="0">
                <a:solidFill>
                  <a:srgbClr val="12384D"/>
                </a:solidFill>
              </a:rPr>
              <a:t>What should DBGI check before honouring a repeat order at the special price (for example a purchase order, the same end-user, the same product)?</a:t>
            </a:r>
            <a:endParaRPr sz="1400" b="0">
              <a:solidFill>
                <a:srgbClr val="12384D"/>
              </a:solidFill>
            </a:endParaRPr>
          </a:p>
        </p:txBody>
      </p:sp>
      <p:sp>
        <p:nvSpPr>
          <p:cNvPr id="974" name="Message"/>
          <p:cNvSpPr/>
          <p:nvPr/>
        </p:nvSpPr>
        <p:spPr>
          <a:xfrm>
            <a:off x="6629400" y="2311400"/>
            <a:ext cx="279400" cy="279400"/>
          </a:xfrm>
          <a:custGeom>
            <a:avLst/>
            <a:gdLst/>
            <a:ahLst/>
            <a:cxnLst/>
            <a:rect l="l" t="t" r="r" b="b"/>
            <a:pathLst>
              <a:path w="100000" h="100000" fill="none">
                <a:moveTo>
                  <a:pt x="12467" y="68092"/>
                </a:moveTo>
                <a:cubicBezTo>
                  <a:pt x="13079" y="69637"/>
                  <a:pt x="13216" y="71330"/>
                  <a:pt x="12858" y="72954"/>
                </a:cubicBezTo>
                <a:lnTo>
                  <a:pt x="8421" y="86663"/>
                </a:lnTo>
                <a:cubicBezTo>
                  <a:pt x="8130" y="88076"/>
                  <a:pt x="8591" y="89539"/>
                  <a:pt x="9640" y="90530"/>
                </a:cubicBezTo>
                <a:cubicBezTo>
                  <a:pt x="10689" y="91521"/>
                  <a:pt x="12176" y="91899"/>
                  <a:pt x="13571" y="91529"/>
                </a:cubicBezTo>
                <a:lnTo>
                  <a:pt x="27792" y="87371"/>
                </a:lnTo>
                <a:cubicBezTo>
                  <a:pt x="29324" y="87067"/>
                  <a:pt x="30910" y="87200"/>
                  <a:pt x="32371" y="87754"/>
                </a:cubicBezTo>
                <a:cubicBezTo>
                  <a:pt x="50740" y="96333"/>
                  <a:pt x="72617" y="90445"/>
                  <a:pt x="84199" y="73806"/>
                </a:cubicBezTo>
                <a:cubicBezTo>
                  <a:pt x="95781" y="57167"/>
                  <a:pt x="93706" y="34607"/>
                  <a:pt x="79284" y="20359"/>
                </a:cubicBezTo>
                <a:cubicBezTo>
                  <a:pt x="64861" y="6112"/>
                  <a:pt x="42277" y="4313"/>
                  <a:pt x="25781" y="16097"/>
                </a:cubicBezTo>
                <a:cubicBezTo>
                  <a:pt x="9285" y="27882"/>
                  <a:pt x="3665" y="49829"/>
                  <a:pt x="12467" y="68092"/>
                </a:cubicBez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975" name="Rectangle 12"/>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76"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977" name="Rectangle 14"/>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D1:  write your answer in Notes</a:t>
            </a:r>
            <a:endParaRPr sz="1400" b="1">
              <a:solidFill>
                <a:srgbClr val="12384D"/>
              </a:solidFill>
            </a:endParaRPr>
          </a:p>
        </p:txBody>
      </p:sp>
      <p:sp>
        <p:nvSpPr>
          <p:cNvPr id="1171" name="Slide Number Placeholder"/>
          <p:cNvSpPr>
            <a:spLocks noGrp="1"/>
          </p:cNvSpPr>
          <p:nvPr>
            <p:ph type="sldNum" idx="12"/>
          </p:nvPr>
        </p:nvSpPr>
        <p:spPr/>
        <p:txBody>
          <a:bodyPr/>
          <a:lstStyle/>
          <a:p>
            <a:fld id="{98BD73FC-224A-46D1-8C2A-CE27EA4C51CC}" type="slidenum">
              <a:rPr/>
              <a:t>‹#›</a:t>
            </a:fld>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9"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80"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D2. Who gets which emails?</a:t>
            </a:r>
            <a:endParaRPr sz="2200" b="1">
              <a:solidFill>
                <a:srgbClr val="12384D"/>
              </a:solidFill>
            </a:endParaRPr>
          </a:p>
        </p:txBody>
      </p:sp>
      <p:sp>
        <p:nvSpPr>
          <p:cNvPr id="981"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D  |  19 of 21</a:t>
            </a:r>
            <a:endParaRPr sz="1200" b="1">
              <a:solidFill>
                <a:srgbClr val="FFFFFF"/>
              </a:solidFill>
            </a:endParaRPr>
          </a:p>
        </p:txBody>
      </p:sp>
      <p:sp>
        <p:nvSpPr>
          <p:cNvPr id="982"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983"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Which people receive the portal's email notifications, on the partner side and at DBGI.</a:t>
            </a:r>
            <a:endParaRPr sz="1400" b="0">
              <a:solidFill>
                <a:srgbClr val="1E2B3C"/>
              </a:solidFill>
            </a:endParaRPr>
          </a:p>
        </p:txBody>
      </p:sp>
      <p:sp>
        <p:nvSpPr>
          <p:cNvPr id="984" name="Rectangle 6"/>
          <p:cNvSpPr/>
          <p:nvPr/>
        </p:nvSpPr>
        <p:spPr>
          <a:xfrm>
            <a:off x="762000" y="2489200"/>
            <a:ext cx="5334000" cy="12446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85"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986" name="Rectangle 8"/>
          <p:cNvSpPr/>
          <p:nvPr/>
        </p:nvSpPr>
        <p:spPr>
          <a:xfrm>
            <a:off x="965200" y="2895600"/>
            <a:ext cx="4978400" cy="787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Every active user at the partner company receives each notification. DBGI staff get no emails and work from the dashboard queues.</a:t>
            </a:r>
            <a:endParaRPr sz="1300" b="0">
              <a:solidFill>
                <a:srgbClr val="12384D"/>
              </a:solidFill>
            </a:endParaRPr>
          </a:p>
        </p:txBody>
      </p:sp>
      <p:sp>
        <p:nvSpPr>
          <p:cNvPr id="987" name="Rectangle 9"/>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988" name="Rectangle 10"/>
          <p:cNvSpPr/>
          <p:nvPr/>
        </p:nvSpPr>
        <p:spPr>
          <a:xfrm>
            <a:off x="6477000" y="1752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89" name="Oval 11"/>
          <p:cNvSpPr/>
          <p:nvPr/>
        </p:nvSpPr>
        <p:spPr>
          <a:xfrm>
            <a:off x="6629400" y="1828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990" name="Rectangle 12"/>
          <p:cNvSpPr/>
          <p:nvPr/>
        </p:nvSpPr>
        <p:spPr>
          <a:xfrm>
            <a:off x="7137400" y="1803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Keep today's rule</a:t>
            </a:r>
            <a:endParaRPr sz="1300" b="0">
              <a:solidFill>
                <a:srgbClr val="1E2B3C"/>
              </a:solidFill>
            </a:endParaRPr>
          </a:p>
        </p:txBody>
      </p:sp>
      <p:sp>
        <p:nvSpPr>
          <p:cNvPr id="991" name="Rectangle 13"/>
          <p:cNvSpPr/>
          <p:nvPr/>
        </p:nvSpPr>
        <p:spPr>
          <a:xfrm>
            <a:off x="6477000" y="24130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92" name="Oval 14"/>
          <p:cNvSpPr/>
          <p:nvPr/>
        </p:nvSpPr>
        <p:spPr>
          <a:xfrm>
            <a:off x="6629400" y="24892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993" name="Rectangle 15"/>
          <p:cNvSpPr/>
          <p:nvPr/>
        </p:nvSpPr>
        <p:spPr>
          <a:xfrm>
            <a:off x="7137400" y="24638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Email only the person who submitted</a:t>
            </a:r>
            <a:endParaRPr sz="1300" b="0">
              <a:solidFill>
                <a:srgbClr val="1E2B3C"/>
              </a:solidFill>
            </a:endParaRPr>
          </a:p>
        </p:txBody>
      </p:sp>
      <p:sp>
        <p:nvSpPr>
          <p:cNvPr id="994" name="Rectangle 16"/>
          <p:cNvSpPr/>
          <p:nvPr/>
        </p:nvSpPr>
        <p:spPr>
          <a:xfrm>
            <a:off x="6477000" y="30734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95" name="Oval 17"/>
          <p:cNvSpPr/>
          <p:nvPr/>
        </p:nvSpPr>
        <p:spPr>
          <a:xfrm>
            <a:off x="6629400" y="32639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c</a:t>
            </a:r>
            <a:endParaRPr sz="1400" b="1">
              <a:solidFill>
                <a:srgbClr val="FFFFFF"/>
              </a:solidFill>
            </a:endParaRPr>
          </a:p>
        </p:txBody>
      </p:sp>
      <p:sp>
        <p:nvSpPr>
          <p:cNvPr id="996" name="Rectangle 18"/>
          <p:cNvSpPr/>
          <p:nvPr/>
        </p:nvSpPr>
        <p:spPr>
          <a:xfrm>
            <a:off x="7137400" y="31242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Also email DBGI reviewers when something needs action</a:t>
            </a:r>
            <a:endParaRPr sz="1300" b="0">
              <a:solidFill>
                <a:srgbClr val="1E2B3C"/>
              </a:solidFill>
            </a:endParaRPr>
          </a:p>
        </p:txBody>
      </p:sp>
      <p:sp>
        <p:nvSpPr>
          <p:cNvPr id="997" name="Picture"/>
          <p:cNvSpPr/>
          <p:nvPr/>
        </p:nvSpPr>
        <p:spPr>
          <a:xfrm>
            <a:off x="6502400" y="4013200"/>
            <a:ext cx="228600" cy="228600"/>
          </a:xfrm>
          <a:custGeom>
            <a:avLst/>
            <a:gdLst/>
            <a:ahLst/>
            <a:cxnLst/>
            <a:rect l="l" t="t" r="r" b="b"/>
            <a:pathLst>
              <a:path w="100000" h="100000" fill="none">
                <a:moveTo>
                  <a:pt x="20833" y="12500"/>
                </a:moveTo>
                <a:lnTo>
                  <a:pt x="79167" y="12500"/>
                </a:lnTo>
                <a:cubicBezTo>
                  <a:pt x="83769" y="12500"/>
                  <a:pt x="87500" y="16231"/>
                  <a:pt x="87500" y="20833"/>
                </a:cubicBezTo>
                <a:lnTo>
                  <a:pt x="87500" y="79167"/>
                </a:lnTo>
                <a:cubicBezTo>
                  <a:pt x="87500" y="83769"/>
                  <a:pt x="83769" y="87500"/>
                  <a:pt x="79167" y="87500"/>
                </a:cubicBezTo>
                <a:lnTo>
                  <a:pt x="20833" y="87500"/>
                </a:lnTo>
                <a:cubicBezTo>
                  <a:pt x="16231" y="87500"/>
                  <a:pt x="12500" y="83769"/>
                  <a:pt x="12500" y="79167"/>
                </a:cubicBezTo>
                <a:lnTo>
                  <a:pt x="12500" y="20833"/>
                </a:lnTo>
                <a:cubicBezTo>
                  <a:pt x="12500" y="16231"/>
                  <a:pt x="16231" y="12500"/>
                  <a:pt x="20833" y="12500"/>
                </a:cubicBezTo>
                <a:close/>
                <a:moveTo>
                  <a:pt x="29167" y="37500"/>
                </a:moveTo>
                <a:cubicBezTo>
                  <a:pt x="29167" y="32898"/>
                  <a:pt x="32898" y="29167"/>
                  <a:pt x="37500" y="29167"/>
                </a:cubicBezTo>
                <a:cubicBezTo>
                  <a:pt x="42103" y="29167"/>
                  <a:pt x="45833" y="32898"/>
                  <a:pt x="45833" y="37500"/>
                </a:cubicBezTo>
                <a:cubicBezTo>
                  <a:pt x="45833" y="42103"/>
                  <a:pt x="42103" y="45833"/>
                  <a:pt x="37500" y="45833"/>
                </a:cubicBezTo>
                <a:cubicBezTo>
                  <a:pt x="32898" y="45833"/>
                  <a:pt x="29167" y="42103"/>
                  <a:pt x="29167" y="37500"/>
                </a:cubicBezTo>
                <a:close/>
                <a:moveTo>
                  <a:pt x="87500" y="62500"/>
                </a:moveTo>
                <a:lnTo>
                  <a:pt x="74642" y="49642"/>
                </a:lnTo>
                <a:cubicBezTo>
                  <a:pt x="71388" y="46388"/>
                  <a:pt x="66113" y="46388"/>
                  <a:pt x="62858" y="49642"/>
                </a:cubicBezTo>
                <a:lnTo>
                  <a:pt x="25000" y="87500"/>
                </a:lnTo>
              </a:path>
            </a:pathLst>
          </a:custGeom>
          <a:noFill/>
          <a:ln w="19050" cap="rnd">
            <a:solidFill>
              <a:srgbClr val="1B7FA6"/>
            </a:solidFill>
            <a:round/>
          </a:ln>
        </p:spPr>
        <p:style>
          <a:lnRef idx="1">
            <a:schemeClr val="tx1"/>
          </a:lnRef>
          <a:fillRef idx="0">
            <a:schemeClr val="tx1"/>
          </a:fillRef>
          <a:effectRef idx="0">
            <a:schemeClr val="tx1"/>
          </a:effectRef>
          <a:fontRef idx="minor">
            <a:schemeClr val="tx1"/>
          </a:fontRef>
        </p:style>
      </p:sp>
      <p:sp>
        <p:nvSpPr>
          <p:cNvPr id="998" name="Rectangle 20"/>
          <p:cNvSpPr/>
          <p:nvPr/>
        </p:nvSpPr>
        <p:spPr>
          <a:xfrm>
            <a:off x="6807200" y="3962400"/>
            <a:ext cx="4749800" cy="50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200" b="0">
                <a:solidFill>
                  <a:srgbClr val="1B7FA6"/>
                </a:solidFill>
              </a:rPr>
              <a:t>See it in the walkthrough: slide 10, Notifications</a:t>
            </a:r>
            <a:endParaRPr sz="1200" b="0">
              <a:solidFill>
                <a:srgbClr val="1B7FA6"/>
              </a:solidFill>
            </a:endParaRPr>
          </a:p>
        </p:txBody>
      </p:sp>
      <p:sp>
        <p:nvSpPr>
          <p:cNvPr id="999" name="Rectangle 21"/>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00"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001" name="Rectangle 23"/>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D2:  pick a choice, keep today, or write your own</a:t>
            </a:r>
            <a:endParaRPr sz="1400" b="1">
              <a:solidFill>
                <a:srgbClr val="12384D"/>
              </a:solidFill>
            </a:endParaRPr>
          </a:p>
        </p:txBody>
      </p:sp>
      <p:sp>
        <p:nvSpPr>
          <p:cNvPr id="1174" name="Slide Number Placeholder"/>
          <p:cNvSpPr>
            <a:spLocks noGrp="1"/>
          </p:cNvSpPr>
          <p:nvPr>
            <p:ph type="sldNum" idx="12"/>
          </p:nvPr>
        </p:nvSpPr>
        <p:spPr/>
        <p:txBody>
          <a:bodyPr/>
          <a:lstStyle/>
          <a:p>
            <a:fld id="{0CB3A740-2E9C-452E-80DC-13F30A3E5EBB}" type="slidenum">
              <a:rPr/>
              <a:t>‹#›</a:t>
            </a:fld>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04"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D3. Records, backups, and recovery</a:t>
            </a:r>
            <a:endParaRPr sz="2200" b="1">
              <a:solidFill>
                <a:srgbClr val="12384D"/>
              </a:solidFill>
            </a:endParaRPr>
          </a:p>
        </p:txBody>
      </p:sp>
      <p:sp>
        <p:nvSpPr>
          <p:cNvPr id="1005"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D  |  20 of 21</a:t>
            </a:r>
            <a:endParaRPr sz="1200" b="1">
              <a:solidFill>
                <a:srgbClr val="FFFFFF"/>
              </a:solidFill>
            </a:endParaRPr>
          </a:p>
        </p:txBody>
      </p:sp>
      <p:sp>
        <p:nvSpPr>
          <p:cNvPr id="1006"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1007" name="Rectangle 5"/>
          <p:cNvSpPr/>
          <p:nvPr/>
        </p:nvSpPr>
        <p:spPr>
          <a:xfrm>
            <a:off x="762000" y="1701800"/>
            <a:ext cx="5334000" cy="609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How long to keep old deals and files, and how quickly the portal must be back after a failure.</a:t>
            </a:r>
            <a:endParaRPr sz="1400" b="0">
              <a:solidFill>
                <a:srgbClr val="1E2B3C"/>
              </a:solidFill>
            </a:endParaRPr>
          </a:p>
        </p:txBody>
      </p:sp>
      <p:sp>
        <p:nvSpPr>
          <p:cNvPr id="1008" name="Rectangle 6"/>
          <p:cNvSpPr/>
          <p:nvPr/>
        </p:nvSpPr>
        <p:spPr>
          <a:xfrm>
            <a:off x="762000" y="2489200"/>
            <a:ext cx="5334000" cy="1016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09" name="Rectangle 7"/>
          <p:cNvSpPr/>
          <p:nvPr/>
        </p:nvSpPr>
        <p:spPr>
          <a:xfrm>
            <a:off x="965200" y="2616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1010" name="Rectangle 8"/>
          <p:cNvSpPr/>
          <p:nvPr/>
        </p:nvSpPr>
        <p:spPr>
          <a:xfrm>
            <a:off x="965200" y="2895600"/>
            <a:ext cx="4978400" cy="558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The portal is not in production yet. Nothing is deleted automatically, and no backup schedule exists.</a:t>
            </a:r>
            <a:endParaRPr sz="1300" b="0">
              <a:solidFill>
                <a:srgbClr val="12384D"/>
              </a:solidFill>
            </a:endParaRPr>
          </a:p>
        </p:txBody>
      </p:sp>
      <p:sp>
        <p:nvSpPr>
          <p:cNvPr id="1011" name="Rectangle 9"/>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1012" name="Rectangle 10"/>
          <p:cNvSpPr/>
          <p:nvPr/>
        </p:nvSpPr>
        <p:spPr>
          <a:xfrm>
            <a:off x="6477000" y="17526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13" name="Oval 11"/>
          <p:cNvSpPr/>
          <p:nvPr/>
        </p:nvSpPr>
        <p:spPr>
          <a:xfrm>
            <a:off x="6629400" y="19431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1014" name="Rectangle 12"/>
          <p:cNvSpPr/>
          <p:nvPr/>
        </p:nvSpPr>
        <p:spPr>
          <a:xfrm>
            <a:off x="7137400" y="18034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Keep everything for 5 years, daily backups, back within one working day</a:t>
            </a:r>
            <a:endParaRPr sz="1300" b="0">
              <a:solidFill>
                <a:srgbClr val="1E2B3C"/>
              </a:solidFill>
            </a:endParaRPr>
          </a:p>
        </p:txBody>
      </p:sp>
      <p:sp>
        <p:nvSpPr>
          <p:cNvPr id="1015" name="Rectangle 13"/>
          <p:cNvSpPr/>
          <p:nvPr/>
        </p:nvSpPr>
        <p:spPr>
          <a:xfrm>
            <a:off x="6477000" y="2641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16" name="Oval 14"/>
          <p:cNvSpPr/>
          <p:nvPr/>
        </p:nvSpPr>
        <p:spPr>
          <a:xfrm>
            <a:off x="6629400" y="2717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1017" name="Rectangle 15"/>
          <p:cNvSpPr/>
          <p:nvPr/>
        </p:nvSpPr>
        <p:spPr>
          <a:xfrm>
            <a:off x="7137400" y="2692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IT sets the targets</a:t>
            </a:r>
            <a:endParaRPr sz="1300" b="0">
              <a:solidFill>
                <a:srgbClr val="1E2B3C"/>
              </a:solidFill>
            </a:endParaRPr>
          </a:p>
        </p:txBody>
      </p:sp>
      <p:sp>
        <p:nvSpPr>
          <p:cNvPr id="1018" name="Rectangle 16"/>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19"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020" name="Rectangle 18"/>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D3:  pick a choice, keep today, or write your own</a:t>
            </a:r>
            <a:endParaRPr sz="1400" b="1">
              <a:solidFill>
                <a:srgbClr val="12384D"/>
              </a:solidFill>
            </a:endParaRPr>
          </a:p>
        </p:txBody>
      </p:sp>
      <p:sp>
        <p:nvSpPr>
          <p:cNvPr id="1177" name="Slide Number Placeholder"/>
          <p:cNvSpPr>
            <a:spLocks noGrp="1"/>
          </p:cNvSpPr>
          <p:nvPr>
            <p:ph type="sldNum" idx="12"/>
          </p:nvPr>
        </p:nvSpPr>
        <p:spPr/>
        <p:txBody>
          <a:bodyPr/>
          <a:lstStyle/>
          <a:p>
            <a:fld id="{03EBE9A9-91FE-421B-8E36-B043DC6B754E}" type="slidenum">
              <a:rPr/>
              <a:t>‹#›</a:t>
            </a:fld>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2"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23" name="Rectangle 2"/>
          <p:cNvSpPr/>
          <p:nvPr/>
        </p:nvSpPr>
        <p:spPr>
          <a:xfrm>
            <a:off x="711200" y="508000"/>
            <a:ext cx="8255000" cy="812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200" b="1">
                <a:solidFill>
                  <a:srgbClr val="12384D"/>
                </a:solidFill>
              </a:rPr>
              <a:t>D4. Business hours and holidays</a:t>
            </a:r>
            <a:endParaRPr sz="2200" b="1">
              <a:solidFill>
                <a:srgbClr val="12384D"/>
              </a:solidFill>
            </a:endParaRPr>
          </a:p>
        </p:txBody>
      </p:sp>
      <p:sp>
        <p:nvSpPr>
          <p:cNvPr id="1024" name="Rectangle 3"/>
          <p:cNvSpPr/>
          <p:nvPr/>
        </p:nvSpPr>
        <p:spPr>
          <a:xfrm>
            <a:off x="9271000" y="508000"/>
            <a:ext cx="2286000" cy="355600"/>
          </a:xfrm>
          <a:prstGeom prst="roundRect">
            <a:avLst/>
          </a:prstGeom>
          <a:solidFill>
            <a:srgbClr val="12384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200" b="1">
                <a:solidFill>
                  <a:srgbClr val="FFFFFF"/>
                </a:solidFill>
              </a:rPr>
              <a:t>Part D  |  21 of 21</a:t>
            </a:r>
            <a:endParaRPr sz="1200" b="1">
              <a:solidFill>
                <a:srgbClr val="FFFFFF"/>
              </a:solidFill>
            </a:endParaRPr>
          </a:p>
        </p:txBody>
      </p:sp>
      <p:sp>
        <p:nvSpPr>
          <p:cNvPr id="1025" name="Rectangle 4"/>
          <p:cNvSpPr/>
          <p:nvPr/>
        </p:nvSpPr>
        <p:spPr>
          <a:xfrm>
            <a:off x="762000" y="1422400"/>
            <a:ext cx="5334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WHAT IT MEANS</a:t>
            </a:r>
            <a:endParaRPr sz="1100" b="1">
              <a:solidFill>
                <a:srgbClr val="1B7FA6"/>
              </a:solidFill>
            </a:endParaRPr>
          </a:p>
        </p:txBody>
      </p:sp>
      <p:sp>
        <p:nvSpPr>
          <p:cNvPr id="1026" name="Rectangle 5"/>
          <p:cNvSpPr/>
          <p:nvPr/>
        </p:nvSpPr>
        <p:spPr>
          <a:xfrm>
            <a:off x="762000" y="1701800"/>
            <a:ext cx="5334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1E2B3C"/>
                </a:solidFill>
              </a:rPr>
              <a:t>Deadlines like "one working day" need a definition.</a:t>
            </a:r>
            <a:endParaRPr sz="1400" b="0">
              <a:solidFill>
                <a:srgbClr val="1E2B3C"/>
              </a:solidFill>
            </a:endParaRPr>
          </a:p>
        </p:txBody>
      </p:sp>
      <p:sp>
        <p:nvSpPr>
          <p:cNvPr id="1027" name="Rectangle 6"/>
          <p:cNvSpPr/>
          <p:nvPr/>
        </p:nvSpPr>
        <p:spPr>
          <a:xfrm>
            <a:off x="762000" y="2235200"/>
            <a:ext cx="5334000" cy="12446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28" name="Rectangle 7"/>
          <p:cNvSpPr/>
          <p:nvPr/>
        </p:nvSpPr>
        <p:spPr>
          <a:xfrm>
            <a:off x="965200" y="2362200"/>
            <a:ext cx="4953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THE PORTAL TODAY</a:t>
            </a:r>
            <a:endParaRPr sz="1100" b="1">
              <a:solidFill>
                <a:srgbClr val="1B7FA6"/>
              </a:solidFill>
            </a:endParaRPr>
          </a:p>
        </p:txBody>
      </p:sp>
      <p:sp>
        <p:nvSpPr>
          <p:cNvPr id="1029" name="Rectangle 8"/>
          <p:cNvSpPr/>
          <p:nvPr/>
        </p:nvSpPr>
        <p:spPr>
          <a:xfrm>
            <a:off x="965200" y="2641600"/>
            <a:ext cx="4978400" cy="787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300" b="0">
                <a:solidFill>
                  <a:srgbClr val="12384D"/>
                </a:solidFill>
              </a:rPr>
              <a:t>The portal uses Philippine time and counts calendar days (for example, a renewal adds 30 calendar days). There are no working-day or holiday rules.</a:t>
            </a:r>
            <a:endParaRPr sz="1300" b="0">
              <a:solidFill>
                <a:srgbClr val="12384D"/>
              </a:solidFill>
            </a:endParaRPr>
          </a:p>
        </p:txBody>
      </p:sp>
      <p:sp>
        <p:nvSpPr>
          <p:cNvPr id="1030" name="Rectangle 9"/>
          <p:cNvSpPr/>
          <p:nvPr/>
        </p:nvSpPr>
        <p:spPr>
          <a:xfrm>
            <a:off x="6477000" y="1422400"/>
            <a:ext cx="5080000" cy="279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100" b="1">
                <a:solidFill>
                  <a:srgbClr val="1B7FA6"/>
                </a:solidFill>
              </a:rPr>
              <a:t>CHOOSE ONE</a:t>
            </a:r>
            <a:endParaRPr sz="1100" b="1">
              <a:solidFill>
                <a:srgbClr val="1B7FA6"/>
              </a:solidFill>
            </a:endParaRPr>
          </a:p>
        </p:txBody>
      </p:sp>
      <p:sp>
        <p:nvSpPr>
          <p:cNvPr id="1031" name="Rectangle 10"/>
          <p:cNvSpPr/>
          <p:nvPr/>
        </p:nvSpPr>
        <p:spPr>
          <a:xfrm>
            <a:off x="6477000" y="1752600"/>
            <a:ext cx="5080000" cy="7620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32" name="Oval 11"/>
          <p:cNvSpPr/>
          <p:nvPr/>
        </p:nvSpPr>
        <p:spPr>
          <a:xfrm>
            <a:off x="6629400" y="19431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a</a:t>
            </a:r>
            <a:endParaRPr sz="1400" b="1">
              <a:solidFill>
                <a:srgbClr val="FFFFFF"/>
              </a:solidFill>
            </a:endParaRPr>
          </a:p>
        </p:txBody>
      </p:sp>
      <p:sp>
        <p:nvSpPr>
          <p:cNvPr id="1033" name="Rectangle 12"/>
          <p:cNvSpPr/>
          <p:nvPr/>
        </p:nvSpPr>
        <p:spPr>
          <a:xfrm>
            <a:off x="7137400" y="1803400"/>
            <a:ext cx="4318000" cy="660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Monday to Friday, Philippine public holidays excluded, 5:00 PM cutoff</a:t>
            </a:r>
            <a:endParaRPr sz="1300" b="0">
              <a:solidFill>
                <a:srgbClr val="1E2B3C"/>
              </a:solidFill>
            </a:endParaRPr>
          </a:p>
        </p:txBody>
      </p:sp>
      <p:sp>
        <p:nvSpPr>
          <p:cNvPr id="1034" name="Rectangle 13"/>
          <p:cNvSpPr/>
          <p:nvPr/>
        </p:nvSpPr>
        <p:spPr>
          <a:xfrm>
            <a:off x="6477000" y="2641600"/>
            <a:ext cx="5080000" cy="533400"/>
          </a:xfrm>
          <a:prstGeom prst="roundRect">
            <a:avLst/>
          </a:prstGeom>
          <a:solidFill>
            <a:srgbClr val="FFFFFF"/>
          </a:solidFill>
          <a:ln w="12700">
            <a:solidFill>
              <a:srgbClr val="C9D6D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35" name="Oval 14"/>
          <p:cNvSpPr/>
          <p:nvPr/>
        </p:nvSpPr>
        <p:spPr>
          <a:xfrm>
            <a:off x="6629400" y="2717800"/>
            <a:ext cx="381000" cy="381000"/>
          </a:xfrm>
          <a:prstGeom prst="ellipse">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r>
              <a:rPr sz="1400" b="1">
                <a:solidFill>
                  <a:srgbClr val="FFFFFF"/>
                </a:solidFill>
              </a:rPr>
              <a:t>b</a:t>
            </a:r>
            <a:endParaRPr sz="1400" b="1">
              <a:solidFill>
                <a:srgbClr val="FFFFFF"/>
              </a:solidFill>
            </a:endParaRPr>
          </a:p>
        </p:txBody>
      </p:sp>
      <p:sp>
        <p:nvSpPr>
          <p:cNvPr id="1036" name="Rectangle 15"/>
          <p:cNvSpPr/>
          <p:nvPr/>
        </p:nvSpPr>
        <p:spPr>
          <a:xfrm>
            <a:off x="7137400" y="2692400"/>
            <a:ext cx="4318000" cy="431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300" b="0">
                <a:solidFill>
                  <a:srgbClr val="1E2B3C"/>
                </a:solidFill>
              </a:rPr>
              <a:t>Calendar days only</a:t>
            </a:r>
            <a:endParaRPr sz="1300" b="0">
              <a:solidFill>
                <a:srgbClr val="1E2B3C"/>
              </a:solidFill>
            </a:endParaRPr>
          </a:p>
        </p:txBody>
      </p:sp>
      <p:sp>
        <p:nvSpPr>
          <p:cNvPr id="1037" name="Rectangle 16"/>
          <p:cNvSpPr/>
          <p:nvPr/>
        </p:nvSpPr>
        <p:spPr>
          <a:xfrm>
            <a:off x="762000" y="5969000"/>
            <a:ext cx="10795000" cy="508000"/>
          </a:xfrm>
          <a:prstGeom prst="roundRect">
            <a:avLst/>
          </a:prstGeom>
          <a:solidFill>
            <a:srgbClr val="F2C14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38" name="Document"/>
          <p:cNvSpPr/>
          <p:nvPr/>
        </p:nvSpPr>
        <p:spPr>
          <a:xfrm>
            <a:off x="965200" y="60833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039" name="Rectangle 18"/>
          <p:cNvSpPr/>
          <p:nvPr/>
        </p:nvSpPr>
        <p:spPr>
          <a:xfrm>
            <a:off x="1371600" y="5994400"/>
            <a:ext cx="1003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l"/>
            <a:r>
              <a:rPr sz="1400" b="1">
                <a:solidFill>
                  <a:srgbClr val="12384D"/>
                </a:solidFill>
              </a:rPr>
              <a:t>Answer form, row D4:  pick a choice, keep today, or write your own</a:t>
            </a:r>
            <a:endParaRPr sz="1400" b="1">
              <a:solidFill>
                <a:srgbClr val="12384D"/>
              </a:solidFill>
            </a:endParaRPr>
          </a:p>
        </p:txBody>
      </p:sp>
      <p:sp>
        <p:nvSpPr>
          <p:cNvPr id="1180" name="Slide Number Placeholder"/>
          <p:cNvSpPr>
            <a:spLocks noGrp="1"/>
          </p:cNvSpPr>
          <p:nvPr>
            <p:ph type="sldNum" idx="12"/>
          </p:nvPr>
        </p:nvSpPr>
        <p:spPr/>
        <p:txBody>
          <a:bodyPr/>
          <a:lstStyle/>
          <a:p>
            <a:fld id="{192D79B1-2CDC-46B0-8633-EA8EBCBFA355}" type="slidenum">
              <a:rPr/>
              <a:t>‹#›</a:t>
            </a:fld>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1" name="Rectangle 1"/>
          <p:cNvSpPr/>
          <p:nvPr/>
        </p:nvSpPr>
        <p:spPr>
          <a:xfrm>
            <a:off x="762000" y="381000"/>
            <a:ext cx="711200" cy="76200"/>
          </a:xfrm>
          <a:prstGeom prst="rect">
            <a:avLst/>
          </a:prstGeom>
          <a:solidFill>
            <a:srgbClr val="1B7FA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1042" name="Rectangle 2"/>
          <p:cNvSpPr/>
          <p:nvPr/>
        </p:nvSpPr>
        <p:spPr>
          <a:xfrm>
            <a:off x="711200" y="533400"/>
            <a:ext cx="10795000" cy="63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2600" b="1">
                <a:solidFill>
                  <a:srgbClr val="12384D"/>
                </a:solidFill>
              </a:rPr>
              <a:t>Your reply</a:t>
            </a:r>
            <a:endParaRPr sz="2600" b="1">
              <a:solidFill>
                <a:srgbClr val="12384D"/>
              </a:solidFill>
            </a:endParaRPr>
          </a:p>
        </p:txBody>
      </p:sp>
      <p:sp>
        <p:nvSpPr>
          <p:cNvPr id="1043" name="Rectangle 3"/>
          <p:cNvSpPr/>
          <p:nvPr/>
        </p:nvSpPr>
        <p:spPr>
          <a:xfrm>
            <a:off x="736600" y="1143000"/>
            <a:ext cx="10795000" cy="355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t">
            <a:noAutofit/>
          </a:bodyPr>
          <a:lstStyle/>
          <a:p>
            <a:pPr algn="l"/>
            <a:r>
              <a:rPr sz="1400" b="0">
                <a:solidFill>
                  <a:srgbClr val="5B6B7A"/>
                </a:solidFill>
              </a:rPr>
              <a:t>Easiest: fill in the Word answer form. Or copy these lines into an email.</a:t>
            </a:r>
            <a:endParaRPr sz="1400" b="0">
              <a:solidFill>
                <a:srgbClr val="5B6B7A"/>
              </a:solidFill>
            </a:endParaRPr>
          </a:p>
        </p:txBody>
      </p:sp>
      <p:sp>
        <p:nvSpPr>
          <p:cNvPr id="1044" name="Rectangle 4"/>
          <p:cNvSpPr/>
          <p:nvPr/>
        </p:nvSpPr>
        <p:spPr>
          <a:xfrm>
            <a:off x="762000" y="1651000"/>
            <a:ext cx="3429000" cy="2667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54000" tIns="177800" anchor="t">
            <a:noAutofit/>
          </a:bodyPr>
          <a:lstStyle/>
          <a:p>
            <a:pPr algn="l">
              <a:spcAft>
                <a:spcPts val="400"/>
              </a:spcAft>
            </a:pPr>
            <a:r>
              <a:rPr sz="1600" b="1">
                <a:solidFill>
                  <a:srgbClr val="12384D"/>
                </a:solidFill>
              </a:rPr>
              <a:t>A1:</a:t>
            </a:r>
            <a:endParaRPr sz="1600" b="1">
              <a:solidFill>
                <a:srgbClr val="12384D"/>
              </a:solidFill>
            </a:endParaRPr>
          </a:p>
          <a:p>
            <a:pPr algn="l">
              <a:spcAft>
                <a:spcPts val="400"/>
              </a:spcAft>
            </a:pPr>
            <a:r>
              <a:rPr sz="1600" b="1">
                <a:solidFill>
                  <a:srgbClr val="12384D"/>
                </a:solidFill>
              </a:rPr>
              <a:t>A2:</a:t>
            </a:r>
            <a:endParaRPr sz="1600" b="1">
              <a:solidFill>
                <a:srgbClr val="12384D"/>
              </a:solidFill>
            </a:endParaRPr>
          </a:p>
          <a:p>
            <a:pPr algn="l">
              <a:spcAft>
                <a:spcPts val="400"/>
              </a:spcAft>
            </a:pPr>
            <a:r>
              <a:rPr sz="1600" b="1">
                <a:solidFill>
                  <a:srgbClr val="12384D"/>
                </a:solidFill>
              </a:rPr>
              <a:t>A3:</a:t>
            </a:r>
            <a:endParaRPr sz="1600" b="1">
              <a:solidFill>
                <a:srgbClr val="12384D"/>
              </a:solidFill>
            </a:endParaRPr>
          </a:p>
          <a:p>
            <a:pPr algn="l">
              <a:spcAft>
                <a:spcPts val="400"/>
              </a:spcAft>
            </a:pPr>
            <a:r>
              <a:rPr sz="1600" b="1">
                <a:solidFill>
                  <a:srgbClr val="12384D"/>
                </a:solidFill>
              </a:rPr>
              <a:t>A4:</a:t>
            </a:r>
            <a:endParaRPr sz="1600" b="1">
              <a:solidFill>
                <a:srgbClr val="12384D"/>
              </a:solidFill>
            </a:endParaRPr>
          </a:p>
          <a:p>
            <a:pPr algn="l">
              <a:spcAft>
                <a:spcPts val="400"/>
              </a:spcAft>
            </a:pPr>
            <a:r>
              <a:rPr sz="1600" b="1">
                <a:solidFill>
                  <a:srgbClr val="12384D"/>
                </a:solidFill>
              </a:rPr>
              <a:t>A5:</a:t>
            </a:r>
            <a:endParaRPr sz="1600" b="1">
              <a:solidFill>
                <a:srgbClr val="12384D"/>
              </a:solidFill>
            </a:endParaRPr>
          </a:p>
          <a:p>
            <a:pPr algn="l">
              <a:spcAft>
                <a:spcPts val="400"/>
              </a:spcAft>
            </a:pPr>
            <a:r>
              <a:rPr sz="1600" b="1">
                <a:solidFill>
                  <a:srgbClr val="12384D"/>
                </a:solidFill>
              </a:rPr>
              <a:t>B1:</a:t>
            </a:r>
            <a:endParaRPr sz="1600" b="1">
              <a:solidFill>
                <a:srgbClr val="12384D"/>
              </a:solidFill>
            </a:endParaRPr>
          </a:p>
          <a:p>
            <a:pPr algn="l">
              <a:spcAft>
                <a:spcPts val="400"/>
              </a:spcAft>
            </a:pPr>
            <a:r>
              <a:rPr sz="1600" b="1">
                <a:solidFill>
                  <a:srgbClr val="12384D"/>
                </a:solidFill>
              </a:rPr>
              <a:t>B2:</a:t>
            </a:r>
            <a:endParaRPr sz="1600" b="1">
              <a:solidFill>
                <a:srgbClr val="12384D"/>
              </a:solidFill>
            </a:endParaRPr>
          </a:p>
        </p:txBody>
      </p:sp>
      <p:sp>
        <p:nvSpPr>
          <p:cNvPr id="1045" name="Rectangle 5"/>
          <p:cNvSpPr/>
          <p:nvPr/>
        </p:nvSpPr>
        <p:spPr>
          <a:xfrm>
            <a:off x="4445000" y="1651000"/>
            <a:ext cx="3429000" cy="2667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54000" tIns="177800" anchor="t">
            <a:noAutofit/>
          </a:bodyPr>
          <a:lstStyle/>
          <a:p>
            <a:pPr algn="l">
              <a:spcAft>
                <a:spcPts val="400"/>
              </a:spcAft>
            </a:pPr>
            <a:r>
              <a:rPr sz="1600" b="1">
                <a:solidFill>
                  <a:srgbClr val="12384D"/>
                </a:solidFill>
              </a:rPr>
              <a:t>B3:</a:t>
            </a:r>
            <a:endParaRPr sz="1600" b="1">
              <a:solidFill>
                <a:srgbClr val="12384D"/>
              </a:solidFill>
            </a:endParaRPr>
          </a:p>
          <a:p>
            <a:pPr algn="l">
              <a:spcAft>
                <a:spcPts val="400"/>
              </a:spcAft>
            </a:pPr>
            <a:r>
              <a:rPr sz="1600" b="1">
                <a:solidFill>
                  <a:srgbClr val="12384D"/>
                </a:solidFill>
              </a:rPr>
              <a:t>B4:</a:t>
            </a:r>
            <a:endParaRPr sz="1600" b="1">
              <a:solidFill>
                <a:srgbClr val="12384D"/>
              </a:solidFill>
            </a:endParaRPr>
          </a:p>
          <a:p>
            <a:pPr algn="l">
              <a:spcAft>
                <a:spcPts val="400"/>
              </a:spcAft>
            </a:pPr>
            <a:r>
              <a:rPr sz="1600" b="1">
                <a:solidFill>
                  <a:srgbClr val="12384D"/>
                </a:solidFill>
              </a:rPr>
              <a:t>B5:</a:t>
            </a:r>
            <a:endParaRPr sz="1600" b="1">
              <a:solidFill>
                <a:srgbClr val="12384D"/>
              </a:solidFill>
            </a:endParaRPr>
          </a:p>
          <a:p>
            <a:pPr algn="l">
              <a:spcAft>
                <a:spcPts val="400"/>
              </a:spcAft>
            </a:pPr>
            <a:r>
              <a:rPr sz="1600" b="1">
                <a:solidFill>
                  <a:srgbClr val="12384D"/>
                </a:solidFill>
              </a:rPr>
              <a:t>B6:</a:t>
            </a:r>
            <a:endParaRPr sz="1600" b="1">
              <a:solidFill>
                <a:srgbClr val="12384D"/>
              </a:solidFill>
            </a:endParaRPr>
          </a:p>
          <a:p>
            <a:pPr algn="l">
              <a:spcAft>
                <a:spcPts val="400"/>
              </a:spcAft>
            </a:pPr>
            <a:r>
              <a:rPr sz="1600" b="1">
                <a:solidFill>
                  <a:srgbClr val="12384D"/>
                </a:solidFill>
              </a:rPr>
              <a:t>B7:</a:t>
            </a:r>
            <a:endParaRPr sz="1600" b="1">
              <a:solidFill>
                <a:srgbClr val="12384D"/>
              </a:solidFill>
            </a:endParaRPr>
          </a:p>
          <a:p>
            <a:pPr algn="l">
              <a:spcAft>
                <a:spcPts val="400"/>
              </a:spcAft>
            </a:pPr>
            <a:r>
              <a:rPr sz="1600" b="1">
                <a:solidFill>
                  <a:srgbClr val="12384D"/>
                </a:solidFill>
              </a:rPr>
              <a:t>C1:</a:t>
            </a:r>
            <a:endParaRPr sz="1600" b="1">
              <a:solidFill>
                <a:srgbClr val="12384D"/>
              </a:solidFill>
            </a:endParaRPr>
          </a:p>
          <a:p>
            <a:pPr algn="l">
              <a:spcAft>
                <a:spcPts val="400"/>
              </a:spcAft>
            </a:pPr>
            <a:r>
              <a:rPr sz="1600" b="1">
                <a:solidFill>
                  <a:srgbClr val="12384D"/>
                </a:solidFill>
              </a:rPr>
              <a:t>C2:</a:t>
            </a:r>
            <a:endParaRPr sz="1600" b="1">
              <a:solidFill>
                <a:srgbClr val="12384D"/>
              </a:solidFill>
            </a:endParaRPr>
          </a:p>
        </p:txBody>
      </p:sp>
      <p:sp>
        <p:nvSpPr>
          <p:cNvPr id="1046" name="Rectangle 6"/>
          <p:cNvSpPr/>
          <p:nvPr/>
        </p:nvSpPr>
        <p:spPr>
          <a:xfrm>
            <a:off x="8128000" y="1651000"/>
            <a:ext cx="3429000" cy="2667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54000" tIns="177800" anchor="t">
            <a:noAutofit/>
          </a:bodyPr>
          <a:lstStyle/>
          <a:p>
            <a:pPr algn="l">
              <a:spcAft>
                <a:spcPts val="400"/>
              </a:spcAft>
            </a:pPr>
            <a:r>
              <a:rPr sz="1600" b="1">
                <a:solidFill>
                  <a:srgbClr val="12384D"/>
                </a:solidFill>
              </a:rPr>
              <a:t>C3:</a:t>
            </a:r>
            <a:endParaRPr sz="1600" b="1">
              <a:solidFill>
                <a:srgbClr val="12384D"/>
              </a:solidFill>
            </a:endParaRPr>
          </a:p>
          <a:p>
            <a:pPr algn="l">
              <a:spcAft>
                <a:spcPts val="400"/>
              </a:spcAft>
            </a:pPr>
            <a:r>
              <a:rPr sz="1600" b="1">
                <a:solidFill>
                  <a:srgbClr val="12384D"/>
                </a:solidFill>
              </a:rPr>
              <a:t>C4:</a:t>
            </a:r>
            <a:endParaRPr sz="1600" b="1">
              <a:solidFill>
                <a:srgbClr val="12384D"/>
              </a:solidFill>
            </a:endParaRPr>
          </a:p>
          <a:p>
            <a:pPr algn="l">
              <a:spcAft>
                <a:spcPts val="400"/>
              </a:spcAft>
            </a:pPr>
            <a:r>
              <a:rPr sz="1600" b="1">
                <a:solidFill>
                  <a:srgbClr val="12384D"/>
                </a:solidFill>
              </a:rPr>
              <a:t>C5:</a:t>
            </a:r>
            <a:endParaRPr sz="1600" b="1">
              <a:solidFill>
                <a:srgbClr val="12384D"/>
              </a:solidFill>
            </a:endParaRPr>
          </a:p>
          <a:p>
            <a:pPr algn="l">
              <a:spcAft>
                <a:spcPts val="400"/>
              </a:spcAft>
            </a:pPr>
            <a:r>
              <a:rPr sz="1600" b="1">
                <a:solidFill>
                  <a:srgbClr val="12384D"/>
                </a:solidFill>
              </a:rPr>
              <a:t>D1:</a:t>
            </a:r>
            <a:endParaRPr sz="1600" b="1">
              <a:solidFill>
                <a:srgbClr val="12384D"/>
              </a:solidFill>
            </a:endParaRPr>
          </a:p>
          <a:p>
            <a:pPr algn="l">
              <a:spcAft>
                <a:spcPts val="400"/>
              </a:spcAft>
            </a:pPr>
            <a:r>
              <a:rPr sz="1600" b="1">
                <a:solidFill>
                  <a:srgbClr val="12384D"/>
                </a:solidFill>
              </a:rPr>
              <a:t>D2:</a:t>
            </a:r>
            <a:endParaRPr sz="1600" b="1">
              <a:solidFill>
                <a:srgbClr val="12384D"/>
              </a:solidFill>
            </a:endParaRPr>
          </a:p>
          <a:p>
            <a:pPr algn="l">
              <a:spcAft>
                <a:spcPts val="400"/>
              </a:spcAft>
            </a:pPr>
            <a:r>
              <a:rPr sz="1600" b="1">
                <a:solidFill>
                  <a:srgbClr val="12384D"/>
                </a:solidFill>
              </a:rPr>
              <a:t>D3:</a:t>
            </a:r>
            <a:endParaRPr sz="1600" b="1">
              <a:solidFill>
                <a:srgbClr val="12384D"/>
              </a:solidFill>
            </a:endParaRPr>
          </a:p>
          <a:p>
            <a:pPr algn="l">
              <a:spcAft>
                <a:spcPts val="400"/>
              </a:spcAft>
            </a:pPr>
            <a:r>
              <a:rPr sz="1600" b="1">
                <a:solidFill>
                  <a:srgbClr val="12384D"/>
                </a:solidFill>
              </a:rPr>
              <a:t>D4:</a:t>
            </a:r>
            <a:endParaRPr sz="1600" b="1">
              <a:solidFill>
                <a:srgbClr val="12384D"/>
              </a:solidFill>
            </a:endParaRPr>
          </a:p>
        </p:txBody>
      </p:sp>
      <p:sp>
        <p:nvSpPr>
          <p:cNvPr id="1047" name="Rectangle 7"/>
          <p:cNvSpPr/>
          <p:nvPr/>
        </p:nvSpPr>
        <p:spPr>
          <a:xfrm>
            <a:off x="762000" y="4699000"/>
            <a:ext cx="10795000" cy="635000"/>
          </a:xfrm>
          <a:prstGeom prst="roundRect">
            <a:avLst/>
          </a:prstGeom>
          <a:solidFill>
            <a:srgbClr val="E4EE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558800" rIns="177800" anchor="ctr">
            <a:noAutofit/>
          </a:bodyPr>
          <a:lstStyle/>
          <a:p>
            <a:pPr algn="l"/>
            <a:r>
              <a:rPr sz="1300" b="0">
                <a:solidFill>
                  <a:srgbClr val="12384D"/>
                </a:solidFill>
              </a:rPr>
              <a:t>"DBGI Portal Answer Form" (Word) has a drop-down for each question. Save it and send it back.</a:t>
            </a:r>
            <a:endParaRPr sz="1300" b="0">
              <a:solidFill>
                <a:srgbClr val="12384D"/>
              </a:solidFill>
            </a:endParaRPr>
          </a:p>
        </p:txBody>
      </p:sp>
      <p:sp>
        <p:nvSpPr>
          <p:cNvPr id="1048" name="Document"/>
          <p:cNvSpPr/>
          <p:nvPr/>
        </p:nvSpPr>
        <p:spPr>
          <a:xfrm>
            <a:off x="914400" y="4876800"/>
            <a:ext cx="279400" cy="279400"/>
          </a:xfrm>
          <a:custGeom>
            <a:avLst/>
            <a:gdLst/>
            <a:ahLst/>
            <a:cxnLst/>
            <a:rect l="l" t="t" r="r" b="b"/>
            <a:pathLst>
              <a:path w="100000" h="100000" fill="none">
                <a:moveTo>
                  <a:pt x="25000" y="91667"/>
                </a:moveTo>
                <a:cubicBezTo>
                  <a:pt x="20398" y="91667"/>
                  <a:pt x="16667" y="87936"/>
                  <a:pt x="16667" y="83333"/>
                </a:cubicBezTo>
                <a:lnTo>
                  <a:pt x="16667" y="16667"/>
                </a:lnTo>
                <a:cubicBezTo>
                  <a:pt x="16667" y="12064"/>
                  <a:pt x="20398" y="8333"/>
                  <a:pt x="25000" y="8333"/>
                </a:cubicBezTo>
                <a:lnTo>
                  <a:pt x="58333" y="8333"/>
                </a:lnTo>
                <a:cubicBezTo>
                  <a:pt x="60998" y="8329"/>
                  <a:pt x="63553" y="9388"/>
                  <a:pt x="65433" y="11275"/>
                </a:cubicBezTo>
                <a:lnTo>
                  <a:pt x="80383" y="26225"/>
                </a:lnTo>
                <a:cubicBezTo>
                  <a:pt x="82275" y="28106"/>
                  <a:pt x="83338" y="30665"/>
                  <a:pt x="83333" y="33333"/>
                </a:cubicBezTo>
                <a:lnTo>
                  <a:pt x="83333" y="83333"/>
                </a:lnTo>
                <a:cubicBezTo>
                  <a:pt x="83333" y="87936"/>
                  <a:pt x="79603" y="91667"/>
                  <a:pt x="75000" y="91667"/>
                </a:cubicBezTo>
                <a:close/>
                <a:moveTo>
                  <a:pt x="58333" y="8333"/>
                </a:moveTo>
                <a:lnTo>
                  <a:pt x="58333" y="29167"/>
                </a:lnTo>
                <a:cubicBezTo>
                  <a:pt x="58333" y="31468"/>
                  <a:pt x="60199" y="33333"/>
                  <a:pt x="62500" y="33333"/>
                </a:cubicBezTo>
                <a:lnTo>
                  <a:pt x="83333" y="33333"/>
                </a:lnTo>
                <a:moveTo>
                  <a:pt x="41667" y="37500"/>
                </a:moveTo>
                <a:lnTo>
                  <a:pt x="33333" y="37500"/>
                </a:lnTo>
                <a:moveTo>
                  <a:pt x="66667" y="54167"/>
                </a:moveTo>
                <a:lnTo>
                  <a:pt x="33333" y="54167"/>
                </a:lnTo>
                <a:moveTo>
                  <a:pt x="66667" y="70833"/>
                </a:moveTo>
                <a:lnTo>
                  <a:pt x="33333" y="70833"/>
                </a:lnTo>
              </a:path>
            </a:pathLst>
          </a:custGeom>
          <a:noFill/>
          <a:ln w="23283" cap="rnd">
            <a:solidFill>
              <a:srgbClr val="12384D"/>
            </a:solidFill>
            <a:round/>
          </a:ln>
        </p:spPr>
        <p:style>
          <a:lnRef idx="1">
            <a:schemeClr val="tx1"/>
          </a:lnRef>
          <a:fillRef idx="0">
            <a:schemeClr val="tx1"/>
          </a:fillRef>
          <a:effectRef idx="0">
            <a:schemeClr val="tx1"/>
          </a:effectRef>
          <a:fontRef idx="minor">
            <a:schemeClr val="tx1"/>
          </a:fontRef>
        </p:style>
      </p:sp>
      <p:sp>
        <p:nvSpPr>
          <p:cNvPr id="1183" name="Slide Number Placeholder"/>
          <p:cNvSpPr>
            <a:spLocks noGrp="1"/>
          </p:cNvSpPr>
          <p:nvPr>
            <p:ph type="sldNum" idx="12"/>
          </p:nvPr>
        </p:nvSpPr>
        <p:spPr/>
        <p:txBody>
          <a:bodyPr/>
          <a:lstStyle/>
          <a:p>
            <a:fld id="{F2F0115D-A7D6-4DB5-87C7-9EEC19D432D0}" type="slidenum">
              <a:rPr/>
              <a:t>‹#›</a:t>
            </a:fld>
          </a:p>
        </p:txBody>
      </p:sp>
    </p:spTree>
  </p:cSld>
  <p:clrMapOvr>
    <a:masterClrMapping/>
  </p:clrMapOvr>
</p:sld>
</file>

<file path=ppt/theme/theme1.xml><?xml version="1.0" encoding="utf-8"?>
<a:theme xmlns:a="http://schemas.openxmlformats.org/drawingml/2006/main" xmlns:r="http://schemas.openxmlformats.org/officeDocument/2006/relationships" name="Harbor">
  <a:themeElements>
    <a:clrScheme name="Harbor">
      <a:dk1>
        <a:srgbClr val="0B1F2A"/>
      </a:dk1>
      <a:lt1>
        <a:srgbClr val="FFFFFF"/>
      </a:lt1>
      <a:dk2>
        <a:srgbClr val="12384D"/>
      </a:dk2>
      <a:lt2>
        <a:srgbClr val="E4EEF2"/>
      </a:lt2>
      <a:accent1>
        <a:srgbClr val="1B7FA6"/>
      </a:accent1>
      <a:accent2>
        <a:srgbClr val="36B3A8"/>
      </a:accent2>
      <a:accent3>
        <a:srgbClr val="F2C14E"/>
      </a:accent3>
      <a:accent4>
        <a:srgbClr val="F78154"/>
      </a:accent4>
      <a:accent5>
        <a:srgbClr val="5D576B"/>
      </a:accent5>
      <a:accent6>
        <a:srgbClr val="8AA29E"/>
      </a:accent6>
      <a:hlink>
        <a:srgbClr val="1B7FA6"/>
      </a:hlink>
      <a:folHlink>
        <a:srgbClr val="5D576B"/>
      </a:folHlink>
    </a:clrScheme>
    <a:fontScheme name="Harbor">
      <a:majorFont>
        <a:latin typeface="Merriweather"/>
        <a:ea typeface=""/>
        <a:cs typeface=""/>
      </a:majorFont>
      <a:minorFont>
        <a:latin typeface="Open Sans"/>
        <a:ea typeface=""/>
        <a:cs typeface=""/>
      </a:minorFont>
    </a:fontScheme>
    <a:fmtScheme name="DeckCraft">
      <a:fillStyleLst>
        <a:solidFill>
          <a:schemeClr val="phClr"/>
        </a:solidFill>
        <a:gradFill rotWithShape="1">
          <a:gsLst>
            <a:gs pos="0">
              <a:schemeClr val="phClr">
                <a:lumMod val="110000"/>
                <a:satMod val="103000"/>
              </a:schemeClr>
            </a:gs>
            <a:gs pos="100000">
              <a:schemeClr val="phClr">
                <a:lumMod val="92000"/>
              </a:schemeClr>
            </a:gs>
          </a:gsLst>
          <a:lin ang="5400000" scaled="0"/>
        </a:gradFill>
        <a:gradFill rotWithShape="1">
          <a:gsLst>
            <a:gs pos="0">
              <a:schemeClr val="phClr">
                <a:lumMod val="105000"/>
                <a:satMod val="103000"/>
              </a:schemeClr>
            </a:gs>
            <a:gs pos="100000">
              <a:schemeClr val="phClr">
                <a:lumMod val="80000"/>
              </a:schemeClr>
            </a:gs>
          </a:gsLst>
          <a:lin ang="5400000" scaled="0"/>
        </a:gradFill>
      </a:fillStyleLst>
      <a:lnStyleLst>
        <a:ln w="9525">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outerShdw blurRad="76200" dist="38100" dir="5400000" algn="t" rotWithShape="0">
              <a:srgbClr val="000000">
                <a:alpha val="40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03000"/>
              </a:schemeClr>
            </a:gs>
            <a:gs pos="100000">
              <a:schemeClr val="phClr">
                <a:lumMod val="85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DeckCraft</Application>
  <Slides>45</Slides>
  <Notes>0</Notes>
  <HiddenSlides>0</Hidden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Using the DBGI Portal</dc:title>
</cp:coreProperties>
</file>