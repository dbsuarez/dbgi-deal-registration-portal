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12192000" cy="6858000"/>
  <p:notesSz cx="6858000" cy="9144000"/>
  <p:defaultTextStyle>
    <a:lvl1pPr marL="0" algn="l">
      <a:defRPr sz="1800" kern="1200">
        <a:solidFill>
          <a:schemeClr val="tx1"/>
        </a:solidFill>
        <a:latin typeface="+mn-lt"/>
      </a:defRPr>
    </a:lvl1pPr>
    <a:lvl2pPr marL="457200" algn="l">
      <a:defRPr sz="1800" kern="1200">
        <a:solidFill>
          <a:schemeClr val="tx1"/>
        </a:solidFill>
        <a:latin typeface="+mn-lt"/>
      </a:defRPr>
    </a:lvl2pPr>
    <a:lvl3pPr marL="914400" algn="l">
      <a:defRPr sz="1800" kern="1200">
        <a:solidFill>
          <a:schemeClr val="tx1"/>
        </a:solidFill>
        <a:latin typeface="+mn-lt"/>
      </a:defRPr>
    </a:lvl3pPr>
    <a:lvl4pPr marL="1371600" algn="l">
      <a:defRPr sz="1800" kern="1200">
        <a:solidFill>
          <a:schemeClr val="tx1"/>
        </a:solidFill>
        <a:latin typeface="+mn-lt"/>
      </a:defRPr>
    </a:lvl4pPr>
    <a:lvl5pPr marL="1828800" algn="l">
      <a:defRPr sz="1800" kern="1200">
        <a:solidFill>
          <a:schemeClr val="tx1"/>
        </a:solidFill>
        <a:latin typeface="+mn-lt"/>
      </a:defRPr>
    </a:lvl5pPr>
    <a:lvl6pPr marL="2286000" algn="l">
      <a:defRPr sz="1800" kern="1200">
        <a:solidFill>
          <a:schemeClr val="tx1"/>
        </a:solidFill>
        <a:latin typeface="+mn-lt"/>
      </a:defRPr>
    </a:lvl6pPr>
    <a:lvl7pPr marL="2743200" algn="l">
      <a:defRPr sz="1800" kern="1200">
        <a:solidFill>
          <a:schemeClr val="tx1"/>
        </a:solidFill>
        <a:latin typeface="+mn-lt"/>
      </a:defRPr>
    </a:lvl7pPr>
    <a:lvl8pPr marL="3200400" algn="l">
      <a:defRPr sz="1800" kern="1200">
        <a:solidFill>
          <a:schemeClr val="tx1"/>
        </a:solidFill>
        <a:latin typeface="+mn-lt"/>
      </a:defRPr>
    </a:lvl8pPr>
    <a:lvl9pPr marL="3657600" algn="l">
      <a:defRPr sz="1800" kern="1200">
        <a:solidFill>
          <a:schemeClr val="tx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theme" Target="theme/theme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1524000" y="1117600"/>
            <a:ext cx="9144000" cy="2387600"/>
          </a:xfrm>
          <a:prstGeom prst="rect">
            <a:avLst/>
          </a:prstGeom>
        </p:spPr>
        <p:txBody>
          <a:bodyPr anchor="b">
            <a:normAutofit fontScale="100000"/>
          </a:bodyPr>
          <a:lstStyle>
            <a:lvl1pPr algn="ctr">
              <a:defRPr sz="6000"/>
            </a:lvl1pPr>
          </a:lstStyle>
          <a:p/>
        </p:txBody>
      </p:sp>
      <p:sp>
        <p:nvSpPr>
          <p:cNvPr id="8" name="Subtitle 2"/>
          <p:cNvSpPr>
            <a:spLocks noGrp="1"/>
          </p:cNvSpPr>
          <p:nvPr>
            <p:ph type="subTitle" idx="1"/>
          </p:nvPr>
        </p:nvSpPr>
        <p:spPr>
          <a:xfrm>
            <a:off x="1524000" y="3606800"/>
            <a:ext cx="9144000" cy="1651000"/>
          </a:xfrm>
          <a:prstGeom prst="rect">
            <a:avLst/>
          </a:prstGeom>
        </p:spPr>
        <p:txBody>
          <a:bodyPr anchor="t">
            <a:normAutofit fontScale="100000"/>
          </a:bodyPr>
          <a:lstStyle>
            <a:lvl1pPr marL="0" indent="0" algn="ctr">
              <a:buNone/>
              <a:defRPr sz="2400"/>
            </a:lvl1pPr>
          </a:lstStyle>
          <a:p/>
        </p:txBody>
      </p:sp>
      <p:sp>
        <p:nvSpPr>
          <p:cNvPr id="9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10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11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DC6D5D-A00E-4AA9-84F2-364CBECE0EEA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 fontScale="100000"/>
          </a:bodyPr>
          <a:lstStyle/>
          <a:p/>
        </p:txBody>
      </p: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/>
        </p:txBody>
      </p:sp>
      <p:sp>
        <p:nvSpPr>
          <p:cNvPr id="15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16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17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CD0F9E-EF7E-4C26-8662-25A73F2263DD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title"/>
          </p:nvPr>
        </p:nvSpPr>
        <p:spPr>
          <a:xfrm>
            <a:off x="825500" y="1714500"/>
            <a:ext cx="10541000" cy="2857500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/>
        </p:txBody>
      </p:sp>
      <p:sp>
        <p:nvSpPr>
          <p:cNvPr id="20" name="Text Placeholder 2"/>
          <p:cNvSpPr>
            <a:spLocks noGrp="1"/>
          </p:cNvSpPr>
          <p:nvPr>
            <p:ph type="body" idx="1"/>
          </p:nvPr>
        </p:nvSpPr>
        <p:spPr>
          <a:xfrm>
            <a:off x="825500" y="4597400"/>
            <a:ext cx="10541000" cy="1498600"/>
          </a:xfrm>
          <a:prstGeom prst="rect">
            <a:avLst/>
          </a:prstGeom>
        </p:spPr>
        <p:txBody>
          <a:bodyPr anchor="t">
            <a:normAutofit fontScale="100000"/>
          </a:bodyPr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</a:lstStyle>
          <a:p/>
        </p:txBody>
      </p:sp>
      <p:sp>
        <p:nvSpPr>
          <p:cNvPr id="21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22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23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C18080-B33E-4073-8615-72D8F5AE8F78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 fontScale="100000"/>
          </a:bodyPr>
          <a:lstStyle/>
          <a:p/>
        </p:txBody>
      </p:sp>
      <p:sp>
        <p:nvSpPr>
          <p:cNvPr id="26" name="Content Placeholder 2"/>
          <p:cNvSpPr>
            <a:spLocks noGrp="1"/>
          </p:cNvSpPr>
          <p:nvPr>
            <p:ph idx="1"/>
          </p:nvPr>
        </p:nvSpPr>
        <p:spPr>
          <a:xfrm>
            <a:off x="762000" y="1828800"/>
            <a:ext cx="5232400" cy="43561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/>
        </p:txBody>
      </p:sp>
      <p:sp>
        <p:nvSpPr>
          <p:cNvPr id="27" name="Content Placeholder 3"/>
          <p:cNvSpPr>
            <a:spLocks noGrp="1"/>
          </p:cNvSpPr>
          <p:nvPr>
            <p:ph idx="2"/>
          </p:nvPr>
        </p:nvSpPr>
        <p:spPr>
          <a:xfrm>
            <a:off x="6197600" y="1828800"/>
            <a:ext cx="5232400" cy="43561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/>
        </p:txBody>
      </p:sp>
      <p:sp>
        <p:nvSpPr>
          <p:cNvPr id="28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29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0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CB9569-04AF-4288-8880-64CE52ABE7A3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 fontScale="100000"/>
          </a:bodyPr>
          <a:lstStyle/>
          <a:p/>
        </p:txBody>
      </p:sp>
      <p:sp>
        <p:nvSpPr>
          <p:cNvPr id="33" name="Text Placeholder 2"/>
          <p:cNvSpPr>
            <a:spLocks noGrp="1"/>
          </p:cNvSpPr>
          <p:nvPr>
            <p:ph type="body" idx="1"/>
          </p:nvPr>
        </p:nvSpPr>
        <p:spPr>
          <a:xfrm>
            <a:off x="762000" y="1689100"/>
            <a:ext cx="5232400" cy="78740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</a:lstStyle>
          <a:p/>
        </p:txBody>
      </p:sp>
      <p:sp>
        <p:nvSpPr>
          <p:cNvPr id="34" name="Content Placeholder 3"/>
          <p:cNvSpPr>
            <a:spLocks noGrp="1"/>
          </p:cNvSpPr>
          <p:nvPr>
            <p:ph idx="2"/>
          </p:nvPr>
        </p:nvSpPr>
        <p:spPr>
          <a:xfrm>
            <a:off x="762000" y="2514600"/>
            <a:ext cx="5232400" cy="36703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/>
        </p:txBody>
      </p:sp>
      <p:sp>
        <p:nvSpPr>
          <p:cNvPr id="35" name="Text Placeholder 4"/>
          <p:cNvSpPr>
            <a:spLocks noGrp="1"/>
          </p:cNvSpPr>
          <p:nvPr>
            <p:ph type="body" idx="3"/>
          </p:nvPr>
        </p:nvSpPr>
        <p:spPr>
          <a:xfrm>
            <a:off x="6197600" y="1689100"/>
            <a:ext cx="5232400" cy="78740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</a:lstStyle>
          <a:p/>
        </p:txBody>
      </p:sp>
      <p:sp>
        <p:nvSpPr>
          <p:cNvPr id="36" name="Content Placeholder 5"/>
          <p:cNvSpPr>
            <a:spLocks noGrp="1"/>
          </p:cNvSpPr>
          <p:nvPr>
            <p:ph idx="4"/>
          </p:nvPr>
        </p:nvSpPr>
        <p:spPr>
          <a:xfrm>
            <a:off x="6197600" y="2514600"/>
            <a:ext cx="5232400" cy="36703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/>
        </p:txBody>
      </p:sp>
      <p:sp>
        <p:nvSpPr>
          <p:cNvPr id="37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8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9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533E07-937E-4FED-8300-891295843456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 fontScale="100000"/>
          </a:bodyPr>
          <a:lstStyle/>
          <a:p/>
        </p:txBody>
      </p:sp>
      <p:sp>
        <p:nvSpPr>
          <p:cNvPr id="42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3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4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28B55B-FA15-48BA-860D-0231187503D9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7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8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E0EBC0-ADA9-4FA7-889C-9287646BC794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itle 1"/>
          <p:cNvSpPr>
            <a:spLocks noGrp="1"/>
          </p:cNvSpPr>
          <p:nvPr>
            <p:ph type="title"/>
          </p:nvPr>
        </p:nvSpPr>
        <p:spPr>
          <a:xfrm>
            <a:off x="762000" y="457200"/>
            <a:ext cx="408940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/>
        </p:txBody>
      </p:sp>
      <p:sp>
        <p:nvSpPr>
          <p:cNvPr id="51" name="Content Placeholder 2"/>
          <p:cNvSpPr>
            <a:spLocks noGrp="1"/>
          </p:cNvSpPr>
          <p:nvPr>
            <p:ph idx="1"/>
          </p:nvPr>
        </p:nvSpPr>
        <p:spPr>
          <a:xfrm>
            <a:off x="5232400" y="990600"/>
            <a:ext cx="6197600" cy="48768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/>
        </p:txBody>
      </p:sp>
      <p:sp>
        <p:nvSpPr>
          <p:cNvPr id="52" name="Text Placeholder 3"/>
          <p:cNvSpPr>
            <a:spLocks noGrp="1"/>
          </p:cNvSpPr>
          <p:nvPr>
            <p:ph type="body" idx="2"/>
          </p:nvPr>
        </p:nvSpPr>
        <p:spPr>
          <a:xfrm>
            <a:off x="762000" y="2057400"/>
            <a:ext cx="4089400" cy="3810000"/>
          </a:xfrm>
          <a:prstGeom prst="rect">
            <a:avLst/>
          </a:prstGeom>
        </p:spPr>
        <p:txBody>
          <a:bodyPr anchor="t">
            <a:normAutofit fontScale="100000"/>
          </a:bodyPr>
          <a:lstStyle>
            <a:lvl1pPr marL="0" indent="0">
              <a:buNone/>
              <a:defRPr sz="1600"/>
            </a:lvl1pPr>
          </a:lstStyle>
          <a:p/>
        </p:txBody>
      </p:sp>
      <p:sp>
        <p:nvSpPr>
          <p:cNvPr id="53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4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5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A25AB8-FB3A-479C-8780-0B7E5F586C0F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1"/>
          <p:cNvSpPr>
            <a:spLocks noGrp="1"/>
          </p:cNvSpPr>
          <p:nvPr>
            <p:ph type="title"/>
          </p:nvPr>
        </p:nvSpPr>
        <p:spPr>
          <a:xfrm>
            <a:off x="762000" y="457200"/>
            <a:ext cx="408940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/>
        </p:txBody>
      </p:sp>
      <p:sp>
        <p:nvSpPr>
          <p:cNvPr id="58" name="Picture Placeholder 2"/>
          <p:cNvSpPr>
            <a:spLocks noGrp="1"/>
          </p:cNvSpPr>
          <p:nvPr>
            <p:ph type="pic" idx="1"/>
          </p:nvPr>
        </p:nvSpPr>
        <p:spPr>
          <a:xfrm>
            <a:off x="5232400" y="990600"/>
            <a:ext cx="6197600" cy="48768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59" name="Text Placeholder 3"/>
          <p:cNvSpPr>
            <a:spLocks noGrp="1"/>
          </p:cNvSpPr>
          <p:nvPr>
            <p:ph type="body" idx="2"/>
          </p:nvPr>
        </p:nvSpPr>
        <p:spPr>
          <a:xfrm>
            <a:off x="762000" y="2057400"/>
            <a:ext cx="4089400" cy="3810000"/>
          </a:xfrm>
          <a:prstGeom prst="rect">
            <a:avLst/>
          </a:prstGeom>
        </p:spPr>
        <p:txBody>
          <a:bodyPr anchor="t">
            <a:normAutofit fontScale="100000"/>
          </a:bodyPr>
          <a:lstStyle>
            <a:lvl1pPr marL="0" indent="0">
              <a:buNone/>
              <a:defRPr sz="1600"/>
            </a:lvl1pPr>
          </a:lstStyle>
          <a:p/>
        </p:txBody>
      </p:sp>
      <p:sp>
        <p:nvSpPr>
          <p:cNvPr id="60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1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2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EFC29A-6C4F-4141-86E3-1A3E2D58E3A2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 fontScale="100000"/>
          </a:bodyPr>
          <a:lstStyle/>
          <a:p/>
        </p:txBody>
      </p:sp>
      <p:sp>
        <p:nvSpPr>
          <p:cNvPr id="65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vert="eaVert" anchor="t">
            <a:normAutofit fontScale="100000"/>
          </a:bodyPr>
          <a:lstStyle/>
          <a:p/>
        </p:txBody>
      </p:sp>
      <p:sp>
        <p:nvSpPr>
          <p:cNvPr id="66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7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8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19C649-D3E0-46CB-87C1-67136E4226A6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8300"/>
            <a:ext cx="2705100" cy="5816600"/>
          </a:xfrm>
          <a:prstGeom prst="rect">
            <a:avLst/>
          </a:prstGeom>
        </p:spPr>
        <p:txBody>
          <a:bodyPr vert="eaVert"/>
          <a:lstStyle/>
          <a:p/>
        </p:txBody>
      </p:sp>
      <p:sp>
        <p:nvSpPr>
          <p:cNvPr id="71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68300"/>
            <a:ext cx="7772400" cy="5816600"/>
          </a:xfrm>
          <a:prstGeom prst="rect">
            <a:avLst/>
          </a:prstGeom>
        </p:spPr>
        <p:txBody>
          <a:bodyPr vert="eaVert" anchor="t">
            <a:normAutofit fontScale="100000"/>
          </a:bodyPr>
          <a:lstStyle/>
          <a:p/>
        </p:txBody>
      </p:sp>
      <p:sp>
        <p:nvSpPr>
          <p:cNvPr id="72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73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74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EBE78A-EB3E-401E-81B5-D7F53201DAF3}" type="slidenum">
              <a:rPr/>
              <a:t>‹#›</a:t>
            </a:fld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Harbo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 fontScale="100000"/>
          </a:bodyPr>
          <a:lstStyle/>
          <a:p>
            <a:r>
              <a:rPr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>
            <a:r>
              <a:rPr/>
              <a:t>Click to edit Master text styles</a:t>
            </a:r>
          </a:p>
        </p:txBody>
      </p:sp>
      <p:sp>
        <p:nvSpPr>
          <p:cNvPr id="4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3D6AB1-0FDA-49F1-8390-8828CE9E6676}" type="slidenum">
              <a:rPr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>
        <a:lnSpc>
          <a:spcPct val="90000"/>
        </a:lnSpc>
        <a:spcBef>
          <a:spcPts val="0"/>
        </a:spcBef>
        <a:buNone/>
        <a:defRPr sz="4400" kern="1200">
          <a:solidFill>
            <a:schemeClr val="tx1"/>
          </a:solidFill>
          <a:latin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</a:defRPr>
      </a:lvl1pPr>
      <a:lvl2pPr marL="685800" indent="-228600" algn="l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</a:defRPr>
      </a:lvl2pPr>
      <a:lvl3pPr marL="1143000" indent="-228600" algn="l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</a:defRPr>
      </a:lvl3pPr>
      <a:lvl4pPr marL="16002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4pPr>
      <a:lvl5pPr marL="20574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5pPr>
      <a:lvl6pPr marL="25146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6pPr>
      <a:lvl7pPr marL="29718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7pPr>
      <a:lvl8pPr marL="34290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8pPr>
      <a:lvl9pPr marL="38862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9pPr>
    </p:bodyStyle>
    <p:otherStyle>
      <a:lvl1pPr marL="0" algn="l">
        <a:defRPr sz="1800" kern="1200">
          <a:solidFill>
            <a:schemeClr val="tx1"/>
          </a:solidFill>
          <a:latin typeface="+mn-lt"/>
        </a:defRPr>
      </a:lvl1pPr>
      <a:lvl2pPr marL="457200" algn="l">
        <a:defRPr sz="1800" kern="1200">
          <a:solidFill>
            <a:schemeClr val="tx1"/>
          </a:solidFill>
          <a:latin typeface="+mn-lt"/>
        </a:defRPr>
      </a:lvl2pPr>
      <a:lvl3pPr marL="914400" algn="l">
        <a:defRPr sz="1800" kern="1200">
          <a:solidFill>
            <a:schemeClr val="tx1"/>
          </a:solidFill>
          <a:latin typeface="+mn-lt"/>
        </a:defRPr>
      </a:lvl3pPr>
      <a:lvl4pPr marL="1371600" algn="l">
        <a:defRPr sz="1800" kern="1200">
          <a:solidFill>
            <a:schemeClr val="tx1"/>
          </a:solidFill>
          <a:latin typeface="+mn-lt"/>
        </a:defRPr>
      </a:lvl4pPr>
      <a:lvl5pPr marL="1828800" algn="l">
        <a:defRPr sz="1800" kern="1200">
          <a:solidFill>
            <a:schemeClr val="tx1"/>
          </a:solidFill>
          <a:latin typeface="+mn-lt"/>
        </a:defRPr>
      </a:lvl5pPr>
      <a:lvl6pPr marL="2286000" algn="l">
        <a:defRPr sz="1800" kern="1200">
          <a:solidFill>
            <a:schemeClr val="tx1"/>
          </a:solidFill>
          <a:latin typeface="+mn-lt"/>
        </a:defRPr>
      </a:lvl6pPr>
      <a:lvl7pPr marL="2743200" algn="l">
        <a:defRPr sz="1800" kern="1200">
          <a:solidFill>
            <a:schemeClr val="tx1"/>
          </a:solidFill>
          <a:latin typeface="+mn-lt"/>
        </a:defRPr>
      </a:lvl7pPr>
      <a:lvl8pPr marL="3200400" algn="l">
        <a:defRPr sz="1800" kern="1200">
          <a:solidFill>
            <a:schemeClr val="tx1"/>
          </a:solidFill>
          <a:latin typeface="+mn-lt"/>
        </a:defRPr>
      </a:lvl8pPr>
      <a:lvl9pPr marL="3657600" algn="l">
        <a:defRPr sz="1800" kern="1200">
          <a:solidFill>
            <a:schemeClr val="tx1"/>
          </a:solidFill>
          <a:latin typeface="+mn-lt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384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Rectangle 1"/>
          <p:cNvSpPr/>
          <p:nvPr/>
        </p:nvSpPr>
        <p:spPr>
          <a:xfrm>
            <a:off x="762000" y="1778000"/>
            <a:ext cx="889000" cy="101600"/>
          </a:xfrm>
          <a:prstGeom prst="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261" name="Rectangle 2"/>
          <p:cNvSpPr/>
          <p:nvPr/>
        </p:nvSpPr>
        <p:spPr>
          <a:xfrm>
            <a:off x="711200" y="2032000"/>
            <a:ext cx="10922000" cy="1397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Using the DBGI Project Registration Portal</a:t>
            </a:r>
            <a:endParaRPr sz="4000" b="1">
              <a:solidFill>
                <a:srgbClr val="FFFFFF"/>
              </a:solidFill>
            </a:endParaRPr>
          </a:p>
        </p:txBody>
      </p:sp>
      <p:sp>
        <p:nvSpPr>
          <p:cNvPr id="262" name="Rectangle 3"/>
          <p:cNvSpPr/>
          <p:nvPr/>
        </p:nvSpPr>
        <p:spPr>
          <a:xfrm>
            <a:off x="736600" y="3454400"/>
            <a:ext cx="10668000" cy="50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100" b="0">
                <a:solidFill>
                  <a:srgbClr val="B9D4E0"/>
                </a:solidFill>
              </a:rPr>
              <a:t>One deal, from registration to approved price, with real screens</a:t>
            </a:r>
            <a:endParaRPr sz="2100" b="0">
              <a:solidFill>
                <a:srgbClr val="B9D4E0"/>
              </a:solidFill>
            </a:endParaRPr>
          </a:p>
        </p:txBody>
      </p:sp>
      <p:sp>
        <p:nvSpPr>
          <p:cNvPr id="263" name="Rectangle 4"/>
          <p:cNvSpPr/>
          <p:nvPr/>
        </p:nvSpPr>
        <p:spPr>
          <a:xfrm>
            <a:off x="736600" y="5588000"/>
            <a:ext cx="10668000" cy="381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8FB3C4"/>
                </a:solidFill>
              </a:rPr>
              <a:t>Walkthrough for company users and DBGI administrators, then questions for DBGI  |  2026-10-28</a:t>
            </a:r>
            <a:endParaRPr sz="1400" b="0">
              <a:solidFill>
                <a:srgbClr val="8FB3C4"/>
              </a:solidFill>
            </a:endParaRPr>
          </a:p>
        </p:txBody>
      </p:sp>
      <p:sp>
        <p:nvSpPr>
          <p:cNvPr id="1028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D4E0D67-8901-4D8D-881D-3D861B2E5AE2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266" name="Rectangle 2"/>
          <p:cNvSpPr/>
          <p:nvPr/>
        </p:nvSpPr>
        <p:spPr>
          <a:xfrm>
            <a:off x="711200" y="533400"/>
            <a:ext cx="10795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600" b="1">
                <a:solidFill>
                  <a:srgbClr val="12384D"/>
                </a:solidFill>
              </a:rPr>
              <a:t>Two kinds of users</a:t>
            </a:r>
            <a:endParaRPr sz="2600" b="1">
              <a:solidFill>
                <a:srgbClr val="12384D"/>
              </a:solidFill>
            </a:endParaRPr>
          </a:p>
        </p:txBody>
      </p:sp>
      <p:sp>
        <p:nvSpPr>
          <p:cNvPr id="267" name="Rectangle 3"/>
          <p:cNvSpPr/>
          <p:nvPr/>
        </p:nvSpPr>
        <p:spPr>
          <a:xfrm>
            <a:off x="736600" y="1143000"/>
            <a:ext cx="10795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5B6B7A"/>
                </a:solidFill>
              </a:rPr>
              <a:t>Everyone signs in at the same portal, but sees different screens</a:t>
            </a:r>
            <a:endParaRPr sz="1400" b="0">
              <a:solidFill>
                <a:srgbClr val="5B6B7A"/>
              </a:solidFill>
            </a:endParaRPr>
          </a:p>
        </p:txBody>
      </p:sp>
      <p:sp>
        <p:nvSpPr>
          <p:cNvPr id="268" name="Rectangle 4"/>
          <p:cNvSpPr/>
          <p:nvPr/>
        </p:nvSpPr>
        <p:spPr>
          <a:xfrm>
            <a:off x="762000" y="1714500"/>
            <a:ext cx="5270500" cy="381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269" name="Rectangle 5"/>
          <p:cNvSpPr/>
          <p:nvPr/>
        </p:nvSpPr>
        <p:spPr>
          <a:xfrm>
            <a:off x="762000" y="1714500"/>
            <a:ext cx="5270500" cy="1016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270" name="Oval 6"/>
          <p:cNvSpPr/>
          <p:nvPr/>
        </p:nvSpPr>
        <p:spPr>
          <a:xfrm>
            <a:off x="1066800" y="2095500"/>
            <a:ext cx="711200" cy="7112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271" name="Briefcase"/>
          <p:cNvSpPr/>
          <p:nvPr/>
        </p:nvSpPr>
        <p:spPr>
          <a:xfrm>
            <a:off x="1244600" y="22733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66667" y="83333"/>
                </a:moveTo>
                <a:lnTo>
                  <a:pt x="66667" y="16667"/>
                </a:lnTo>
                <a:cubicBezTo>
                  <a:pt x="66667" y="12064"/>
                  <a:pt x="62936" y="8333"/>
                  <a:pt x="58333" y="8333"/>
                </a:cubicBezTo>
                <a:lnTo>
                  <a:pt x="41667" y="8333"/>
                </a:lnTo>
                <a:cubicBezTo>
                  <a:pt x="37064" y="8333"/>
                  <a:pt x="33333" y="12064"/>
                  <a:pt x="33333" y="16667"/>
                </a:cubicBezTo>
                <a:lnTo>
                  <a:pt x="33333" y="83333"/>
                </a:lnTo>
                <a:moveTo>
                  <a:pt x="16667" y="25000"/>
                </a:moveTo>
                <a:lnTo>
                  <a:pt x="83333" y="25000"/>
                </a:lnTo>
                <a:cubicBezTo>
                  <a:pt x="87936" y="25000"/>
                  <a:pt x="91667" y="28731"/>
                  <a:pt x="91667" y="33333"/>
                </a:cubicBezTo>
                <a:lnTo>
                  <a:pt x="91667" y="75000"/>
                </a:lnTo>
                <a:cubicBezTo>
                  <a:pt x="91667" y="79603"/>
                  <a:pt x="87936" y="83333"/>
                  <a:pt x="83333" y="83333"/>
                </a:cubicBezTo>
                <a:lnTo>
                  <a:pt x="16667" y="83333"/>
                </a:lnTo>
                <a:cubicBezTo>
                  <a:pt x="12064" y="83333"/>
                  <a:pt x="8333" y="79603"/>
                  <a:pt x="8333" y="75000"/>
                </a:cubicBezTo>
                <a:lnTo>
                  <a:pt x="8333" y="33333"/>
                </a:lnTo>
                <a:cubicBezTo>
                  <a:pt x="8333" y="28731"/>
                  <a:pt x="12064" y="25000"/>
                  <a:pt x="16667" y="25000"/>
                </a:cubicBezTo>
                <a:close/>
              </a:path>
            </a:pathLst>
          </a:custGeom>
          <a:noFill/>
          <a:ln w="29633" cap="rnd">
            <a:solidFill>
              <a:srgbClr val="FFFFFF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272" name="Rectangle 8"/>
          <p:cNvSpPr/>
          <p:nvPr/>
        </p:nvSpPr>
        <p:spPr>
          <a:xfrm>
            <a:off x="1981200" y="2184400"/>
            <a:ext cx="3810000" cy="50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Company user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273" name="Rectangle 9"/>
          <p:cNvSpPr/>
          <p:nvPr/>
        </p:nvSpPr>
        <p:spPr>
          <a:xfrm>
            <a:off x="1066800" y="3048000"/>
            <a:ext cx="4699000" cy="1524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500" b="0">
                <a:solidFill>
                  <a:srgbClr val="1E2B3C"/>
                </a:solidFill>
              </a:rPr>
              <a:t>Works for a partner dealer.</a:t>
            </a:r>
            <a:endParaRPr sz="1500" b="0">
              <a:solidFill>
                <a:srgbClr val="1E2B3C"/>
              </a:solidFill>
            </a:endParaRPr>
          </a:p>
          <a:p>
            <a:pPr algn="l"/>
            <a:r>
              <a:rPr sz="1500" b="0">
                <a:solidFill>
                  <a:srgbClr val="1E2B3C"/>
                </a:solidFill>
              </a:rPr>
              <a:t>Registers deals, answers DBGI's questions, and checks decisions and approved prices.</a:t>
            </a:r>
            <a:endParaRPr sz="1500" b="0">
              <a:solidFill>
                <a:srgbClr val="1E2B3C"/>
              </a:solidFill>
            </a:endParaRPr>
          </a:p>
        </p:txBody>
      </p:sp>
      <p:sp>
        <p:nvSpPr>
          <p:cNvPr id="274" name="Rectangle 10"/>
          <p:cNvSpPr/>
          <p:nvPr/>
        </p:nvSpPr>
        <p:spPr>
          <a:xfrm>
            <a:off x="1066800" y="4762500"/>
            <a:ext cx="4660900" cy="508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300" b="1">
                <a:solidFill>
                  <a:srgbClr val="12384D"/>
                </a:solidFill>
              </a:rPr>
              <a:t>Uses: Registrations, Notifications, Rankings, Help</a:t>
            </a:r>
            <a:endParaRPr sz="1300" b="1">
              <a:solidFill>
                <a:srgbClr val="12384D"/>
              </a:solidFill>
            </a:endParaRPr>
          </a:p>
        </p:txBody>
      </p:sp>
      <p:sp>
        <p:nvSpPr>
          <p:cNvPr id="275" name="Rectangle 11"/>
          <p:cNvSpPr/>
          <p:nvPr/>
        </p:nvSpPr>
        <p:spPr>
          <a:xfrm>
            <a:off x="6286500" y="1714500"/>
            <a:ext cx="5270500" cy="381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276" name="Rectangle 12"/>
          <p:cNvSpPr/>
          <p:nvPr/>
        </p:nvSpPr>
        <p:spPr>
          <a:xfrm>
            <a:off x="6286500" y="1714500"/>
            <a:ext cx="5270500" cy="101600"/>
          </a:xfrm>
          <a:prstGeom prst="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277" name="Oval 13"/>
          <p:cNvSpPr/>
          <p:nvPr/>
        </p:nvSpPr>
        <p:spPr>
          <a:xfrm>
            <a:off x="6591300" y="2095500"/>
            <a:ext cx="711200" cy="711200"/>
          </a:xfrm>
          <a:prstGeom prst="ellipse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278" name="Building"/>
          <p:cNvSpPr/>
          <p:nvPr/>
        </p:nvSpPr>
        <p:spPr>
          <a:xfrm>
            <a:off x="6769100" y="22733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50000" y="41667"/>
                </a:moveTo>
                <a:lnTo>
                  <a:pt x="50042" y="41667"/>
                </a:lnTo>
                <a:moveTo>
                  <a:pt x="50000" y="58333"/>
                </a:moveTo>
                <a:lnTo>
                  <a:pt x="50042" y="58333"/>
                </a:lnTo>
                <a:moveTo>
                  <a:pt x="50000" y="25000"/>
                </a:moveTo>
                <a:lnTo>
                  <a:pt x="50042" y="25000"/>
                </a:lnTo>
                <a:moveTo>
                  <a:pt x="66667" y="41667"/>
                </a:moveTo>
                <a:lnTo>
                  <a:pt x="66708" y="41667"/>
                </a:lnTo>
                <a:moveTo>
                  <a:pt x="66667" y="58333"/>
                </a:moveTo>
                <a:lnTo>
                  <a:pt x="66708" y="58333"/>
                </a:lnTo>
                <a:moveTo>
                  <a:pt x="66667" y="25000"/>
                </a:moveTo>
                <a:lnTo>
                  <a:pt x="66708" y="25000"/>
                </a:lnTo>
                <a:moveTo>
                  <a:pt x="33333" y="41667"/>
                </a:moveTo>
                <a:lnTo>
                  <a:pt x="33375" y="41667"/>
                </a:lnTo>
                <a:moveTo>
                  <a:pt x="33333" y="58333"/>
                </a:moveTo>
                <a:lnTo>
                  <a:pt x="33375" y="58333"/>
                </a:lnTo>
                <a:moveTo>
                  <a:pt x="33333" y="25000"/>
                </a:moveTo>
                <a:lnTo>
                  <a:pt x="33375" y="25000"/>
                </a:lnTo>
                <a:moveTo>
                  <a:pt x="37500" y="91667"/>
                </a:moveTo>
                <a:lnTo>
                  <a:pt x="37500" y="79167"/>
                </a:lnTo>
                <a:cubicBezTo>
                  <a:pt x="37500" y="76865"/>
                  <a:pt x="39365" y="75000"/>
                  <a:pt x="41667" y="75000"/>
                </a:cubicBezTo>
                <a:lnTo>
                  <a:pt x="58333" y="75000"/>
                </a:lnTo>
                <a:cubicBezTo>
                  <a:pt x="60635" y="75000"/>
                  <a:pt x="62500" y="76865"/>
                  <a:pt x="62500" y="79167"/>
                </a:cubicBezTo>
                <a:lnTo>
                  <a:pt x="62500" y="91667"/>
                </a:lnTo>
                <a:moveTo>
                  <a:pt x="25000" y="8333"/>
                </a:moveTo>
                <a:lnTo>
                  <a:pt x="75000" y="8333"/>
                </a:lnTo>
                <a:cubicBezTo>
                  <a:pt x="79603" y="8333"/>
                  <a:pt x="83333" y="12064"/>
                  <a:pt x="83333" y="16667"/>
                </a:cubicBezTo>
                <a:lnTo>
                  <a:pt x="83333" y="83333"/>
                </a:lnTo>
                <a:cubicBezTo>
                  <a:pt x="83333" y="87936"/>
                  <a:pt x="79603" y="91667"/>
                  <a:pt x="75000" y="91667"/>
                </a:cubicBezTo>
                <a:lnTo>
                  <a:pt x="25000" y="91667"/>
                </a:lnTo>
                <a:cubicBezTo>
                  <a:pt x="20398" y="91667"/>
                  <a:pt x="16667" y="87936"/>
                  <a:pt x="16667" y="83333"/>
                </a:cubicBezTo>
                <a:lnTo>
                  <a:pt x="16667" y="16667"/>
                </a:lnTo>
                <a:cubicBezTo>
                  <a:pt x="16667" y="12064"/>
                  <a:pt x="20398" y="8333"/>
                  <a:pt x="25000" y="8333"/>
                </a:cubicBezTo>
                <a:close/>
              </a:path>
            </a:pathLst>
          </a:custGeom>
          <a:noFill/>
          <a:ln w="29633" cap="rnd">
            <a:solidFill>
              <a:srgbClr val="FFFFFF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279" name="Rectangle 15"/>
          <p:cNvSpPr/>
          <p:nvPr/>
        </p:nvSpPr>
        <p:spPr>
          <a:xfrm>
            <a:off x="7505700" y="2184400"/>
            <a:ext cx="3810000" cy="50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DBGI administrator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280" name="Rectangle 16"/>
          <p:cNvSpPr/>
          <p:nvPr/>
        </p:nvSpPr>
        <p:spPr>
          <a:xfrm>
            <a:off x="6591300" y="3048000"/>
            <a:ext cx="4699000" cy="1524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500" b="0">
                <a:solidFill>
                  <a:srgbClr val="1E2B3C"/>
                </a:solidFill>
              </a:rPr>
              <a:t>Works for DBGI.</a:t>
            </a:r>
            <a:endParaRPr sz="1500" b="0">
              <a:solidFill>
                <a:srgbClr val="1E2B3C"/>
              </a:solidFill>
            </a:endParaRPr>
          </a:p>
          <a:p>
            <a:pPr algn="l"/>
            <a:r>
              <a:rPr sz="1500" b="0">
                <a:solidFill>
                  <a:srgbClr val="1E2B3C"/>
                </a:solidFill>
              </a:rPr>
              <a:t>Reviews every registration, decides matches and prices, and keeps master data clean.</a:t>
            </a:r>
            <a:endParaRPr sz="1500" b="0">
              <a:solidFill>
                <a:srgbClr val="1E2B3C"/>
              </a:solidFill>
            </a:endParaRPr>
          </a:p>
        </p:txBody>
      </p:sp>
      <p:sp>
        <p:nvSpPr>
          <p:cNvPr id="281" name="Rectangle 17"/>
          <p:cNvSpPr/>
          <p:nvPr/>
        </p:nvSpPr>
        <p:spPr>
          <a:xfrm>
            <a:off x="6591300" y="4762500"/>
            <a:ext cx="4660900" cy="508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300" b="1">
                <a:solidFill>
                  <a:srgbClr val="12384D"/>
                </a:solidFill>
              </a:rPr>
              <a:t>Uses: Registration pages and the Administration area</a:t>
            </a:r>
            <a:endParaRPr sz="1300" b="1">
              <a:solidFill>
                <a:srgbClr val="12384D"/>
              </a:solidFill>
            </a:endParaRPr>
          </a:p>
        </p:txBody>
      </p:sp>
      <p:sp>
        <p:nvSpPr>
          <p:cNvPr id="282" name="Rectangle 18"/>
          <p:cNvSpPr/>
          <p:nvPr/>
        </p:nvSpPr>
        <p:spPr>
          <a:xfrm>
            <a:off x="762000" y="5778500"/>
            <a:ext cx="10795000" cy="5842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58800" rIns="177800" anchor="ctr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Every slide that follows shows a chip in the top-right corner saying who does that step.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283" name="Info"/>
          <p:cNvSpPr/>
          <p:nvPr/>
        </p:nvSpPr>
        <p:spPr>
          <a:xfrm>
            <a:off x="914400" y="59309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8333" y="50000"/>
                </a:moveTo>
                <a:cubicBezTo>
                  <a:pt x="8333" y="26988"/>
                  <a:pt x="26988" y="8333"/>
                  <a:pt x="50000" y="8333"/>
                </a:cubicBezTo>
                <a:cubicBezTo>
                  <a:pt x="73012" y="8333"/>
                  <a:pt x="91667" y="26988"/>
                  <a:pt x="91667" y="50000"/>
                </a:cubicBezTo>
                <a:cubicBezTo>
                  <a:pt x="91667" y="73012"/>
                  <a:pt x="73012" y="91667"/>
                  <a:pt x="50000" y="91667"/>
                </a:cubicBezTo>
                <a:cubicBezTo>
                  <a:pt x="26988" y="91667"/>
                  <a:pt x="8333" y="73012"/>
                  <a:pt x="8333" y="50000"/>
                </a:cubicBezTo>
                <a:close/>
                <a:moveTo>
                  <a:pt x="50000" y="66667"/>
                </a:moveTo>
                <a:lnTo>
                  <a:pt x="50000" y="50000"/>
                </a:lnTo>
                <a:moveTo>
                  <a:pt x="50000" y="33333"/>
                </a:moveTo>
                <a:lnTo>
                  <a:pt x="50042" y="33333"/>
                </a:lnTo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1031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266782-2A85-475A-865E-BAD95958CDD5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286" name="Rectangle 2"/>
          <p:cNvSpPr/>
          <p:nvPr/>
        </p:nvSpPr>
        <p:spPr>
          <a:xfrm>
            <a:off x="711200" y="533400"/>
            <a:ext cx="10795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600" b="1">
                <a:solidFill>
                  <a:srgbClr val="12384D"/>
                </a:solidFill>
              </a:rPr>
              <a:t>The journey we will follow</a:t>
            </a:r>
            <a:endParaRPr sz="2600" b="1">
              <a:solidFill>
                <a:srgbClr val="12384D"/>
              </a:solidFill>
            </a:endParaRPr>
          </a:p>
        </p:txBody>
      </p:sp>
      <p:sp>
        <p:nvSpPr>
          <p:cNvPr id="287" name="Rectangle 3"/>
          <p:cNvSpPr/>
          <p:nvPr/>
        </p:nvSpPr>
        <p:spPr>
          <a:xfrm>
            <a:off x="736600" y="1143000"/>
            <a:ext cx="10795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5B6B7A"/>
                </a:solidFill>
              </a:rPr>
              <a:t>A real registration, DBGI-000012, created in the portal's test environment</a:t>
            </a:r>
            <a:endParaRPr sz="1400" b="0">
              <a:solidFill>
                <a:srgbClr val="5B6B7A"/>
              </a:solidFill>
            </a:endParaRPr>
          </a:p>
        </p:txBody>
      </p:sp>
      <p:sp>
        <p:nvSpPr>
          <p:cNvPr id="288" name="Rectangle 4"/>
          <p:cNvSpPr/>
          <p:nvPr/>
        </p:nvSpPr>
        <p:spPr>
          <a:xfrm>
            <a:off x="762000" y="1625600"/>
            <a:ext cx="3810000" cy="4191000"/>
          </a:xfrm>
          <a:prstGeom prst="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289" name="Rectangle 5"/>
          <p:cNvSpPr/>
          <p:nvPr/>
        </p:nvSpPr>
        <p:spPr>
          <a:xfrm>
            <a:off x="965200" y="1752600"/>
            <a:ext cx="3429000" cy="330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600" b="1">
                <a:solidFill>
                  <a:srgbClr val="12384D"/>
                </a:solidFill>
              </a:rPr>
              <a:t>The example deal</a:t>
            </a:r>
            <a:endParaRPr sz="1600" b="1">
              <a:solidFill>
                <a:srgbClr val="12384D"/>
              </a:solidFill>
            </a:endParaRPr>
          </a:p>
        </p:txBody>
      </p:sp>
      <p:sp>
        <p:nvSpPr>
          <p:cNvPr id="290" name="Rectangle 6"/>
          <p:cNvSpPr/>
          <p:nvPr/>
        </p:nvSpPr>
        <p:spPr>
          <a:xfrm>
            <a:off x="965200" y="2133600"/>
            <a:ext cx="3454400" cy="3683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Dealer: DEMO ONLY - Sample Partner (a demo company)</a:t>
            </a:r>
            <a:endParaRPr sz="1300" b="0">
              <a:solidFill>
                <a:srgbClr val="1E2B3C"/>
              </a:solidFill>
            </a:endParaRPr>
          </a:p>
          <a:p>
            <a:pPr algn="l"/>
            <a:endParaRPr sz="1300" b="0">
              <a:solidFill>
                <a:srgbClr val="1E2B3C"/>
              </a:solidFill>
            </a:endParaRPr>
          </a:p>
          <a:p>
            <a:pPr algn="l"/>
            <a:r>
              <a:rPr sz="1300" b="0">
                <a:solidFill>
                  <a:srgbClr val="1E2B3C"/>
                </a:solidFill>
              </a:rPr>
              <a:t>Buyer (End-user): Pasig City Schools Division Office</a:t>
            </a:r>
            <a:endParaRPr sz="1300" b="0">
              <a:solidFill>
                <a:srgbClr val="1E2B3C"/>
              </a:solidFill>
            </a:endParaRPr>
          </a:p>
          <a:p>
            <a:pPr algn="l"/>
            <a:endParaRPr sz="1300" b="0">
              <a:solidFill>
                <a:srgbClr val="1E2B3C"/>
              </a:solidFill>
            </a:endParaRPr>
          </a:p>
          <a:p>
            <a:pPr algn="l"/>
            <a:r>
              <a:rPr sz="1300" b="0">
                <a:solidFill>
                  <a:srgbClr val="1E2B3C"/>
                </a:solidFill>
              </a:rPr>
              <a:t>Needs: 20 laser printers, model M1820W</a:t>
            </a:r>
            <a:endParaRPr sz="1300" b="0">
              <a:solidFill>
                <a:srgbClr val="1E2B3C"/>
              </a:solidFill>
            </a:endParaRPr>
          </a:p>
          <a:p>
            <a:pPr algn="l"/>
            <a:r>
              <a:rPr sz="1300" b="0">
                <a:solidFill>
                  <a:srgbClr val="1E2B3C"/>
                </a:solidFill>
              </a:rPr>
              <a:t>List price: PHP 10,000 each</a:t>
            </a:r>
            <a:endParaRPr sz="1300" b="0">
              <a:solidFill>
                <a:srgbClr val="1E2B3C"/>
              </a:solidFill>
            </a:endParaRPr>
          </a:p>
          <a:p>
            <a:pPr algn="l"/>
            <a:endParaRPr sz="1300" b="0">
              <a:solidFill>
                <a:srgbClr val="1E2B3C"/>
              </a:solidFill>
            </a:endParaRPr>
          </a:p>
          <a:p>
            <a:pPr algn="l"/>
            <a:r>
              <a:rPr sz="1300" b="0">
                <a:solidFill>
                  <a:srgbClr val="1E2B3C"/>
                </a:solidFill>
              </a:rPr>
              <a:t>Competitor: Canon at PHP 9,300</a:t>
            </a:r>
            <a:endParaRPr sz="1300" b="0">
              <a:solidFill>
                <a:srgbClr val="1E2B3C"/>
              </a:solidFill>
            </a:endParaRPr>
          </a:p>
          <a:p>
            <a:pPr algn="l"/>
            <a:endParaRPr sz="1300" b="0">
              <a:solidFill>
                <a:srgbClr val="1E2B3C"/>
              </a:solidFill>
            </a:endParaRPr>
          </a:p>
          <a:p>
            <a:pPr algn="l"/>
            <a:r>
              <a:rPr sz="1300" b="0">
                <a:solidFill>
                  <a:srgbClr val="1E2B3C"/>
                </a:solidFill>
              </a:rPr>
              <a:t>Dealer asks DBGI for: PHP 9,000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291" name="Oval 7"/>
          <p:cNvSpPr/>
          <p:nvPr/>
        </p:nvSpPr>
        <p:spPr>
          <a:xfrm>
            <a:off x="4889500" y="1625600"/>
            <a:ext cx="431800" cy="431800"/>
          </a:xfrm>
          <a:prstGeom prst="ellipse">
            <a:avLst/>
          </a:prstGeom>
          <a:solidFill>
            <a:srgbClr val="5B6B7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1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292" name="Rectangle 8"/>
          <p:cNvSpPr/>
          <p:nvPr/>
        </p:nvSpPr>
        <p:spPr>
          <a:xfrm>
            <a:off x="5435600" y="1625600"/>
            <a:ext cx="3937000" cy="43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Sign in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293" name="Rectangle 9"/>
          <p:cNvSpPr/>
          <p:nvPr/>
        </p:nvSpPr>
        <p:spPr>
          <a:xfrm>
            <a:off x="9474200" y="1625600"/>
            <a:ext cx="2159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200" b="1">
                <a:solidFill>
                  <a:srgbClr val="5B6B7A"/>
                </a:solidFill>
              </a:rPr>
              <a:t>Both</a:t>
            </a:r>
            <a:endParaRPr sz="1200" b="1">
              <a:solidFill>
                <a:srgbClr val="5B6B7A"/>
              </a:solidFill>
            </a:endParaRPr>
          </a:p>
        </p:txBody>
      </p:sp>
      <p:sp>
        <p:nvSpPr>
          <p:cNvPr id="294" name="Oval 10"/>
          <p:cNvSpPr/>
          <p:nvPr/>
        </p:nvSpPr>
        <p:spPr>
          <a:xfrm>
            <a:off x="4889500" y="2159000"/>
            <a:ext cx="431800" cy="4318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2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295" name="Rectangle 11"/>
          <p:cNvSpPr/>
          <p:nvPr/>
        </p:nvSpPr>
        <p:spPr>
          <a:xfrm>
            <a:off x="5435600" y="2159000"/>
            <a:ext cx="3937000" cy="43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Create and submit the registration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296" name="Rectangle 12"/>
          <p:cNvSpPr/>
          <p:nvPr/>
        </p:nvSpPr>
        <p:spPr>
          <a:xfrm>
            <a:off x="9474200" y="2159000"/>
            <a:ext cx="2159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200" b="1">
                <a:solidFill>
                  <a:srgbClr val="1B7FA6"/>
                </a:solidFill>
              </a:rPr>
              <a:t>Company user</a:t>
            </a:r>
            <a:endParaRPr sz="1200" b="1">
              <a:solidFill>
                <a:srgbClr val="1B7FA6"/>
              </a:solidFill>
            </a:endParaRPr>
          </a:p>
        </p:txBody>
      </p:sp>
      <p:sp>
        <p:nvSpPr>
          <p:cNvPr id="297" name="Oval 13"/>
          <p:cNvSpPr/>
          <p:nvPr/>
        </p:nvSpPr>
        <p:spPr>
          <a:xfrm>
            <a:off x="4889500" y="2692400"/>
            <a:ext cx="431800" cy="431800"/>
          </a:xfrm>
          <a:prstGeom prst="ellipse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3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298" name="Rectangle 14"/>
          <p:cNvSpPr/>
          <p:nvPr/>
        </p:nvSpPr>
        <p:spPr>
          <a:xfrm>
            <a:off x="5435600" y="2692400"/>
            <a:ext cx="3937000" cy="43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Review it and ask for a correction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299" name="Rectangle 15"/>
          <p:cNvSpPr/>
          <p:nvPr/>
        </p:nvSpPr>
        <p:spPr>
          <a:xfrm>
            <a:off x="9474200" y="2692400"/>
            <a:ext cx="2159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200" b="1">
                <a:solidFill>
                  <a:srgbClr val="12384D"/>
                </a:solidFill>
              </a:rPr>
              <a:t>DBGI administrator</a:t>
            </a:r>
            <a:endParaRPr sz="1200" b="1">
              <a:solidFill>
                <a:srgbClr val="12384D"/>
              </a:solidFill>
            </a:endParaRPr>
          </a:p>
        </p:txBody>
      </p:sp>
      <p:sp>
        <p:nvSpPr>
          <p:cNvPr id="300" name="Oval 16"/>
          <p:cNvSpPr/>
          <p:nvPr/>
        </p:nvSpPr>
        <p:spPr>
          <a:xfrm>
            <a:off x="4889500" y="3225800"/>
            <a:ext cx="431800" cy="4318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4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301" name="Rectangle 17"/>
          <p:cNvSpPr/>
          <p:nvPr/>
        </p:nvSpPr>
        <p:spPr>
          <a:xfrm>
            <a:off x="5435600" y="3225800"/>
            <a:ext cx="3937000" cy="43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Correct it and resubmit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302" name="Rectangle 18"/>
          <p:cNvSpPr/>
          <p:nvPr/>
        </p:nvSpPr>
        <p:spPr>
          <a:xfrm>
            <a:off x="9474200" y="3225800"/>
            <a:ext cx="2159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200" b="1">
                <a:solidFill>
                  <a:srgbClr val="1B7FA6"/>
                </a:solidFill>
              </a:rPr>
              <a:t>Company user</a:t>
            </a:r>
            <a:endParaRPr sz="1200" b="1">
              <a:solidFill>
                <a:srgbClr val="1B7FA6"/>
              </a:solidFill>
            </a:endParaRPr>
          </a:p>
        </p:txBody>
      </p:sp>
      <p:sp>
        <p:nvSpPr>
          <p:cNvPr id="303" name="Oval 19"/>
          <p:cNvSpPr/>
          <p:nvPr/>
        </p:nvSpPr>
        <p:spPr>
          <a:xfrm>
            <a:off x="4889500" y="3759200"/>
            <a:ext cx="431800" cy="431800"/>
          </a:xfrm>
          <a:prstGeom prst="ellipse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5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304" name="Rectangle 20"/>
          <p:cNvSpPr/>
          <p:nvPr/>
        </p:nvSpPr>
        <p:spPr>
          <a:xfrm>
            <a:off x="5435600" y="3759200"/>
            <a:ext cx="3937000" cy="43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Confirm the registration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305" name="Rectangle 21"/>
          <p:cNvSpPr/>
          <p:nvPr/>
        </p:nvSpPr>
        <p:spPr>
          <a:xfrm>
            <a:off x="9474200" y="3759200"/>
            <a:ext cx="2159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200" b="1">
                <a:solidFill>
                  <a:srgbClr val="12384D"/>
                </a:solidFill>
              </a:rPr>
              <a:t>DBGI administrator</a:t>
            </a:r>
            <a:endParaRPr sz="1200" b="1">
              <a:solidFill>
                <a:srgbClr val="12384D"/>
              </a:solidFill>
            </a:endParaRPr>
          </a:p>
        </p:txBody>
      </p:sp>
      <p:sp>
        <p:nvSpPr>
          <p:cNvPr id="306" name="Oval 22"/>
          <p:cNvSpPr/>
          <p:nvPr/>
        </p:nvSpPr>
        <p:spPr>
          <a:xfrm>
            <a:off x="4889500" y="4292600"/>
            <a:ext cx="431800" cy="431800"/>
          </a:xfrm>
          <a:prstGeom prst="ellipse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6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307" name="Rectangle 23"/>
          <p:cNvSpPr/>
          <p:nvPr/>
        </p:nvSpPr>
        <p:spPr>
          <a:xfrm>
            <a:off x="5435600" y="4292600"/>
            <a:ext cx="3937000" cy="43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Approve the price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308" name="Rectangle 24"/>
          <p:cNvSpPr/>
          <p:nvPr/>
        </p:nvSpPr>
        <p:spPr>
          <a:xfrm>
            <a:off x="9474200" y="4292600"/>
            <a:ext cx="2159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200" b="1">
                <a:solidFill>
                  <a:srgbClr val="12384D"/>
                </a:solidFill>
              </a:rPr>
              <a:t>DBGI administrator</a:t>
            </a:r>
            <a:endParaRPr sz="1200" b="1">
              <a:solidFill>
                <a:srgbClr val="12384D"/>
              </a:solidFill>
            </a:endParaRPr>
          </a:p>
        </p:txBody>
      </p:sp>
      <p:sp>
        <p:nvSpPr>
          <p:cNvPr id="309" name="Oval 25"/>
          <p:cNvSpPr/>
          <p:nvPr/>
        </p:nvSpPr>
        <p:spPr>
          <a:xfrm>
            <a:off x="4889500" y="4826000"/>
            <a:ext cx="431800" cy="4318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7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310" name="Rectangle 26"/>
          <p:cNvSpPr/>
          <p:nvPr/>
        </p:nvSpPr>
        <p:spPr>
          <a:xfrm>
            <a:off x="5435600" y="4826000"/>
            <a:ext cx="3937000" cy="43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See the decision and approved price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311" name="Rectangle 27"/>
          <p:cNvSpPr/>
          <p:nvPr/>
        </p:nvSpPr>
        <p:spPr>
          <a:xfrm>
            <a:off x="9474200" y="4826000"/>
            <a:ext cx="2159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200" b="1">
                <a:solidFill>
                  <a:srgbClr val="1B7FA6"/>
                </a:solidFill>
              </a:rPr>
              <a:t>Company user</a:t>
            </a:r>
            <a:endParaRPr sz="1200" b="1">
              <a:solidFill>
                <a:srgbClr val="1B7FA6"/>
              </a:solidFill>
            </a:endParaRPr>
          </a:p>
        </p:txBody>
      </p:sp>
      <p:sp>
        <p:nvSpPr>
          <p:cNvPr id="312" name="Oval 28"/>
          <p:cNvSpPr/>
          <p:nvPr/>
        </p:nvSpPr>
        <p:spPr>
          <a:xfrm>
            <a:off x="4889500" y="5359400"/>
            <a:ext cx="431800" cy="4318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8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313" name="Rectangle 29"/>
          <p:cNvSpPr/>
          <p:nvPr/>
        </p:nvSpPr>
        <p:spPr>
          <a:xfrm>
            <a:off x="5435600" y="5359400"/>
            <a:ext cx="3937000" cy="43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Check the ranking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314" name="Rectangle 30"/>
          <p:cNvSpPr/>
          <p:nvPr/>
        </p:nvSpPr>
        <p:spPr>
          <a:xfrm>
            <a:off x="9474200" y="5359400"/>
            <a:ext cx="2159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200" b="1">
                <a:solidFill>
                  <a:srgbClr val="1B7FA6"/>
                </a:solidFill>
              </a:rPr>
              <a:t>Company user</a:t>
            </a:r>
            <a:endParaRPr sz="1200" b="1">
              <a:solidFill>
                <a:srgbClr val="1B7FA6"/>
              </a:solidFill>
            </a:endParaRPr>
          </a:p>
        </p:txBody>
      </p:sp>
      <p:sp>
        <p:nvSpPr>
          <p:cNvPr id="315" name="Rectangle 31"/>
          <p:cNvSpPr/>
          <p:nvPr/>
        </p:nvSpPr>
        <p:spPr>
          <a:xfrm>
            <a:off x="762000" y="5994400"/>
            <a:ext cx="10795000" cy="508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58800" rIns="177800" anchor="ctr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Steps 3 and 4 are optional in real life: they only happen when DBGI needs more information.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316" name="Info"/>
          <p:cNvSpPr/>
          <p:nvPr/>
        </p:nvSpPr>
        <p:spPr>
          <a:xfrm>
            <a:off x="914400" y="61087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8333" y="50000"/>
                </a:moveTo>
                <a:cubicBezTo>
                  <a:pt x="8333" y="26988"/>
                  <a:pt x="26988" y="8333"/>
                  <a:pt x="50000" y="8333"/>
                </a:cubicBezTo>
                <a:cubicBezTo>
                  <a:pt x="73012" y="8333"/>
                  <a:pt x="91667" y="26988"/>
                  <a:pt x="91667" y="50000"/>
                </a:cubicBezTo>
                <a:cubicBezTo>
                  <a:pt x="91667" y="73012"/>
                  <a:pt x="73012" y="91667"/>
                  <a:pt x="50000" y="91667"/>
                </a:cubicBezTo>
                <a:cubicBezTo>
                  <a:pt x="26988" y="91667"/>
                  <a:pt x="8333" y="73012"/>
                  <a:pt x="8333" y="50000"/>
                </a:cubicBezTo>
                <a:close/>
                <a:moveTo>
                  <a:pt x="50000" y="66667"/>
                </a:moveTo>
                <a:lnTo>
                  <a:pt x="50000" y="50000"/>
                </a:lnTo>
                <a:moveTo>
                  <a:pt x="50000" y="33333"/>
                </a:moveTo>
                <a:lnTo>
                  <a:pt x="50042" y="33333"/>
                </a:lnTo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1034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10D219E0-3C5E-43C7-87F2-6F36B66D5D50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319" name="Rectangle 2"/>
          <p:cNvSpPr/>
          <p:nvPr/>
        </p:nvSpPr>
        <p:spPr>
          <a:xfrm>
            <a:off x="711200" y="533400"/>
            <a:ext cx="8001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600" b="1">
                <a:solidFill>
                  <a:srgbClr val="12384D"/>
                </a:solidFill>
              </a:rPr>
              <a:t>Sign in and find your way</a:t>
            </a:r>
            <a:endParaRPr sz="2600" b="1">
              <a:solidFill>
                <a:srgbClr val="12384D"/>
              </a:solidFill>
            </a:endParaRPr>
          </a:p>
        </p:txBody>
      </p:sp>
      <p:sp>
        <p:nvSpPr>
          <p:cNvPr id="320" name="Rectangle 3"/>
          <p:cNvSpPr/>
          <p:nvPr/>
        </p:nvSpPr>
        <p:spPr>
          <a:xfrm>
            <a:off x="736600" y="1143000"/>
            <a:ext cx="10795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5B6B7A"/>
                </a:solidFill>
              </a:rPr>
              <a:t>The registrations list is your home page</a:t>
            </a:r>
            <a:endParaRPr sz="1400" b="0">
              <a:solidFill>
                <a:srgbClr val="5B6B7A"/>
              </a:solidFill>
            </a:endParaRPr>
          </a:p>
        </p:txBody>
      </p:sp>
      <p:sp>
        <p:nvSpPr>
          <p:cNvPr id="321" name="Rectangle 4"/>
          <p:cNvSpPr/>
          <p:nvPr/>
        </p:nvSpPr>
        <p:spPr>
          <a:xfrm>
            <a:off x="8763000" y="508000"/>
            <a:ext cx="2794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Step 1  |  Both</a:t>
            </a:r>
            <a:endParaRPr sz="1200" b="1">
              <a:solidFill>
                <a:srgbClr val="FFFFFF"/>
              </a:solidFill>
            </a:endParaRPr>
          </a:p>
        </p:txBody>
      </p:sp>
      <p:pic>
        <p:nvPicPr>
          <p:cNvPr id="323" name="Picture 5" descr="login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62000" y="1651000"/>
            <a:ext cx="2921000" cy="265430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pic>
        <p:nvPicPr>
          <p:cNvPr id="325" name="Picture 6" descr="list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3937000" y="1651000"/>
            <a:ext cx="7620000" cy="254000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sp>
        <p:nvSpPr>
          <p:cNvPr id="326" name="Rectangle 7"/>
          <p:cNvSpPr/>
          <p:nvPr/>
        </p:nvSpPr>
        <p:spPr>
          <a:xfrm>
            <a:off x="762000" y="4699000"/>
            <a:ext cx="10795000" cy="177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anchor="t">
            <a:noAutofit/>
          </a:bodyPr>
          <a:lstStyle/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Sign in with the username and password DBGI gave you. Test environments also show one-click test accounts.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The top menu has Rankings, Notifications, Help, and Log out. DBGI administrators also see Administration.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Company users start a deal with NEW REGISTRATION. Each row in the table is one registration; click its reference to open it.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1037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9D1DB54B-4FC6-4944-8106-E43DA6D7893B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329" name="Rectangle 2"/>
          <p:cNvSpPr/>
          <p:nvPr/>
        </p:nvSpPr>
        <p:spPr>
          <a:xfrm>
            <a:off x="711200" y="533400"/>
            <a:ext cx="10795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600" b="1">
                <a:solidFill>
                  <a:srgbClr val="12384D"/>
                </a:solidFill>
              </a:rPr>
              <a:t>Read the three status badges separately</a:t>
            </a:r>
            <a:endParaRPr sz="2600" b="1">
              <a:solidFill>
                <a:srgbClr val="12384D"/>
              </a:solidFill>
            </a:endParaRPr>
          </a:p>
        </p:txBody>
      </p:sp>
      <p:sp>
        <p:nvSpPr>
          <p:cNvPr id="330" name="Rectangle 3"/>
          <p:cNvSpPr/>
          <p:nvPr/>
        </p:nvSpPr>
        <p:spPr>
          <a:xfrm>
            <a:off x="736600" y="1143000"/>
            <a:ext cx="10795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5B6B7A"/>
                </a:solidFill>
              </a:rPr>
              <a:t>Every registration shows three badges. They answer different questions.</a:t>
            </a:r>
            <a:endParaRPr sz="1400" b="0">
              <a:solidFill>
                <a:srgbClr val="5B6B7A"/>
              </a:solidFill>
            </a:endParaRPr>
          </a:p>
        </p:txBody>
      </p:sp>
      <p:sp>
        <p:nvSpPr>
          <p:cNvPr id="331" name="Rectangle 4"/>
          <p:cNvSpPr/>
          <p:nvPr/>
        </p:nvSpPr>
        <p:spPr>
          <a:xfrm>
            <a:off x="762000" y="1587500"/>
            <a:ext cx="3429000" cy="4038600"/>
          </a:xfrm>
          <a:prstGeom prst="rect">
            <a:avLst/>
          </a:prstGeom>
          <a:solidFill>
            <a:srgbClr val="FFFFFF"/>
          </a:solidFill>
          <a:ln w="1905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332" name="Rectangle 5"/>
          <p:cNvSpPr/>
          <p:nvPr/>
        </p:nvSpPr>
        <p:spPr>
          <a:xfrm>
            <a:off x="762000" y="1587500"/>
            <a:ext cx="3429000" cy="5080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Registration status</a:t>
            </a:r>
            <a:endParaRPr sz="1600" b="1">
              <a:solidFill>
                <a:srgbClr val="FFFFFF"/>
              </a:solidFill>
            </a:endParaRPr>
          </a:p>
        </p:txBody>
      </p:sp>
      <p:sp>
        <p:nvSpPr>
          <p:cNvPr id="333" name="Rectangle 6"/>
          <p:cNvSpPr/>
          <p:nvPr/>
        </p:nvSpPr>
        <p:spPr>
          <a:xfrm>
            <a:off x="939800" y="2159000"/>
            <a:ext cx="3073400" cy="50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5B6B7A"/>
                </a:solidFill>
              </a:rPr>
              <a:t>Is the deal accepted by DBGI?</a:t>
            </a:r>
            <a:endParaRPr sz="1300" b="0">
              <a:solidFill>
                <a:srgbClr val="5B6B7A"/>
              </a:solidFill>
            </a:endParaRPr>
          </a:p>
        </p:txBody>
      </p:sp>
      <p:sp>
        <p:nvSpPr>
          <p:cNvPr id="334" name="Rectangle 7"/>
          <p:cNvSpPr/>
          <p:nvPr/>
        </p:nvSpPr>
        <p:spPr>
          <a:xfrm>
            <a:off x="939800" y="2692400"/>
            <a:ext cx="3073400" cy="3175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200" b="0">
                <a:solidFill>
                  <a:srgbClr val="12384D"/>
                </a:solidFill>
              </a:rPr>
              <a:t>Submitted</a:t>
            </a:r>
            <a:endParaRPr sz="1200" b="0">
              <a:solidFill>
                <a:srgbClr val="12384D"/>
              </a:solidFill>
            </a:endParaRPr>
          </a:p>
        </p:txBody>
      </p:sp>
      <p:sp>
        <p:nvSpPr>
          <p:cNvPr id="335" name="Rectangle 8"/>
          <p:cNvSpPr/>
          <p:nvPr/>
        </p:nvSpPr>
        <p:spPr>
          <a:xfrm>
            <a:off x="939800" y="3086100"/>
            <a:ext cx="3073400" cy="3175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200" b="0">
                <a:solidFill>
                  <a:srgbClr val="12384D"/>
                </a:solidFill>
              </a:rPr>
              <a:t>Under review</a:t>
            </a:r>
            <a:endParaRPr sz="1200" b="0">
              <a:solidFill>
                <a:srgbClr val="12384D"/>
              </a:solidFill>
            </a:endParaRPr>
          </a:p>
        </p:txBody>
      </p:sp>
      <p:sp>
        <p:nvSpPr>
          <p:cNvPr id="336" name="Rectangle 9"/>
          <p:cNvSpPr/>
          <p:nvPr/>
        </p:nvSpPr>
        <p:spPr>
          <a:xfrm>
            <a:off x="939800" y="3479800"/>
            <a:ext cx="3073400" cy="3175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200" b="0">
                <a:solidFill>
                  <a:srgbClr val="12384D"/>
                </a:solidFill>
              </a:rPr>
              <a:t>Changes requested</a:t>
            </a:r>
            <a:endParaRPr sz="1200" b="0">
              <a:solidFill>
                <a:srgbClr val="12384D"/>
              </a:solidFill>
            </a:endParaRPr>
          </a:p>
        </p:txBody>
      </p:sp>
      <p:sp>
        <p:nvSpPr>
          <p:cNvPr id="337" name="Rectangle 10"/>
          <p:cNvSpPr/>
          <p:nvPr/>
        </p:nvSpPr>
        <p:spPr>
          <a:xfrm>
            <a:off x="939800" y="3873500"/>
            <a:ext cx="3073400" cy="3175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200" b="0">
                <a:solidFill>
                  <a:srgbClr val="12384D"/>
                </a:solidFill>
              </a:rPr>
              <a:t>Resubmitted</a:t>
            </a:r>
            <a:endParaRPr sz="1200" b="0">
              <a:solidFill>
                <a:srgbClr val="12384D"/>
              </a:solidFill>
            </a:endParaRPr>
          </a:p>
        </p:txBody>
      </p:sp>
      <p:sp>
        <p:nvSpPr>
          <p:cNvPr id="338" name="Rectangle 11"/>
          <p:cNvSpPr/>
          <p:nvPr/>
        </p:nvSpPr>
        <p:spPr>
          <a:xfrm>
            <a:off x="939800" y="4267200"/>
            <a:ext cx="3073400" cy="3175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200" b="0">
                <a:solidFill>
                  <a:srgbClr val="12384D"/>
                </a:solidFill>
              </a:rPr>
              <a:t>Registered</a:t>
            </a:r>
            <a:endParaRPr sz="1200" b="0">
              <a:solidFill>
                <a:srgbClr val="12384D"/>
              </a:solidFill>
            </a:endParaRPr>
          </a:p>
        </p:txBody>
      </p:sp>
      <p:sp>
        <p:nvSpPr>
          <p:cNvPr id="339" name="Rectangle 12"/>
          <p:cNvSpPr/>
          <p:nvPr/>
        </p:nvSpPr>
        <p:spPr>
          <a:xfrm>
            <a:off x="939800" y="4660900"/>
            <a:ext cx="3073400" cy="3175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200" b="0">
                <a:solidFill>
                  <a:srgbClr val="12384D"/>
                </a:solidFill>
              </a:rPr>
              <a:t>Review required after edit</a:t>
            </a:r>
            <a:endParaRPr sz="1200" b="0">
              <a:solidFill>
                <a:srgbClr val="12384D"/>
              </a:solidFill>
            </a:endParaRPr>
          </a:p>
        </p:txBody>
      </p:sp>
      <p:sp>
        <p:nvSpPr>
          <p:cNvPr id="340" name="Rectangle 13"/>
          <p:cNvSpPr/>
          <p:nvPr/>
        </p:nvSpPr>
        <p:spPr>
          <a:xfrm>
            <a:off x="939800" y="5054600"/>
            <a:ext cx="3073400" cy="3175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200" b="0">
                <a:solidFill>
                  <a:srgbClr val="12384D"/>
                </a:solidFill>
              </a:rPr>
              <a:t>Rejected</a:t>
            </a:r>
            <a:endParaRPr sz="1200" b="0">
              <a:solidFill>
                <a:srgbClr val="12384D"/>
              </a:solidFill>
            </a:endParaRPr>
          </a:p>
        </p:txBody>
      </p:sp>
      <p:sp>
        <p:nvSpPr>
          <p:cNvPr id="341" name="Rectangle 14"/>
          <p:cNvSpPr/>
          <p:nvPr/>
        </p:nvSpPr>
        <p:spPr>
          <a:xfrm>
            <a:off x="4445000" y="1587500"/>
            <a:ext cx="3429000" cy="4038600"/>
          </a:xfrm>
          <a:prstGeom prst="rect">
            <a:avLst/>
          </a:prstGeom>
          <a:solidFill>
            <a:srgbClr val="FFFFFF"/>
          </a:solidFill>
          <a:ln w="1905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342" name="Rectangle 15"/>
          <p:cNvSpPr/>
          <p:nvPr/>
        </p:nvSpPr>
        <p:spPr>
          <a:xfrm>
            <a:off x="4445000" y="1587500"/>
            <a:ext cx="3429000" cy="508000"/>
          </a:xfrm>
          <a:prstGeom prst="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Project status</a:t>
            </a:r>
            <a:endParaRPr sz="1600" b="1">
              <a:solidFill>
                <a:srgbClr val="FFFFFF"/>
              </a:solidFill>
            </a:endParaRPr>
          </a:p>
        </p:txBody>
      </p:sp>
      <p:sp>
        <p:nvSpPr>
          <p:cNvPr id="343" name="Rectangle 16"/>
          <p:cNvSpPr/>
          <p:nvPr/>
        </p:nvSpPr>
        <p:spPr>
          <a:xfrm>
            <a:off x="4622800" y="2159000"/>
            <a:ext cx="3073400" cy="50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5B6B7A"/>
                </a:solidFill>
              </a:rPr>
              <a:t>Is the procurement itself going ahead?</a:t>
            </a:r>
            <a:endParaRPr sz="1300" b="0">
              <a:solidFill>
                <a:srgbClr val="5B6B7A"/>
              </a:solidFill>
            </a:endParaRPr>
          </a:p>
        </p:txBody>
      </p:sp>
      <p:sp>
        <p:nvSpPr>
          <p:cNvPr id="344" name="Rectangle 17"/>
          <p:cNvSpPr/>
          <p:nvPr/>
        </p:nvSpPr>
        <p:spPr>
          <a:xfrm>
            <a:off x="4622800" y="2692400"/>
            <a:ext cx="3073400" cy="3175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200" b="0">
                <a:solidFill>
                  <a:srgbClr val="12384D"/>
                </a:solidFill>
              </a:rPr>
              <a:t>Not linked</a:t>
            </a:r>
            <a:endParaRPr sz="1200" b="0">
              <a:solidFill>
                <a:srgbClr val="12384D"/>
              </a:solidFill>
            </a:endParaRPr>
          </a:p>
        </p:txBody>
      </p:sp>
      <p:sp>
        <p:nvSpPr>
          <p:cNvPr id="345" name="Rectangle 18"/>
          <p:cNvSpPr/>
          <p:nvPr/>
        </p:nvSpPr>
        <p:spPr>
          <a:xfrm>
            <a:off x="4622800" y="3086100"/>
            <a:ext cx="3073400" cy="3175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200" b="0">
                <a:solidFill>
                  <a:srgbClr val="12384D"/>
                </a:solidFill>
              </a:rPr>
              <a:t>Upcoming</a:t>
            </a:r>
            <a:endParaRPr sz="1200" b="0">
              <a:solidFill>
                <a:srgbClr val="12384D"/>
              </a:solidFill>
            </a:endParaRPr>
          </a:p>
        </p:txBody>
      </p:sp>
      <p:sp>
        <p:nvSpPr>
          <p:cNvPr id="346" name="Rectangle 19"/>
          <p:cNvSpPr/>
          <p:nvPr/>
        </p:nvSpPr>
        <p:spPr>
          <a:xfrm>
            <a:off x="4622800" y="3479800"/>
            <a:ext cx="3073400" cy="3175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200" b="0">
                <a:solidFill>
                  <a:srgbClr val="12384D"/>
                </a:solidFill>
              </a:rPr>
              <a:t>Active</a:t>
            </a:r>
            <a:endParaRPr sz="1200" b="0">
              <a:solidFill>
                <a:srgbClr val="12384D"/>
              </a:solidFill>
            </a:endParaRPr>
          </a:p>
        </p:txBody>
      </p:sp>
      <p:sp>
        <p:nvSpPr>
          <p:cNvPr id="347" name="Rectangle 20"/>
          <p:cNvSpPr/>
          <p:nvPr/>
        </p:nvSpPr>
        <p:spPr>
          <a:xfrm>
            <a:off x="4622800" y="3873500"/>
            <a:ext cx="3073400" cy="3175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200" b="0">
                <a:solidFill>
                  <a:srgbClr val="12384D"/>
                </a:solidFill>
              </a:rPr>
              <a:t>Won</a:t>
            </a:r>
            <a:endParaRPr sz="1200" b="0">
              <a:solidFill>
                <a:srgbClr val="12384D"/>
              </a:solidFill>
            </a:endParaRPr>
          </a:p>
        </p:txBody>
      </p:sp>
      <p:sp>
        <p:nvSpPr>
          <p:cNvPr id="348" name="Rectangle 21"/>
          <p:cNvSpPr/>
          <p:nvPr/>
        </p:nvSpPr>
        <p:spPr>
          <a:xfrm>
            <a:off x="4622800" y="4267200"/>
            <a:ext cx="3073400" cy="3175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200" b="0">
                <a:solidFill>
                  <a:srgbClr val="12384D"/>
                </a:solidFill>
              </a:rPr>
              <a:t>Lost</a:t>
            </a:r>
            <a:endParaRPr sz="1200" b="0">
              <a:solidFill>
                <a:srgbClr val="12384D"/>
              </a:solidFill>
            </a:endParaRPr>
          </a:p>
        </p:txBody>
      </p:sp>
      <p:sp>
        <p:nvSpPr>
          <p:cNvPr id="349" name="Rectangle 22"/>
          <p:cNvSpPr/>
          <p:nvPr/>
        </p:nvSpPr>
        <p:spPr>
          <a:xfrm>
            <a:off x="4622800" y="4660900"/>
            <a:ext cx="3073400" cy="3175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200" b="0">
                <a:solidFill>
                  <a:srgbClr val="12384D"/>
                </a:solidFill>
              </a:rPr>
              <a:t>Cancelled</a:t>
            </a:r>
            <a:endParaRPr sz="1200" b="0">
              <a:solidFill>
                <a:srgbClr val="12384D"/>
              </a:solidFill>
            </a:endParaRPr>
          </a:p>
        </p:txBody>
      </p:sp>
      <p:sp>
        <p:nvSpPr>
          <p:cNvPr id="350" name="Rectangle 23"/>
          <p:cNvSpPr/>
          <p:nvPr/>
        </p:nvSpPr>
        <p:spPr>
          <a:xfrm>
            <a:off x="4622800" y="5054600"/>
            <a:ext cx="3073400" cy="3175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200" b="0">
                <a:solidFill>
                  <a:srgbClr val="12384D"/>
                </a:solidFill>
              </a:rPr>
              <a:t>On hold</a:t>
            </a:r>
            <a:endParaRPr sz="1200" b="0">
              <a:solidFill>
                <a:srgbClr val="12384D"/>
              </a:solidFill>
            </a:endParaRPr>
          </a:p>
        </p:txBody>
      </p:sp>
      <p:sp>
        <p:nvSpPr>
          <p:cNvPr id="351" name="Rectangle 24"/>
          <p:cNvSpPr/>
          <p:nvPr/>
        </p:nvSpPr>
        <p:spPr>
          <a:xfrm>
            <a:off x="8128000" y="1587500"/>
            <a:ext cx="3429000" cy="4038600"/>
          </a:xfrm>
          <a:prstGeom prst="rect">
            <a:avLst/>
          </a:prstGeom>
          <a:solidFill>
            <a:srgbClr val="FFFFFF"/>
          </a:solidFill>
          <a:ln w="1905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352" name="Rectangle 25"/>
          <p:cNvSpPr/>
          <p:nvPr/>
        </p:nvSpPr>
        <p:spPr>
          <a:xfrm>
            <a:off x="8128000" y="1587500"/>
            <a:ext cx="3429000" cy="508000"/>
          </a:xfrm>
          <a:prstGeom prst="rect">
            <a:avLst/>
          </a:prstGeom>
          <a:solidFill>
            <a:srgbClr val="2EA36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Pricing status</a:t>
            </a:r>
            <a:endParaRPr sz="1600" b="1">
              <a:solidFill>
                <a:srgbClr val="FFFFFF"/>
              </a:solidFill>
            </a:endParaRPr>
          </a:p>
        </p:txBody>
      </p:sp>
      <p:sp>
        <p:nvSpPr>
          <p:cNvPr id="353" name="Rectangle 26"/>
          <p:cNvSpPr/>
          <p:nvPr/>
        </p:nvSpPr>
        <p:spPr>
          <a:xfrm>
            <a:off x="8305800" y="2159000"/>
            <a:ext cx="3073400" cy="50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5B6B7A"/>
                </a:solidFill>
              </a:rPr>
              <a:t>Has DBGI decided the price?</a:t>
            </a:r>
            <a:endParaRPr sz="1300" b="0">
              <a:solidFill>
                <a:srgbClr val="5B6B7A"/>
              </a:solidFill>
            </a:endParaRPr>
          </a:p>
        </p:txBody>
      </p:sp>
      <p:sp>
        <p:nvSpPr>
          <p:cNvPr id="354" name="Rectangle 27"/>
          <p:cNvSpPr/>
          <p:nvPr/>
        </p:nvSpPr>
        <p:spPr>
          <a:xfrm>
            <a:off x="8305800" y="2692400"/>
            <a:ext cx="3073400" cy="3175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200" b="0">
                <a:solidFill>
                  <a:srgbClr val="12384D"/>
                </a:solidFill>
              </a:rPr>
              <a:t>Pending</a:t>
            </a:r>
            <a:endParaRPr sz="1200" b="0">
              <a:solidFill>
                <a:srgbClr val="12384D"/>
              </a:solidFill>
            </a:endParaRPr>
          </a:p>
        </p:txBody>
      </p:sp>
      <p:sp>
        <p:nvSpPr>
          <p:cNvPr id="355" name="Rectangle 28"/>
          <p:cNvSpPr/>
          <p:nvPr/>
        </p:nvSpPr>
        <p:spPr>
          <a:xfrm>
            <a:off x="8305800" y="3086100"/>
            <a:ext cx="3073400" cy="3175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200" b="0">
                <a:solidFill>
                  <a:srgbClr val="12384D"/>
                </a:solidFill>
              </a:rPr>
              <a:t>Changes requested</a:t>
            </a:r>
            <a:endParaRPr sz="1200" b="0">
              <a:solidFill>
                <a:srgbClr val="12384D"/>
              </a:solidFill>
            </a:endParaRPr>
          </a:p>
        </p:txBody>
      </p:sp>
      <p:sp>
        <p:nvSpPr>
          <p:cNvPr id="356" name="Rectangle 29"/>
          <p:cNvSpPr/>
          <p:nvPr/>
        </p:nvSpPr>
        <p:spPr>
          <a:xfrm>
            <a:off x="8305800" y="3479800"/>
            <a:ext cx="3073400" cy="3175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200" b="0">
                <a:solidFill>
                  <a:srgbClr val="12384D"/>
                </a:solidFill>
              </a:rPr>
              <a:t>Partially approved</a:t>
            </a:r>
            <a:endParaRPr sz="1200" b="0">
              <a:solidFill>
                <a:srgbClr val="12384D"/>
              </a:solidFill>
            </a:endParaRPr>
          </a:p>
        </p:txBody>
      </p:sp>
      <p:sp>
        <p:nvSpPr>
          <p:cNvPr id="357" name="Rectangle 30"/>
          <p:cNvSpPr/>
          <p:nvPr/>
        </p:nvSpPr>
        <p:spPr>
          <a:xfrm>
            <a:off x="8305800" y="3873500"/>
            <a:ext cx="3073400" cy="3175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200" b="0">
                <a:solidFill>
                  <a:srgbClr val="12384D"/>
                </a:solidFill>
              </a:rPr>
              <a:t>Approved</a:t>
            </a:r>
            <a:endParaRPr sz="1200" b="0">
              <a:solidFill>
                <a:srgbClr val="12384D"/>
              </a:solidFill>
            </a:endParaRPr>
          </a:p>
        </p:txBody>
      </p:sp>
      <p:sp>
        <p:nvSpPr>
          <p:cNvPr id="358" name="Rectangle 31"/>
          <p:cNvSpPr/>
          <p:nvPr/>
        </p:nvSpPr>
        <p:spPr>
          <a:xfrm>
            <a:off x="8305800" y="4267200"/>
            <a:ext cx="3073400" cy="3175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200" b="0">
                <a:solidFill>
                  <a:srgbClr val="12384D"/>
                </a:solidFill>
              </a:rPr>
              <a:t>Rejected</a:t>
            </a:r>
            <a:endParaRPr sz="1200" b="0">
              <a:solidFill>
                <a:srgbClr val="12384D"/>
              </a:solidFill>
            </a:endParaRPr>
          </a:p>
        </p:txBody>
      </p:sp>
      <p:sp>
        <p:nvSpPr>
          <p:cNvPr id="359" name="Rectangle 32"/>
          <p:cNvSpPr/>
          <p:nvPr/>
        </p:nvSpPr>
        <p:spPr>
          <a:xfrm>
            <a:off x="8305800" y="4660900"/>
            <a:ext cx="3073400" cy="3175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200" b="0">
                <a:solidFill>
                  <a:srgbClr val="12384D"/>
                </a:solidFill>
              </a:rPr>
              <a:t>Expired</a:t>
            </a:r>
            <a:endParaRPr sz="1200" b="0">
              <a:solidFill>
                <a:srgbClr val="12384D"/>
              </a:solidFill>
            </a:endParaRPr>
          </a:p>
        </p:txBody>
      </p:sp>
      <p:sp>
        <p:nvSpPr>
          <p:cNvPr id="360" name="Rectangle 33"/>
          <p:cNvSpPr/>
          <p:nvPr/>
        </p:nvSpPr>
        <p:spPr>
          <a:xfrm>
            <a:off x="762000" y="5778500"/>
            <a:ext cx="10795000" cy="635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58800" rIns="177800" anchor="ctr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Example: a deal can be Registered with Pricing still Pending. Hover over any badge in the portal to see what it means.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361" name="Idea"/>
          <p:cNvSpPr/>
          <p:nvPr/>
        </p:nvSpPr>
        <p:spPr>
          <a:xfrm>
            <a:off x="914400" y="5956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62500" y="58333"/>
                </a:moveTo>
                <a:cubicBezTo>
                  <a:pt x="63333" y="54167"/>
                  <a:pt x="65417" y="51250"/>
                  <a:pt x="68750" y="47917"/>
                </a:cubicBezTo>
                <a:cubicBezTo>
                  <a:pt x="72917" y="44167"/>
                  <a:pt x="75000" y="38750"/>
                  <a:pt x="75000" y="33333"/>
                </a:cubicBezTo>
                <a:cubicBezTo>
                  <a:pt x="75000" y="19526"/>
                  <a:pt x="63807" y="8333"/>
                  <a:pt x="50000" y="8333"/>
                </a:cubicBezTo>
                <a:cubicBezTo>
                  <a:pt x="36193" y="8333"/>
                  <a:pt x="25000" y="19526"/>
                  <a:pt x="25000" y="33333"/>
                </a:cubicBezTo>
                <a:cubicBezTo>
                  <a:pt x="25000" y="37500"/>
                  <a:pt x="25833" y="42500"/>
                  <a:pt x="31250" y="47917"/>
                </a:cubicBezTo>
                <a:cubicBezTo>
                  <a:pt x="34167" y="50833"/>
                  <a:pt x="36667" y="54167"/>
                  <a:pt x="37500" y="58333"/>
                </a:cubicBezTo>
                <a:moveTo>
                  <a:pt x="37500" y="75000"/>
                </a:moveTo>
                <a:lnTo>
                  <a:pt x="62500" y="75000"/>
                </a:lnTo>
                <a:moveTo>
                  <a:pt x="41667" y="91667"/>
                </a:moveTo>
                <a:lnTo>
                  <a:pt x="58333" y="91667"/>
                </a:lnTo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1040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5D374AA8-8310-4FC9-8E61-808E79049FCE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364" name="Rectangle 2"/>
          <p:cNvSpPr/>
          <p:nvPr/>
        </p:nvSpPr>
        <p:spPr>
          <a:xfrm>
            <a:off x="711200" y="533400"/>
            <a:ext cx="8001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600" b="1">
                <a:solidFill>
                  <a:srgbClr val="12384D"/>
                </a:solidFill>
              </a:rPr>
              <a:t>Create a registration: who and what</a:t>
            </a:r>
            <a:endParaRPr sz="2600" b="1">
              <a:solidFill>
                <a:srgbClr val="12384D"/>
              </a:solidFill>
            </a:endParaRPr>
          </a:p>
        </p:txBody>
      </p:sp>
      <p:sp>
        <p:nvSpPr>
          <p:cNvPr id="365" name="Rectangle 3"/>
          <p:cNvSpPr/>
          <p:nvPr/>
        </p:nvSpPr>
        <p:spPr>
          <a:xfrm>
            <a:off x="736600" y="1143000"/>
            <a:ext cx="10795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5B6B7A"/>
                </a:solidFill>
              </a:rPr>
              <a:t>Start from Registrations, then NEW REGISTRATION</a:t>
            </a:r>
            <a:endParaRPr sz="1400" b="0">
              <a:solidFill>
                <a:srgbClr val="5B6B7A"/>
              </a:solidFill>
            </a:endParaRPr>
          </a:p>
        </p:txBody>
      </p:sp>
      <p:sp>
        <p:nvSpPr>
          <p:cNvPr id="366" name="Rectangle 4"/>
          <p:cNvSpPr/>
          <p:nvPr/>
        </p:nvSpPr>
        <p:spPr>
          <a:xfrm>
            <a:off x="8763000" y="508000"/>
            <a:ext cx="2794000" cy="355600"/>
          </a:xfrm>
          <a:prstGeom prst="round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Step 2  |  Company user</a:t>
            </a:r>
            <a:endParaRPr sz="1200" b="1">
              <a:solidFill>
                <a:srgbClr val="FFFFFF"/>
              </a:solidFill>
            </a:endParaRPr>
          </a:p>
        </p:txBody>
      </p:sp>
      <p:pic>
        <p:nvPicPr>
          <p:cNvPr id="368" name="Picture 5" descr="enduser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62000" y="1625600"/>
            <a:ext cx="6604000" cy="268605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sp>
        <p:nvSpPr>
          <p:cNvPr id="369" name="Rectangle 6"/>
          <p:cNvSpPr/>
          <p:nvPr/>
        </p:nvSpPr>
        <p:spPr>
          <a:xfrm>
            <a:off x="7620000" y="1625600"/>
            <a:ext cx="3937000" cy="381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anchor="t">
            <a:noAutofit/>
          </a:bodyPr>
          <a:lstStyle/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Type part of the buyer's name in End-user and pick the match. A green line confirms the address and that DBGI verified it.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Not in the list? Use ADD MISSING END-USER. DBGI verifies it later.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Enter the project title, bid date, and delivery date.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Check the contact details. They are filled from your profile.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370" name="Rectangle 7"/>
          <p:cNvSpPr/>
          <p:nvPr/>
        </p:nvSpPr>
        <p:spPr>
          <a:xfrm>
            <a:off x="762000" y="5664200"/>
            <a:ext cx="10795000" cy="711200"/>
          </a:xfrm>
          <a:prstGeom prst="roundRect">
            <a:avLst/>
          </a:prstGeom>
          <a:solidFill>
            <a:srgbClr val="FDF1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58800" rIns="177800" anchor="ctr">
            <a:noAutofit/>
          </a:bodyPr>
          <a:lstStyle/>
          <a:p>
            <a:pPr algn="l"/>
            <a:r>
              <a:rPr sz="1300" b="0">
                <a:solidFill>
                  <a:srgbClr val="8A5A00"/>
                </a:solidFill>
              </a:rPr>
              <a:t>Register each real opportunity once. To fix something later, edit the existing registration instead of creating a new one.</a:t>
            </a:r>
            <a:endParaRPr sz="1300" b="0">
              <a:solidFill>
                <a:srgbClr val="8A5A00"/>
              </a:solidFill>
            </a:endParaRPr>
          </a:p>
        </p:txBody>
      </p:sp>
      <p:sp>
        <p:nvSpPr>
          <p:cNvPr id="371" name="Alert"/>
          <p:cNvSpPr/>
          <p:nvPr/>
        </p:nvSpPr>
        <p:spPr>
          <a:xfrm>
            <a:off x="914400" y="58801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8333" y="50000"/>
                </a:moveTo>
                <a:cubicBezTo>
                  <a:pt x="8333" y="26988"/>
                  <a:pt x="26988" y="8333"/>
                  <a:pt x="50000" y="8333"/>
                </a:cubicBezTo>
                <a:cubicBezTo>
                  <a:pt x="73012" y="8333"/>
                  <a:pt x="91667" y="26988"/>
                  <a:pt x="91667" y="50000"/>
                </a:cubicBezTo>
                <a:cubicBezTo>
                  <a:pt x="91667" y="73012"/>
                  <a:pt x="73012" y="91667"/>
                  <a:pt x="50000" y="91667"/>
                </a:cubicBezTo>
                <a:cubicBezTo>
                  <a:pt x="26988" y="91667"/>
                  <a:pt x="8333" y="73012"/>
                  <a:pt x="8333" y="50000"/>
                </a:cubicBezTo>
                <a:close/>
                <a:moveTo>
                  <a:pt x="50000" y="33333"/>
                </a:moveTo>
                <a:lnTo>
                  <a:pt x="50000" y="50000"/>
                </a:lnTo>
                <a:moveTo>
                  <a:pt x="50000" y="66667"/>
                </a:moveTo>
                <a:lnTo>
                  <a:pt x="50042" y="66667"/>
                </a:lnTo>
              </a:path>
            </a:pathLst>
          </a:custGeom>
          <a:noFill/>
          <a:ln w="23283" cap="rnd">
            <a:solidFill>
              <a:srgbClr val="8A5A00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1043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9FD5AD5D-00E4-4746-836B-F0EA3C4886F1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374" name="Rectangle 2"/>
          <p:cNvSpPr/>
          <p:nvPr/>
        </p:nvSpPr>
        <p:spPr>
          <a:xfrm>
            <a:off x="711200" y="533400"/>
            <a:ext cx="8001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600" b="1">
                <a:solidFill>
                  <a:srgbClr val="12384D"/>
                </a:solidFill>
              </a:rPr>
              <a:t>Add the competitor and the products you need</a:t>
            </a:r>
            <a:endParaRPr sz="2600" b="1">
              <a:solidFill>
                <a:srgbClr val="12384D"/>
              </a:solidFill>
            </a:endParaRPr>
          </a:p>
        </p:txBody>
      </p:sp>
      <p:sp>
        <p:nvSpPr>
          <p:cNvPr id="375" name="Rectangle 3"/>
          <p:cNvSpPr/>
          <p:nvPr/>
        </p:nvSpPr>
        <p:spPr>
          <a:xfrm>
            <a:off x="736600" y="1143000"/>
            <a:ext cx="10795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5B6B7A"/>
                </a:solidFill>
              </a:rPr>
              <a:t>Both tables need at least one row</a:t>
            </a:r>
            <a:endParaRPr sz="1400" b="0">
              <a:solidFill>
                <a:srgbClr val="5B6B7A"/>
              </a:solidFill>
            </a:endParaRPr>
          </a:p>
        </p:txBody>
      </p:sp>
      <p:sp>
        <p:nvSpPr>
          <p:cNvPr id="376" name="Rectangle 4"/>
          <p:cNvSpPr/>
          <p:nvPr/>
        </p:nvSpPr>
        <p:spPr>
          <a:xfrm>
            <a:off x="8763000" y="508000"/>
            <a:ext cx="2794000" cy="355600"/>
          </a:xfrm>
          <a:prstGeom prst="round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Step 2  |  Company user</a:t>
            </a:r>
            <a:endParaRPr sz="1200" b="1">
              <a:solidFill>
                <a:srgbClr val="FFFFFF"/>
              </a:solidFill>
            </a:endParaRPr>
          </a:p>
        </p:txBody>
      </p:sp>
      <p:pic>
        <p:nvPicPr>
          <p:cNvPr id="378" name="Picture 5" descr="competitor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62000" y="1587500"/>
            <a:ext cx="5207000" cy="315849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pic>
        <p:nvPicPr>
          <p:cNvPr id="380" name="Picture 6" descr="product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350000" y="1587500"/>
            <a:ext cx="5207000" cy="285496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sp>
        <p:nvSpPr>
          <p:cNvPr id="381" name="Rectangle 7"/>
          <p:cNvSpPr/>
          <p:nvPr/>
        </p:nvSpPr>
        <p:spPr>
          <a:xfrm>
            <a:off x="762000" y="4889500"/>
            <a:ext cx="5207000" cy="1651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anchor="t">
            <a:noAutofit/>
          </a:bodyPr>
          <a:lstStyle/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Select ADD COMPETITOR.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Pick or type the brand and model, their bid price, and a remark. Only you and DBGI see this.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382" name="Rectangle 8"/>
          <p:cNvSpPr/>
          <p:nvPr/>
        </p:nvSpPr>
        <p:spPr>
          <a:xfrm>
            <a:off x="6350000" y="4889500"/>
            <a:ext cx="5207000" cy="1651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anchor="t">
            <a:noAutofit/>
          </a:bodyPr>
          <a:lstStyle/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Select ADD PRODUCT and choose the catalog product.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Enter quantity, the unit price you are requesting, and why you need it.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1046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79A8C84-1846-4993-8C55-9E7286E57C4C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385" name="Rectangle 2"/>
          <p:cNvSpPr/>
          <p:nvPr/>
        </p:nvSpPr>
        <p:spPr>
          <a:xfrm>
            <a:off x="711200" y="533400"/>
            <a:ext cx="8001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600" b="1">
                <a:solidFill>
                  <a:srgbClr val="12384D"/>
                </a:solidFill>
              </a:rPr>
              <a:t>Describe your evidence and submit</a:t>
            </a:r>
            <a:endParaRPr sz="2600" b="1">
              <a:solidFill>
                <a:srgbClr val="12384D"/>
              </a:solidFill>
            </a:endParaRPr>
          </a:p>
        </p:txBody>
      </p:sp>
      <p:sp>
        <p:nvSpPr>
          <p:cNvPr id="386" name="Rectangle 3"/>
          <p:cNvSpPr/>
          <p:nvPr/>
        </p:nvSpPr>
        <p:spPr>
          <a:xfrm>
            <a:off x="736600" y="1143000"/>
            <a:ext cx="10795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5B6B7A"/>
                </a:solidFill>
              </a:rPr>
              <a:t>Evidence tells DBGI how you know this opportunity is real</a:t>
            </a:r>
            <a:endParaRPr sz="1400" b="0">
              <a:solidFill>
                <a:srgbClr val="5B6B7A"/>
              </a:solidFill>
            </a:endParaRPr>
          </a:p>
        </p:txBody>
      </p:sp>
      <p:sp>
        <p:nvSpPr>
          <p:cNvPr id="387" name="Rectangle 4"/>
          <p:cNvSpPr/>
          <p:nvPr/>
        </p:nvSpPr>
        <p:spPr>
          <a:xfrm>
            <a:off x="8763000" y="508000"/>
            <a:ext cx="2794000" cy="355600"/>
          </a:xfrm>
          <a:prstGeom prst="round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Step 2  |  Company user</a:t>
            </a:r>
            <a:endParaRPr sz="1200" b="1">
              <a:solidFill>
                <a:srgbClr val="FFFFFF"/>
              </a:solidFill>
            </a:endParaRPr>
          </a:p>
        </p:txBody>
      </p:sp>
      <p:pic>
        <p:nvPicPr>
          <p:cNvPr id="389" name="Picture 5" descr="evidence-submit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62000" y="1587500"/>
            <a:ext cx="7112000" cy="319405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sp>
        <p:nvSpPr>
          <p:cNvPr id="390" name="Rectangle 6"/>
          <p:cNvSpPr/>
          <p:nvPr/>
        </p:nvSpPr>
        <p:spPr>
          <a:xfrm>
            <a:off x="8128000" y="1587500"/>
            <a:ext cx="3429000" cy="4064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anchor="t">
            <a:noAutofit/>
          </a:bodyPr>
          <a:lstStyle/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Explain how you learned about the deal, with dates and reference numbers if you have them.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Add files if available. Never upload another company's pricing, IDs, or signatures.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Tick the authorization box.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Select CREATE REGISTRATION.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391" name="Rectangle 7"/>
          <p:cNvSpPr/>
          <p:nvPr/>
        </p:nvSpPr>
        <p:spPr>
          <a:xfrm>
            <a:off x="762000" y="5080000"/>
            <a:ext cx="7112000" cy="1270000"/>
          </a:xfrm>
          <a:prstGeom prst="roundRect">
            <a:avLst/>
          </a:prstGeom>
          <a:solidFill>
            <a:srgbClr val="FDF1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58800" rIns="177800" anchor="ctr">
            <a:noAutofit/>
          </a:bodyPr>
          <a:lstStyle/>
          <a:p>
            <a:pPr algn="l"/>
            <a:r>
              <a:rPr sz="1300" b="0">
                <a:solidFill>
                  <a:srgbClr val="8A5A00"/>
                </a:solidFill>
              </a:rPr>
              <a:t>Requested prices are only proposals until DBGI approves them. Do not promise a requested price to the buyer.</a:t>
            </a:r>
            <a:endParaRPr sz="1300" b="0">
              <a:solidFill>
                <a:srgbClr val="8A5A00"/>
              </a:solidFill>
            </a:endParaRPr>
          </a:p>
        </p:txBody>
      </p:sp>
      <p:sp>
        <p:nvSpPr>
          <p:cNvPr id="392" name="Alert"/>
          <p:cNvSpPr/>
          <p:nvPr/>
        </p:nvSpPr>
        <p:spPr>
          <a:xfrm>
            <a:off x="914400" y="5575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8333" y="50000"/>
                </a:moveTo>
                <a:cubicBezTo>
                  <a:pt x="8333" y="26988"/>
                  <a:pt x="26988" y="8333"/>
                  <a:pt x="50000" y="8333"/>
                </a:cubicBezTo>
                <a:cubicBezTo>
                  <a:pt x="73012" y="8333"/>
                  <a:pt x="91667" y="26988"/>
                  <a:pt x="91667" y="50000"/>
                </a:cubicBezTo>
                <a:cubicBezTo>
                  <a:pt x="91667" y="73012"/>
                  <a:pt x="73012" y="91667"/>
                  <a:pt x="50000" y="91667"/>
                </a:cubicBezTo>
                <a:cubicBezTo>
                  <a:pt x="26988" y="91667"/>
                  <a:pt x="8333" y="73012"/>
                  <a:pt x="8333" y="50000"/>
                </a:cubicBezTo>
                <a:close/>
                <a:moveTo>
                  <a:pt x="50000" y="33333"/>
                </a:moveTo>
                <a:lnTo>
                  <a:pt x="50000" y="50000"/>
                </a:lnTo>
                <a:moveTo>
                  <a:pt x="50000" y="66667"/>
                </a:moveTo>
                <a:lnTo>
                  <a:pt x="50042" y="66667"/>
                </a:lnTo>
              </a:path>
            </a:pathLst>
          </a:custGeom>
          <a:noFill/>
          <a:ln w="23283" cap="rnd">
            <a:solidFill>
              <a:srgbClr val="8A5A00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1049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4E5D909-40B4-4C80-8454-38C8AE8D0597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395" name="Rectangle 2"/>
          <p:cNvSpPr/>
          <p:nvPr/>
        </p:nvSpPr>
        <p:spPr>
          <a:xfrm>
            <a:off x="711200" y="533400"/>
            <a:ext cx="8001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600" b="1">
                <a:solidFill>
                  <a:srgbClr val="12384D"/>
                </a:solidFill>
              </a:rPr>
              <a:t>Right after you submit</a:t>
            </a:r>
            <a:endParaRPr sz="2600" b="1">
              <a:solidFill>
                <a:srgbClr val="12384D"/>
              </a:solidFill>
            </a:endParaRPr>
          </a:p>
        </p:txBody>
      </p:sp>
      <p:sp>
        <p:nvSpPr>
          <p:cNvPr id="396" name="Rectangle 3"/>
          <p:cNvSpPr/>
          <p:nvPr/>
        </p:nvSpPr>
        <p:spPr>
          <a:xfrm>
            <a:off x="736600" y="1143000"/>
            <a:ext cx="10795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5B6B7A"/>
                </a:solidFill>
              </a:rPr>
              <a:t>The registration gets a DBGI reference and waits for review</a:t>
            </a:r>
            <a:endParaRPr sz="1400" b="0">
              <a:solidFill>
                <a:srgbClr val="5B6B7A"/>
              </a:solidFill>
            </a:endParaRPr>
          </a:p>
        </p:txBody>
      </p:sp>
      <p:sp>
        <p:nvSpPr>
          <p:cNvPr id="397" name="Rectangle 4"/>
          <p:cNvSpPr/>
          <p:nvPr/>
        </p:nvSpPr>
        <p:spPr>
          <a:xfrm>
            <a:off x="8763000" y="508000"/>
            <a:ext cx="2794000" cy="355600"/>
          </a:xfrm>
          <a:prstGeom prst="round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Step 2  |  Company user</a:t>
            </a:r>
            <a:endParaRPr sz="1200" b="1">
              <a:solidFill>
                <a:srgbClr val="FFFFFF"/>
              </a:solidFill>
            </a:endParaRPr>
          </a:p>
        </p:txBody>
      </p:sp>
      <p:pic>
        <p:nvPicPr>
          <p:cNvPr id="399" name="Picture 5" descr="submitted-top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62000" y="1587500"/>
            <a:ext cx="7112000" cy="144653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pic>
        <p:nvPicPr>
          <p:cNvPr id="401" name="Picture 6" descr="submitted-pricing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762000" y="3327400"/>
            <a:ext cx="7112000" cy="304419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sp>
        <p:nvSpPr>
          <p:cNvPr id="402" name="Rectangle 7"/>
          <p:cNvSpPr/>
          <p:nvPr/>
        </p:nvSpPr>
        <p:spPr>
          <a:xfrm>
            <a:off x="8128000" y="1587500"/>
            <a:ext cx="3429000" cy="4826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anchor="t">
            <a:noAutofit/>
          </a:bodyPr>
          <a:lstStyle/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Note the reference, here DBGI-000012. Use it whenever you talk to DBGI.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Badges show Submitted, Project: Not linked, and Pricing: Pending.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"What happens next?" always tells you what to do now.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The portal works out the discount you asked for (10%) and the total. Approved unit price stays Pending until DBGI decides.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1052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80EC94FA-F8E2-4AC5-8BAF-84C1CD9CCE2A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405" name="Rectangle 2"/>
          <p:cNvSpPr/>
          <p:nvPr/>
        </p:nvSpPr>
        <p:spPr>
          <a:xfrm>
            <a:off x="711200" y="533400"/>
            <a:ext cx="8001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600" b="1">
                <a:solidFill>
                  <a:srgbClr val="12384D"/>
                </a:solidFill>
              </a:rPr>
              <a:t>Notifications keep you up to date</a:t>
            </a:r>
            <a:endParaRPr sz="2600" b="1">
              <a:solidFill>
                <a:srgbClr val="12384D"/>
              </a:solidFill>
            </a:endParaRPr>
          </a:p>
        </p:txBody>
      </p:sp>
      <p:sp>
        <p:nvSpPr>
          <p:cNvPr id="406" name="Rectangle 3"/>
          <p:cNvSpPr/>
          <p:nvPr/>
        </p:nvSpPr>
        <p:spPr>
          <a:xfrm>
            <a:off x="736600" y="1143000"/>
            <a:ext cx="10795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5B6B7A"/>
                </a:solidFill>
              </a:rPr>
              <a:t>Every submission and DBGI decision appears here</a:t>
            </a:r>
            <a:endParaRPr sz="1400" b="0">
              <a:solidFill>
                <a:srgbClr val="5B6B7A"/>
              </a:solidFill>
            </a:endParaRPr>
          </a:p>
        </p:txBody>
      </p:sp>
      <p:sp>
        <p:nvSpPr>
          <p:cNvPr id="407" name="Rectangle 4"/>
          <p:cNvSpPr/>
          <p:nvPr/>
        </p:nvSpPr>
        <p:spPr>
          <a:xfrm>
            <a:off x="8763000" y="508000"/>
            <a:ext cx="2794000" cy="355600"/>
          </a:xfrm>
          <a:prstGeom prst="round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Company user</a:t>
            </a:r>
            <a:endParaRPr sz="1200" b="1">
              <a:solidFill>
                <a:srgbClr val="FFFFFF"/>
              </a:solidFill>
            </a:endParaRPr>
          </a:p>
        </p:txBody>
      </p:sp>
      <p:pic>
        <p:nvPicPr>
          <p:cNvPr id="409" name="Picture 5" descr="notifications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62000" y="1587500"/>
            <a:ext cx="7112000" cy="397764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sp>
        <p:nvSpPr>
          <p:cNvPr id="410" name="Rectangle 6"/>
          <p:cNvSpPr/>
          <p:nvPr/>
        </p:nvSpPr>
        <p:spPr>
          <a:xfrm>
            <a:off x="8128000" y="1587500"/>
            <a:ext cx="3429000" cy="4191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anchor="t">
            <a:noAutofit/>
          </a:bodyPr>
          <a:lstStyle/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Open NOTIFICATIONS from the top menu.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Unread items are marked. Select VIEW REGISTRATION to open the deal.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Email may send a copy, but the portal notification is the official record.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411" name="Rectangle 7"/>
          <p:cNvSpPr/>
          <p:nvPr/>
        </p:nvSpPr>
        <p:spPr>
          <a:xfrm>
            <a:off x="762000" y="5918200"/>
            <a:ext cx="10795000" cy="508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58800" rIns="177800" anchor="ctr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Check Notifications daily, especially while a registration is waiting for you.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412" name="Bell"/>
          <p:cNvSpPr/>
          <p:nvPr/>
        </p:nvSpPr>
        <p:spPr>
          <a:xfrm>
            <a:off x="914400" y="60325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42783" y="87500"/>
                </a:moveTo>
                <a:cubicBezTo>
                  <a:pt x="44272" y="90078"/>
                  <a:pt x="47023" y="91666"/>
                  <a:pt x="50000" y="91666"/>
                </a:cubicBezTo>
                <a:cubicBezTo>
                  <a:pt x="52977" y="91666"/>
                  <a:pt x="55728" y="90078"/>
                  <a:pt x="57217" y="87500"/>
                </a:cubicBezTo>
                <a:moveTo>
                  <a:pt x="13592" y="63858"/>
                </a:moveTo>
                <a:cubicBezTo>
                  <a:pt x="12480" y="65077"/>
                  <a:pt x="12192" y="66838"/>
                  <a:pt x="12857" y="68348"/>
                </a:cubicBezTo>
                <a:cubicBezTo>
                  <a:pt x="13523" y="69858"/>
                  <a:pt x="15017" y="70832"/>
                  <a:pt x="16667" y="70833"/>
                </a:cubicBezTo>
                <a:lnTo>
                  <a:pt x="83333" y="70833"/>
                </a:lnTo>
                <a:cubicBezTo>
                  <a:pt x="84983" y="70834"/>
                  <a:pt x="86478" y="69861"/>
                  <a:pt x="87145" y="68352"/>
                </a:cubicBezTo>
                <a:cubicBezTo>
                  <a:pt x="87813" y="66843"/>
                  <a:pt x="87527" y="65083"/>
                  <a:pt x="86417" y="63863"/>
                </a:cubicBezTo>
                <a:cubicBezTo>
                  <a:pt x="80875" y="58150"/>
                  <a:pt x="75000" y="52079"/>
                  <a:pt x="75000" y="33333"/>
                </a:cubicBezTo>
                <a:cubicBezTo>
                  <a:pt x="75000" y="19526"/>
                  <a:pt x="63807" y="8333"/>
                  <a:pt x="50000" y="8333"/>
                </a:cubicBezTo>
                <a:cubicBezTo>
                  <a:pt x="36193" y="8333"/>
                  <a:pt x="25000" y="19526"/>
                  <a:pt x="25000" y="33333"/>
                </a:cubicBezTo>
                <a:cubicBezTo>
                  <a:pt x="25000" y="52079"/>
                  <a:pt x="19121" y="58150"/>
                  <a:pt x="13592" y="63858"/>
                </a:cubicBezTo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1055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67E2D13-7704-45C7-8091-8B2F05FD78CE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415" name="Rectangle 2"/>
          <p:cNvSpPr/>
          <p:nvPr/>
        </p:nvSpPr>
        <p:spPr>
          <a:xfrm>
            <a:off x="711200" y="533400"/>
            <a:ext cx="8001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600" b="1">
                <a:solidFill>
                  <a:srgbClr val="12384D"/>
                </a:solidFill>
              </a:rPr>
              <a:t>Start each day on the Operations dashboard</a:t>
            </a:r>
            <a:endParaRPr sz="2600" b="1">
              <a:solidFill>
                <a:srgbClr val="12384D"/>
              </a:solidFill>
            </a:endParaRPr>
          </a:p>
        </p:txBody>
      </p:sp>
      <p:sp>
        <p:nvSpPr>
          <p:cNvPr id="416" name="Rectangle 3"/>
          <p:cNvSpPr/>
          <p:nvPr/>
        </p:nvSpPr>
        <p:spPr>
          <a:xfrm>
            <a:off x="736600" y="1143000"/>
            <a:ext cx="10795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5B6B7A"/>
                </a:solidFill>
              </a:rPr>
              <a:t>Administration opens here; it lists what needs a DBGI decision</a:t>
            </a:r>
            <a:endParaRPr sz="1400" b="0">
              <a:solidFill>
                <a:srgbClr val="5B6B7A"/>
              </a:solidFill>
            </a:endParaRPr>
          </a:p>
        </p:txBody>
      </p:sp>
      <p:sp>
        <p:nvSpPr>
          <p:cNvPr id="417" name="Rectangle 4"/>
          <p:cNvSpPr/>
          <p:nvPr/>
        </p:nvSpPr>
        <p:spPr>
          <a:xfrm>
            <a:off x="8763000" y="508000"/>
            <a:ext cx="2794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Step 3  |  DBGI administrator</a:t>
            </a:r>
            <a:endParaRPr sz="1200" b="1">
              <a:solidFill>
                <a:srgbClr val="FFFFFF"/>
              </a:solidFill>
            </a:endParaRPr>
          </a:p>
        </p:txBody>
      </p:sp>
      <p:pic>
        <p:nvPicPr>
          <p:cNvPr id="419" name="Picture 5" descr="dashboard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62000" y="1587500"/>
            <a:ext cx="7106920" cy="389890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sp>
        <p:nvSpPr>
          <p:cNvPr id="420" name="Rectangle 6"/>
          <p:cNvSpPr/>
          <p:nvPr/>
        </p:nvSpPr>
        <p:spPr>
          <a:xfrm>
            <a:off x="8128000" y="1587500"/>
            <a:ext cx="3429000" cy="4191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anchor="t">
            <a:noAutofit/>
          </a:bodyPr>
          <a:lstStyle/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The cards count work waiting: registration reviews, pricing decisions, End-users to verify, failed emails, and expiring approvals.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The queues below list the actual items. Click a reference to open it.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The left menu has every list, such as Registrations, Price approvals, and End-users.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421" name="Rectangle 7"/>
          <p:cNvSpPr/>
          <p:nvPr/>
        </p:nvSpPr>
        <p:spPr>
          <a:xfrm>
            <a:off x="762000" y="5689600"/>
            <a:ext cx="10795000" cy="635000"/>
          </a:xfrm>
          <a:prstGeom prst="roundRect">
            <a:avLst/>
          </a:prstGeom>
          <a:solidFill>
            <a:srgbClr val="FDF1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58800" rIns="177800" anchor="ctr">
            <a:noAutofit/>
          </a:bodyPr>
          <a:lstStyle/>
          <a:p>
            <a:pPr algn="l"/>
            <a:r>
              <a:rPr sz="1300" b="0">
                <a:solidFill>
                  <a:srgbClr val="8A5A00"/>
                </a:solidFill>
              </a:rPr>
              <a:t>The Danger Zone at the bottom permanently deletes data. Only superusers can open it.</a:t>
            </a:r>
            <a:endParaRPr sz="1300" b="0">
              <a:solidFill>
                <a:srgbClr val="8A5A00"/>
              </a:solidFill>
            </a:endParaRPr>
          </a:p>
        </p:txBody>
      </p:sp>
      <p:sp>
        <p:nvSpPr>
          <p:cNvPr id="422" name="Warning"/>
          <p:cNvSpPr/>
          <p:nvPr/>
        </p:nvSpPr>
        <p:spPr>
          <a:xfrm>
            <a:off x="914400" y="58674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90542" y="75000"/>
                </a:moveTo>
                <a:lnTo>
                  <a:pt x="57208" y="16667"/>
                </a:lnTo>
                <a:cubicBezTo>
                  <a:pt x="55729" y="14056"/>
                  <a:pt x="52960" y="12442"/>
                  <a:pt x="49958" y="12442"/>
                </a:cubicBezTo>
                <a:cubicBezTo>
                  <a:pt x="46957" y="12442"/>
                  <a:pt x="44188" y="14056"/>
                  <a:pt x="42708" y="16667"/>
                </a:cubicBezTo>
                <a:lnTo>
                  <a:pt x="9375" y="75000"/>
                </a:lnTo>
                <a:cubicBezTo>
                  <a:pt x="7880" y="77590"/>
                  <a:pt x="7887" y="80783"/>
                  <a:pt x="9393" y="83366"/>
                </a:cubicBezTo>
                <a:cubicBezTo>
                  <a:pt x="10900" y="85949"/>
                  <a:pt x="13676" y="87527"/>
                  <a:pt x="16667" y="87500"/>
                </a:cubicBezTo>
                <a:lnTo>
                  <a:pt x="83333" y="87500"/>
                </a:lnTo>
                <a:cubicBezTo>
                  <a:pt x="86309" y="87497"/>
                  <a:pt x="89057" y="85908"/>
                  <a:pt x="90544" y="83330"/>
                </a:cubicBezTo>
                <a:cubicBezTo>
                  <a:pt x="92030" y="80752"/>
                  <a:pt x="92030" y="77577"/>
                  <a:pt x="90542" y="75000"/>
                </a:cubicBezTo>
                <a:moveTo>
                  <a:pt x="50000" y="37500"/>
                </a:moveTo>
                <a:lnTo>
                  <a:pt x="50000" y="54167"/>
                </a:lnTo>
                <a:moveTo>
                  <a:pt x="50000" y="70833"/>
                </a:moveTo>
                <a:lnTo>
                  <a:pt x="50042" y="70833"/>
                </a:lnTo>
              </a:path>
            </a:pathLst>
          </a:custGeom>
          <a:noFill/>
          <a:ln w="23283" cap="rnd">
            <a:solidFill>
              <a:srgbClr val="8A5A00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1058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95D27AB5-652A-495A-8336-EEDE33D0623B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425" name="Rectangle 2"/>
          <p:cNvSpPr/>
          <p:nvPr/>
        </p:nvSpPr>
        <p:spPr>
          <a:xfrm>
            <a:off x="711200" y="533400"/>
            <a:ext cx="8001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600" b="1">
                <a:solidFill>
                  <a:srgbClr val="12384D"/>
                </a:solidFill>
              </a:rPr>
              <a:t>Open the registration and start the review</a:t>
            </a:r>
            <a:endParaRPr sz="2600" b="1">
              <a:solidFill>
                <a:srgbClr val="12384D"/>
              </a:solidFill>
            </a:endParaRPr>
          </a:p>
        </p:txBody>
      </p:sp>
      <p:sp>
        <p:nvSpPr>
          <p:cNvPr id="426" name="Rectangle 3"/>
          <p:cNvSpPr/>
          <p:nvPr/>
        </p:nvSpPr>
        <p:spPr>
          <a:xfrm>
            <a:off x="736600" y="1143000"/>
            <a:ext cx="10795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5B6B7A"/>
                </a:solidFill>
              </a:rPr>
              <a:t>Administrators see a DBGI review panel at the top</a:t>
            </a:r>
            <a:endParaRPr sz="1400" b="0">
              <a:solidFill>
                <a:srgbClr val="5B6B7A"/>
              </a:solidFill>
            </a:endParaRPr>
          </a:p>
        </p:txBody>
      </p:sp>
      <p:sp>
        <p:nvSpPr>
          <p:cNvPr id="427" name="Rectangle 4"/>
          <p:cNvSpPr/>
          <p:nvPr/>
        </p:nvSpPr>
        <p:spPr>
          <a:xfrm>
            <a:off x="8763000" y="508000"/>
            <a:ext cx="2794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Step 3  |  DBGI administrator</a:t>
            </a:r>
            <a:endParaRPr sz="1200" b="1">
              <a:solidFill>
                <a:srgbClr val="FFFFFF"/>
              </a:solidFill>
            </a:endParaRPr>
          </a:p>
        </p:txBody>
      </p:sp>
      <p:pic>
        <p:nvPicPr>
          <p:cNvPr id="429" name="Picture 5" descr="start-review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62000" y="1587500"/>
            <a:ext cx="7112000" cy="352552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sp>
        <p:nvSpPr>
          <p:cNvPr id="430" name="Rectangle 6"/>
          <p:cNvSpPr/>
          <p:nvPr/>
        </p:nvSpPr>
        <p:spPr>
          <a:xfrm>
            <a:off x="8128000" y="1587500"/>
            <a:ext cx="3429000" cy="4191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anchor="t">
            <a:noAutofit/>
          </a:bodyPr>
          <a:lstStyle/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Read the system recommendation and match score. They are only suggestions.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Compare the End-user, address, products, and evidence yourself.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Write a short review reason and select START REVIEW. This only marks the review as started.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431" name="Rectangle 7"/>
          <p:cNvSpPr/>
          <p:nvPr/>
        </p:nvSpPr>
        <p:spPr>
          <a:xfrm>
            <a:off x="762000" y="5334000"/>
            <a:ext cx="7112000" cy="1016000"/>
          </a:xfrm>
          <a:prstGeom prst="roundRect">
            <a:avLst/>
          </a:prstGeom>
          <a:solidFill>
            <a:srgbClr val="FDF1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58800" rIns="177800" anchor="ctr">
            <a:noAutofit/>
          </a:bodyPr>
          <a:lstStyle/>
          <a:p>
            <a:pPr algn="l"/>
            <a:r>
              <a:rPr sz="1300" b="0">
                <a:solidFill>
                  <a:srgbClr val="8A5A00"/>
                </a:solidFill>
              </a:rPr>
              <a:t>Never confirm a match from the score alone. Here the score is 53% against a different Pasig project.</a:t>
            </a:r>
            <a:endParaRPr sz="1300" b="0">
              <a:solidFill>
                <a:srgbClr val="8A5A00"/>
              </a:solidFill>
            </a:endParaRPr>
          </a:p>
        </p:txBody>
      </p:sp>
      <p:sp>
        <p:nvSpPr>
          <p:cNvPr id="432" name="Alert"/>
          <p:cNvSpPr/>
          <p:nvPr/>
        </p:nvSpPr>
        <p:spPr>
          <a:xfrm>
            <a:off x="914400" y="5702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8333" y="50000"/>
                </a:moveTo>
                <a:cubicBezTo>
                  <a:pt x="8333" y="26988"/>
                  <a:pt x="26988" y="8333"/>
                  <a:pt x="50000" y="8333"/>
                </a:cubicBezTo>
                <a:cubicBezTo>
                  <a:pt x="73012" y="8333"/>
                  <a:pt x="91667" y="26988"/>
                  <a:pt x="91667" y="50000"/>
                </a:cubicBezTo>
                <a:cubicBezTo>
                  <a:pt x="91667" y="73012"/>
                  <a:pt x="73012" y="91667"/>
                  <a:pt x="50000" y="91667"/>
                </a:cubicBezTo>
                <a:cubicBezTo>
                  <a:pt x="26988" y="91667"/>
                  <a:pt x="8333" y="73012"/>
                  <a:pt x="8333" y="50000"/>
                </a:cubicBezTo>
                <a:close/>
                <a:moveTo>
                  <a:pt x="50000" y="33333"/>
                </a:moveTo>
                <a:lnTo>
                  <a:pt x="50000" y="50000"/>
                </a:lnTo>
                <a:moveTo>
                  <a:pt x="50000" y="66667"/>
                </a:moveTo>
                <a:lnTo>
                  <a:pt x="50042" y="66667"/>
                </a:lnTo>
              </a:path>
            </a:pathLst>
          </a:custGeom>
          <a:noFill/>
          <a:ln w="23283" cap="rnd">
            <a:solidFill>
              <a:srgbClr val="8A5A00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1061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92FA209A-C3A7-4F8D-8E85-A91313DE554C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435" name="Rectangle 2"/>
          <p:cNvSpPr/>
          <p:nvPr/>
        </p:nvSpPr>
        <p:spPr>
          <a:xfrm>
            <a:off x="711200" y="533400"/>
            <a:ext cx="8001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600" b="1">
                <a:solidFill>
                  <a:srgbClr val="12384D"/>
                </a:solidFill>
              </a:rPr>
              <a:t>Choose exactly one decision</a:t>
            </a:r>
            <a:endParaRPr sz="2600" b="1">
              <a:solidFill>
                <a:srgbClr val="12384D"/>
              </a:solidFill>
            </a:endParaRPr>
          </a:p>
        </p:txBody>
      </p:sp>
      <p:sp>
        <p:nvSpPr>
          <p:cNvPr id="436" name="Rectangle 3"/>
          <p:cNvSpPr/>
          <p:nvPr/>
        </p:nvSpPr>
        <p:spPr>
          <a:xfrm>
            <a:off x="736600" y="1143000"/>
            <a:ext cx="10795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5B6B7A"/>
                </a:solidFill>
              </a:rPr>
              <a:t>In the example, DBGI asks the dealer for the RFQ reference</a:t>
            </a:r>
            <a:endParaRPr sz="1400" b="0">
              <a:solidFill>
                <a:srgbClr val="5B6B7A"/>
              </a:solidFill>
            </a:endParaRPr>
          </a:p>
        </p:txBody>
      </p:sp>
      <p:sp>
        <p:nvSpPr>
          <p:cNvPr id="437" name="Rectangle 4"/>
          <p:cNvSpPr/>
          <p:nvPr/>
        </p:nvSpPr>
        <p:spPr>
          <a:xfrm>
            <a:off x="8763000" y="508000"/>
            <a:ext cx="2794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Step 3  |  DBGI administrator</a:t>
            </a:r>
            <a:endParaRPr sz="1200" b="1">
              <a:solidFill>
                <a:srgbClr val="FFFFFF"/>
              </a:solidFill>
            </a:endParaRPr>
          </a:p>
        </p:txBody>
      </p:sp>
      <p:pic>
        <p:nvPicPr>
          <p:cNvPr id="439" name="Picture 5" descr="decision-options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62000" y="1587500"/>
            <a:ext cx="6604000" cy="424815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sp>
        <p:nvSpPr>
          <p:cNvPr id="440" name="Rectangle 6"/>
          <p:cNvSpPr/>
          <p:nvPr/>
        </p:nvSpPr>
        <p:spPr>
          <a:xfrm>
            <a:off x="7620000" y="1587500"/>
            <a:ext cx="3937000" cy="304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Link to an existing opportunity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441" name="Rectangle 7"/>
          <p:cNvSpPr/>
          <p:nvPr/>
        </p:nvSpPr>
        <p:spPr>
          <a:xfrm>
            <a:off x="7620000" y="1917700"/>
            <a:ext cx="3937000" cy="660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This deal is the same procurement as one already in the portal.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442" name="Rectangle 8"/>
          <p:cNvSpPr/>
          <p:nvPr/>
        </p:nvSpPr>
        <p:spPr>
          <a:xfrm>
            <a:off x="7620000" y="2654300"/>
            <a:ext cx="3937000" cy="304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Create a new whole opportunity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443" name="Rectangle 9"/>
          <p:cNvSpPr/>
          <p:nvPr/>
        </p:nvSpPr>
        <p:spPr>
          <a:xfrm>
            <a:off x="7620000" y="2984500"/>
            <a:ext cx="3937000" cy="660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No existing opportunity fits.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444" name="Rectangle 10"/>
          <p:cNvSpPr/>
          <p:nvPr/>
        </p:nvSpPr>
        <p:spPr>
          <a:xfrm>
            <a:off x="7620000" y="3721100"/>
            <a:ext cx="3937000" cy="304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Request changes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445" name="Rectangle 11"/>
          <p:cNvSpPr/>
          <p:nvPr/>
        </p:nvSpPr>
        <p:spPr>
          <a:xfrm>
            <a:off x="7620000" y="4051300"/>
            <a:ext cx="3937000" cy="660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Something is missing or wrong. Write exact instructions.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446" name="Rectangle 12"/>
          <p:cNvSpPr/>
          <p:nvPr/>
        </p:nvSpPr>
        <p:spPr>
          <a:xfrm>
            <a:off x="7620000" y="4787900"/>
            <a:ext cx="3937000" cy="304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Reject registration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447" name="Rectangle 13"/>
          <p:cNvSpPr/>
          <p:nvPr/>
        </p:nvSpPr>
        <p:spPr>
          <a:xfrm>
            <a:off x="7620000" y="5118100"/>
            <a:ext cx="3937000" cy="660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Give a clear business reason.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448" name="Rectangle 14"/>
          <p:cNvSpPr/>
          <p:nvPr/>
        </p:nvSpPr>
        <p:spPr>
          <a:xfrm>
            <a:off x="762000" y="5969000"/>
            <a:ext cx="10795000" cy="4826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58800" rIns="177800" anchor="ctr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The company is notified automatically after every decision.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449" name="Bell"/>
          <p:cNvSpPr/>
          <p:nvPr/>
        </p:nvSpPr>
        <p:spPr>
          <a:xfrm>
            <a:off x="914400" y="60706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42783" y="87500"/>
                </a:moveTo>
                <a:cubicBezTo>
                  <a:pt x="44272" y="90078"/>
                  <a:pt x="47023" y="91666"/>
                  <a:pt x="50000" y="91666"/>
                </a:cubicBezTo>
                <a:cubicBezTo>
                  <a:pt x="52977" y="91666"/>
                  <a:pt x="55728" y="90078"/>
                  <a:pt x="57217" y="87500"/>
                </a:cubicBezTo>
                <a:moveTo>
                  <a:pt x="13592" y="63858"/>
                </a:moveTo>
                <a:cubicBezTo>
                  <a:pt x="12480" y="65077"/>
                  <a:pt x="12192" y="66838"/>
                  <a:pt x="12857" y="68348"/>
                </a:cubicBezTo>
                <a:cubicBezTo>
                  <a:pt x="13523" y="69858"/>
                  <a:pt x="15017" y="70832"/>
                  <a:pt x="16667" y="70833"/>
                </a:cubicBezTo>
                <a:lnTo>
                  <a:pt x="83333" y="70833"/>
                </a:lnTo>
                <a:cubicBezTo>
                  <a:pt x="84983" y="70834"/>
                  <a:pt x="86478" y="69861"/>
                  <a:pt x="87145" y="68352"/>
                </a:cubicBezTo>
                <a:cubicBezTo>
                  <a:pt x="87813" y="66843"/>
                  <a:pt x="87527" y="65083"/>
                  <a:pt x="86417" y="63863"/>
                </a:cubicBezTo>
                <a:cubicBezTo>
                  <a:pt x="80875" y="58150"/>
                  <a:pt x="75000" y="52079"/>
                  <a:pt x="75000" y="33333"/>
                </a:cubicBezTo>
                <a:cubicBezTo>
                  <a:pt x="75000" y="19526"/>
                  <a:pt x="63807" y="8333"/>
                  <a:pt x="50000" y="8333"/>
                </a:cubicBezTo>
                <a:cubicBezTo>
                  <a:pt x="36193" y="8333"/>
                  <a:pt x="25000" y="19526"/>
                  <a:pt x="25000" y="33333"/>
                </a:cubicBezTo>
                <a:cubicBezTo>
                  <a:pt x="25000" y="52079"/>
                  <a:pt x="19121" y="58150"/>
                  <a:pt x="13592" y="63858"/>
                </a:cubicBezTo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1064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18C67565-E9B8-43A8-859B-FB8AC9415FF1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452" name="Rectangle 2"/>
          <p:cNvSpPr/>
          <p:nvPr/>
        </p:nvSpPr>
        <p:spPr>
          <a:xfrm>
            <a:off x="711200" y="533400"/>
            <a:ext cx="8001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600" b="1">
                <a:solidFill>
                  <a:srgbClr val="12384D"/>
                </a:solidFill>
              </a:rPr>
              <a:t>Read what DBGI needs</a:t>
            </a:r>
            <a:endParaRPr sz="2600" b="1">
              <a:solidFill>
                <a:srgbClr val="12384D"/>
              </a:solidFill>
            </a:endParaRPr>
          </a:p>
        </p:txBody>
      </p:sp>
      <p:sp>
        <p:nvSpPr>
          <p:cNvPr id="453" name="Rectangle 3"/>
          <p:cNvSpPr/>
          <p:nvPr/>
        </p:nvSpPr>
        <p:spPr>
          <a:xfrm>
            <a:off x="736600" y="1143000"/>
            <a:ext cx="10795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5B6B7A"/>
                </a:solidFill>
              </a:rPr>
              <a:t>The registration now shows Changes requested</a:t>
            </a:r>
            <a:endParaRPr sz="1400" b="0">
              <a:solidFill>
                <a:srgbClr val="5B6B7A"/>
              </a:solidFill>
            </a:endParaRPr>
          </a:p>
        </p:txBody>
      </p:sp>
      <p:sp>
        <p:nvSpPr>
          <p:cNvPr id="454" name="Rectangle 4"/>
          <p:cNvSpPr/>
          <p:nvPr/>
        </p:nvSpPr>
        <p:spPr>
          <a:xfrm>
            <a:off x="8763000" y="508000"/>
            <a:ext cx="2794000" cy="355600"/>
          </a:xfrm>
          <a:prstGeom prst="round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Step 4  |  Company user</a:t>
            </a:r>
            <a:endParaRPr sz="1200" b="1">
              <a:solidFill>
                <a:srgbClr val="FFFFFF"/>
              </a:solidFill>
            </a:endParaRPr>
          </a:p>
        </p:txBody>
      </p:sp>
      <p:pic>
        <p:nvPicPr>
          <p:cNvPr id="456" name="Picture 5" descr="changes-requested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62000" y="1587500"/>
            <a:ext cx="7617460" cy="154940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pic>
        <p:nvPicPr>
          <p:cNvPr id="458" name="Picture 6" descr="activity-reason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762000" y="3365500"/>
            <a:ext cx="7595870" cy="154940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sp>
        <p:nvSpPr>
          <p:cNvPr id="459" name="Rectangle 7"/>
          <p:cNvSpPr/>
          <p:nvPr/>
        </p:nvSpPr>
        <p:spPr>
          <a:xfrm>
            <a:off x="8636000" y="1587500"/>
            <a:ext cx="2921000" cy="381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anchor="t">
            <a:noAutofit/>
          </a:bodyPr>
          <a:lstStyle/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Open the Changes requested notification, or the registration itself.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Scroll to Activity. DBGI's exact instructions are under Request changes.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Select EDIT REGISTRATION.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460" name="Rectangle 8"/>
          <p:cNvSpPr/>
          <p:nvPr/>
        </p:nvSpPr>
        <p:spPr>
          <a:xfrm>
            <a:off x="762000" y="5143500"/>
            <a:ext cx="7620000" cy="1143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58800" rIns="177800" anchor="ctr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View changes under each Activity entry shows the before and after values for that step.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461" name="Info"/>
          <p:cNvSpPr/>
          <p:nvPr/>
        </p:nvSpPr>
        <p:spPr>
          <a:xfrm>
            <a:off x="914400" y="5575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8333" y="50000"/>
                </a:moveTo>
                <a:cubicBezTo>
                  <a:pt x="8333" y="26988"/>
                  <a:pt x="26988" y="8333"/>
                  <a:pt x="50000" y="8333"/>
                </a:cubicBezTo>
                <a:cubicBezTo>
                  <a:pt x="73012" y="8333"/>
                  <a:pt x="91667" y="26988"/>
                  <a:pt x="91667" y="50000"/>
                </a:cubicBezTo>
                <a:cubicBezTo>
                  <a:pt x="91667" y="73012"/>
                  <a:pt x="73012" y="91667"/>
                  <a:pt x="50000" y="91667"/>
                </a:cubicBezTo>
                <a:cubicBezTo>
                  <a:pt x="26988" y="91667"/>
                  <a:pt x="8333" y="73012"/>
                  <a:pt x="8333" y="50000"/>
                </a:cubicBezTo>
                <a:close/>
                <a:moveTo>
                  <a:pt x="50000" y="66667"/>
                </a:moveTo>
                <a:lnTo>
                  <a:pt x="50000" y="50000"/>
                </a:lnTo>
                <a:moveTo>
                  <a:pt x="50000" y="33333"/>
                </a:moveTo>
                <a:lnTo>
                  <a:pt x="50042" y="33333"/>
                </a:lnTo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1067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D469FB7-52EC-4B93-8A4D-4826A82733E2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464" name="Rectangle 2"/>
          <p:cNvSpPr/>
          <p:nvPr/>
        </p:nvSpPr>
        <p:spPr>
          <a:xfrm>
            <a:off x="711200" y="533400"/>
            <a:ext cx="8001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600" b="1">
                <a:solidFill>
                  <a:srgbClr val="12384D"/>
                </a:solidFill>
              </a:rPr>
              <a:t>Fix only what was asked, then save</a:t>
            </a:r>
            <a:endParaRPr sz="2600" b="1">
              <a:solidFill>
                <a:srgbClr val="12384D"/>
              </a:solidFill>
            </a:endParaRPr>
          </a:p>
        </p:txBody>
      </p:sp>
      <p:sp>
        <p:nvSpPr>
          <p:cNvPr id="465" name="Rectangle 3"/>
          <p:cNvSpPr/>
          <p:nvPr/>
        </p:nvSpPr>
        <p:spPr>
          <a:xfrm>
            <a:off x="736600" y="1143000"/>
            <a:ext cx="10795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5B6B7A"/>
                </a:solidFill>
              </a:rPr>
              <a:t>The same registration goes back to DBGI</a:t>
            </a:r>
            <a:endParaRPr sz="1400" b="0">
              <a:solidFill>
                <a:srgbClr val="5B6B7A"/>
              </a:solidFill>
            </a:endParaRPr>
          </a:p>
        </p:txBody>
      </p:sp>
      <p:sp>
        <p:nvSpPr>
          <p:cNvPr id="466" name="Rectangle 4"/>
          <p:cNvSpPr/>
          <p:nvPr/>
        </p:nvSpPr>
        <p:spPr>
          <a:xfrm>
            <a:off x="8763000" y="508000"/>
            <a:ext cx="2794000" cy="355600"/>
          </a:xfrm>
          <a:prstGeom prst="round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Step 4  |  Company user</a:t>
            </a:r>
            <a:endParaRPr sz="1200" b="1">
              <a:solidFill>
                <a:srgbClr val="FFFFFF"/>
              </a:solidFill>
            </a:endParaRPr>
          </a:p>
        </p:txBody>
      </p:sp>
      <p:pic>
        <p:nvPicPr>
          <p:cNvPr id="468" name="Picture 5" descr="edit-evidence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62000" y="1587500"/>
            <a:ext cx="5693410" cy="218440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pic>
        <p:nvPicPr>
          <p:cNvPr id="470" name="Picture 6" descr="resubmitt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762000" y="3962400"/>
            <a:ext cx="7617460" cy="154940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sp>
        <p:nvSpPr>
          <p:cNvPr id="471" name="Rectangle 7"/>
          <p:cNvSpPr/>
          <p:nvPr/>
        </p:nvSpPr>
        <p:spPr>
          <a:xfrm>
            <a:off x="8636000" y="1587500"/>
            <a:ext cx="2921000" cy="4191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anchor="t">
            <a:noAutofit/>
          </a:bodyPr>
          <a:lstStyle/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Change only the fields DBGI mentioned. Here, the RFQ reference was added to the evidence.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Review everything, then select SAVE CHANGES.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The status becomes Resubmitted. DBGI reviews the corrected version.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472" name="Rectangle 8"/>
          <p:cNvSpPr/>
          <p:nvPr/>
        </p:nvSpPr>
        <p:spPr>
          <a:xfrm>
            <a:off x="762000" y="5689600"/>
            <a:ext cx="10795000" cy="635000"/>
          </a:xfrm>
          <a:prstGeom prst="roundRect">
            <a:avLst/>
          </a:prstGeom>
          <a:solidFill>
            <a:srgbClr val="FDF1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58800" rIns="177800" anchor="ctr">
            <a:noAutofit/>
          </a:bodyPr>
          <a:lstStyle/>
          <a:p>
            <a:pPr algn="l"/>
            <a:r>
              <a:rPr sz="1300" b="0">
                <a:solidFill>
                  <a:srgbClr val="8A5A00"/>
                </a:solidFill>
              </a:rPr>
              <a:t>Editing a registration that was already Registered also sends it back for review.</a:t>
            </a:r>
            <a:endParaRPr sz="1300" b="0">
              <a:solidFill>
                <a:srgbClr val="8A5A00"/>
              </a:solidFill>
            </a:endParaRPr>
          </a:p>
        </p:txBody>
      </p:sp>
      <p:sp>
        <p:nvSpPr>
          <p:cNvPr id="473" name="Alert"/>
          <p:cNvSpPr/>
          <p:nvPr/>
        </p:nvSpPr>
        <p:spPr>
          <a:xfrm>
            <a:off x="914400" y="58674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8333" y="50000"/>
                </a:moveTo>
                <a:cubicBezTo>
                  <a:pt x="8333" y="26988"/>
                  <a:pt x="26988" y="8333"/>
                  <a:pt x="50000" y="8333"/>
                </a:cubicBezTo>
                <a:cubicBezTo>
                  <a:pt x="73012" y="8333"/>
                  <a:pt x="91667" y="26988"/>
                  <a:pt x="91667" y="50000"/>
                </a:cubicBezTo>
                <a:cubicBezTo>
                  <a:pt x="91667" y="73012"/>
                  <a:pt x="73012" y="91667"/>
                  <a:pt x="50000" y="91667"/>
                </a:cubicBezTo>
                <a:cubicBezTo>
                  <a:pt x="26988" y="91667"/>
                  <a:pt x="8333" y="73012"/>
                  <a:pt x="8333" y="50000"/>
                </a:cubicBezTo>
                <a:close/>
                <a:moveTo>
                  <a:pt x="50000" y="33333"/>
                </a:moveTo>
                <a:lnTo>
                  <a:pt x="50000" y="50000"/>
                </a:lnTo>
                <a:moveTo>
                  <a:pt x="50000" y="66667"/>
                </a:moveTo>
                <a:lnTo>
                  <a:pt x="50042" y="66667"/>
                </a:lnTo>
              </a:path>
            </a:pathLst>
          </a:custGeom>
          <a:noFill/>
          <a:ln w="23283" cap="rnd">
            <a:solidFill>
              <a:srgbClr val="8A5A00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1070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581C090-3B8A-4946-86C5-674662338F4F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476" name="Rectangle 2"/>
          <p:cNvSpPr/>
          <p:nvPr/>
        </p:nvSpPr>
        <p:spPr>
          <a:xfrm>
            <a:off x="711200" y="533400"/>
            <a:ext cx="8001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600" b="1">
                <a:solidFill>
                  <a:srgbClr val="12384D"/>
                </a:solidFill>
              </a:rPr>
              <a:t>Check the changes, then confirm</a:t>
            </a:r>
            <a:endParaRPr sz="2600" b="1">
              <a:solidFill>
                <a:srgbClr val="12384D"/>
              </a:solidFill>
            </a:endParaRPr>
          </a:p>
        </p:txBody>
      </p:sp>
      <p:sp>
        <p:nvSpPr>
          <p:cNvPr id="477" name="Rectangle 3"/>
          <p:cNvSpPr/>
          <p:nvPr/>
        </p:nvSpPr>
        <p:spPr>
          <a:xfrm>
            <a:off x="736600" y="1143000"/>
            <a:ext cx="10795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5B6B7A"/>
                </a:solidFill>
              </a:rPr>
              <a:t>Activity shows exactly what the company changed</a:t>
            </a:r>
            <a:endParaRPr sz="1400" b="0">
              <a:solidFill>
                <a:srgbClr val="5B6B7A"/>
              </a:solidFill>
            </a:endParaRPr>
          </a:p>
        </p:txBody>
      </p:sp>
      <p:sp>
        <p:nvSpPr>
          <p:cNvPr id="478" name="Rectangle 4"/>
          <p:cNvSpPr/>
          <p:nvPr/>
        </p:nvSpPr>
        <p:spPr>
          <a:xfrm>
            <a:off x="8763000" y="508000"/>
            <a:ext cx="2794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Step 5  |  DBGI administrator</a:t>
            </a:r>
            <a:endParaRPr sz="1200" b="1">
              <a:solidFill>
                <a:srgbClr val="FFFFFF"/>
              </a:solidFill>
            </a:endParaRPr>
          </a:p>
        </p:txBody>
      </p:sp>
      <p:pic>
        <p:nvPicPr>
          <p:cNvPr id="480" name="Picture 5" descr="activity-changes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62000" y="1587500"/>
            <a:ext cx="5330190" cy="254000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pic>
        <p:nvPicPr>
          <p:cNvPr id="482" name="Picture 6" descr="create-opportunity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350000" y="1587500"/>
            <a:ext cx="5207000" cy="334899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sp>
        <p:nvSpPr>
          <p:cNvPr id="483" name="Rectangle 7"/>
          <p:cNvSpPr/>
          <p:nvPr/>
        </p:nvSpPr>
        <p:spPr>
          <a:xfrm>
            <a:off x="762000" y="4318000"/>
            <a:ext cx="5334000" cy="2159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anchor="t">
            <a:noAutofit/>
          </a:bodyPr>
          <a:lstStyle/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Open the Company edit entry and compare old and new values.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Start review again with a reason.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Pick the final decision. Here: Create a new whole opportunity, because this is a school division purchase.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484" name="Rectangle 8"/>
          <p:cNvSpPr/>
          <p:nvPr/>
        </p:nvSpPr>
        <p:spPr>
          <a:xfrm>
            <a:off x="6350000" y="5080000"/>
            <a:ext cx="5207000" cy="1270000"/>
          </a:xfrm>
          <a:prstGeom prst="roundRect">
            <a:avLst/>
          </a:prstGeom>
          <a:solidFill>
            <a:srgbClr val="E3F4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58800" rIns="177800" anchor="ctr">
            <a:noAutofit/>
          </a:bodyPr>
          <a:lstStyle/>
          <a:p>
            <a:pPr algn="l"/>
            <a:r>
              <a:rPr sz="1300" b="0">
                <a:solidFill>
                  <a:srgbClr val="1D6B48"/>
                </a:solidFill>
              </a:rPr>
              <a:t>Result: Registered, Project: Upcoming. The opportunity now exists and ranking can be calculated.</a:t>
            </a:r>
            <a:endParaRPr sz="1300" b="0">
              <a:solidFill>
                <a:srgbClr val="1D6B48"/>
              </a:solidFill>
            </a:endParaRPr>
          </a:p>
        </p:txBody>
      </p:sp>
      <p:sp>
        <p:nvSpPr>
          <p:cNvPr id="485" name="Check circle"/>
          <p:cNvSpPr/>
          <p:nvPr/>
        </p:nvSpPr>
        <p:spPr>
          <a:xfrm>
            <a:off x="6502400" y="5575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8333" y="50000"/>
                </a:moveTo>
                <a:cubicBezTo>
                  <a:pt x="8333" y="26988"/>
                  <a:pt x="26988" y="8333"/>
                  <a:pt x="50000" y="8333"/>
                </a:cubicBezTo>
                <a:cubicBezTo>
                  <a:pt x="73012" y="8333"/>
                  <a:pt x="91667" y="26988"/>
                  <a:pt x="91667" y="50000"/>
                </a:cubicBezTo>
                <a:cubicBezTo>
                  <a:pt x="91667" y="73012"/>
                  <a:pt x="73012" y="91667"/>
                  <a:pt x="50000" y="91667"/>
                </a:cubicBezTo>
                <a:cubicBezTo>
                  <a:pt x="26988" y="91667"/>
                  <a:pt x="8333" y="73012"/>
                  <a:pt x="8333" y="50000"/>
                </a:cubicBezTo>
                <a:close/>
                <a:moveTo>
                  <a:pt x="66667" y="37500"/>
                </a:moveTo>
                <a:lnTo>
                  <a:pt x="43750" y="60417"/>
                </a:lnTo>
                <a:lnTo>
                  <a:pt x="33333" y="50000"/>
                </a:lnTo>
              </a:path>
            </a:pathLst>
          </a:custGeom>
          <a:noFill/>
          <a:ln w="23283" cap="rnd">
            <a:solidFill>
              <a:srgbClr val="1D6B48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1073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2E35DDB-BDB6-41C9-8A22-79D743663650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488" name="Rectangle 2"/>
          <p:cNvSpPr/>
          <p:nvPr/>
        </p:nvSpPr>
        <p:spPr>
          <a:xfrm>
            <a:off x="711200" y="533400"/>
            <a:ext cx="8001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600" b="1">
                <a:solidFill>
                  <a:srgbClr val="12384D"/>
                </a:solidFill>
              </a:rPr>
              <a:t>Approve the price</a:t>
            </a:r>
            <a:endParaRPr sz="2600" b="1">
              <a:solidFill>
                <a:srgbClr val="12384D"/>
              </a:solidFill>
            </a:endParaRPr>
          </a:p>
        </p:txBody>
      </p:sp>
      <p:sp>
        <p:nvSpPr>
          <p:cNvPr id="489" name="Rectangle 3"/>
          <p:cNvSpPr/>
          <p:nvPr/>
        </p:nvSpPr>
        <p:spPr>
          <a:xfrm>
            <a:off x="736600" y="1143000"/>
            <a:ext cx="10795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5B6B7A"/>
                </a:solidFill>
              </a:rPr>
              <a:t>Administration, Price approvals (or the dashboard's Pricing queue)</a:t>
            </a:r>
            <a:endParaRPr sz="1400" b="0">
              <a:solidFill>
                <a:srgbClr val="5B6B7A"/>
              </a:solidFill>
            </a:endParaRPr>
          </a:p>
        </p:txBody>
      </p:sp>
      <p:sp>
        <p:nvSpPr>
          <p:cNvPr id="490" name="Rectangle 4"/>
          <p:cNvSpPr/>
          <p:nvPr/>
        </p:nvSpPr>
        <p:spPr>
          <a:xfrm>
            <a:off x="8763000" y="508000"/>
            <a:ext cx="2794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Step 6  |  DBGI administrator</a:t>
            </a:r>
            <a:endParaRPr sz="1200" b="1">
              <a:solidFill>
                <a:srgbClr val="FFFFFF"/>
              </a:solidFill>
            </a:endParaRPr>
          </a:p>
        </p:txBody>
      </p:sp>
      <p:pic>
        <p:nvPicPr>
          <p:cNvPr id="492" name="Picture 5" descr="pricing-top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62000" y="1587500"/>
            <a:ext cx="5334000" cy="294513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pic>
        <p:nvPicPr>
          <p:cNvPr id="494" name="Picture 6" descr="pricing-items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762000" y="4724400"/>
            <a:ext cx="5334000" cy="164338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sp>
        <p:nvSpPr>
          <p:cNvPr id="495" name="Rectangle 7"/>
          <p:cNvSpPr/>
          <p:nvPr/>
        </p:nvSpPr>
        <p:spPr>
          <a:xfrm>
            <a:off x="6350000" y="1587500"/>
            <a:ext cx="5207000" cy="3556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anchor="t">
            <a:noAutofit/>
          </a:bodyPr>
          <a:lstStyle/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Open the pending category for the registration.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Set Status: Approved, Partially approved, Rejected, or Changes requested.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Write the rationale and set Valid until.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Under Registration item approvals, add the item and its approved unit price.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Select Save. Reviewed by and Reviewed at are filled in with your name and the time.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496" name="Rectangle 8"/>
          <p:cNvSpPr/>
          <p:nvPr/>
        </p:nvSpPr>
        <p:spPr>
          <a:xfrm>
            <a:off x="6350000" y="5207000"/>
            <a:ext cx="5207000" cy="11684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58800" rIns="177800" anchor="ctr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Only this registration's items are offered, each labelled with its reference, such as DBGI-000012.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497" name="Info"/>
          <p:cNvSpPr/>
          <p:nvPr/>
        </p:nvSpPr>
        <p:spPr>
          <a:xfrm>
            <a:off x="6502400" y="56515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8333" y="50000"/>
                </a:moveTo>
                <a:cubicBezTo>
                  <a:pt x="8333" y="26988"/>
                  <a:pt x="26988" y="8333"/>
                  <a:pt x="50000" y="8333"/>
                </a:cubicBezTo>
                <a:cubicBezTo>
                  <a:pt x="73012" y="8333"/>
                  <a:pt x="91667" y="26988"/>
                  <a:pt x="91667" y="50000"/>
                </a:cubicBezTo>
                <a:cubicBezTo>
                  <a:pt x="91667" y="73012"/>
                  <a:pt x="73012" y="91667"/>
                  <a:pt x="50000" y="91667"/>
                </a:cubicBezTo>
                <a:cubicBezTo>
                  <a:pt x="26988" y="91667"/>
                  <a:pt x="8333" y="73012"/>
                  <a:pt x="8333" y="50000"/>
                </a:cubicBezTo>
                <a:close/>
                <a:moveTo>
                  <a:pt x="50000" y="66667"/>
                </a:moveTo>
                <a:lnTo>
                  <a:pt x="50000" y="50000"/>
                </a:lnTo>
                <a:moveTo>
                  <a:pt x="50000" y="33333"/>
                </a:moveTo>
                <a:lnTo>
                  <a:pt x="50042" y="33333"/>
                </a:lnTo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1076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2C9C87E-8A6C-4B44-888E-C579E651A6D5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00" name="Rectangle 2"/>
          <p:cNvSpPr/>
          <p:nvPr/>
        </p:nvSpPr>
        <p:spPr>
          <a:xfrm>
            <a:off x="711200" y="533400"/>
            <a:ext cx="8001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600" b="1">
                <a:solidFill>
                  <a:srgbClr val="12384D"/>
                </a:solidFill>
              </a:rPr>
              <a:t>See the decision and the approved price</a:t>
            </a:r>
            <a:endParaRPr sz="2600" b="1">
              <a:solidFill>
                <a:srgbClr val="12384D"/>
              </a:solidFill>
            </a:endParaRPr>
          </a:p>
        </p:txBody>
      </p:sp>
      <p:sp>
        <p:nvSpPr>
          <p:cNvPr id="501" name="Rectangle 3"/>
          <p:cNvSpPr/>
          <p:nvPr/>
        </p:nvSpPr>
        <p:spPr>
          <a:xfrm>
            <a:off x="736600" y="1143000"/>
            <a:ext cx="10795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5B6B7A"/>
                </a:solidFill>
              </a:rPr>
              <a:t>All three badges now have an answer</a:t>
            </a:r>
            <a:endParaRPr sz="1400" b="0">
              <a:solidFill>
                <a:srgbClr val="5B6B7A"/>
              </a:solidFill>
            </a:endParaRPr>
          </a:p>
        </p:txBody>
      </p:sp>
      <p:sp>
        <p:nvSpPr>
          <p:cNvPr id="502" name="Rectangle 4"/>
          <p:cNvSpPr/>
          <p:nvPr/>
        </p:nvSpPr>
        <p:spPr>
          <a:xfrm>
            <a:off x="8763000" y="508000"/>
            <a:ext cx="2794000" cy="355600"/>
          </a:xfrm>
          <a:prstGeom prst="round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Step 7  |  Company user</a:t>
            </a:r>
            <a:endParaRPr sz="1200" b="1">
              <a:solidFill>
                <a:srgbClr val="FFFFFF"/>
              </a:solidFill>
            </a:endParaRPr>
          </a:p>
        </p:txBody>
      </p:sp>
      <p:pic>
        <p:nvPicPr>
          <p:cNvPr id="504" name="Picture 5" descr="approved-top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62000" y="1587500"/>
            <a:ext cx="7112000" cy="150622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pic>
        <p:nvPicPr>
          <p:cNvPr id="506" name="Picture 6" descr="approved-pricing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762000" y="3276600"/>
            <a:ext cx="6615430" cy="311150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sp>
        <p:nvSpPr>
          <p:cNvPr id="507" name="Rectangle 7"/>
          <p:cNvSpPr/>
          <p:nvPr/>
        </p:nvSpPr>
        <p:spPr>
          <a:xfrm>
            <a:off x="8128000" y="1587500"/>
            <a:ext cx="3429000" cy="4826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anchor="t">
            <a:noAutofit/>
          </a:bodyPr>
          <a:lstStyle/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Badges: Registered, Project: Upcoming, Pricing: Approved.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Commercial approvals shows the decision, valid-until date, reviewer, and reason.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Requested products shows the approved unit price: PHP 9,200, not the PHP 9,000 requested.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Quote only the approved price, and only until the valid-until date.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1079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C792AA4-C711-45BF-83AD-4A57D36F8096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10" name="Rectangle 2"/>
          <p:cNvSpPr/>
          <p:nvPr/>
        </p:nvSpPr>
        <p:spPr>
          <a:xfrm>
            <a:off x="711200" y="533400"/>
            <a:ext cx="8001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600" b="1">
                <a:solidFill>
                  <a:srgbClr val="12384D"/>
                </a:solidFill>
              </a:rPr>
              <a:t>Check your ranking</a:t>
            </a:r>
            <a:endParaRPr sz="2600" b="1">
              <a:solidFill>
                <a:srgbClr val="12384D"/>
              </a:solidFill>
            </a:endParaRPr>
          </a:p>
        </p:txBody>
      </p:sp>
      <p:sp>
        <p:nvSpPr>
          <p:cNvPr id="511" name="Rectangle 3"/>
          <p:cNvSpPr/>
          <p:nvPr/>
        </p:nvSpPr>
        <p:spPr>
          <a:xfrm>
            <a:off x="736600" y="1143000"/>
            <a:ext cx="10795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5B6B7A"/>
                </a:solidFill>
              </a:rPr>
              <a:t>RANKINGS in the top menu</a:t>
            </a:r>
            <a:endParaRPr sz="1400" b="0">
              <a:solidFill>
                <a:srgbClr val="5B6B7A"/>
              </a:solidFill>
            </a:endParaRPr>
          </a:p>
        </p:txBody>
      </p:sp>
      <p:sp>
        <p:nvSpPr>
          <p:cNvPr id="512" name="Rectangle 4"/>
          <p:cNvSpPr/>
          <p:nvPr/>
        </p:nvSpPr>
        <p:spPr>
          <a:xfrm>
            <a:off x="8763000" y="508000"/>
            <a:ext cx="2794000" cy="355600"/>
          </a:xfrm>
          <a:prstGeom prst="round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Step 8  |  Company user</a:t>
            </a:r>
            <a:endParaRPr sz="1200" b="1">
              <a:solidFill>
                <a:srgbClr val="FFFFFF"/>
              </a:solidFill>
            </a:endParaRPr>
          </a:p>
        </p:txBody>
      </p:sp>
      <p:pic>
        <p:nvPicPr>
          <p:cNvPr id="514" name="Picture 5" descr="rankings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62000" y="1587500"/>
            <a:ext cx="10795000" cy="329819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sp>
        <p:nvSpPr>
          <p:cNvPr id="515" name="Rectangle 6"/>
          <p:cNvSpPr/>
          <p:nvPr/>
        </p:nvSpPr>
        <p:spPr>
          <a:xfrm>
            <a:off x="762000" y="5016500"/>
            <a:ext cx="10795000" cy="1397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anchor="t">
            <a:noAutofit/>
          </a:bodyPr>
          <a:lstStyle/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Each row is a confirmed opportunity your company registered for, with your rank and the date you became eligible.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You only see your own rank. Other companies and their registrations stay private.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1082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D1473E2-B8A3-4312-85D3-8022AD2E19E3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18" name="Rectangle 2"/>
          <p:cNvSpPr/>
          <p:nvPr/>
        </p:nvSpPr>
        <p:spPr>
          <a:xfrm>
            <a:off x="711200" y="533400"/>
            <a:ext cx="10795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600" b="1">
                <a:solidFill>
                  <a:srgbClr val="12384D"/>
                </a:solidFill>
              </a:rPr>
              <a:t>Other situations you will meet</a:t>
            </a:r>
            <a:endParaRPr sz="2600" b="1">
              <a:solidFill>
                <a:srgbClr val="12384D"/>
              </a:solidFill>
            </a:endParaRPr>
          </a:p>
        </p:txBody>
      </p:sp>
      <p:sp>
        <p:nvSpPr>
          <p:cNvPr id="519" name="Rectangle 3"/>
          <p:cNvSpPr/>
          <p:nvPr/>
        </p:nvSpPr>
        <p:spPr>
          <a:xfrm>
            <a:off x="736600" y="1143000"/>
            <a:ext cx="10795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5B6B7A"/>
                </a:solidFill>
              </a:rPr>
              <a:t>Covered step by step in the portal's Help page</a:t>
            </a:r>
            <a:endParaRPr sz="1400" b="0">
              <a:solidFill>
                <a:srgbClr val="5B6B7A"/>
              </a:solidFill>
            </a:endParaRPr>
          </a:p>
        </p:txBody>
      </p:sp>
      <p:sp>
        <p:nvSpPr>
          <p:cNvPr id="520" name="Oval 4"/>
          <p:cNvSpPr/>
          <p:nvPr/>
        </p:nvSpPr>
        <p:spPr>
          <a:xfrm>
            <a:off x="762000" y="1625600"/>
            <a:ext cx="685800" cy="6858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21" name="Users"/>
          <p:cNvSpPr/>
          <p:nvPr/>
        </p:nvSpPr>
        <p:spPr>
          <a:xfrm>
            <a:off x="939800" y="18034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66667" y="87500"/>
                </a:moveTo>
                <a:lnTo>
                  <a:pt x="66667" y="79167"/>
                </a:lnTo>
                <a:cubicBezTo>
                  <a:pt x="66667" y="69962"/>
                  <a:pt x="59205" y="62500"/>
                  <a:pt x="50000" y="62500"/>
                </a:cubicBezTo>
                <a:lnTo>
                  <a:pt x="25000" y="62500"/>
                </a:lnTo>
                <a:cubicBezTo>
                  <a:pt x="15795" y="62500"/>
                  <a:pt x="8333" y="69962"/>
                  <a:pt x="8333" y="79167"/>
                </a:cubicBezTo>
                <a:lnTo>
                  <a:pt x="8333" y="87500"/>
                </a:lnTo>
                <a:moveTo>
                  <a:pt x="66667" y="13033"/>
                </a:moveTo>
                <a:cubicBezTo>
                  <a:pt x="74018" y="14939"/>
                  <a:pt x="79151" y="21573"/>
                  <a:pt x="79151" y="29167"/>
                </a:cubicBezTo>
                <a:cubicBezTo>
                  <a:pt x="79151" y="36760"/>
                  <a:pt x="74018" y="43394"/>
                  <a:pt x="66667" y="45300"/>
                </a:cubicBezTo>
                <a:moveTo>
                  <a:pt x="91667" y="87500"/>
                </a:moveTo>
                <a:lnTo>
                  <a:pt x="91667" y="79167"/>
                </a:lnTo>
                <a:cubicBezTo>
                  <a:pt x="91661" y="71571"/>
                  <a:pt x="86521" y="64940"/>
                  <a:pt x="79167" y="63042"/>
                </a:cubicBezTo>
                <a:moveTo>
                  <a:pt x="20833" y="29167"/>
                </a:moveTo>
                <a:cubicBezTo>
                  <a:pt x="20833" y="19962"/>
                  <a:pt x="28295" y="12500"/>
                  <a:pt x="37500" y="12500"/>
                </a:cubicBezTo>
                <a:cubicBezTo>
                  <a:pt x="46705" y="12500"/>
                  <a:pt x="54167" y="19962"/>
                  <a:pt x="54167" y="29167"/>
                </a:cubicBezTo>
                <a:cubicBezTo>
                  <a:pt x="54167" y="38371"/>
                  <a:pt x="46705" y="45833"/>
                  <a:pt x="37500" y="45833"/>
                </a:cubicBezTo>
                <a:cubicBezTo>
                  <a:pt x="28295" y="45833"/>
                  <a:pt x="20833" y="38371"/>
                  <a:pt x="20833" y="29167"/>
                </a:cubicBezTo>
                <a:close/>
              </a:path>
            </a:pathLst>
          </a:custGeom>
          <a:noFill/>
          <a:ln w="27517" cap="rnd">
            <a:solidFill>
              <a:srgbClr val="FFFFFF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522" name="Rectangle 6"/>
          <p:cNvSpPr/>
          <p:nvPr/>
        </p:nvSpPr>
        <p:spPr>
          <a:xfrm>
            <a:off x="1651000" y="1625600"/>
            <a:ext cx="9906000" cy="330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500" b="1">
                <a:solidFill>
                  <a:srgbClr val="12384D"/>
                </a:solidFill>
              </a:rPr>
              <a:t>Buyer missing from the End-user list</a:t>
            </a:r>
            <a:endParaRPr sz="1500" b="1">
              <a:solidFill>
                <a:srgbClr val="12384D"/>
              </a:solidFill>
            </a:endParaRPr>
          </a:p>
        </p:txBody>
      </p:sp>
      <p:sp>
        <p:nvSpPr>
          <p:cNvPr id="523" name="Rectangle 7"/>
          <p:cNvSpPr/>
          <p:nvPr/>
        </p:nvSpPr>
        <p:spPr>
          <a:xfrm>
            <a:off x="1651000" y="1955800"/>
            <a:ext cx="9906000" cy="711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Company: use Add missing End-user. Admin: Administration, End-users; check the official name and address, add aliases, then verify.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524" name="Oval 8"/>
          <p:cNvSpPr/>
          <p:nvPr/>
        </p:nvSpPr>
        <p:spPr>
          <a:xfrm>
            <a:off x="762000" y="2794000"/>
            <a:ext cx="685800" cy="6858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25" name="X"/>
          <p:cNvSpPr/>
          <p:nvPr/>
        </p:nvSpPr>
        <p:spPr>
          <a:xfrm>
            <a:off x="939800" y="29718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75000" y="25000"/>
                </a:moveTo>
                <a:lnTo>
                  <a:pt x="25000" y="75000"/>
                </a:lnTo>
                <a:moveTo>
                  <a:pt x="25000" y="25000"/>
                </a:moveTo>
                <a:lnTo>
                  <a:pt x="75000" y="75000"/>
                </a:lnTo>
              </a:path>
            </a:pathLst>
          </a:custGeom>
          <a:noFill/>
          <a:ln w="27517" cap="rnd">
            <a:solidFill>
              <a:srgbClr val="FFFFFF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526" name="Rectangle 10"/>
          <p:cNvSpPr/>
          <p:nvPr/>
        </p:nvSpPr>
        <p:spPr>
          <a:xfrm>
            <a:off x="1651000" y="2794000"/>
            <a:ext cx="9906000" cy="330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500" b="1">
                <a:solidFill>
                  <a:srgbClr val="12384D"/>
                </a:solidFill>
              </a:rPr>
              <a:t>Registration rejected</a:t>
            </a:r>
            <a:endParaRPr sz="1500" b="1">
              <a:solidFill>
                <a:srgbClr val="12384D"/>
              </a:solidFill>
            </a:endParaRPr>
          </a:p>
        </p:txBody>
      </p:sp>
      <p:sp>
        <p:nvSpPr>
          <p:cNvPr id="527" name="Rectangle 11"/>
          <p:cNvSpPr/>
          <p:nvPr/>
        </p:nvSpPr>
        <p:spPr>
          <a:xfrm>
            <a:off x="1651000" y="3124200"/>
            <a:ext cx="9906000" cy="711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Read the reason in Activity. Do not resubmit the same deal as a new registration.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528" name="Oval 12"/>
          <p:cNvSpPr/>
          <p:nvPr/>
        </p:nvSpPr>
        <p:spPr>
          <a:xfrm>
            <a:off x="762000" y="3962400"/>
            <a:ext cx="685800" cy="6858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29" name="Mail"/>
          <p:cNvSpPr/>
          <p:nvPr/>
        </p:nvSpPr>
        <p:spPr>
          <a:xfrm>
            <a:off x="939800" y="41402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91667" y="29167"/>
                </a:moveTo>
                <a:lnTo>
                  <a:pt x="54204" y="53029"/>
                </a:lnTo>
                <a:cubicBezTo>
                  <a:pt x="51616" y="54532"/>
                  <a:pt x="48421" y="54532"/>
                  <a:pt x="45833" y="53029"/>
                </a:cubicBezTo>
                <a:lnTo>
                  <a:pt x="8333" y="29167"/>
                </a:lnTo>
                <a:moveTo>
                  <a:pt x="16667" y="16667"/>
                </a:moveTo>
                <a:lnTo>
                  <a:pt x="83333" y="16667"/>
                </a:lnTo>
                <a:cubicBezTo>
                  <a:pt x="87936" y="16667"/>
                  <a:pt x="91667" y="20398"/>
                  <a:pt x="91667" y="25000"/>
                </a:cubicBezTo>
                <a:lnTo>
                  <a:pt x="91667" y="75000"/>
                </a:lnTo>
                <a:cubicBezTo>
                  <a:pt x="91667" y="79603"/>
                  <a:pt x="87936" y="83333"/>
                  <a:pt x="83333" y="83333"/>
                </a:cubicBezTo>
                <a:lnTo>
                  <a:pt x="16667" y="83333"/>
                </a:lnTo>
                <a:cubicBezTo>
                  <a:pt x="12064" y="83333"/>
                  <a:pt x="8333" y="79603"/>
                  <a:pt x="8333" y="75000"/>
                </a:cubicBezTo>
                <a:lnTo>
                  <a:pt x="8333" y="25000"/>
                </a:lnTo>
                <a:cubicBezTo>
                  <a:pt x="8333" y="20398"/>
                  <a:pt x="12064" y="16667"/>
                  <a:pt x="16667" y="16667"/>
                </a:cubicBezTo>
                <a:close/>
              </a:path>
            </a:pathLst>
          </a:custGeom>
          <a:noFill/>
          <a:ln w="27517" cap="rnd">
            <a:solidFill>
              <a:srgbClr val="FFFFFF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530" name="Rectangle 14"/>
          <p:cNvSpPr/>
          <p:nvPr/>
        </p:nvSpPr>
        <p:spPr>
          <a:xfrm>
            <a:off x="1651000" y="3962400"/>
            <a:ext cx="9906000" cy="330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500" b="1">
                <a:solidFill>
                  <a:srgbClr val="12384D"/>
                </a:solidFill>
              </a:rPr>
              <a:t>An email failed to send</a:t>
            </a:r>
            <a:endParaRPr sz="1500" b="1">
              <a:solidFill>
                <a:srgbClr val="12384D"/>
              </a:solidFill>
            </a:endParaRPr>
          </a:p>
        </p:txBody>
      </p:sp>
      <p:sp>
        <p:nvSpPr>
          <p:cNvPr id="531" name="Rectangle 15"/>
          <p:cNvSpPr/>
          <p:nvPr/>
        </p:nvSpPr>
        <p:spPr>
          <a:xfrm>
            <a:off x="1651000" y="4292600"/>
            <a:ext cx="9906000" cy="711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Admin: Administration, Notification deliveries. Fix the address or settings, then retry. The portal notification was never lost.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532" name="Oval 16"/>
          <p:cNvSpPr/>
          <p:nvPr/>
        </p:nvSpPr>
        <p:spPr>
          <a:xfrm>
            <a:off x="762000" y="5130800"/>
            <a:ext cx="685800" cy="6858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33" name="Calendar"/>
          <p:cNvSpPr/>
          <p:nvPr/>
        </p:nvSpPr>
        <p:spPr>
          <a:xfrm>
            <a:off x="939800" y="53086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33333" y="8333"/>
                </a:moveTo>
                <a:lnTo>
                  <a:pt x="33333" y="20833"/>
                </a:lnTo>
                <a:moveTo>
                  <a:pt x="66667" y="8333"/>
                </a:moveTo>
                <a:lnTo>
                  <a:pt x="66667" y="20833"/>
                </a:lnTo>
                <a:moveTo>
                  <a:pt x="20833" y="12500"/>
                </a:moveTo>
                <a:lnTo>
                  <a:pt x="79167" y="12500"/>
                </a:lnTo>
                <a:cubicBezTo>
                  <a:pt x="83769" y="12500"/>
                  <a:pt x="87500" y="16231"/>
                  <a:pt x="87500" y="20833"/>
                </a:cubicBezTo>
                <a:lnTo>
                  <a:pt x="87500" y="79167"/>
                </a:lnTo>
                <a:cubicBezTo>
                  <a:pt x="87500" y="83769"/>
                  <a:pt x="83769" y="87500"/>
                  <a:pt x="79167" y="87500"/>
                </a:cubicBezTo>
                <a:lnTo>
                  <a:pt x="20833" y="87500"/>
                </a:lnTo>
                <a:cubicBezTo>
                  <a:pt x="16231" y="87500"/>
                  <a:pt x="12500" y="83769"/>
                  <a:pt x="12500" y="79167"/>
                </a:cubicBezTo>
                <a:lnTo>
                  <a:pt x="12500" y="20833"/>
                </a:lnTo>
                <a:cubicBezTo>
                  <a:pt x="12500" y="16231"/>
                  <a:pt x="16231" y="12500"/>
                  <a:pt x="20833" y="12500"/>
                </a:cubicBezTo>
                <a:close/>
                <a:moveTo>
                  <a:pt x="12500" y="37500"/>
                </a:moveTo>
                <a:lnTo>
                  <a:pt x="87500" y="37500"/>
                </a:lnTo>
              </a:path>
            </a:pathLst>
          </a:custGeom>
          <a:noFill/>
          <a:ln w="27517" cap="rnd">
            <a:solidFill>
              <a:srgbClr val="FFFFFF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534" name="Rectangle 18"/>
          <p:cNvSpPr/>
          <p:nvPr/>
        </p:nvSpPr>
        <p:spPr>
          <a:xfrm>
            <a:off x="1651000" y="5130800"/>
            <a:ext cx="9906000" cy="330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500" b="1">
                <a:solidFill>
                  <a:srgbClr val="12384D"/>
                </a:solidFill>
              </a:rPr>
              <a:t>An approval is about to expire</a:t>
            </a:r>
            <a:endParaRPr sz="1500" b="1">
              <a:solidFill>
                <a:srgbClr val="12384D"/>
              </a:solidFill>
            </a:endParaRPr>
          </a:p>
        </p:txBody>
      </p:sp>
      <p:sp>
        <p:nvSpPr>
          <p:cNvPr id="535" name="Rectangle 19"/>
          <p:cNvSpPr/>
          <p:nvPr/>
        </p:nvSpPr>
        <p:spPr>
          <a:xfrm>
            <a:off x="1651000" y="5461000"/>
            <a:ext cx="9906000" cy="711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Admin: the dashboard's Expiring in 30 days card and Price renewals. Each renewal adds 30 days.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1085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5F867CA9-AA29-4B16-809F-F852F057BB3F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38" name="Rectangle 2"/>
          <p:cNvSpPr/>
          <p:nvPr/>
        </p:nvSpPr>
        <p:spPr>
          <a:xfrm>
            <a:off x="711200" y="533400"/>
            <a:ext cx="10795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600" b="1">
                <a:solidFill>
                  <a:srgbClr val="12384D"/>
                </a:solidFill>
              </a:rPr>
              <a:t>Golden rules</a:t>
            </a:r>
            <a:endParaRPr sz="2600" b="1">
              <a:solidFill>
                <a:srgbClr val="12384D"/>
              </a:solidFill>
            </a:endParaRPr>
          </a:p>
        </p:txBody>
      </p:sp>
      <p:sp>
        <p:nvSpPr>
          <p:cNvPr id="539" name="Rectangle 3"/>
          <p:cNvSpPr/>
          <p:nvPr/>
        </p:nvSpPr>
        <p:spPr>
          <a:xfrm>
            <a:off x="736600" y="1143000"/>
            <a:ext cx="10795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5B6B7A"/>
                </a:solidFill>
              </a:rPr>
              <a:t>If you remember nothing else, remember these</a:t>
            </a:r>
            <a:endParaRPr sz="1400" b="0">
              <a:solidFill>
                <a:srgbClr val="5B6B7A"/>
              </a:solidFill>
            </a:endParaRPr>
          </a:p>
        </p:txBody>
      </p:sp>
      <p:sp>
        <p:nvSpPr>
          <p:cNvPr id="540" name="Rectangle 4"/>
          <p:cNvSpPr/>
          <p:nvPr/>
        </p:nvSpPr>
        <p:spPr>
          <a:xfrm>
            <a:off x="762000" y="1651000"/>
            <a:ext cx="5270500" cy="1270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41" name="Oval 5"/>
          <p:cNvSpPr/>
          <p:nvPr/>
        </p:nvSpPr>
        <p:spPr>
          <a:xfrm>
            <a:off x="965200" y="1981200"/>
            <a:ext cx="609600" cy="6096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42" name="Alert"/>
          <p:cNvSpPr/>
          <p:nvPr/>
        </p:nvSpPr>
        <p:spPr>
          <a:xfrm>
            <a:off x="1117600" y="21336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8333" y="50000"/>
                </a:moveTo>
                <a:cubicBezTo>
                  <a:pt x="8333" y="26988"/>
                  <a:pt x="26988" y="8333"/>
                  <a:pt x="50000" y="8333"/>
                </a:cubicBezTo>
                <a:cubicBezTo>
                  <a:pt x="73012" y="8333"/>
                  <a:pt x="91667" y="26988"/>
                  <a:pt x="91667" y="50000"/>
                </a:cubicBezTo>
                <a:cubicBezTo>
                  <a:pt x="91667" y="73012"/>
                  <a:pt x="73012" y="91667"/>
                  <a:pt x="50000" y="91667"/>
                </a:cubicBezTo>
                <a:cubicBezTo>
                  <a:pt x="26988" y="91667"/>
                  <a:pt x="8333" y="73012"/>
                  <a:pt x="8333" y="50000"/>
                </a:cubicBezTo>
                <a:close/>
                <a:moveTo>
                  <a:pt x="50000" y="33333"/>
                </a:moveTo>
                <a:lnTo>
                  <a:pt x="50000" y="50000"/>
                </a:lnTo>
                <a:moveTo>
                  <a:pt x="50000" y="66667"/>
                </a:moveTo>
                <a:lnTo>
                  <a:pt x="50042" y="66667"/>
                </a:lnTo>
              </a:path>
            </a:pathLst>
          </a:custGeom>
          <a:noFill/>
          <a:ln w="25400" cap="rnd">
            <a:solidFill>
              <a:srgbClr val="FFFFFF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543" name="Rectangle 7"/>
          <p:cNvSpPr/>
          <p:nvPr/>
        </p:nvSpPr>
        <p:spPr>
          <a:xfrm>
            <a:off x="1752600" y="1778000"/>
            <a:ext cx="4127500" cy="1016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500" b="1">
                <a:solidFill>
                  <a:srgbClr val="12384D"/>
                </a:solidFill>
              </a:rPr>
              <a:t>A requested price is never an approved price.</a:t>
            </a:r>
            <a:endParaRPr sz="1500" b="1">
              <a:solidFill>
                <a:srgbClr val="12384D"/>
              </a:solidFill>
            </a:endParaRPr>
          </a:p>
        </p:txBody>
      </p:sp>
      <p:sp>
        <p:nvSpPr>
          <p:cNvPr id="544" name="Rectangle 8"/>
          <p:cNvSpPr/>
          <p:nvPr/>
        </p:nvSpPr>
        <p:spPr>
          <a:xfrm>
            <a:off x="762000" y="3175000"/>
            <a:ext cx="5270500" cy="1270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45" name="Oval 9"/>
          <p:cNvSpPr/>
          <p:nvPr/>
        </p:nvSpPr>
        <p:spPr>
          <a:xfrm>
            <a:off x="965200" y="3505200"/>
            <a:ext cx="609600" cy="6096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46" name="Document"/>
          <p:cNvSpPr/>
          <p:nvPr/>
        </p:nvSpPr>
        <p:spPr>
          <a:xfrm>
            <a:off x="1117600" y="36576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25000" y="91667"/>
                </a:moveTo>
                <a:cubicBezTo>
                  <a:pt x="20398" y="91667"/>
                  <a:pt x="16667" y="87936"/>
                  <a:pt x="16667" y="83333"/>
                </a:cubicBezTo>
                <a:lnTo>
                  <a:pt x="16667" y="16667"/>
                </a:lnTo>
                <a:cubicBezTo>
                  <a:pt x="16667" y="12064"/>
                  <a:pt x="20398" y="8333"/>
                  <a:pt x="25000" y="8333"/>
                </a:cubicBezTo>
                <a:lnTo>
                  <a:pt x="58333" y="8333"/>
                </a:lnTo>
                <a:cubicBezTo>
                  <a:pt x="60998" y="8329"/>
                  <a:pt x="63553" y="9388"/>
                  <a:pt x="65433" y="11275"/>
                </a:cubicBezTo>
                <a:lnTo>
                  <a:pt x="80383" y="26225"/>
                </a:lnTo>
                <a:cubicBezTo>
                  <a:pt x="82275" y="28106"/>
                  <a:pt x="83338" y="30665"/>
                  <a:pt x="83333" y="33333"/>
                </a:cubicBezTo>
                <a:lnTo>
                  <a:pt x="83333" y="83333"/>
                </a:lnTo>
                <a:cubicBezTo>
                  <a:pt x="83333" y="87936"/>
                  <a:pt x="79603" y="91667"/>
                  <a:pt x="75000" y="91667"/>
                </a:cubicBezTo>
                <a:close/>
                <a:moveTo>
                  <a:pt x="58333" y="8333"/>
                </a:moveTo>
                <a:lnTo>
                  <a:pt x="58333" y="29167"/>
                </a:lnTo>
                <a:cubicBezTo>
                  <a:pt x="58333" y="31468"/>
                  <a:pt x="60199" y="33333"/>
                  <a:pt x="62500" y="33333"/>
                </a:cubicBezTo>
                <a:lnTo>
                  <a:pt x="83333" y="33333"/>
                </a:lnTo>
                <a:moveTo>
                  <a:pt x="41667" y="37500"/>
                </a:moveTo>
                <a:lnTo>
                  <a:pt x="33333" y="37500"/>
                </a:lnTo>
                <a:moveTo>
                  <a:pt x="66667" y="54167"/>
                </a:moveTo>
                <a:lnTo>
                  <a:pt x="33333" y="54167"/>
                </a:lnTo>
                <a:moveTo>
                  <a:pt x="66667" y="70833"/>
                </a:moveTo>
                <a:lnTo>
                  <a:pt x="33333" y="70833"/>
                </a:lnTo>
              </a:path>
            </a:pathLst>
          </a:custGeom>
          <a:noFill/>
          <a:ln w="25400" cap="rnd">
            <a:solidFill>
              <a:srgbClr val="FFFFFF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547" name="Rectangle 11"/>
          <p:cNvSpPr/>
          <p:nvPr/>
        </p:nvSpPr>
        <p:spPr>
          <a:xfrm>
            <a:off x="1752600" y="3302000"/>
            <a:ext cx="4127500" cy="1016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500" b="1">
                <a:solidFill>
                  <a:srgbClr val="12384D"/>
                </a:solidFill>
              </a:rPr>
              <a:t>One registration per real opportunity. Edit it; do not duplicate it.</a:t>
            </a:r>
            <a:endParaRPr sz="1500" b="1">
              <a:solidFill>
                <a:srgbClr val="12384D"/>
              </a:solidFill>
            </a:endParaRPr>
          </a:p>
        </p:txBody>
      </p:sp>
      <p:sp>
        <p:nvSpPr>
          <p:cNvPr id="548" name="Rectangle 12"/>
          <p:cNvSpPr/>
          <p:nvPr/>
        </p:nvSpPr>
        <p:spPr>
          <a:xfrm>
            <a:off x="762000" y="4699000"/>
            <a:ext cx="5270500" cy="1270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49" name="Oval 13"/>
          <p:cNvSpPr/>
          <p:nvPr/>
        </p:nvSpPr>
        <p:spPr>
          <a:xfrm>
            <a:off x="965200" y="5029200"/>
            <a:ext cx="609600" cy="6096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50" name="Bell"/>
          <p:cNvSpPr/>
          <p:nvPr/>
        </p:nvSpPr>
        <p:spPr>
          <a:xfrm>
            <a:off x="1117600" y="51816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42783" y="87500"/>
                </a:moveTo>
                <a:cubicBezTo>
                  <a:pt x="44272" y="90078"/>
                  <a:pt x="47023" y="91666"/>
                  <a:pt x="50000" y="91666"/>
                </a:cubicBezTo>
                <a:cubicBezTo>
                  <a:pt x="52977" y="91666"/>
                  <a:pt x="55728" y="90078"/>
                  <a:pt x="57217" y="87500"/>
                </a:cubicBezTo>
                <a:moveTo>
                  <a:pt x="13592" y="63858"/>
                </a:moveTo>
                <a:cubicBezTo>
                  <a:pt x="12480" y="65077"/>
                  <a:pt x="12192" y="66838"/>
                  <a:pt x="12857" y="68348"/>
                </a:cubicBezTo>
                <a:cubicBezTo>
                  <a:pt x="13523" y="69858"/>
                  <a:pt x="15017" y="70832"/>
                  <a:pt x="16667" y="70833"/>
                </a:cubicBezTo>
                <a:lnTo>
                  <a:pt x="83333" y="70833"/>
                </a:lnTo>
                <a:cubicBezTo>
                  <a:pt x="84983" y="70834"/>
                  <a:pt x="86478" y="69861"/>
                  <a:pt x="87145" y="68352"/>
                </a:cubicBezTo>
                <a:cubicBezTo>
                  <a:pt x="87813" y="66843"/>
                  <a:pt x="87527" y="65083"/>
                  <a:pt x="86417" y="63863"/>
                </a:cubicBezTo>
                <a:cubicBezTo>
                  <a:pt x="80875" y="58150"/>
                  <a:pt x="75000" y="52079"/>
                  <a:pt x="75000" y="33333"/>
                </a:cubicBezTo>
                <a:cubicBezTo>
                  <a:pt x="75000" y="19526"/>
                  <a:pt x="63807" y="8333"/>
                  <a:pt x="50000" y="8333"/>
                </a:cubicBezTo>
                <a:cubicBezTo>
                  <a:pt x="36193" y="8333"/>
                  <a:pt x="25000" y="19526"/>
                  <a:pt x="25000" y="33333"/>
                </a:cubicBezTo>
                <a:cubicBezTo>
                  <a:pt x="25000" y="52079"/>
                  <a:pt x="19121" y="58150"/>
                  <a:pt x="13592" y="63858"/>
                </a:cubicBezTo>
              </a:path>
            </a:pathLst>
          </a:custGeom>
          <a:noFill/>
          <a:ln w="25400" cap="rnd">
            <a:solidFill>
              <a:srgbClr val="FFFFFF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551" name="Rectangle 15"/>
          <p:cNvSpPr/>
          <p:nvPr/>
        </p:nvSpPr>
        <p:spPr>
          <a:xfrm>
            <a:off x="1752600" y="4826000"/>
            <a:ext cx="4127500" cy="1016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500" b="1">
                <a:solidFill>
                  <a:srgbClr val="12384D"/>
                </a:solidFill>
              </a:rPr>
              <a:t>The portal notification is the official record. Email is only a copy.</a:t>
            </a:r>
            <a:endParaRPr sz="1500" b="1">
              <a:solidFill>
                <a:srgbClr val="12384D"/>
              </a:solidFill>
            </a:endParaRPr>
          </a:p>
        </p:txBody>
      </p:sp>
      <p:sp>
        <p:nvSpPr>
          <p:cNvPr id="552" name="Rectangle 16"/>
          <p:cNvSpPr/>
          <p:nvPr/>
        </p:nvSpPr>
        <p:spPr>
          <a:xfrm>
            <a:off x="6286500" y="1651000"/>
            <a:ext cx="5270500" cy="1270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53" name="Oval 17"/>
          <p:cNvSpPr/>
          <p:nvPr/>
        </p:nvSpPr>
        <p:spPr>
          <a:xfrm>
            <a:off x="6489700" y="1981200"/>
            <a:ext cx="609600" cy="6096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54" name="Message"/>
          <p:cNvSpPr/>
          <p:nvPr/>
        </p:nvSpPr>
        <p:spPr>
          <a:xfrm>
            <a:off x="6642100" y="21336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12467" y="68092"/>
                </a:moveTo>
                <a:cubicBezTo>
                  <a:pt x="13079" y="69637"/>
                  <a:pt x="13216" y="71330"/>
                  <a:pt x="12858" y="72954"/>
                </a:cubicBezTo>
                <a:lnTo>
                  <a:pt x="8421" y="86663"/>
                </a:lnTo>
                <a:cubicBezTo>
                  <a:pt x="8130" y="88076"/>
                  <a:pt x="8591" y="89539"/>
                  <a:pt x="9640" y="90530"/>
                </a:cubicBezTo>
                <a:cubicBezTo>
                  <a:pt x="10689" y="91521"/>
                  <a:pt x="12176" y="91899"/>
                  <a:pt x="13571" y="91529"/>
                </a:cubicBezTo>
                <a:lnTo>
                  <a:pt x="27792" y="87371"/>
                </a:lnTo>
                <a:cubicBezTo>
                  <a:pt x="29324" y="87067"/>
                  <a:pt x="30910" y="87200"/>
                  <a:pt x="32371" y="87754"/>
                </a:cubicBezTo>
                <a:cubicBezTo>
                  <a:pt x="50740" y="96333"/>
                  <a:pt x="72617" y="90445"/>
                  <a:pt x="84199" y="73806"/>
                </a:cubicBezTo>
                <a:cubicBezTo>
                  <a:pt x="95781" y="57167"/>
                  <a:pt x="93706" y="34607"/>
                  <a:pt x="79284" y="20359"/>
                </a:cubicBezTo>
                <a:cubicBezTo>
                  <a:pt x="64861" y="6112"/>
                  <a:pt x="42277" y="4313"/>
                  <a:pt x="25781" y="16097"/>
                </a:cubicBezTo>
                <a:cubicBezTo>
                  <a:pt x="9285" y="27882"/>
                  <a:pt x="3665" y="49829"/>
                  <a:pt x="12467" y="68092"/>
                </a:cubicBezTo>
              </a:path>
            </a:pathLst>
          </a:custGeom>
          <a:noFill/>
          <a:ln w="25400" cap="rnd">
            <a:solidFill>
              <a:srgbClr val="FFFFFF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555" name="Rectangle 19"/>
          <p:cNvSpPr/>
          <p:nvPr/>
        </p:nvSpPr>
        <p:spPr>
          <a:xfrm>
            <a:off x="7277100" y="1778000"/>
            <a:ext cx="4127500" cy="1016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500" b="1">
                <a:solidFill>
                  <a:srgbClr val="12384D"/>
                </a:solidFill>
              </a:rPr>
              <a:t>Write reasons and instructions someone else can act on without asking you.</a:t>
            </a:r>
            <a:endParaRPr sz="1500" b="1">
              <a:solidFill>
                <a:srgbClr val="12384D"/>
              </a:solidFill>
            </a:endParaRPr>
          </a:p>
        </p:txBody>
      </p:sp>
      <p:sp>
        <p:nvSpPr>
          <p:cNvPr id="556" name="Rectangle 20"/>
          <p:cNvSpPr/>
          <p:nvPr/>
        </p:nvSpPr>
        <p:spPr>
          <a:xfrm>
            <a:off x="6286500" y="3175000"/>
            <a:ext cx="5270500" cy="1270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57" name="Oval 21"/>
          <p:cNvSpPr/>
          <p:nvPr/>
        </p:nvSpPr>
        <p:spPr>
          <a:xfrm>
            <a:off x="6489700" y="3505200"/>
            <a:ext cx="609600" cy="6096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58" name="Check"/>
          <p:cNvSpPr/>
          <p:nvPr/>
        </p:nvSpPr>
        <p:spPr>
          <a:xfrm>
            <a:off x="6642100" y="36576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83333" y="25000"/>
                </a:moveTo>
                <a:lnTo>
                  <a:pt x="37500" y="70833"/>
                </a:lnTo>
                <a:lnTo>
                  <a:pt x="16667" y="50000"/>
                </a:lnTo>
              </a:path>
            </a:pathLst>
          </a:custGeom>
          <a:noFill/>
          <a:ln w="25400" cap="rnd">
            <a:solidFill>
              <a:srgbClr val="FFFFFF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559" name="Rectangle 23"/>
          <p:cNvSpPr/>
          <p:nvPr/>
        </p:nvSpPr>
        <p:spPr>
          <a:xfrm>
            <a:off x="7277100" y="3302000"/>
            <a:ext cx="4127500" cy="1016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500" b="1">
                <a:solidFill>
                  <a:srgbClr val="12384D"/>
                </a:solidFill>
              </a:rPr>
              <a:t>Read the three badges separately: registration, project, pricing.</a:t>
            </a:r>
            <a:endParaRPr sz="1500" b="1">
              <a:solidFill>
                <a:srgbClr val="12384D"/>
              </a:solidFill>
            </a:endParaRPr>
          </a:p>
        </p:txBody>
      </p:sp>
      <p:sp>
        <p:nvSpPr>
          <p:cNvPr id="560" name="Rectangle 24"/>
          <p:cNvSpPr/>
          <p:nvPr/>
        </p:nvSpPr>
        <p:spPr>
          <a:xfrm>
            <a:off x="6286500" y="4699000"/>
            <a:ext cx="5270500" cy="1270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61" name="Oval 25"/>
          <p:cNvSpPr/>
          <p:nvPr/>
        </p:nvSpPr>
        <p:spPr>
          <a:xfrm>
            <a:off x="6489700" y="5029200"/>
            <a:ext cx="609600" cy="6096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62" name="Info"/>
          <p:cNvSpPr/>
          <p:nvPr/>
        </p:nvSpPr>
        <p:spPr>
          <a:xfrm>
            <a:off x="6642100" y="51816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8333" y="50000"/>
                </a:moveTo>
                <a:cubicBezTo>
                  <a:pt x="8333" y="26988"/>
                  <a:pt x="26988" y="8333"/>
                  <a:pt x="50000" y="8333"/>
                </a:cubicBezTo>
                <a:cubicBezTo>
                  <a:pt x="73012" y="8333"/>
                  <a:pt x="91667" y="26988"/>
                  <a:pt x="91667" y="50000"/>
                </a:cubicBezTo>
                <a:cubicBezTo>
                  <a:pt x="91667" y="73012"/>
                  <a:pt x="73012" y="91667"/>
                  <a:pt x="50000" y="91667"/>
                </a:cubicBezTo>
                <a:cubicBezTo>
                  <a:pt x="26988" y="91667"/>
                  <a:pt x="8333" y="73012"/>
                  <a:pt x="8333" y="50000"/>
                </a:cubicBezTo>
                <a:close/>
                <a:moveTo>
                  <a:pt x="50000" y="66667"/>
                </a:moveTo>
                <a:lnTo>
                  <a:pt x="50000" y="50000"/>
                </a:lnTo>
                <a:moveTo>
                  <a:pt x="50000" y="33333"/>
                </a:moveTo>
                <a:lnTo>
                  <a:pt x="50042" y="33333"/>
                </a:lnTo>
              </a:path>
            </a:pathLst>
          </a:custGeom>
          <a:noFill/>
          <a:ln w="25400" cap="rnd">
            <a:solidFill>
              <a:srgbClr val="FFFFFF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563" name="Rectangle 27"/>
          <p:cNvSpPr/>
          <p:nvPr/>
        </p:nvSpPr>
        <p:spPr>
          <a:xfrm>
            <a:off x="7277100" y="4826000"/>
            <a:ext cx="4127500" cy="1016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500" b="1">
                <a:solidFill>
                  <a:srgbClr val="12384D"/>
                </a:solidFill>
              </a:rPr>
              <a:t>Stuck? Open HELP. It has step-by-step guides for your role.</a:t>
            </a:r>
            <a:endParaRPr sz="1500" b="1">
              <a:solidFill>
                <a:srgbClr val="12384D"/>
              </a:solidFill>
            </a:endParaRPr>
          </a:p>
        </p:txBody>
      </p:sp>
      <p:sp>
        <p:nvSpPr>
          <p:cNvPr id="1088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ACB274-83E7-4463-813B-4190E1E94892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66" name="Rectangle 2"/>
          <p:cNvSpPr/>
          <p:nvPr/>
        </p:nvSpPr>
        <p:spPr>
          <a:xfrm>
            <a:off x="711200" y="533400"/>
            <a:ext cx="10795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600" b="1">
                <a:solidFill>
                  <a:srgbClr val="12384D"/>
                </a:solidFill>
              </a:rPr>
              <a:t>Quick reference: where do I go?</a:t>
            </a:r>
            <a:endParaRPr sz="2600" b="1">
              <a:solidFill>
                <a:srgbClr val="12384D"/>
              </a:solidFill>
            </a:endParaRPr>
          </a:p>
        </p:txBody>
      </p:sp>
      <p:graphicFrame>
        <p:nvGraphicFramePr>
          <p:cNvPr id="567" name="Table 3"/>
          <p:cNvGraphicFramePr>
            <a:graphicFrameLocks noGrp="1"/>
          </p:cNvGraphicFramePr>
          <p:nvPr/>
        </p:nvGraphicFramePr>
        <p:xfrm>
          <a:off x="762000" y="1397000"/>
          <a:ext cx="107950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91000"/>
                <a:gridCol w="6604000"/>
              </a:tblGrid>
              <a:tr h="508000">
                <a:tc>
                  <a:txBody>
                    <a:bodyPr/>
                    <a:lstStyle/>
                    <a:p>
                      <a:r>
                        <a:rPr sz="1400"/>
                        <a:t>I want to...</a:t>
                      </a:r>
                      <a:endParaRPr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Go to</a:t>
                      </a:r>
                      <a:endParaRPr sz="1400"/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400"/>
                        <a:t>Register a new deal</a:t>
                      </a:r>
                      <a:endParaRPr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Registrations, then NEW REGISTRATION</a:t>
                      </a:r>
                      <a:endParaRPr sz="1400"/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400"/>
                        <a:t>See what DBGI decided</a:t>
                      </a:r>
                      <a:endParaRPr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NOTIFICATIONS, then VIEW REGISTRATION</a:t>
                      </a:r>
                      <a:endParaRPr sz="1400"/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400"/>
                        <a:t>Fix a registration DBGI sent back</a:t>
                      </a:r>
                      <a:endParaRPr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Open the registration, read Activity, EDIT REGISTRATION</a:t>
                      </a:r>
                      <a:endParaRPr sz="1400"/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400"/>
                        <a:t>See my approved price</a:t>
                      </a:r>
                      <a:endParaRPr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Open the registration: Commercial approvals and Requested products</a:t>
                      </a:r>
                      <a:endParaRPr sz="1400"/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400"/>
                        <a:t>See my rank</a:t>
                      </a:r>
                      <a:endParaRPr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RANKINGS</a:t>
                      </a:r>
                      <a:endParaRPr sz="1400"/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400"/>
                        <a:t>Review a registration (DBGI)</a:t>
                      </a:r>
                      <a:endParaRPr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Administration dashboard, Registration review queue</a:t>
                      </a:r>
                      <a:endParaRPr sz="1400"/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400"/>
                        <a:t>Decide a price (DBGI)</a:t>
                      </a:r>
                      <a:endParaRPr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Administration, Price approvals</a:t>
                      </a:r>
                      <a:endParaRPr sz="1400"/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400"/>
                        <a:t>Get step-by-step help</a:t>
                      </a:r>
                      <a:endParaRPr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HELP in the top menu</a:t>
                      </a:r>
                      <a:endParaRPr sz="1400"/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1091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4DE16EB-4549-4654-8ABF-75DC5CCEF245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384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Rectangle 1"/>
          <p:cNvSpPr/>
          <p:nvPr/>
        </p:nvSpPr>
        <p:spPr>
          <a:xfrm>
            <a:off x="762000" y="1397000"/>
            <a:ext cx="889000" cy="101600"/>
          </a:xfrm>
          <a:prstGeom prst="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70" name="Rectangle 2"/>
          <p:cNvSpPr/>
          <p:nvPr/>
        </p:nvSpPr>
        <p:spPr>
          <a:xfrm>
            <a:off x="711200" y="1651000"/>
            <a:ext cx="10922000" cy="762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Your answers decide what we build next</a:t>
            </a:r>
            <a:endParaRPr sz="3400" b="1">
              <a:solidFill>
                <a:srgbClr val="FFFFFF"/>
              </a:solidFill>
            </a:endParaRPr>
          </a:p>
        </p:txBody>
      </p:sp>
      <p:sp>
        <p:nvSpPr>
          <p:cNvPr id="571" name="Rectangle 3"/>
          <p:cNvSpPr/>
          <p:nvPr/>
        </p:nvSpPr>
        <p:spPr>
          <a:xfrm>
            <a:off x="736600" y="2438400"/>
            <a:ext cx="10668000" cy="762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700" b="0">
                <a:solidFill>
                  <a:srgbClr val="B9D4E0"/>
                </a:solidFill>
              </a:rPr>
              <a:t>The next 20 slides each ask one question about how DBGI handles deals. There are no wrong answers: you know the process, the portal should follow it.</a:t>
            </a:r>
            <a:endParaRPr sz="1700" b="0">
              <a:solidFill>
                <a:srgbClr val="B9D4E0"/>
              </a:solidFill>
            </a:endParaRPr>
          </a:p>
        </p:txBody>
      </p:sp>
      <p:sp>
        <p:nvSpPr>
          <p:cNvPr id="572" name="Oval 4"/>
          <p:cNvSpPr/>
          <p:nvPr/>
        </p:nvSpPr>
        <p:spPr>
          <a:xfrm>
            <a:off x="762000" y="3619500"/>
            <a:ext cx="457200" cy="4572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600" b="1">
                <a:solidFill>
                  <a:srgbClr val="12384D"/>
                </a:solidFill>
              </a:rPr>
              <a:t>1</a:t>
            </a:r>
            <a:endParaRPr sz="1600" b="1">
              <a:solidFill>
                <a:srgbClr val="12384D"/>
              </a:solidFill>
            </a:endParaRPr>
          </a:p>
        </p:txBody>
      </p:sp>
      <p:sp>
        <p:nvSpPr>
          <p:cNvPr id="573" name="Rectangle 5"/>
          <p:cNvSpPr/>
          <p:nvPr/>
        </p:nvSpPr>
        <p:spPr>
          <a:xfrm>
            <a:off x="1397000" y="3644900"/>
            <a:ext cx="10160000" cy="50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Open the Word "DBGI Portal Answer Form" beside these slides. Each row matches one slide, A1 to D4.</a:t>
            </a:r>
            <a:endParaRPr sz="1600" b="0">
              <a:solidFill>
                <a:srgbClr val="FFFFFF"/>
              </a:solidFill>
            </a:endParaRPr>
          </a:p>
        </p:txBody>
      </p:sp>
      <p:sp>
        <p:nvSpPr>
          <p:cNvPr id="574" name="Oval 6"/>
          <p:cNvSpPr/>
          <p:nvPr/>
        </p:nvSpPr>
        <p:spPr>
          <a:xfrm>
            <a:off x="762000" y="4279900"/>
            <a:ext cx="457200" cy="4572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600" b="1">
                <a:solidFill>
                  <a:srgbClr val="12384D"/>
                </a:solidFill>
              </a:rPr>
              <a:t>2</a:t>
            </a:r>
            <a:endParaRPr sz="1600" b="1">
              <a:solidFill>
                <a:srgbClr val="12384D"/>
              </a:solidFill>
            </a:endParaRPr>
          </a:p>
        </p:txBody>
      </p:sp>
      <p:sp>
        <p:nvSpPr>
          <p:cNvPr id="575" name="Rectangle 7"/>
          <p:cNvSpPr/>
          <p:nvPr/>
        </p:nvSpPr>
        <p:spPr>
          <a:xfrm>
            <a:off x="1397000" y="4305300"/>
            <a:ext cx="10160000" cy="50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On each slide, read what the portal does today, then pick a choice in the form, keep today, or write your own.</a:t>
            </a:r>
            <a:endParaRPr sz="1600" b="0">
              <a:solidFill>
                <a:srgbClr val="FFFFFF"/>
              </a:solidFill>
            </a:endParaRPr>
          </a:p>
        </p:txBody>
      </p:sp>
      <p:sp>
        <p:nvSpPr>
          <p:cNvPr id="576" name="Oval 8"/>
          <p:cNvSpPr/>
          <p:nvPr/>
        </p:nvSpPr>
        <p:spPr>
          <a:xfrm>
            <a:off x="762000" y="4940300"/>
            <a:ext cx="457200" cy="4572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600" b="1">
                <a:solidFill>
                  <a:srgbClr val="12384D"/>
                </a:solidFill>
              </a:rPr>
              <a:t>3</a:t>
            </a:r>
            <a:endParaRPr sz="1600" b="1">
              <a:solidFill>
                <a:srgbClr val="12384D"/>
              </a:solidFill>
            </a:endParaRPr>
          </a:p>
        </p:txBody>
      </p:sp>
      <p:sp>
        <p:nvSpPr>
          <p:cNvPr id="577" name="Rectangle 9"/>
          <p:cNvSpPr/>
          <p:nvPr/>
        </p:nvSpPr>
        <p:spPr>
          <a:xfrm>
            <a:off x="1397000" y="4965700"/>
            <a:ext cx="10160000" cy="50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The first choice is only a suggestion. Skip anything outside your area; Part A matters most.</a:t>
            </a:r>
            <a:endParaRPr sz="1600" b="0">
              <a:solidFill>
                <a:srgbClr val="FFFFFF"/>
              </a:solidFill>
            </a:endParaRPr>
          </a:p>
        </p:txBody>
      </p:sp>
      <p:sp>
        <p:nvSpPr>
          <p:cNvPr id="578" name="Oval 10"/>
          <p:cNvSpPr/>
          <p:nvPr/>
        </p:nvSpPr>
        <p:spPr>
          <a:xfrm>
            <a:off x="762000" y="5600700"/>
            <a:ext cx="457200" cy="4572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600" b="1">
                <a:solidFill>
                  <a:srgbClr val="12384D"/>
                </a:solidFill>
              </a:rPr>
              <a:t>4</a:t>
            </a:r>
            <a:endParaRPr sz="1600" b="1">
              <a:solidFill>
                <a:srgbClr val="12384D"/>
              </a:solidFill>
            </a:endParaRPr>
          </a:p>
        </p:txBody>
      </p:sp>
      <p:sp>
        <p:nvSpPr>
          <p:cNvPr id="579" name="Rectangle 11"/>
          <p:cNvSpPr/>
          <p:nvPr/>
        </p:nvSpPr>
        <p:spPr>
          <a:xfrm>
            <a:off x="1397000" y="5626100"/>
            <a:ext cx="10160000" cy="50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Save the form and send it back to the person who sent you this deck.</a:t>
            </a:r>
            <a:endParaRPr sz="1600" b="0">
              <a:solidFill>
                <a:srgbClr val="FFFFFF"/>
              </a:solidFill>
            </a:endParaRPr>
          </a:p>
        </p:txBody>
      </p:sp>
      <p:sp>
        <p:nvSpPr>
          <p:cNvPr id="1094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88BB43A-D0FF-4F99-8EB8-B9EAA4A07400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82" name="Rectangle 2"/>
          <p:cNvSpPr/>
          <p:nvPr/>
        </p:nvSpPr>
        <p:spPr>
          <a:xfrm>
            <a:off x="711200" y="508000"/>
            <a:ext cx="8255000" cy="812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A1. Is this the process DBGI wants?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583" name="Rectangle 3"/>
          <p:cNvSpPr/>
          <p:nvPr/>
        </p:nvSpPr>
        <p:spPr>
          <a:xfrm>
            <a:off x="9271000" y="508000"/>
            <a:ext cx="2286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Part A  |  1 of 20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584" name="Rectangle 4"/>
          <p:cNvSpPr/>
          <p:nvPr/>
        </p:nvSpPr>
        <p:spPr>
          <a:xfrm>
            <a:off x="762000" y="1422400"/>
            <a:ext cx="533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WHAT IT MEANS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585" name="Rectangle 5"/>
          <p:cNvSpPr/>
          <p:nvPr/>
        </p:nvSpPr>
        <p:spPr>
          <a:xfrm>
            <a:off x="762000" y="1701800"/>
            <a:ext cx="5334000" cy="1371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1E2B3C"/>
                </a:solidFill>
              </a:rPr>
              <a:t>DBGI has no deal registration system yet; the portal will be the first. It follows this process: a partner registers a deal, DBGI checks it, decides who was first, then approves a special price. Is that the process DBGI wants partners to follow?</a:t>
            </a:r>
            <a:endParaRPr sz="1400" b="0">
              <a:solidFill>
                <a:srgbClr val="1E2B3C"/>
              </a:solidFill>
            </a:endParaRPr>
          </a:p>
        </p:txBody>
      </p:sp>
      <p:sp>
        <p:nvSpPr>
          <p:cNvPr id="586" name="Rectangle 6"/>
          <p:cNvSpPr/>
          <p:nvPr/>
        </p:nvSpPr>
        <p:spPr>
          <a:xfrm>
            <a:off x="762000" y="3251200"/>
            <a:ext cx="5334000" cy="1016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87" name="Rectangle 7"/>
          <p:cNvSpPr/>
          <p:nvPr/>
        </p:nvSpPr>
        <p:spPr>
          <a:xfrm>
            <a:off x="965200" y="3378200"/>
            <a:ext cx="4953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THE PORTAL TODAY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588" name="Rectangle 8"/>
          <p:cNvSpPr/>
          <p:nvPr/>
        </p:nvSpPr>
        <p:spPr>
          <a:xfrm>
            <a:off x="965200" y="3657600"/>
            <a:ext cx="4978400" cy="558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The portal does exactly that loop, end to end, with notifications.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589" name="Rectangle 9"/>
          <p:cNvSpPr/>
          <p:nvPr/>
        </p:nvSpPr>
        <p:spPr>
          <a:xfrm>
            <a:off x="762000" y="4394200"/>
            <a:ext cx="5334000" cy="584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5B6B7A"/>
                </a:solidFill>
              </a:rPr>
              <a:t>Why it matters: confidence that the remaining work is on the right path.</a:t>
            </a:r>
            <a:endParaRPr sz="1200" b="0">
              <a:solidFill>
                <a:srgbClr val="5B6B7A"/>
              </a:solidFill>
            </a:endParaRPr>
          </a:p>
        </p:txBody>
      </p:sp>
      <p:sp>
        <p:nvSpPr>
          <p:cNvPr id="590" name="Rectangle 10"/>
          <p:cNvSpPr/>
          <p:nvPr/>
        </p:nvSpPr>
        <p:spPr>
          <a:xfrm>
            <a:off x="6477000" y="1422400"/>
            <a:ext cx="5080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TELL US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591" name="Rectangle 11"/>
          <p:cNvSpPr/>
          <p:nvPr/>
        </p:nvSpPr>
        <p:spPr>
          <a:xfrm>
            <a:off x="6477000" y="1752600"/>
            <a:ext cx="5080000" cy="1397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58800" rIns="177800" anchor="ctr">
            <a:noAutofit/>
          </a:bodyPr>
          <a:lstStyle/>
          <a:p>
            <a:pPr algn="l"/>
            <a:r>
              <a:rPr sz="1400" b="0">
                <a:solidFill>
                  <a:srgbClr val="12384D"/>
                </a:solidFill>
              </a:rPr>
              <a:t>Is anything in this process wrong or missing for DBGI? What would you change?</a:t>
            </a:r>
            <a:endParaRPr sz="1400" b="0">
              <a:solidFill>
                <a:srgbClr val="12384D"/>
              </a:solidFill>
            </a:endParaRPr>
          </a:p>
        </p:txBody>
      </p:sp>
      <p:sp>
        <p:nvSpPr>
          <p:cNvPr id="592" name="Message"/>
          <p:cNvSpPr/>
          <p:nvPr/>
        </p:nvSpPr>
        <p:spPr>
          <a:xfrm>
            <a:off x="6629400" y="23114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12467" y="68092"/>
                </a:moveTo>
                <a:cubicBezTo>
                  <a:pt x="13079" y="69637"/>
                  <a:pt x="13216" y="71330"/>
                  <a:pt x="12858" y="72954"/>
                </a:cubicBezTo>
                <a:lnTo>
                  <a:pt x="8421" y="86663"/>
                </a:lnTo>
                <a:cubicBezTo>
                  <a:pt x="8130" y="88076"/>
                  <a:pt x="8591" y="89539"/>
                  <a:pt x="9640" y="90530"/>
                </a:cubicBezTo>
                <a:cubicBezTo>
                  <a:pt x="10689" y="91521"/>
                  <a:pt x="12176" y="91899"/>
                  <a:pt x="13571" y="91529"/>
                </a:cubicBezTo>
                <a:lnTo>
                  <a:pt x="27792" y="87371"/>
                </a:lnTo>
                <a:cubicBezTo>
                  <a:pt x="29324" y="87067"/>
                  <a:pt x="30910" y="87200"/>
                  <a:pt x="32371" y="87754"/>
                </a:cubicBezTo>
                <a:cubicBezTo>
                  <a:pt x="50740" y="96333"/>
                  <a:pt x="72617" y="90445"/>
                  <a:pt x="84199" y="73806"/>
                </a:cubicBezTo>
                <a:cubicBezTo>
                  <a:pt x="95781" y="57167"/>
                  <a:pt x="93706" y="34607"/>
                  <a:pt x="79284" y="20359"/>
                </a:cubicBezTo>
                <a:cubicBezTo>
                  <a:pt x="64861" y="6112"/>
                  <a:pt x="42277" y="4313"/>
                  <a:pt x="25781" y="16097"/>
                </a:cubicBezTo>
                <a:cubicBezTo>
                  <a:pt x="9285" y="27882"/>
                  <a:pt x="3665" y="49829"/>
                  <a:pt x="12467" y="68092"/>
                </a:cubicBezTo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593" name="Picture"/>
          <p:cNvSpPr/>
          <p:nvPr/>
        </p:nvSpPr>
        <p:spPr>
          <a:xfrm>
            <a:off x="6502400" y="3327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20833" y="12500"/>
                </a:moveTo>
                <a:lnTo>
                  <a:pt x="79167" y="12500"/>
                </a:lnTo>
                <a:cubicBezTo>
                  <a:pt x="83769" y="12500"/>
                  <a:pt x="87500" y="16231"/>
                  <a:pt x="87500" y="20833"/>
                </a:cubicBezTo>
                <a:lnTo>
                  <a:pt x="87500" y="79167"/>
                </a:lnTo>
                <a:cubicBezTo>
                  <a:pt x="87500" y="83769"/>
                  <a:pt x="83769" y="87500"/>
                  <a:pt x="79167" y="87500"/>
                </a:cubicBezTo>
                <a:lnTo>
                  <a:pt x="20833" y="87500"/>
                </a:lnTo>
                <a:cubicBezTo>
                  <a:pt x="16231" y="87500"/>
                  <a:pt x="12500" y="83769"/>
                  <a:pt x="12500" y="79167"/>
                </a:cubicBezTo>
                <a:lnTo>
                  <a:pt x="12500" y="20833"/>
                </a:lnTo>
                <a:cubicBezTo>
                  <a:pt x="12500" y="16231"/>
                  <a:pt x="16231" y="12500"/>
                  <a:pt x="20833" y="12500"/>
                </a:cubicBezTo>
                <a:close/>
                <a:moveTo>
                  <a:pt x="29167" y="37500"/>
                </a:moveTo>
                <a:cubicBezTo>
                  <a:pt x="29167" y="32898"/>
                  <a:pt x="32898" y="29167"/>
                  <a:pt x="37500" y="29167"/>
                </a:cubicBezTo>
                <a:cubicBezTo>
                  <a:pt x="42103" y="29167"/>
                  <a:pt x="45833" y="32898"/>
                  <a:pt x="45833" y="37500"/>
                </a:cubicBezTo>
                <a:cubicBezTo>
                  <a:pt x="45833" y="42103"/>
                  <a:pt x="42103" y="45833"/>
                  <a:pt x="37500" y="45833"/>
                </a:cubicBezTo>
                <a:cubicBezTo>
                  <a:pt x="32898" y="45833"/>
                  <a:pt x="29167" y="42103"/>
                  <a:pt x="29167" y="37500"/>
                </a:cubicBezTo>
                <a:close/>
                <a:moveTo>
                  <a:pt x="87500" y="62500"/>
                </a:moveTo>
                <a:lnTo>
                  <a:pt x="74642" y="49642"/>
                </a:lnTo>
                <a:cubicBezTo>
                  <a:pt x="71388" y="46388"/>
                  <a:pt x="66113" y="46388"/>
                  <a:pt x="62858" y="49642"/>
                </a:cubicBezTo>
                <a:lnTo>
                  <a:pt x="25000" y="87500"/>
                </a:lnTo>
              </a:path>
            </a:pathLst>
          </a:custGeom>
          <a:noFill/>
          <a:ln w="19050" cap="rnd">
            <a:solidFill>
              <a:srgbClr val="1B7FA6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594" name="Rectangle 14"/>
          <p:cNvSpPr/>
          <p:nvPr/>
        </p:nvSpPr>
        <p:spPr>
          <a:xfrm>
            <a:off x="6807200" y="3276600"/>
            <a:ext cx="4749800" cy="50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1B7FA6"/>
                </a:solidFill>
              </a:rPr>
              <a:t>See it in the walkthrough: slide 3, The journey we will follow</a:t>
            </a:r>
            <a:endParaRPr sz="1200" b="0">
              <a:solidFill>
                <a:srgbClr val="1B7FA6"/>
              </a:solidFill>
            </a:endParaRPr>
          </a:p>
        </p:txBody>
      </p:sp>
      <p:sp>
        <p:nvSpPr>
          <p:cNvPr id="595" name="Rectangle 15"/>
          <p:cNvSpPr/>
          <p:nvPr/>
        </p:nvSpPr>
        <p:spPr>
          <a:xfrm>
            <a:off x="762000" y="5969000"/>
            <a:ext cx="10795000" cy="508000"/>
          </a:xfrm>
          <a:prstGeom prst="round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96" name="Document"/>
          <p:cNvSpPr/>
          <p:nvPr/>
        </p:nvSpPr>
        <p:spPr>
          <a:xfrm>
            <a:off x="965200" y="6083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25000" y="91667"/>
                </a:moveTo>
                <a:cubicBezTo>
                  <a:pt x="20398" y="91667"/>
                  <a:pt x="16667" y="87936"/>
                  <a:pt x="16667" y="83333"/>
                </a:cubicBezTo>
                <a:lnTo>
                  <a:pt x="16667" y="16667"/>
                </a:lnTo>
                <a:cubicBezTo>
                  <a:pt x="16667" y="12064"/>
                  <a:pt x="20398" y="8333"/>
                  <a:pt x="25000" y="8333"/>
                </a:cubicBezTo>
                <a:lnTo>
                  <a:pt x="58333" y="8333"/>
                </a:lnTo>
                <a:cubicBezTo>
                  <a:pt x="60998" y="8329"/>
                  <a:pt x="63553" y="9388"/>
                  <a:pt x="65433" y="11275"/>
                </a:cubicBezTo>
                <a:lnTo>
                  <a:pt x="80383" y="26225"/>
                </a:lnTo>
                <a:cubicBezTo>
                  <a:pt x="82275" y="28106"/>
                  <a:pt x="83338" y="30665"/>
                  <a:pt x="83333" y="33333"/>
                </a:cubicBezTo>
                <a:lnTo>
                  <a:pt x="83333" y="83333"/>
                </a:lnTo>
                <a:cubicBezTo>
                  <a:pt x="83333" y="87936"/>
                  <a:pt x="79603" y="91667"/>
                  <a:pt x="75000" y="91667"/>
                </a:cubicBezTo>
                <a:close/>
                <a:moveTo>
                  <a:pt x="58333" y="8333"/>
                </a:moveTo>
                <a:lnTo>
                  <a:pt x="58333" y="29167"/>
                </a:lnTo>
                <a:cubicBezTo>
                  <a:pt x="58333" y="31468"/>
                  <a:pt x="60199" y="33333"/>
                  <a:pt x="62500" y="33333"/>
                </a:cubicBezTo>
                <a:lnTo>
                  <a:pt x="83333" y="33333"/>
                </a:lnTo>
                <a:moveTo>
                  <a:pt x="41667" y="37500"/>
                </a:moveTo>
                <a:lnTo>
                  <a:pt x="33333" y="37500"/>
                </a:lnTo>
                <a:moveTo>
                  <a:pt x="66667" y="54167"/>
                </a:moveTo>
                <a:lnTo>
                  <a:pt x="33333" y="54167"/>
                </a:lnTo>
                <a:moveTo>
                  <a:pt x="66667" y="70833"/>
                </a:moveTo>
                <a:lnTo>
                  <a:pt x="33333" y="70833"/>
                </a:lnTo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597" name="Rectangle 17"/>
          <p:cNvSpPr/>
          <p:nvPr/>
        </p:nvSpPr>
        <p:spPr>
          <a:xfrm>
            <a:off x="1371600" y="5994400"/>
            <a:ext cx="10033000" cy="45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Answer form, row A1:  write your answer in Notes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1097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9B8C1B4-314F-41AA-82F7-95875421752B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00" name="Rectangle 2"/>
          <p:cNvSpPr/>
          <p:nvPr/>
        </p:nvSpPr>
        <p:spPr>
          <a:xfrm>
            <a:off x="711200" y="508000"/>
            <a:ext cx="8255000" cy="812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A2. Who will actually use it first?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601" name="Rectangle 3"/>
          <p:cNvSpPr/>
          <p:nvPr/>
        </p:nvSpPr>
        <p:spPr>
          <a:xfrm>
            <a:off x="9271000" y="508000"/>
            <a:ext cx="2286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Part A  |  2 of 20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602" name="Rectangle 4"/>
          <p:cNvSpPr/>
          <p:nvPr/>
        </p:nvSpPr>
        <p:spPr>
          <a:xfrm>
            <a:off x="762000" y="1422400"/>
            <a:ext cx="533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WHAT IT MEANS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603" name="Rectangle 5"/>
          <p:cNvSpPr/>
          <p:nvPr/>
        </p:nvSpPr>
        <p:spPr>
          <a:xfrm>
            <a:off x="762000" y="1701800"/>
            <a:ext cx="5334000" cy="609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1E2B3C"/>
                </a:solidFill>
              </a:rPr>
              <a:t>Which DBGI staff review registrations, and which partner companies should try it first.</a:t>
            </a:r>
            <a:endParaRPr sz="1400" b="0">
              <a:solidFill>
                <a:srgbClr val="1E2B3C"/>
              </a:solidFill>
            </a:endParaRPr>
          </a:p>
        </p:txBody>
      </p:sp>
      <p:sp>
        <p:nvSpPr>
          <p:cNvPr id="604" name="Rectangle 6"/>
          <p:cNvSpPr/>
          <p:nvPr/>
        </p:nvSpPr>
        <p:spPr>
          <a:xfrm>
            <a:off x="762000" y="2489200"/>
            <a:ext cx="5334000" cy="1016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05" name="Rectangle 7"/>
          <p:cNvSpPr/>
          <p:nvPr/>
        </p:nvSpPr>
        <p:spPr>
          <a:xfrm>
            <a:off x="965200" y="2616200"/>
            <a:ext cx="4953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THE PORTAL TODAY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606" name="Rectangle 8"/>
          <p:cNvSpPr/>
          <p:nvPr/>
        </p:nvSpPr>
        <p:spPr>
          <a:xfrm>
            <a:off x="965200" y="2895600"/>
            <a:ext cx="4978400" cy="558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Two roles exist: company user (partner staff) and DBGI administrator. All DBGI admins can do everything.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607" name="Rectangle 9"/>
          <p:cNvSpPr/>
          <p:nvPr/>
        </p:nvSpPr>
        <p:spPr>
          <a:xfrm>
            <a:off x="762000" y="3632200"/>
            <a:ext cx="5334000" cy="584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5B6B7A"/>
                </a:solidFill>
              </a:rPr>
              <a:t>Why it matters: user accounts, training, and whether DBGI needs separate reviewer and pricing roles.</a:t>
            </a:r>
            <a:endParaRPr sz="1200" b="0">
              <a:solidFill>
                <a:srgbClr val="5B6B7A"/>
              </a:solidFill>
            </a:endParaRPr>
          </a:p>
        </p:txBody>
      </p:sp>
      <p:sp>
        <p:nvSpPr>
          <p:cNvPr id="608" name="Rectangle 10"/>
          <p:cNvSpPr/>
          <p:nvPr/>
        </p:nvSpPr>
        <p:spPr>
          <a:xfrm>
            <a:off x="6477000" y="1422400"/>
            <a:ext cx="5080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CHOOSE ONE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609" name="Rectangle 11"/>
          <p:cNvSpPr/>
          <p:nvPr/>
        </p:nvSpPr>
        <p:spPr>
          <a:xfrm>
            <a:off x="6477000" y="1752600"/>
            <a:ext cx="5080000" cy="76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10" name="Oval 12"/>
          <p:cNvSpPr/>
          <p:nvPr/>
        </p:nvSpPr>
        <p:spPr>
          <a:xfrm>
            <a:off x="6629400" y="19431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611" name="Rectangle 13"/>
          <p:cNvSpPr/>
          <p:nvPr/>
        </p:nvSpPr>
        <p:spPr>
          <a:xfrm>
            <a:off x="7137400" y="1803400"/>
            <a:ext cx="4318000" cy="660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A small pilot with 2 to 3 trusted partners and one DBGI reviewer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612" name="Rectangle 14"/>
          <p:cNvSpPr/>
          <p:nvPr/>
        </p:nvSpPr>
        <p:spPr>
          <a:xfrm>
            <a:off x="6477000" y="26416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13" name="Oval 15"/>
          <p:cNvSpPr/>
          <p:nvPr/>
        </p:nvSpPr>
        <p:spPr>
          <a:xfrm>
            <a:off x="6629400" y="27178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b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614" name="Rectangle 16"/>
          <p:cNvSpPr/>
          <p:nvPr/>
        </p:nvSpPr>
        <p:spPr>
          <a:xfrm>
            <a:off x="7137400" y="26924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All partners at once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615" name="Picture"/>
          <p:cNvSpPr/>
          <p:nvPr/>
        </p:nvSpPr>
        <p:spPr>
          <a:xfrm>
            <a:off x="6502400" y="33528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20833" y="12500"/>
                </a:moveTo>
                <a:lnTo>
                  <a:pt x="79167" y="12500"/>
                </a:lnTo>
                <a:cubicBezTo>
                  <a:pt x="83769" y="12500"/>
                  <a:pt x="87500" y="16231"/>
                  <a:pt x="87500" y="20833"/>
                </a:cubicBezTo>
                <a:lnTo>
                  <a:pt x="87500" y="79167"/>
                </a:lnTo>
                <a:cubicBezTo>
                  <a:pt x="87500" y="83769"/>
                  <a:pt x="83769" y="87500"/>
                  <a:pt x="79167" y="87500"/>
                </a:cubicBezTo>
                <a:lnTo>
                  <a:pt x="20833" y="87500"/>
                </a:lnTo>
                <a:cubicBezTo>
                  <a:pt x="16231" y="87500"/>
                  <a:pt x="12500" y="83769"/>
                  <a:pt x="12500" y="79167"/>
                </a:cubicBezTo>
                <a:lnTo>
                  <a:pt x="12500" y="20833"/>
                </a:lnTo>
                <a:cubicBezTo>
                  <a:pt x="12500" y="16231"/>
                  <a:pt x="16231" y="12500"/>
                  <a:pt x="20833" y="12500"/>
                </a:cubicBezTo>
                <a:close/>
                <a:moveTo>
                  <a:pt x="29167" y="37500"/>
                </a:moveTo>
                <a:cubicBezTo>
                  <a:pt x="29167" y="32898"/>
                  <a:pt x="32898" y="29167"/>
                  <a:pt x="37500" y="29167"/>
                </a:cubicBezTo>
                <a:cubicBezTo>
                  <a:pt x="42103" y="29167"/>
                  <a:pt x="45833" y="32898"/>
                  <a:pt x="45833" y="37500"/>
                </a:cubicBezTo>
                <a:cubicBezTo>
                  <a:pt x="45833" y="42103"/>
                  <a:pt x="42103" y="45833"/>
                  <a:pt x="37500" y="45833"/>
                </a:cubicBezTo>
                <a:cubicBezTo>
                  <a:pt x="32898" y="45833"/>
                  <a:pt x="29167" y="42103"/>
                  <a:pt x="29167" y="37500"/>
                </a:cubicBezTo>
                <a:close/>
                <a:moveTo>
                  <a:pt x="87500" y="62500"/>
                </a:moveTo>
                <a:lnTo>
                  <a:pt x="74642" y="49642"/>
                </a:lnTo>
                <a:cubicBezTo>
                  <a:pt x="71388" y="46388"/>
                  <a:pt x="66113" y="46388"/>
                  <a:pt x="62858" y="49642"/>
                </a:cubicBezTo>
                <a:lnTo>
                  <a:pt x="25000" y="87500"/>
                </a:lnTo>
              </a:path>
            </a:pathLst>
          </a:custGeom>
          <a:noFill/>
          <a:ln w="19050" cap="rnd">
            <a:solidFill>
              <a:srgbClr val="1B7FA6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616" name="Rectangle 18"/>
          <p:cNvSpPr/>
          <p:nvPr/>
        </p:nvSpPr>
        <p:spPr>
          <a:xfrm>
            <a:off x="6807200" y="3302000"/>
            <a:ext cx="4749800" cy="50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1B7FA6"/>
                </a:solidFill>
              </a:rPr>
              <a:t>See it in the walkthrough: slide 2, Two kinds of users</a:t>
            </a:r>
            <a:endParaRPr sz="1200" b="0">
              <a:solidFill>
                <a:srgbClr val="1B7FA6"/>
              </a:solidFill>
            </a:endParaRPr>
          </a:p>
        </p:txBody>
      </p:sp>
      <p:sp>
        <p:nvSpPr>
          <p:cNvPr id="617" name="Rectangle 19"/>
          <p:cNvSpPr/>
          <p:nvPr/>
        </p:nvSpPr>
        <p:spPr>
          <a:xfrm>
            <a:off x="762000" y="5969000"/>
            <a:ext cx="10795000" cy="508000"/>
          </a:xfrm>
          <a:prstGeom prst="round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18" name="Document"/>
          <p:cNvSpPr/>
          <p:nvPr/>
        </p:nvSpPr>
        <p:spPr>
          <a:xfrm>
            <a:off x="965200" y="6083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25000" y="91667"/>
                </a:moveTo>
                <a:cubicBezTo>
                  <a:pt x="20398" y="91667"/>
                  <a:pt x="16667" y="87936"/>
                  <a:pt x="16667" y="83333"/>
                </a:cubicBezTo>
                <a:lnTo>
                  <a:pt x="16667" y="16667"/>
                </a:lnTo>
                <a:cubicBezTo>
                  <a:pt x="16667" y="12064"/>
                  <a:pt x="20398" y="8333"/>
                  <a:pt x="25000" y="8333"/>
                </a:cubicBezTo>
                <a:lnTo>
                  <a:pt x="58333" y="8333"/>
                </a:lnTo>
                <a:cubicBezTo>
                  <a:pt x="60998" y="8329"/>
                  <a:pt x="63553" y="9388"/>
                  <a:pt x="65433" y="11275"/>
                </a:cubicBezTo>
                <a:lnTo>
                  <a:pt x="80383" y="26225"/>
                </a:lnTo>
                <a:cubicBezTo>
                  <a:pt x="82275" y="28106"/>
                  <a:pt x="83338" y="30665"/>
                  <a:pt x="83333" y="33333"/>
                </a:cubicBezTo>
                <a:lnTo>
                  <a:pt x="83333" y="83333"/>
                </a:lnTo>
                <a:cubicBezTo>
                  <a:pt x="83333" y="87936"/>
                  <a:pt x="79603" y="91667"/>
                  <a:pt x="75000" y="91667"/>
                </a:cubicBezTo>
                <a:close/>
                <a:moveTo>
                  <a:pt x="58333" y="8333"/>
                </a:moveTo>
                <a:lnTo>
                  <a:pt x="58333" y="29167"/>
                </a:lnTo>
                <a:cubicBezTo>
                  <a:pt x="58333" y="31468"/>
                  <a:pt x="60199" y="33333"/>
                  <a:pt x="62500" y="33333"/>
                </a:cubicBezTo>
                <a:lnTo>
                  <a:pt x="83333" y="33333"/>
                </a:lnTo>
                <a:moveTo>
                  <a:pt x="41667" y="37500"/>
                </a:moveTo>
                <a:lnTo>
                  <a:pt x="33333" y="37500"/>
                </a:lnTo>
                <a:moveTo>
                  <a:pt x="66667" y="54167"/>
                </a:moveTo>
                <a:lnTo>
                  <a:pt x="33333" y="54167"/>
                </a:lnTo>
                <a:moveTo>
                  <a:pt x="66667" y="70833"/>
                </a:moveTo>
                <a:lnTo>
                  <a:pt x="33333" y="70833"/>
                </a:lnTo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619" name="Rectangle 21"/>
          <p:cNvSpPr/>
          <p:nvPr/>
        </p:nvSpPr>
        <p:spPr>
          <a:xfrm>
            <a:off x="1371600" y="5994400"/>
            <a:ext cx="10033000" cy="45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Answer form, row A2:  pick a choice, keep today, or write your own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1100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5D75BB-123F-4917-80B9-1E1597FFA67E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22" name="Rectangle 2"/>
          <p:cNvSpPr/>
          <p:nvPr/>
        </p:nvSpPr>
        <p:spPr>
          <a:xfrm>
            <a:off x="711200" y="508000"/>
            <a:ext cx="8255000" cy="812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A3. What must work on day one, and what can wait?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623" name="Rectangle 3"/>
          <p:cNvSpPr/>
          <p:nvPr/>
        </p:nvSpPr>
        <p:spPr>
          <a:xfrm>
            <a:off x="9271000" y="508000"/>
            <a:ext cx="2286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Part A  |  3 of 20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624" name="Rectangle 4"/>
          <p:cNvSpPr/>
          <p:nvPr/>
        </p:nvSpPr>
        <p:spPr>
          <a:xfrm>
            <a:off x="762000" y="1422400"/>
            <a:ext cx="533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WHAT IT MEANS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625" name="Rectangle 5"/>
          <p:cNvSpPr/>
          <p:nvPr/>
        </p:nvSpPr>
        <p:spPr>
          <a:xfrm>
            <a:off x="762000" y="1701800"/>
            <a:ext cx="5334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1E2B3C"/>
                </a:solidFill>
              </a:rPr>
              <a:t>The smallest version DBGI would actually use.</a:t>
            </a:r>
            <a:endParaRPr sz="1400" b="0">
              <a:solidFill>
                <a:srgbClr val="1E2B3C"/>
              </a:solidFill>
            </a:endParaRPr>
          </a:p>
        </p:txBody>
      </p:sp>
      <p:sp>
        <p:nvSpPr>
          <p:cNvPr id="626" name="Rectangle 6"/>
          <p:cNvSpPr/>
          <p:nvPr/>
        </p:nvSpPr>
        <p:spPr>
          <a:xfrm>
            <a:off x="762000" y="2235200"/>
            <a:ext cx="5334000" cy="12446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27" name="Rectangle 7"/>
          <p:cNvSpPr/>
          <p:nvPr/>
        </p:nvSpPr>
        <p:spPr>
          <a:xfrm>
            <a:off x="965200" y="2362200"/>
            <a:ext cx="4953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THE PORTAL TODAY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628" name="Rectangle 8"/>
          <p:cNvSpPr/>
          <p:nvPr/>
        </p:nvSpPr>
        <p:spPr>
          <a:xfrm>
            <a:off x="965200" y="2641600"/>
            <a:ext cx="4978400" cy="787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Registration, review, ranking, and price approval work. Withdrawal, merging deals, price history, and reorders do not exist yet.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629" name="Rectangle 9"/>
          <p:cNvSpPr/>
          <p:nvPr/>
        </p:nvSpPr>
        <p:spPr>
          <a:xfrm>
            <a:off x="762000" y="3606800"/>
            <a:ext cx="5334000" cy="584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5B6B7A"/>
                </a:solidFill>
              </a:rPr>
              <a:t>Why it matters: the launch date and what is in scope for it.</a:t>
            </a:r>
            <a:endParaRPr sz="1200" b="0">
              <a:solidFill>
                <a:srgbClr val="5B6B7A"/>
              </a:solidFill>
            </a:endParaRPr>
          </a:p>
        </p:txBody>
      </p:sp>
      <p:sp>
        <p:nvSpPr>
          <p:cNvPr id="630" name="Rectangle 10"/>
          <p:cNvSpPr/>
          <p:nvPr/>
        </p:nvSpPr>
        <p:spPr>
          <a:xfrm>
            <a:off x="6477000" y="1422400"/>
            <a:ext cx="5080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CHOOSE ONE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631" name="Rectangle 11"/>
          <p:cNvSpPr/>
          <p:nvPr/>
        </p:nvSpPr>
        <p:spPr>
          <a:xfrm>
            <a:off x="6477000" y="17526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32" name="Oval 12"/>
          <p:cNvSpPr/>
          <p:nvPr/>
        </p:nvSpPr>
        <p:spPr>
          <a:xfrm>
            <a:off x="6629400" y="18288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633" name="Rectangle 13"/>
          <p:cNvSpPr/>
          <p:nvPr/>
        </p:nvSpPr>
        <p:spPr>
          <a:xfrm>
            <a:off x="7137400" y="18034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Launch with today's loop plus withdrawal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634" name="Rectangle 14"/>
          <p:cNvSpPr/>
          <p:nvPr/>
        </p:nvSpPr>
        <p:spPr>
          <a:xfrm>
            <a:off x="6477000" y="24130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35" name="Oval 15"/>
          <p:cNvSpPr/>
          <p:nvPr/>
        </p:nvSpPr>
        <p:spPr>
          <a:xfrm>
            <a:off x="6629400" y="24892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b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636" name="Rectangle 16"/>
          <p:cNvSpPr/>
          <p:nvPr/>
        </p:nvSpPr>
        <p:spPr>
          <a:xfrm>
            <a:off x="7137400" y="24638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Wait for pricing history too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637" name="Rectangle 17"/>
          <p:cNvSpPr/>
          <p:nvPr/>
        </p:nvSpPr>
        <p:spPr>
          <a:xfrm>
            <a:off x="6477000" y="30734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38" name="Oval 18"/>
          <p:cNvSpPr/>
          <p:nvPr/>
        </p:nvSpPr>
        <p:spPr>
          <a:xfrm>
            <a:off x="6629400" y="31496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c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639" name="Rectangle 19"/>
          <p:cNvSpPr/>
          <p:nvPr/>
        </p:nvSpPr>
        <p:spPr>
          <a:xfrm>
            <a:off x="7137400" y="31242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Wait for reorders as well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640" name="Rectangle 20"/>
          <p:cNvSpPr/>
          <p:nvPr/>
        </p:nvSpPr>
        <p:spPr>
          <a:xfrm>
            <a:off x="762000" y="5969000"/>
            <a:ext cx="10795000" cy="508000"/>
          </a:xfrm>
          <a:prstGeom prst="round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41" name="Document"/>
          <p:cNvSpPr/>
          <p:nvPr/>
        </p:nvSpPr>
        <p:spPr>
          <a:xfrm>
            <a:off x="965200" y="6083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25000" y="91667"/>
                </a:moveTo>
                <a:cubicBezTo>
                  <a:pt x="20398" y="91667"/>
                  <a:pt x="16667" y="87936"/>
                  <a:pt x="16667" y="83333"/>
                </a:cubicBezTo>
                <a:lnTo>
                  <a:pt x="16667" y="16667"/>
                </a:lnTo>
                <a:cubicBezTo>
                  <a:pt x="16667" y="12064"/>
                  <a:pt x="20398" y="8333"/>
                  <a:pt x="25000" y="8333"/>
                </a:cubicBezTo>
                <a:lnTo>
                  <a:pt x="58333" y="8333"/>
                </a:lnTo>
                <a:cubicBezTo>
                  <a:pt x="60998" y="8329"/>
                  <a:pt x="63553" y="9388"/>
                  <a:pt x="65433" y="11275"/>
                </a:cubicBezTo>
                <a:lnTo>
                  <a:pt x="80383" y="26225"/>
                </a:lnTo>
                <a:cubicBezTo>
                  <a:pt x="82275" y="28106"/>
                  <a:pt x="83338" y="30665"/>
                  <a:pt x="83333" y="33333"/>
                </a:cubicBezTo>
                <a:lnTo>
                  <a:pt x="83333" y="83333"/>
                </a:lnTo>
                <a:cubicBezTo>
                  <a:pt x="83333" y="87936"/>
                  <a:pt x="79603" y="91667"/>
                  <a:pt x="75000" y="91667"/>
                </a:cubicBezTo>
                <a:close/>
                <a:moveTo>
                  <a:pt x="58333" y="8333"/>
                </a:moveTo>
                <a:lnTo>
                  <a:pt x="58333" y="29167"/>
                </a:lnTo>
                <a:cubicBezTo>
                  <a:pt x="58333" y="31468"/>
                  <a:pt x="60199" y="33333"/>
                  <a:pt x="62500" y="33333"/>
                </a:cubicBezTo>
                <a:lnTo>
                  <a:pt x="83333" y="33333"/>
                </a:lnTo>
                <a:moveTo>
                  <a:pt x="41667" y="37500"/>
                </a:moveTo>
                <a:lnTo>
                  <a:pt x="33333" y="37500"/>
                </a:lnTo>
                <a:moveTo>
                  <a:pt x="66667" y="54167"/>
                </a:moveTo>
                <a:lnTo>
                  <a:pt x="33333" y="54167"/>
                </a:lnTo>
                <a:moveTo>
                  <a:pt x="66667" y="70833"/>
                </a:moveTo>
                <a:lnTo>
                  <a:pt x="33333" y="70833"/>
                </a:lnTo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642" name="Rectangle 22"/>
          <p:cNvSpPr/>
          <p:nvPr/>
        </p:nvSpPr>
        <p:spPr>
          <a:xfrm>
            <a:off x="1371600" y="5994400"/>
            <a:ext cx="10033000" cy="45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Answer form, row A3:  pick a choice, keep today, or write your own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1103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2CADB88-B499-4338-8237-59C19F108A61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45" name="Rectangle 2"/>
          <p:cNvSpPr/>
          <p:nvPr/>
        </p:nvSpPr>
        <p:spPr>
          <a:xfrm>
            <a:off x="711200" y="508000"/>
            <a:ext cx="8255000" cy="812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A4. Do the words make sense to partners?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646" name="Rectangle 3"/>
          <p:cNvSpPr/>
          <p:nvPr/>
        </p:nvSpPr>
        <p:spPr>
          <a:xfrm>
            <a:off x="9271000" y="508000"/>
            <a:ext cx="2286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Part A  |  4 of 20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647" name="Rectangle 4"/>
          <p:cNvSpPr/>
          <p:nvPr/>
        </p:nvSpPr>
        <p:spPr>
          <a:xfrm>
            <a:off x="762000" y="1422400"/>
            <a:ext cx="533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WHAT IT MEANS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648" name="Rectangle 5"/>
          <p:cNvSpPr/>
          <p:nvPr/>
        </p:nvSpPr>
        <p:spPr>
          <a:xfrm>
            <a:off x="762000" y="1701800"/>
            <a:ext cx="5334000" cy="609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1E2B3C"/>
                </a:solidFill>
              </a:rPr>
              <a:t>Labels like "Registered", "Changes requested", "Review required after edit", "Opportunity scope", "Lot".</a:t>
            </a:r>
            <a:endParaRPr sz="1400" b="0">
              <a:solidFill>
                <a:srgbClr val="1E2B3C"/>
              </a:solidFill>
            </a:endParaRPr>
          </a:p>
        </p:txBody>
      </p:sp>
      <p:sp>
        <p:nvSpPr>
          <p:cNvPr id="649" name="Rectangle 6"/>
          <p:cNvSpPr/>
          <p:nvPr/>
        </p:nvSpPr>
        <p:spPr>
          <a:xfrm>
            <a:off x="762000" y="2489200"/>
            <a:ext cx="5334000" cy="12446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50" name="Rectangle 7"/>
          <p:cNvSpPr/>
          <p:nvPr/>
        </p:nvSpPr>
        <p:spPr>
          <a:xfrm>
            <a:off x="965200" y="2616200"/>
            <a:ext cx="4953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THE PORTAL TODAY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651" name="Rectangle 8"/>
          <p:cNvSpPr/>
          <p:nvPr/>
        </p:nvSpPr>
        <p:spPr>
          <a:xfrm>
            <a:off x="965200" y="2895600"/>
            <a:ext cx="4978400" cy="787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Registration statuses are Submitted, Under review, Changes requested, Resubmitted, Registered, Review required after edit, Approved, and Rejected.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652" name="Rectangle 9"/>
          <p:cNvSpPr/>
          <p:nvPr/>
        </p:nvSpPr>
        <p:spPr>
          <a:xfrm>
            <a:off x="762000" y="3860800"/>
            <a:ext cx="5334000" cy="584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5B6B7A"/>
                </a:solidFill>
              </a:rPr>
              <a:t>Why it matters: final screen labels and help text.</a:t>
            </a:r>
            <a:endParaRPr sz="1200" b="0">
              <a:solidFill>
                <a:srgbClr val="5B6B7A"/>
              </a:solidFill>
            </a:endParaRPr>
          </a:p>
        </p:txBody>
      </p:sp>
      <p:sp>
        <p:nvSpPr>
          <p:cNvPr id="653" name="Rectangle 10"/>
          <p:cNvSpPr/>
          <p:nvPr/>
        </p:nvSpPr>
        <p:spPr>
          <a:xfrm>
            <a:off x="6477000" y="1422400"/>
            <a:ext cx="5080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TELL US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654" name="Rectangle 11"/>
          <p:cNvSpPr/>
          <p:nvPr/>
        </p:nvSpPr>
        <p:spPr>
          <a:xfrm>
            <a:off x="6477000" y="1752600"/>
            <a:ext cx="5080000" cy="1397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58800" rIns="177800" anchor="ctr">
            <a:noAutofit/>
          </a:bodyPr>
          <a:lstStyle/>
          <a:p>
            <a:pPr algn="l"/>
            <a:r>
              <a:rPr sz="1400" b="0">
                <a:solidFill>
                  <a:srgbClr val="12384D"/>
                </a:solidFill>
              </a:rPr>
              <a:t>Would a partner understand these labels? Which words would partners and DBGI staff expect instead?</a:t>
            </a:r>
            <a:endParaRPr sz="1400" b="0">
              <a:solidFill>
                <a:srgbClr val="12384D"/>
              </a:solidFill>
            </a:endParaRPr>
          </a:p>
        </p:txBody>
      </p:sp>
      <p:sp>
        <p:nvSpPr>
          <p:cNvPr id="655" name="Message"/>
          <p:cNvSpPr/>
          <p:nvPr/>
        </p:nvSpPr>
        <p:spPr>
          <a:xfrm>
            <a:off x="6629400" y="23114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12467" y="68092"/>
                </a:moveTo>
                <a:cubicBezTo>
                  <a:pt x="13079" y="69637"/>
                  <a:pt x="13216" y="71330"/>
                  <a:pt x="12858" y="72954"/>
                </a:cubicBezTo>
                <a:lnTo>
                  <a:pt x="8421" y="86663"/>
                </a:lnTo>
                <a:cubicBezTo>
                  <a:pt x="8130" y="88076"/>
                  <a:pt x="8591" y="89539"/>
                  <a:pt x="9640" y="90530"/>
                </a:cubicBezTo>
                <a:cubicBezTo>
                  <a:pt x="10689" y="91521"/>
                  <a:pt x="12176" y="91899"/>
                  <a:pt x="13571" y="91529"/>
                </a:cubicBezTo>
                <a:lnTo>
                  <a:pt x="27792" y="87371"/>
                </a:lnTo>
                <a:cubicBezTo>
                  <a:pt x="29324" y="87067"/>
                  <a:pt x="30910" y="87200"/>
                  <a:pt x="32371" y="87754"/>
                </a:cubicBezTo>
                <a:cubicBezTo>
                  <a:pt x="50740" y="96333"/>
                  <a:pt x="72617" y="90445"/>
                  <a:pt x="84199" y="73806"/>
                </a:cubicBezTo>
                <a:cubicBezTo>
                  <a:pt x="95781" y="57167"/>
                  <a:pt x="93706" y="34607"/>
                  <a:pt x="79284" y="20359"/>
                </a:cubicBezTo>
                <a:cubicBezTo>
                  <a:pt x="64861" y="6112"/>
                  <a:pt x="42277" y="4313"/>
                  <a:pt x="25781" y="16097"/>
                </a:cubicBezTo>
                <a:cubicBezTo>
                  <a:pt x="9285" y="27882"/>
                  <a:pt x="3665" y="49829"/>
                  <a:pt x="12467" y="68092"/>
                </a:cubicBezTo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656" name="Picture"/>
          <p:cNvSpPr/>
          <p:nvPr/>
        </p:nvSpPr>
        <p:spPr>
          <a:xfrm>
            <a:off x="6502400" y="3327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20833" y="12500"/>
                </a:moveTo>
                <a:lnTo>
                  <a:pt x="79167" y="12500"/>
                </a:lnTo>
                <a:cubicBezTo>
                  <a:pt x="83769" y="12500"/>
                  <a:pt x="87500" y="16231"/>
                  <a:pt x="87500" y="20833"/>
                </a:cubicBezTo>
                <a:lnTo>
                  <a:pt x="87500" y="79167"/>
                </a:lnTo>
                <a:cubicBezTo>
                  <a:pt x="87500" y="83769"/>
                  <a:pt x="83769" y="87500"/>
                  <a:pt x="79167" y="87500"/>
                </a:cubicBezTo>
                <a:lnTo>
                  <a:pt x="20833" y="87500"/>
                </a:lnTo>
                <a:cubicBezTo>
                  <a:pt x="16231" y="87500"/>
                  <a:pt x="12500" y="83769"/>
                  <a:pt x="12500" y="79167"/>
                </a:cubicBezTo>
                <a:lnTo>
                  <a:pt x="12500" y="20833"/>
                </a:lnTo>
                <a:cubicBezTo>
                  <a:pt x="12500" y="16231"/>
                  <a:pt x="16231" y="12500"/>
                  <a:pt x="20833" y="12500"/>
                </a:cubicBezTo>
                <a:close/>
                <a:moveTo>
                  <a:pt x="29167" y="37500"/>
                </a:moveTo>
                <a:cubicBezTo>
                  <a:pt x="29167" y="32898"/>
                  <a:pt x="32898" y="29167"/>
                  <a:pt x="37500" y="29167"/>
                </a:cubicBezTo>
                <a:cubicBezTo>
                  <a:pt x="42103" y="29167"/>
                  <a:pt x="45833" y="32898"/>
                  <a:pt x="45833" y="37500"/>
                </a:cubicBezTo>
                <a:cubicBezTo>
                  <a:pt x="45833" y="42103"/>
                  <a:pt x="42103" y="45833"/>
                  <a:pt x="37500" y="45833"/>
                </a:cubicBezTo>
                <a:cubicBezTo>
                  <a:pt x="32898" y="45833"/>
                  <a:pt x="29167" y="42103"/>
                  <a:pt x="29167" y="37500"/>
                </a:cubicBezTo>
                <a:close/>
                <a:moveTo>
                  <a:pt x="87500" y="62500"/>
                </a:moveTo>
                <a:lnTo>
                  <a:pt x="74642" y="49642"/>
                </a:lnTo>
                <a:cubicBezTo>
                  <a:pt x="71388" y="46388"/>
                  <a:pt x="66113" y="46388"/>
                  <a:pt x="62858" y="49642"/>
                </a:cubicBezTo>
                <a:lnTo>
                  <a:pt x="25000" y="87500"/>
                </a:lnTo>
              </a:path>
            </a:pathLst>
          </a:custGeom>
          <a:noFill/>
          <a:ln w="19050" cap="rnd">
            <a:solidFill>
              <a:srgbClr val="1B7FA6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657" name="Rectangle 14"/>
          <p:cNvSpPr/>
          <p:nvPr/>
        </p:nvSpPr>
        <p:spPr>
          <a:xfrm>
            <a:off x="6807200" y="3276600"/>
            <a:ext cx="4749800" cy="50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1B7FA6"/>
                </a:solidFill>
              </a:rPr>
              <a:t>See it in the walkthrough: slide 5, Read the three status badges</a:t>
            </a:r>
            <a:endParaRPr sz="1200" b="0">
              <a:solidFill>
                <a:srgbClr val="1B7FA6"/>
              </a:solidFill>
            </a:endParaRPr>
          </a:p>
        </p:txBody>
      </p:sp>
      <p:sp>
        <p:nvSpPr>
          <p:cNvPr id="658" name="Rectangle 15"/>
          <p:cNvSpPr/>
          <p:nvPr/>
        </p:nvSpPr>
        <p:spPr>
          <a:xfrm>
            <a:off x="762000" y="5969000"/>
            <a:ext cx="10795000" cy="508000"/>
          </a:xfrm>
          <a:prstGeom prst="round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59" name="Document"/>
          <p:cNvSpPr/>
          <p:nvPr/>
        </p:nvSpPr>
        <p:spPr>
          <a:xfrm>
            <a:off x="965200" y="6083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25000" y="91667"/>
                </a:moveTo>
                <a:cubicBezTo>
                  <a:pt x="20398" y="91667"/>
                  <a:pt x="16667" y="87936"/>
                  <a:pt x="16667" y="83333"/>
                </a:cubicBezTo>
                <a:lnTo>
                  <a:pt x="16667" y="16667"/>
                </a:lnTo>
                <a:cubicBezTo>
                  <a:pt x="16667" y="12064"/>
                  <a:pt x="20398" y="8333"/>
                  <a:pt x="25000" y="8333"/>
                </a:cubicBezTo>
                <a:lnTo>
                  <a:pt x="58333" y="8333"/>
                </a:lnTo>
                <a:cubicBezTo>
                  <a:pt x="60998" y="8329"/>
                  <a:pt x="63553" y="9388"/>
                  <a:pt x="65433" y="11275"/>
                </a:cubicBezTo>
                <a:lnTo>
                  <a:pt x="80383" y="26225"/>
                </a:lnTo>
                <a:cubicBezTo>
                  <a:pt x="82275" y="28106"/>
                  <a:pt x="83338" y="30665"/>
                  <a:pt x="83333" y="33333"/>
                </a:cubicBezTo>
                <a:lnTo>
                  <a:pt x="83333" y="83333"/>
                </a:lnTo>
                <a:cubicBezTo>
                  <a:pt x="83333" y="87936"/>
                  <a:pt x="79603" y="91667"/>
                  <a:pt x="75000" y="91667"/>
                </a:cubicBezTo>
                <a:close/>
                <a:moveTo>
                  <a:pt x="58333" y="8333"/>
                </a:moveTo>
                <a:lnTo>
                  <a:pt x="58333" y="29167"/>
                </a:lnTo>
                <a:cubicBezTo>
                  <a:pt x="58333" y="31468"/>
                  <a:pt x="60199" y="33333"/>
                  <a:pt x="62500" y="33333"/>
                </a:cubicBezTo>
                <a:lnTo>
                  <a:pt x="83333" y="33333"/>
                </a:lnTo>
                <a:moveTo>
                  <a:pt x="41667" y="37500"/>
                </a:moveTo>
                <a:lnTo>
                  <a:pt x="33333" y="37500"/>
                </a:lnTo>
                <a:moveTo>
                  <a:pt x="66667" y="54167"/>
                </a:moveTo>
                <a:lnTo>
                  <a:pt x="33333" y="54167"/>
                </a:lnTo>
                <a:moveTo>
                  <a:pt x="66667" y="70833"/>
                </a:moveTo>
                <a:lnTo>
                  <a:pt x="33333" y="70833"/>
                </a:lnTo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660" name="Rectangle 17"/>
          <p:cNvSpPr/>
          <p:nvPr/>
        </p:nvSpPr>
        <p:spPr>
          <a:xfrm>
            <a:off x="1371600" y="5994400"/>
            <a:ext cx="10033000" cy="45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Answer form, row A4:  write your answer in Notes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1106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20DA63C4-2A02-4A9D-8309-223C9070563C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63" name="Rectangle 2"/>
          <p:cNvSpPr/>
          <p:nvPr/>
        </p:nvSpPr>
        <p:spPr>
          <a:xfrm>
            <a:off x="711200" y="508000"/>
            <a:ext cx="8255000" cy="812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B1. Can partners edit a deal after submitting it?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664" name="Rectangle 3"/>
          <p:cNvSpPr/>
          <p:nvPr/>
        </p:nvSpPr>
        <p:spPr>
          <a:xfrm>
            <a:off x="9271000" y="508000"/>
            <a:ext cx="2286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Part B  |  5 of 20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665" name="Rectangle 4"/>
          <p:cNvSpPr/>
          <p:nvPr/>
        </p:nvSpPr>
        <p:spPr>
          <a:xfrm>
            <a:off x="762000" y="1422400"/>
            <a:ext cx="533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WHAT IT MEANS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666" name="Rectangle 5"/>
          <p:cNvSpPr/>
          <p:nvPr/>
        </p:nvSpPr>
        <p:spPr>
          <a:xfrm>
            <a:off x="762000" y="1701800"/>
            <a:ext cx="5334000" cy="609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1E2B3C"/>
                </a:solidFill>
              </a:rPr>
              <a:t>Once a partner submits, can they keep changing it, or only when DBGI asks?</a:t>
            </a:r>
            <a:endParaRPr sz="1400" b="0">
              <a:solidFill>
                <a:srgbClr val="1E2B3C"/>
              </a:solidFill>
            </a:endParaRPr>
          </a:p>
        </p:txBody>
      </p:sp>
      <p:sp>
        <p:nvSpPr>
          <p:cNvPr id="667" name="Rectangle 6"/>
          <p:cNvSpPr/>
          <p:nvPr/>
        </p:nvSpPr>
        <p:spPr>
          <a:xfrm>
            <a:off x="762000" y="2489200"/>
            <a:ext cx="5334000" cy="17018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68" name="Rectangle 7"/>
          <p:cNvSpPr/>
          <p:nvPr/>
        </p:nvSpPr>
        <p:spPr>
          <a:xfrm>
            <a:off x="965200" y="2616200"/>
            <a:ext cx="4953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THE PORTAL TODAY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669" name="Rectangle 8"/>
          <p:cNvSpPr/>
          <p:nvPr/>
        </p:nvSpPr>
        <p:spPr>
          <a:xfrm>
            <a:off x="965200" y="2895600"/>
            <a:ext cx="4978400" cy="1244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Partners can edit at any time. Products and prices lock once DBGI starts the price review. Editing a deal that is already Registered sends it back to DBGI ("Review required after edit"), but it keeps its original place in line.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670" name="Rectangle 9"/>
          <p:cNvSpPr/>
          <p:nvPr/>
        </p:nvSpPr>
        <p:spPr>
          <a:xfrm>
            <a:off x="762000" y="4318000"/>
            <a:ext cx="5334000" cy="584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5B6B7A"/>
                </a:solidFill>
              </a:rPr>
              <a:t>Why it matters: final editing rules and status flow.</a:t>
            </a:r>
            <a:endParaRPr sz="1200" b="0">
              <a:solidFill>
                <a:srgbClr val="5B6B7A"/>
              </a:solidFill>
            </a:endParaRPr>
          </a:p>
        </p:txBody>
      </p:sp>
      <p:sp>
        <p:nvSpPr>
          <p:cNvPr id="671" name="Rectangle 10"/>
          <p:cNvSpPr/>
          <p:nvPr/>
        </p:nvSpPr>
        <p:spPr>
          <a:xfrm>
            <a:off x="6477000" y="1422400"/>
            <a:ext cx="5080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CHOOSE ONE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672" name="Rectangle 11"/>
          <p:cNvSpPr/>
          <p:nvPr/>
        </p:nvSpPr>
        <p:spPr>
          <a:xfrm>
            <a:off x="6477000" y="17526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73" name="Oval 12"/>
          <p:cNvSpPr/>
          <p:nvPr/>
        </p:nvSpPr>
        <p:spPr>
          <a:xfrm>
            <a:off x="6629400" y="18288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674" name="Rectangle 13"/>
          <p:cNvSpPr/>
          <p:nvPr/>
        </p:nvSpPr>
        <p:spPr>
          <a:xfrm>
            <a:off x="7137400" y="18034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Keep today's rule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675" name="Rectangle 14"/>
          <p:cNvSpPr/>
          <p:nvPr/>
        </p:nvSpPr>
        <p:spPr>
          <a:xfrm>
            <a:off x="6477000" y="24130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76" name="Oval 15"/>
          <p:cNvSpPr/>
          <p:nvPr/>
        </p:nvSpPr>
        <p:spPr>
          <a:xfrm>
            <a:off x="6629400" y="24892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b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677" name="Rectangle 16"/>
          <p:cNvSpPr/>
          <p:nvPr/>
        </p:nvSpPr>
        <p:spPr>
          <a:xfrm>
            <a:off x="7137400" y="24638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Only edit when DBGI requests changes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678" name="Rectangle 17"/>
          <p:cNvSpPr/>
          <p:nvPr/>
        </p:nvSpPr>
        <p:spPr>
          <a:xfrm>
            <a:off x="6477000" y="3073400"/>
            <a:ext cx="5080000" cy="76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79" name="Oval 18"/>
          <p:cNvSpPr/>
          <p:nvPr/>
        </p:nvSpPr>
        <p:spPr>
          <a:xfrm>
            <a:off x="6629400" y="32639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c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680" name="Rectangle 19"/>
          <p:cNvSpPr/>
          <p:nvPr/>
        </p:nvSpPr>
        <p:spPr>
          <a:xfrm>
            <a:off x="7137400" y="3124200"/>
            <a:ext cx="4318000" cy="660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Allow small fixes freely, re-review for big ones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681" name="Picture"/>
          <p:cNvSpPr/>
          <p:nvPr/>
        </p:nvSpPr>
        <p:spPr>
          <a:xfrm>
            <a:off x="6502400" y="40132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20833" y="12500"/>
                </a:moveTo>
                <a:lnTo>
                  <a:pt x="79167" y="12500"/>
                </a:lnTo>
                <a:cubicBezTo>
                  <a:pt x="83769" y="12500"/>
                  <a:pt x="87500" y="16231"/>
                  <a:pt x="87500" y="20833"/>
                </a:cubicBezTo>
                <a:lnTo>
                  <a:pt x="87500" y="79167"/>
                </a:lnTo>
                <a:cubicBezTo>
                  <a:pt x="87500" y="83769"/>
                  <a:pt x="83769" y="87500"/>
                  <a:pt x="79167" y="87500"/>
                </a:cubicBezTo>
                <a:lnTo>
                  <a:pt x="20833" y="87500"/>
                </a:lnTo>
                <a:cubicBezTo>
                  <a:pt x="16231" y="87500"/>
                  <a:pt x="12500" y="83769"/>
                  <a:pt x="12500" y="79167"/>
                </a:cubicBezTo>
                <a:lnTo>
                  <a:pt x="12500" y="20833"/>
                </a:lnTo>
                <a:cubicBezTo>
                  <a:pt x="12500" y="16231"/>
                  <a:pt x="16231" y="12500"/>
                  <a:pt x="20833" y="12500"/>
                </a:cubicBezTo>
                <a:close/>
                <a:moveTo>
                  <a:pt x="29167" y="37500"/>
                </a:moveTo>
                <a:cubicBezTo>
                  <a:pt x="29167" y="32898"/>
                  <a:pt x="32898" y="29167"/>
                  <a:pt x="37500" y="29167"/>
                </a:cubicBezTo>
                <a:cubicBezTo>
                  <a:pt x="42103" y="29167"/>
                  <a:pt x="45833" y="32898"/>
                  <a:pt x="45833" y="37500"/>
                </a:cubicBezTo>
                <a:cubicBezTo>
                  <a:pt x="45833" y="42103"/>
                  <a:pt x="42103" y="45833"/>
                  <a:pt x="37500" y="45833"/>
                </a:cubicBezTo>
                <a:cubicBezTo>
                  <a:pt x="32898" y="45833"/>
                  <a:pt x="29167" y="42103"/>
                  <a:pt x="29167" y="37500"/>
                </a:cubicBezTo>
                <a:close/>
                <a:moveTo>
                  <a:pt x="87500" y="62500"/>
                </a:moveTo>
                <a:lnTo>
                  <a:pt x="74642" y="49642"/>
                </a:lnTo>
                <a:cubicBezTo>
                  <a:pt x="71388" y="46388"/>
                  <a:pt x="66113" y="46388"/>
                  <a:pt x="62858" y="49642"/>
                </a:cubicBezTo>
                <a:lnTo>
                  <a:pt x="25000" y="87500"/>
                </a:lnTo>
              </a:path>
            </a:pathLst>
          </a:custGeom>
          <a:noFill/>
          <a:ln w="19050" cap="rnd">
            <a:solidFill>
              <a:srgbClr val="1B7FA6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682" name="Rectangle 21"/>
          <p:cNvSpPr/>
          <p:nvPr/>
        </p:nvSpPr>
        <p:spPr>
          <a:xfrm>
            <a:off x="6807200" y="3962400"/>
            <a:ext cx="4749800" cy="50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1B7FA6"/>
                </a:solidFill>
              </a:rPr>
              <a:t>See it in the walkthrough: slide 15, Fix only what was asked</a:t>
            </a:r>
            <a:endParaRPr sz="1200" b="0">
              <a:solidFill>
                <a:srgbClr val="1B7FA6"/>
              </a:solidFill>
            </a:endParaRPr>
          </a:p>
        </p:txBody>
      </p:sp>
      <p:sp>
        <p:nvSpPr>
          <p:cNvPr id="683" name="Rectangle 22"/>
          <p:cNvSpPr/>
          <p:nvPr/>
        </p:nvSpPr>
        <p:spPr>
          <a:xfrm>
            <a:off x="762000" y="5969000"/>
            <a:ext cx="10795000" cy="508000"/>
          </a:xfrm>
          <a:prstGeom prst="round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84" name="Document"/>
          <p:cNvSpPr/>
          <p:nvPr/>
        </p:nvSpPr>
        <p:spPr>
          <a:xfrm>
            <a:off x="965200" y="6083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25000" y="91667"/>
                </a:moveTo>
                <a:cubicBezTo>
                  <a:pt x="20398" y="91667"/>
                  <a:pt x="16667" y="87936"/>
                  <a:pt x="16667" y="83333"/>
                </a:cubicBezTo>
                <a:lnTo>
                  <a:pt x="16667" y="16667"/>
                </a:lnTo>
                <a:cubicBezTo>
                  <a:pt x="16667" y="12064"/>
                  <a:pt x="20398" y="8333"/>
                  <a:pt x="25000" y="8333"/>
                </a:cubicBezTo>
                <a:lnTo>
                  <a:pt x="58333" y="8333"/>
                </a:lnTo>
                <a:cubicBezTo>
                  <a:pt x="60998" y="8329"/>
                  <a:pt x="63553" y="9388"/>
                  <a:pt x="65433" y="11275"/>
                </a:cubicBezTo>
                <a:lnTo>
                  <a:pt x="80383" y="26225"/>
                </a:lnTo>
                <a:cubicBezTo>
                  <a:pt x="82275" y="28106"/>
                  <a:pt x="83338" y="30665"/>
                  <a:pt x="83333" y="33333"/>
                </a:cubicBezTo>
                <a:lnTo>
                  <a:pt x="83333" y="83333"/>
                </a:lnTo>
                <a:cubicBezTo>
                  <a:pt x="83333" y="87936"/>
                  <a:pt x="79603" y="91667"/>
                  <a:pt x="75000" y="91667"/>
                </a:cubicBezTo>
                <a:close/>
                <a:moveTo>
                  <a:pt x="58333" y="8333"/>
                </a:moveTo>
                <a:lnTo>
                  <a:pt x="58333" y="29167"/>
                </a:lnTo>
                <a:cubicBezTo>
                  <a:pt x="58333" y="31468"/>
                  <a:pt x="60199" y="33333"/>
                  <a:pt x="62500" y="33333"/>
                </a:cubicBezTo>
                <a:lnTo>
                  <a:pt x="83333" y="33333"/>
                </a:lnTo>
                <a:moveTo>
                  <a:pt x="41667" y="37500"/>
                </a:moveTo>
                <a:lnTo>
                  <a:pt x="33333" y="37500"/>
                </a:lnTo>
                <a:moveTo>
                  <a:pt x="66667" y="54167"/>
                </a:moveTo>
                <a:lnTo>
                  <a:pt x="33333" y="54167"/>
                </a:lnTo>
                <a:moveTo>
                  <a:pt x="66667" y="70833"/>
                </a:moveTo>
                <a:lnTo>
                  <a:pt x="33333" y="70833"/>
                </a:lnTo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685" name="Rectangle 24"/>
          <p:cNvSpPr/>
          <p:nvPr/>
        </p:nvSpPr>
        <p:spPr>
          <a:xfrm>
            <a:off x="1371600" y="5994400"/>
            <a:ext cx="10033000" cy="45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Answer form, row B1:  pick a choice, keep today, or write your own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1109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C6ABD80-DCB7-434E-8AA4-FAC1A04A5B47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7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88" name="Rectangle 2"/>
          <p:cNvSpPr/>
          <p:nvPr/>
        </p:nvSpPr>
        <p:spPr>
          <a:xfrm>
            <a:off x="711200" y="508000"/>
            <a:ext cx="8255000" cy="812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B2. Can a partner withdraw a deal, and can it come back?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689" name="Rectangle 3"/>
          <p:cNvSpPr/>
          <p:nvPr/>
        </p:nvSpPr>
        <p:spPr>
          <a:xfrm>
            <a:off x="9271000" y="508000"/>
            <a:ext cx="2286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Part B  |  6 of 20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690" name="Rectangle 4"/>
          <p:cNvSpPr/>
          <p:nvPr/>
        </p:nvSpPr>
        <p:spPr>
          <a:xfrm>
            <a:off x="762000" y="1422400"/>
            <a:ext cx="533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WHAT IT MEANS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691" name="Rectangle 5"/>
          <p:cNvSpPr/>
          <p:nvPr/>
        </p:nvSpPr>
        <p:spPr>
          <a:xfrm>
            <a:off x="762000" y="1701800"/>
            <a:ext cx="5334000" cy="609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1E2B3C"/>
                </a:solidFill>
              </a:rPr>
              <a:t>A partner drops out of a deal. Do they lose their place permanently, and does DBGI need to confirm it?</a:t>
            </a:r>
            <a:endParaRPr sz="1400" b="0">
              <a:solidFill>
                <a:srgbClr val="1E2B3C"/>
              </a:solidFill>
            </a:endParaRPr>
          </a:p>
        </p:txBody>
      </p:sp>
      <p:sp>
        <p:nvSpPr>
          <p:cNvPr id="692" name="Rectangle 6"/>
          <p:cNvSpPr/>
          <p:nvPr/>
        </p:nvSpPr>
        <p:spPr>
          <a:xfrm>
            <a:off x="762000" y="2489200"/>
            <a:ext cx="5334000" cy="7874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93" name="Rectangle 7"/>
          <p:cNvSpPr/>
          <p:nvPr/>
        </p:nvSpPr>
        <p:spPr>
          <a:xfrm>
            <a:off x="965200" y="2616200"/>
            <a:ext cx="4953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THE PORTAL TODAY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694" name="Rectangle 8"/>
          <p:cNvSpPr/>
          <p:nvPr/>
        </p:nvSpPr>
        <p:spPr>
          <a:xfrm>
            <a:off x="965200" y="2895600"/>
            <a:ext cx="4978400" cy="330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There is no withdrawal. DBGI can only reject.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695" name="Rectangle 9"/>
          <p:cNvSpPr/>
          <p:nvPr/>
        </p:nvSpPr>
        <p:spPr>
          <a:xfrm>
            <a:off x="762000" y="3403600"/>
            <a:ext cx="5334000" cy="584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5B6B7A"/>
                </a:solidFill>
              </a:rPr>
              <a:t>Why it matters: the withdrawal feature (the next planned build).</a:t>
            </a:r>
            <a:endParaRPr sz="1200" b="0">
              <a:solidFill>
                <a:srgbClr val="5B6B7A"/>
              </a:solidFill>
            </a:endParaRPr>
          </a:p>
        </p:txBody>
      </p:sp>
      <p:sp>
        <p:nvSpPr>
          <p:cNvPr id="696" name="Rectangle 10"/>
          <p:cNvSpPr/>
          <p:nvPr/>
        </p:nvSpPr>
        <p:spPr>
          <a:xfrm>
            <a:off x="6477000" y="1422400"/>
            <a:ext cx="5080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CHOOSE ONE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697" name="Rectangle 11"/>
          <p:cNvSpPr/>
          <p:nvPr/>
        </p:nvSpPr>
        <p:spPr>
          <a:xfrm>
            <a:off x="6477000" y="1752600"/>
            <a:ext cx="5080000" cy="76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98" name="Oval 12"/>
          <p:cNvSpPr/>
          <p:nvPr/>
        </p:nvSpPr>
        <p:spPr>
          <a:xfrm>
            <a:off x="6629400" y="19431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699" name="Rectangle 13"/>
          <p:cNvSpPr/>
          <p:nvPr/>
        </p:nvSpPr>
        <p:spPr>
          <a:xfrm>
            <a:off x="7137400" y="1803400"/>
            <a:ext cx="4318000" cy="660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Partner requests, DBGI confirms, the place in line is lost for good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700" name="Rectangle 14"/>
          <p:cNvSpPr/>
          <p:nvPr/>
        </p:nvSpPr>
        <p:spPr>
          <a:xfrm>
            <a:off x="6477000" y="2641600"/>
            <a:ext cx="5080000" cy="76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01" name="Oval 15"/>
          <p:cNvSpPr/>
          <p:nvPr/>
        </p:nvSpPr>
        <p:spPr>
          <a:xfrm>
            <a:off x="6629400" y="28321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b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702" name="Rectangle 16"/>
          <p:cNvSpPr/>
          <p:nvPr/>
        </p:nvSpPr>
        <p:spPr>
          <a:xfrm>
            <a:off x="7137400" y="2692400"/>
            <a:ext cx="4318000" cy="660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Partner withdraws instantly, DBGI is notified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703" name="Rectangle 17"/>
          <p:cNvSpPr/>
          <p:nvPr/>
        </p:nvSpPr>
        <p:spPr>
          <a:xfrm>
            <a:off x="6477000" y="3530600"/>
            <a:ext cx="5080000" cy="76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04" name="Oval 18"/>
          <p:cNvSpPr/>
          <p:nvPr/>
        </p:nvSpPr>
        <p:spPr>
          <a:xfrm>
            <a:off x="6629400" y="37211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c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705" name="Rectangle 19"/>
          <p:cNvSpPr/>
          <p:nvPr/>
        </p:nvSpPr>
        <p:spPr>
          <a:xfrm>
            <a:off x="7137400" y="3581400"/>
            <a:ext cx="4318000" cy="660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Withdrawn deals can be restored within a set time with their original place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706" name="Picture"/>
          <p:cNvSpPr/>
          <p:nvPr/>
        </p:nvSpPr>
        <p:spPr>
          <a:xfrm>
            <a:off x="6502400" y="4470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20833" y="12500"/>
                </a:moveTo>
                <a:lnTo>
                  <a:pt x="79167" y="12500"/>
                </a:lnTo>
                <a:cubicBezTo>
                  <a:pt x="83769" y="12500"/>
                  <a:pt x="87500" y="16231"/>
                  <a:pt x="87500" y="20833"/>
                </a:cubicBezTo>
                <a:lnTo>
                  <a:pt x="87500" y="79167"/>
                </a:lnTo>
                <a:cubicBezTo>
                  <a:pt x="87500" y="83769"/>
                  <a:pt x="83769" y="87500"/>
                  <a:pt x="79167" y="87500"/>
                </a:cubicBezTo>
                <a:lnTo>
                  <a:pt x="20833" y="87500"/>
                </a:lnTo>
                <a:cubicBezTo>
                  <a:pt x="16231" y="87500"/>
                  <a:pt x="12500" y="83769"/>
                  <a:pt x="12500" y="79167"/>
                </a:cubicBezTo>
                <a:lnTo>
                  <a:pt x="12500" y="20833"/>
                </a:lnTo>
                <a:cubicBezTo>
                  <a:pt x="12500" y="16231"/>
                  <a:pt x="16231" y="12500"/>
                  <a:pt x="20833" y="12500"/>
                </a:cubicBezTo>
                <a:close/>
                <a:moveTo>
                  <a:pt x="29167" y="37500"/>
                </a:moveTo>
                <a:cubicBezTo>
                  <a:pt x="29167" y="32898"/>
                  <a:pt x="32898" y="29167"/>
                  <a:pt x="37500" y="29167"/>
                </a:cubicBezTo>
                <a:cubicBezTo>
                  <a:pt x="42103" y="29167"/>
                  <a:pt x="45833" y="32898"/>
                  <a:pt x="45833" y="37500"/>
                </a:cubicBezTo>
                <a:cubicBezTo>
                  <a:pt x="45833" y="42103"/>
                  <a:pt x="42103" y="45833"/>
                  <a:pt x="37500" y="45833"/>
                </a:cubicBezTo>
                <a:cubicBezTo>
                  <a:pt x="32898" y="45833"/>
                  <a:pt x="29167" y="42103"/>
                  <a:pt x="29167" y="37500"/>
                </a:cubicBezTo>
                <a:close/>
                <a:moveTo>
                  <a:pt x="87500" y="62500"/>
                </a:moveTo>
                <a:lnTo>
                  <a:pt x="74642" y="49642"/>
                </a:lnTo>
                <a:cubicBezTo>
                  <a:pt x="71388" y="46388"/>
                  <a:pt x="66113" y="46388"/>
                  <a:pt x="62858" y="49642"/>
                </a:cubicBezTo>
                <a:lnTo>
                  <a:pt x="25000" y="87500"/>
                </a:lnTo>
              </a:path>
            </a:pathLst>
          </a:custGeom>
          <a:noFill/>
          <a:ln w="19050" cap="rnd">
            <a:solidFill>
              <a:srgbClr val="1B7FA6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707" name="Rectangle 21"/>
          <p:cNvSpPr/>
          <p:nvPr/>
        </p:nvSpPr>
        <p:spPr>
          <a:xfrm>
            <a:off x="6807200" y="4419600"/>
            <a:ext cx="4749800" cy="50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1B7FA6"/>
                </a:solidFill>
              </a:rPr>
              <a:t>See it in the walkthrough: slide 13, Choose exactly one decision</a:t>
            </a:r>
            <a:endParaRPr sz="1200" b="0">
              <a:solidFill>
                <a:srgbClr val="1B7FA6"/>
              </a:solidFill>
            </a:endParaRPr>
          </a:p>
        </p:txBody>
      </p:sp>
      <p:sp>
        <p:nvSpPr>
          <p:cNvPr id="708" name="Rectangle 22"/>
          <p:cNvSpPr/>
          <p:nvPr/>
        </p:nvSpPr>
        <p:spPr>
          <a:xfrm>
            <a:off x="762000" y="5969000"/>
            <a:ext cx="10795000" cy="508000"/>
          </a:xfrm>
          <a:prstGeom prst="round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09" name="Document"/>
          <p:cNvSpPr/>
          <p:nvPr/>
        </p:nvSpPr>
        <p:spPr>
          <a:xfrm>
            <a:off x="965200" y="6083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25000" y="91667"/>
                </a:moveTo>
                <a:cubicBezTo>
                  <a:pt x="20398" y="91667"/>
                  <a:pt x="16667" y="87936"/>
                  <a:pt x="16667" y="83333"/>
                </a:cubicBezTo>
                <a:lnTo>
                  <a:pt x="16667" y="16667"/>
                </a:lnTo>
                <a:cubicBezTo>
                  <a:pt x="16667" y="12064"/>
                  <a:pt x="20398" y="8333"/>
                  <a:pt x="25000" y="8333"/>
                </a:cubicBezTo>
                <a:lnTo>
                  <a:pt x="58333" y="8333"/>
                </a:lnTo>
                <a:cubicBezTo>
                  <a:pt x="60998" y="8329"/>
                  <a:pt x="63553" y="9388"/>
                  <a:pt x="65433" y="11275"/>
                </a:cubicBezTo>
                <a:lnTo>
                  <a:pt x="80383" y="26225"/>
                </a:lnTo>
                <a:cubicBezTo>
                  <a:pt x="82275" y="28106"/>
                  <a:pt x="83338" y="30665"/>
                  <a:pt x="83333" y="33333"/>
                </a:cubicBezTo>
                <a:lnTo>
                  <a:pt x="83333" y="83333"/>
                </a:lnTo>
                <a:cubicBezTo>
                  <a:pt x="83333" y="87936"/>
                  <a:pt x="79603" y="91667"/>
                  <a:pt x="75000" y="91667"/>
                </a:cubicBezTo>
                <a:close/>
                <a:moveTo>
                  <a:pt x="58333" y="8333"/>
                </a:moveTo>
                <a:lnTo>
                  <a:pt x="58333" y="29167"/>
                </a:lnTo>
                <a:cubicBezTo>
                  <a:pt x="58333" y="31468"/>
                  <a:pt x="60199" y="33333"/>
                  <a:pt x="62500" y="33333"/>
                </a:cubicBezTo>
                <a:lnTo>
                  <a:pt x="83333" y="33333"/>
                </a:lnTo>
                <a:moveTo>
                  <a:pt x="41667" y="37500"/>
                </a:moveTo>
                <a:lnTo>
                  <a:pt x="33333" y="37500"/>
                </a:lnTo>
                <a:moveTo>
                  <a:pt x="66667" y="54167"/>
                </a:moveTo>
                <a:lnTo>
                  <a:pt x="33333" y="54167"/>
                </a:lnTo>
                <a:moveTo>
                  <a:pt x="66667" y="70833"/>
                </a:moveTo>
                <a:lnTo>
                  <a:pt x="33333" y="70833"/>
                </a:lnTo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710" name="Rectangle 24"/>
          <p:cNvSpPr/>
          <p:nvPr/>
        </p:nvSpPr>
        <p:spPr>
          <a:xfrm>
            <a:off x="1371600" y="5994400"/>
            <a:ext cx="10033000" cy="45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Answer form, row B2:  pick a choice, keep today, or write your own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1112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8F102130-0A8A-4CBB-89F9-48638E711EDA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2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13" name="Rectangle 2"/>
          <p:cNvSpPr/>
          <p:nvPr/>
        </p:nvSpPr>
        <p:spPr>
          <a:xfrm>
            <a:off x="711200" y="508000"/>
            <a:ext cx="8255000" cy="812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B3. What happens when two registrations turn out to be one deal, or one turns out to be two?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714" name="Rectangle 3"/>
          <p:cNvSpPr/>
          <p:nvPr/>
        </p:nvSpPr>
        <p:spPr>
          <a:xfrm>
            <a:off x="9271000" y="508000"/>
            <a:ext cx="2286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Part B  |  7 of 20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715" name="Rectangle 4"/>
          <p:cNvSpPr/>
          <p:nvPr/>
        </p:nvSpPr>
        <p:spPr>
          <a:xfrm>
            <a:off x="762000" y="1422400"/>
            <a:ext cx="533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WHAT IT MEANS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716" name="Rectangle 5"/>
          <p:cNvSpPr/>
          <p:nvPr/>
        </p:nvSpPr>
        <p:spPr>
          <a:xfrm>
            <a:off x="762000" y="1701800"/>
            <a:ext cx="5334000" cy="1117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1E2B3C"/>
                </a:solidFill>
              </a:rPr>
              <a:t>DBGI later learns two partner registrations are the same tender (merge), or one registration actually covers two separate lots (split). Who keeps first place, and what happens to approved prices?</a:t>
            </a:r>
            <a:endParaRPr sz="1400" b="0">
              <a:solidFill>
                <a:srgbClr val="1E2B3C"/>
              </a:solidFill>
            </a:endParaRPr>
          </a:p>
        </p:txBody>
      </p:sp>
      <p:sp>
        <p:nvSpPr>
          <p:cNvPr id="717" name="Rectangle 6"/>
          <p:cNvSpPr/>
          <p:nvPr/>
        </p:nvSpPr>
        <p:spPr>
          <a:xfrm>
            <a:off x="762000" y="2997200"/>
            <a:ext cx="5334000" cy="12446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18" name="Rectangle 7"/>
          <p:cNvSpPr/>
          <p:nvPr/>
        </p:nvSpPr>
        <p:spPr>
          <a:xfrm>
            <a:off x="965200" y="3124200"/>
            <a:ext cx="4953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THE PORTAL TODAY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719" name="Rectangle 8"/>
          <p:cNvSpPr/>
          <p:nvPr/>
        </p:nvSpPr>
        <p:spPr>
          <a:xfrm>
            <a:off x="965200" y="3403600"/>
            <a:ext cx="4978400" cy="787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DBGI groups matching registrations under one opportunity and lot when reviewing. There is no merge or split afterwards.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720" name="Rectangle 9"/>
          <p:cNvSpPr/>
          <p:nvPr/>
        </p:nvSpPr>
        <p:spPr>
          <a:xfrm>
            <a:off x="762000" y="4368800"/>
            <a:ext cx="5334000" cy="584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5B6B7A"/>
                </a:solidFill>
              </a:rPr>
              <a:t>Why it matters: merge and split tools.</a:t>
            </a:r>
            <a:endParaRPr sz="1200" b="0">
              <a:solidFill>
                <a:srgbClr val="5B6B7A"/>
              </a:solidFill>
            </a:endParaRPr>
          </a:p>
        </p:txBody>
      </p:sp>
      <p:sp>
        <p:nvSpPr>
          <p:cNvPr id="721" name="Rectangle 10"/>
          <p:cNvSpPr/>
          <p:nvPr/>
        </p:nvSpPr>
        <p:spPr>
          <a:xfrm>
            <a:off x="6477000" y="1422400"/>
            <a:ext cx="5080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CHOOSE ONE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722" name="Rectangle 11"/>
          <p:cNvSpPr/>
          <p:nvPr/>
        </p:nvSpPr>
        <p:spPr>
          <a:xfrm>
            <a:off x="6477000" y="1752600"/>
            <a:ext cx="5080000" cy="99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23" name="Oval 12"/>
          <p:cNvSpPr/>
          <p:nvPr/>
        </p:nvSpPr>
        <p:spPr>
          <a:xfrm>
            <a:off x="6629400" y="20574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724" name="Rectangle 13"/>
          <p:cNvSpPr/>
          <p:nvPr/>
        </p:nvSpPr>
        <p:spPr>
          <a:xfrm>
            <a:off x="7137400" y="1803400"/>
            <a:ext cx="4318000" cy="889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Always keep each registration's original submission time for ranking, and re-review prices after any merge or split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725" name="Rectangle 14"/>
          <p:cNvSpPr/>
          <p:nvPr/>
        </p:nvSpPr>
        <p:spPr>
          <a:xfrm>
            <a:off x="6477000" y="2870200"/>
            <a:ext cx="5080000" cy="76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26" name="Oval 15"/>
          <p:cNvSpPr/>
          <p:nvPr/>
        </p:nvSpPr>
        <p:spPr>
          <a:xfrm>
            <a:off x="6629400" y="30607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b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727" name="Rectangle 16"/>
          <p:cNvSpPr/>
          <p:nvPr/>
        </p:nvSpPr>
        <p:spPr>
          <a:xfrm>
            <a:off x="7137400" y="2921000"/>
            <a:ext cx="4318000" cy="660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DBGI decides case by case with a written reason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728" name="Picture"/>
          <p:cNvSpPr/>
          <p:nvPr/>
        </p:nvSpPr>
        <p:spPr>
          <a:xfrm>
            <a:off x="6502400" y="38100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20833" y="12500"/>
                </a:moveTo>
                <a:lnTo>
                  <a:pt x="79167" y="12500"/>
                </a:lnTo>
                <a:cubicBezTo>
                  <a:pt x="83769" y="12500"/>
                  <a:pt x="87500" y="16231"/>
                  <a:pt x="87500" y="20833"/>
                </a:cubicBezTo>
                <a:lnTo>
                  <a:pt x="87500" y="79167"/>
                </a:lnTo>
                <a:cubicBezTo>
                  <a:pt x="87500" y="83769"/>
                  <a:pt x="83769" y="87500"/>
                  <a:pt x="79167" y="87500"/>
                </a:cubicBezTo>
                <a:lnTo>
                  <a:pt x="20833" y="87500"/>
                </a:lnTo>
                <a:cubicBezTo>
                  <a:pt x="16231" y="87500"/>
                  <a:pt x="12500" y="83769"/>
                  <a:pt x="12500" y="79167"/>
                </a:cubicBezTo>
                <a:lnTo>
                  <a:pt x="12500" y="20833"/>
                </a:lnTo>
                <a:cubicBezTo>
                  <a:pt x="12500" y="16231"/>
                  <a:pt x="16231" y="12500"/>
                  <a:pt x="20833" y="12500"/>
                </a:cubicBezTo>
                <a:close/>
                <a:moveTo>
                  <a:pt x="29167" y="37500"/>
                </a:moveTo>
                <a:cubicBezTo>
                  <a:pt x="29167" y="32898"/>
                  <a:pt x="32898" y="29167"/>
                  <a:pt x="37500" y="29167"/>
                </a:cubicBezTo>
                <a:cubicBezTo>
                  <a:pt x="42103" y="29167"/>
                  <a:pt x="45833" y="32898"/>
                  <a:pt x="45833" y="37500"/>
                </a:cubicBezTo>
                <a:cubicBezTo>
                  <a:pt x="45833" y="42103"/>
                  <a:pt x="42103" y="45833"/>
                  <a:pt x="37500" y="45833"/>
                </a:cubicBezTo>
                <a:cubicBezTo>
                  <a:pt x="32898" y="45833"/>
                  <a:pt x="29167" y="42103"/>
                  <a:pt x="29167" y="37500"/>
                </a:cubicBezTo>
                <a:close/>
                <a:moveTo>
                  <a:pt x="87500" y="62500"/>
                </a:moveTo>
                <a:lnTo>
                  <a:pt x="74642" y="49642"/>
                </a:lnTo>
                <a:cubicBezTo>
                  <a:pt x="71388" y="46388"/>
                  <a:pt x="66113" y="46388"/>
                  <a:pt x="62858" y="49642"/>
                </a:cubicBezTo>
                <a:lnTo>
                  <a:pt x="25000" y="87500"/>
                </a:lnTo>
              </a:path>
            </a:pathLst>
          </a:custGeom>
          <a:noFill/>
          <a:ln w="19050" cap="rnd">
            <a:solidFill>
              <a:srgbClr val="1B7FA6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729" name="Rectangle 18"/>
          <p:cNvSpPr/>
          <p:nvPr/>
        </p:nvSpPr>
        <p:spPr>
          <a:xfrm>
            <a:off x="6807200" y="3759200"/>
            <a:ext cx="4749800" cy="50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1B7FA6"/>
                </a:solidFill>
              </a:rPr>
              <a:t>See it in the walkthrough: slide 16, Check the changes, then confirm</a:t>
            </a:r>
            <a:endParaRPr sz="1200" b="0">
              <a:solidFill>
                <a:srgbClr val="1B7FA6"/>
              </a:solidFill>
            </a:endParaRPr>
          </a:p>
        </p:txBody>
      </p:sp>
      <p:sp>
        <p:nvSpPr>
          <p:cNvPr id="730" name="Rectangle 19"/>
          <p:cNvSpPr/>
          <p:nvPr/>
        </p:nvSpPr>
        <p:spPr>
          <a:xfrm>
            <a:off x="762000" y="5969000"/>
            <a:ext cx="10795000" cy="508000"/>
          </a:xfrm>
          <a:prstGeom prst="round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31" name="Document"/>
          <p:cNvSpPr/>
          <p:nvPr/>
        </p:nvSpPr>
        <p:spPr>
          <a:xfrm>
            <a:off x="965200" y="6083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25000" y="91667"/>
                </a:moveTo>
                <a:cubicBezTo>
                  <a:pt x="20398" y="91667"/>
                  <a:pt x="16667" y="87936"/>
                  <a:pt x="16667" y="83333"/>
                </a:cubicBezTo>
                <a:lnTo>
                  <a:pt x="16667" y="16667"/>
                </a:lnTo>
                <a:cubicBezTo>
                  <a:pt x="16667" y="12064"/>
                  <a:pt x="20398" y="8333"/>
                  <a:pt x="25000" y="8333"/>
                </a:cubicBezTo>
                <a:lnTo>
                  <a:pt x="58333" y="8333"/>
                </a:lnTo>
                <a:cubicBezTo>
                  <a:pt x="60998" y="8329"/>
                  <a:pt x="63553" y="9388"/>
                  <a:pt x="65433" y="11275"/>
                </a:cubicBezTo>
                <a:lnTo>
                  <a:pt x="80383" y="26225"/>
                </a:lnTo>
                <a:cubicBezTo>
                  <a:pt x="82275" y="28106"/>
                  <a:pt x="83338" y="30665"/>
                  <a:pt x="83333" y="33333"/>
                </a:cubicBezTo>
                <a:lnTo>
                  <a:pt x="83333" y="83333"/>
                </a:lnTo>
                <a:cubicBezTo>
                  <a:pt x="83333" y="87936"/>
                  <a:pt x="79603" y="91667"/>
                  <a:pt x="75000" y="91667"/>
                </a:cubicBezTo>
                <a:close/>
                <a:moveTo>
                  <a:pt x="58333" y="8333"/>
                </a:moveTo>
                <a:lnTo>
                  <a:pt x="58333" y="29167"/>
                </a:lnTo>
                <a:cubicBezTo>
                  <a:pt x="58333" y="31468"/>
                  <a:pt x="60199" y="33333"/>
                  <a:pt x="62500" y="33333"/>
                </a:cubicBezTo>
                <a:lnTo>
                  <a:pt x="83333" y="33333"/>
                </a:lnTo>
                <a:moveTo>
                  <a:pt x="41667" y="37500"/>
                </a:moveTo>
                <a:lnTo>
                  <a:pt x="33333" y="37500"/>
                </a:lnTo>
                <a:moveTo>
                  <a:pt x="66667" y="54167"/>
                </a:moveTo>
                <a:lnTo>
                  <a:pt x="33333" y="54167"/>
                </a:lnTo>
                <a:moveTo>
                  <a:pt x="66667" y="70833"/>
                </a:moveTo>
                <a:lnTo>
                  <a:pt x="33333" y="70833"/>
                </a:lnTo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732" name="Rectangle 21"/>
          <p:cNvSpPr/>
          <p:nvPr/>
        </p:nvSpPr>
        <p:spPr>
          <a:xfrm>
            <a:off x="1371600" y="5994400"/>
            <a:ext cx="10033000" cy="45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Answer form, row B3:  pick a choice, keep today, or write your own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1115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76977E4B-5CEA-4025-8B70-AC24C01FA0F0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35" name="Rectangle 2"/>
          <p:cNvSpPr/>
          <p:nvPr/>
        </p:nvSpPr>
        <p:spPr>
          <a:xfrm>
            <a:off x="711200" y="508000"/>
            <a:ext cx="8255000" cy="812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B4. Who decides Won, Lost, Cancelled, or On hold?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736" name="Rectangle 3"/>
          <p:cNvSpPr/>
          <p:nvPr/>
        </p:nvSpPr>
        <p:spPr>
          <a:xfrm>
            <a:off x="9271000" y="508000"/>
            <a:ext cx="2286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Part B  |  8 of 20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737" name="Rectangle 4"/>
          <p:cNvSpPr/>
          <p:nvPr/>
        </p:nvSpPr>
        <p:spPr>
          <a:xfrm>
            <a:off x="762000" y="1422400"/>
            <a:ext cx="533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WHAT IT MEANS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738" name="Rectangle 5"/>
          <p:cNvSpPr/>
          <p:nvPr/>
        </p:nvSpPr>
        <p:spPr>
          <a:xfrm>
            <a:off x="762000" y="1701800"/>
            <a:ext cx="5334000" cy="609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1E2B3C"/>
                </a:solidFill>
              </a:rPr>
              <a:t>Who marks the outcome of the government project, and should partners be able to report it?</a:t>
            </a:r>
            <a:endParaRPr sz="1400" b="0">
              <a:solidFill>
                <a:srgbClr val="1E2B3C"/>
              </a:solidFill>
            </a:endParaRPr>
          </a:p>
        </p:txBody>
      </p:sp>
      <p:sp>
        <p:nvSpPr>
          <p:cNvPr id="739" name="Rectangle 6"/>
          <p:cNvSpPr/>
          <p:nvPr/>
        </p:nvSpPr>
        <p:spPr>
          <a:xfrm>
            <a:off x="762000" y="2489200"/>
            <a:ext cx="5334000" cy="1016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40" name="Rectangle 7"/>
          <p:cNvSpPr/>
          <p:nvPr/>
        </p:nvSpPr>
        <p:spPr>
          <a:xfrm>
            <a:off x="965200" y="2616200"/>
            <a:ext cx="4953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THE PORTAL TODAY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741" name="Rectangle 8"/>
          <p:cNvSpPr/>
          <p:nvPr/>
        </p:nvSpPr>
        <p:spPr>
          <a:xfrm>
            <a:off x="965200" y="2895600"/>
            <a:ext cx="4978400" cy="558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Only DBGI administrators set it, with a reason. Partners cannot.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742" name="Rectangle 9"/>
          <p:cNvSpPr/>
          <p:nvPr/>
        </p:nvSpPr>
        <p:spPr>
          <a:xfrm>
            <a:off x="762000" y="3632200"/>
            <a:ext cx="5334000" cy="584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5B6B7A"/>
                </a:solidFill>
              </a:rPr>
              <a:t>Why it matters: outcome tracking and win and loss reports.</a:t>
            </a:r>
            <a:endParaRPr sz="1200" b="0">
              <a:solidFill>
                <a:srgbClr val="5B6B7A"/>
              </a:solidFill>
            </a:endParaRPr>
          </a:p>
        </p:txBody>
      </p:sp>
      <p:sp>
        <p:nvSpPr>
          <p:cNvPr id="743" name="Rectangle 10"/>
          <p:cNvSpPr/>
          <p:nvPr/>
        </p:nvSpPr>
        <p:spPr>
          <a:xfrm>
            <a:off x="6477000" y="1422400"/>
            <a:ext cx="5080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CHOOSE ONE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744" name="Rectangle 11"/>
          <p:cNvSpPr/>
          <p:nvPr/>
        </p:nvSpPr>
        <p:spPr>
          <a:xfrm>
            <a:off x="6477000" y="17526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45" name="Oval 12"/>
          <p:cNvSpPr/>
          <p:nvPr/>
        </p:nvSpPr>
        <p:spPr>
          <a:xfrm>
            <a:off x="6629400" y="18288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746" name="Rectangle 13"/>
          <p:cNvSpPr/>
          <p:nvPr/>
        </p:nvSpPr>
        <p:spPr>
          <a:xfrm>
            <a:off x="7137400" y="18034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Keep DBGI only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747" name="Rectangle 14"/>
          <p:cNvSpPr/>
          <p:nvPr/>
        </p:nvSpPr>
        <p:spPr>
          <a:xfrm>
            <a:off x="6477000" y="24130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48" name="Oval 15"/>
          <p:cNvSpPr/>
          <p:nvPr/>
        </p:nvSpPr>
        <p:spPr>
          <a:xfrm>
            <a:off x="6629400" y="24892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b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749" name="Rectangle 16"/>
          <p:cNvSpPr/>
          <p:nvPr/>
        </p:nvSpPr>
        <p:spPr>
          <a:xfrm>
            <a:off x="7137400" y="24638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Partners report, DBGI confirms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750" name="Picture"/>
          <p:cNvSpPr/>
          <p:nvPr/>
        </p:nvSpPr>
        <p:spPr>
          <a:xfrm>
            <a:off x="6502400" y="31242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20833" y="12500"/>
                </a:moveTo>
                <a:lnTo>
                  <a:pt x="79167" y="12500"/>
                </a:lnTo>
                <a:cubicBezTo>
                  <a:pt x="83769" y="12500"/>
                  <a:pt x="87500" y="16231"/>
                  <a:pt x="87500" y="20833"/>
                </a:cubicBezTo>
                <a:lnTo>
                  <a:pt x="87500" y="79167"/>
                </a:lnTo>
                <a:cubicBezTo>
                  <a:pt x="87500" y="83769"/>
                  <a:pt x="83769" y="87500"/>
                  <a:pt x="79167" y="87500"/>
                </a:cubicBezTo>
                <a:lnTo>
                  <a:pt x="20833" y="87500"/>
                </a:lnTo>
                <a:cubicBezTo>
                  <a:pt x="16231" y="87500"/>
                  <a:pt x="12500" y="83769"/>
                  <a:pt x="12500" y="79167"/>
                </a:cubicBezTo>
                <a:lnTo>
                  <a:pt x="12500" y="20833"/>
                </a:lnTo>
                <a:cubicBezTo>
                  <a:pt x="12500" y="16231"/>
                  <a:pt x="16231" y="12500"/>
                  <a:pt x="20833" y="12500"/>
                </a:cubicBezTo>
                <a:close/>
                <a:moveTo>
                  <a:pt x="29167" y="37500"/>
                </a:moveTo>
                <a:cubicBezTo>
                  <a:pt x="29167" y="32898"/>
                  <a:pt x="32898" y="29167"/>
                  <a:pt x="37500" y="29167"/>
                </a:cubicBezTo>
                <a:cubicBezTo>
                  <a:pt x="42103" y="29167"/>
                  <a:pt x="45833" y="32898"/>
                  <a:pt x="45833" y="37500"/>
                </a:cubicBezTo>
                <a:cubicBezTo>
                  <a:pt x="45833" y="42103"/>
                  <a:pt x="42103" y="45833"/>
                  <a:pt x="37500" y="45833"/>
                </a:cubicBezTo>
                <a:cubicBezTo>
                  <a:pt x="32898" y="45833"/>
                  <a:pt x="29167" y="42103"/>
                  <a:pt x="29167" y="37500"/>
                </a:cubicBezTo>
                <a:close/>
                <a:moveTo>
                  <a:pt x="87500" y="62500"/>
                </a:moveTo>
                <a:lnTo>
                  <a:pt x="74642" y="49642"/>
                </a:lnTo>
                <a:cubicBezTo>
                  <a:pt x="71388" y="46388"/>
                  <a:pt x="66113" y="46388"/>
                  <a:pt x="62858" y="49642"/>
                </a:cubicBezTo>
                <a:lnTo>
                  <a:pt x="25000" y="87500"/>
                </a:lnTo>
              </a:path>
            </a:pathLst>
          </a:custGeom>
          <a:noFill/>
          <a:ln w="19050" cap="rnd">
            <a:solidFill>
              <a:srgbClr val="1B7FA6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751" name="Rectangle 18"/>
          <p:cNvSpPr/>
          <p:nvPr/>
        </p:nvSpPr>
        <p:spPr>
          <a:xfrm>
            <a:off x="6807200" y="3073400"/>
            <a:ext cx="4749800" cy="50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1B7FA6"/>
                </a:solidFill>
              </a:rPr>
              <a:t>See it in the walkthrough: slide 5, Read the three status badges</a:t>
            </a:r>
            <a:endParaRPr sz="1200" b="0">
              <a:solidFill>
                <a:srgbClr val="1B7FA6"/>
              </a:solidFill>
            </a:endParaRPr>
          </a:p>
        </p:txBody>
      </p:sp>
      <p:sp>
        <p:nvSpPr>
          <p:cNvPr id="752" name="Rectangle 19"/>
          <p:cNvSpPr/>
          <p:nvPr/>
        </p:nvSpPr>
        <p:spPr>
          <a:xfrm>
            <a:off x="762000" y="5969000"/>
            <a:ext cx="10795000" cy="508000"/>
          </a:xfrm>
          <a:prstGeom prst="round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53" name="Document"/>
          <p:cNvSpPr/>
          <p:nvPr/>
        </p:nvSpPr>
        <p:spPr>
          <a:xfrm>
            <a:off x="965200" y="6083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25000" y="91667"/>
                </a:moveTo>
                <a:cubicBezTo>
                  <a:pt x="20398" y="91667"/>
                  <a:pt x="16667" y="87936"/>
                  <a:pt x="16667" y="83333"/>
                </a:cubicBezTo>
                <a:lnTo>
                  <a:pt x="16667" y="16667"/>
                </a:lnTo>
                <a:cubicBezTo>
                  <a:pt x="16667" y="12064"/>
                  <a:pt x="20398" y="8333"/>
                  <a:pt x="25000" y="8333"/>
                </a:cubicBezTo>
                <a:lnTo>
                  <a:pt x="58333" y="8333"/>
                </a:lnTo>
                <a:cubicBezTo>
                  <a:pt x="60998" y="8329"/>
                  <a:pt x="63553" y="9388"/>
                  <a:pt x="65433" y="11275"/>
                </a:cubicBezTo>
                <a:lnTo>
                  <a:pt x="80383" y="26225"/>
                </a:lnTo>
                <a:cubicBezTo>
                  <a:pt x="82275" y="28106"/>
                  <a:pt x="83338" y="30665"/>
                  <a:pt x="83333" y="33333"/>
                </a:cubicBezTo>
                <a:lnTo>
                  <a:pt x="83333" y="83333"/>
                </a:lnTo>
                <a:cubicBezTo>
                  <a:pt x="83333" y="87936"/>
                  <a:pt x="79603" y="91667"/>
                  <a:pt x="75000" y="91667"/>
                </a:cubicBezTo>
                <a:close/>
                <a:moveTo>
                  <a:pt x="58333" y="8333"/>
                </a:moveTo>
                <a:lnTo>
                  <a:pt x="58333" y="29167"/>
                </a:lnTo>
                <a:cubicBezTo>
                  <a:pt x="58333" y="31468"/>
                  <a:pt x="60199" y="33333"/>
                  <a:pt x="62500" y="33333"/>
                </a:cubicBezTo>
                <a:lnTo>
                  <a:pt x="83333" y="33333"/>
                </a:lnTo>
                <a:moveTo>
                  <a:pt x="41667" y="37500"/>
                </a:moveTo>
                <a:lnTo>
                  <a:pt x="33333" y="37500"/>
                </a:lnTo>
                <a:moveTo>
                  <a:pt x="66667" y="54167"/>
                </a:moveTo>
                <a:lnTo>
                  <a:pt x="33333" y="54167"/>
                </a:lnTo>
                <a:moveTo>
                  <a:pt x="66667" y="70833"/>
                </a:moveTo>
                <a:lnTo>
                  <a:pt x="33333" y="70833"/>
                </a:lnTo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754" name="Rectangle 21"/>
          <p:cNvSpPr/>
          <p:nvPr/>
        </p:nvSpPr>
        <p:spPr>
          <a:xfrm>
            <a:off x="1371600" y="5994400"/>
            <a:ext cx="10033000" cy="45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Answer form, row B4:  pick a choice, keep today, or write your own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1118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9A0DB81F-7F0B-4B60-8552-86EC2BBBBBF5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57" name="Rectangle 2"/>
          <p:cNvSpPr/>
          <p:nvPr/>
        </p:nvSpPr>
        <p:spPr>
          <a:xfrm>
            <a:off x="711200" y="508000"/>
            <a:ext cx="8255000" cy="812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B5. What if two partners register at exactly the same moment?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758" name="Rectangle 3"/>
          <p:cNvSpPr/>
          <p:nvPr/>
        </p:nvSpPr>
        <p:spPr>
          <a:xfrm>
            <a:off x="9271000" y="508000"/>
            <a:ext cx="2286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Part B  |  9 of 20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759" name="Rectangle 4"/>
          <p:cNvSpPr/>
          <p:nvPr/>
        </p:nvSpPr>
        <p:spPr>
          <a:xfrm>
            <a:off x="762000" y="1422400"/>
            <a:ext cx="533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WHAT IT MEANS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760" name="Rectangle 5"/>
          <p:cNvSpPr/>
          <p:nvPr/>
        </p:nvSpPr>
        <p:spPr>
          <a:xfrm>
            <a:off x="762000" y="1701800"/>
            <a:ext cx="5334000" cy="609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1E2B3C"/>
                </a:solidFill>
              </a:rPr>
              <a:t>First come, first served. Ties are very rare, but the rule should be known.</a:t>
            </a:r>
            <a:endParaRPr sz="1400" b="0">
              <a:solidFill>
                <a:srgbClr val="1E2B3C"/>
              </a:solidFill>
            </a:endParaRPr>
          </a:p>
        </p:txBody>
      </p:sp>
      <p:sp>
        <p:nvSpPr>
          <p:cNvPr id="761" name="Rectangle 6"/>
          <p:cNvSpPr/>
          <p:nvPr/>
        </p:nvSpPr>
        <p:spPr>
          <a:xfrm>
            <a:off x="762000" y="2489200"/>
            <a:ext cx="5334000" cy="1016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62" name="Rectangle 7"/>
          <p:cNvSpPr/>
          <p:nvPr/>
        </p:nvSpPr>
        <p:spPr>
          <a:xfrm>
            <a:off x="965200" y="2616200"/>
            <a:ext cx="4953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THE PORTAL TODAY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763" name="Rectangle 8"/>
          <p:cNvSpPr/>
          <p:nvPr/>
        </p:nvSpPr>
        <p:spPr>
          <a:xfrm>
            <a:off x="965200" y="2895600"/>
            <a:ext cx="4978400" cy="558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The earliest server-recorded submission time wins. Identical times share a rank and are marked as tied.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764" name="Rectangle 9"/>
          <p:cNvSpPr/>
          <p:nvPr/>
        </p:nvSpPr>
        <p:spPr>
          <a:xfrm>
            <a:off x="762000" y="3632200"/>
            <a:ext cx="5334000" cy="584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5B6B7A"/>
                </a:solidFill>
              </a:rPr>
              <a:t>Why it matters: the final ranking rule.</a:t>
            </a:r>
            <a:endParaRPr sz="1200" b="0">
              <a:solidFill>
                <a:srgbClr val="5B6B7A"/>
              </a:solidFill>
            </a:endParaRPr>
          </a:p>
        </p:txBody>
      </p:sp>
      <p:sp>
        <p:nvSpPr>
          <p:cNvPr id="765" name="Rectangle 10"/>
          <p:cNvSpPr/>
          <p:nvPr/>
        </p:nvSpPr>
        <p:spPr>
          <a:xfrm>
            <a:off x="6477000" y="1422400"/>
            <a:ext cx="5080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CHOOSE ONE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766" name="Rectangle 11"/>
          <p:cNvSpPr/>
          <p:nvPr/>
        </p:nvSpPr>
        <p:spPr>
          <a:xfrm>
            <a:off x="6477000" y="17526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67" name="Oval 12"/>
          <p:cNvSpPr/>
          <p:nvPr/>
        </p:nvSpPr>
        <p:spPr>
          <a:xfrm>
            <a:off x="6629400" y="18288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768" name="Rectangle 13"/>
          <p:cNvSpPr/>
          <p:nvPr/>
        </p:nvSpPr>
        <p:spPr>
          <a:xfrm>
            <a:off x="7137400" y="18034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Keep a shared rank, DBGI decides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769" name="Rectangle 14"/>
          <p:cNvSpPr/>
          <p:nvPr/>
        </p:nvSpPr>
        <p:spPr>
          <a:xfrm>
            <a:off x="6477000" y="24130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70" name="Oval 15"/>
          <p:cNvSpPr/>
          <p:nvPr/>
        </p:nvSpPr>
        <p:spPr>
          <a:xfrm>
            <a:off x="6629400" y="24892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b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771" name="Rectangle 16"/>
          <p:cNvSpPr/>
          <p:nvPr/>
        </p:nvSpPr>
        <p:spPr>
          <a:xfrm>
            <a:off x="7137400" y="24638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The better-documented registration wins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772" name="Picture"/>
          <p:cNvSpPr/>
          <p:nvPr/>
        </p:nvSpPr>
        <p:spPr>
          <a:xfrm>
            <a:off x="6502400" y="31242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20833" y="12500"/>
                </a:moveTo>
                <a:lnTo>
                  <a:pt x="79167" y="12500"/>
                </a:lnTo>
                <a:cubicBezTo>
                  <a:pt x="83769" y="12500"/>
                  <a:pt x="87500" y="16231"/>
                  <a:pt x="87500" y="20833"/>
                </a:cubicBezTo>
                <a:lnTo>
                  <a:pt x="87500" y="79167"/>
                </a:lnTo>
                <a:cubicBezTo>
                  <a:pt x="87500" y="83769"/>
                  <a:pt x="83769" y="87500"/>
                  <a:pt x="79167" y="87500"/>
                </a:cubicBezTo>
                <a:lnTo>
                  <a:pt x="20833" y="87500"/>
                </a:lnTo>
                <a:cubicBezTo>
                  <a:pt x="16231" y="87500"/>
                  <a:pt x="12500" y="83769"/>
                  <a:pt x="12500" y="79167"/>
                </a:cubicBezTo>
                <a:lnTo>
                  <a:pt x="12500" y="20833"/>
                </a:lnTo>
                <a:cubicBezTo>
                  <a:pt x="12500" y="16231"/>
                  <a:pt x="16231" y="12500"/>
                  <a:pt x="20833" y="12500"/>
                </a:cubicBezTo>
                <a:close/>
                <a:moveTo>
                  <a:pt x="29167" y="37500"/>
                </a:moveTo>
                <a:cubicBezTo>
                  <a:pt x="29167" y="32898"/>
                  <a:pt x="32898" y="29167"/>
                  <a:pt x="37500" y="29167"/>
                </a:cubicBezTo>
                <a:cubicBezTo>
                  <a:pt x="42103" y="29167"/>
                  <a:pt x="45833" y="32898"/>
                  <a:pt x="45833" y="37500"/>
                </a:cubicBezTo>
                <a:cubicBezTo>
                  <a:pt x="45833" y="42103"/>
                  <a:pt x="42103" y="45833"/>
                  <a:pt x="37500" y="45833"/>
                </a:cubicBezTo>
                <a:cubicBezTo>
                  <a:pt x="32898" y="45833"/>
                  <a:pt x="29167" y="42103"/>
                  <a:pt x="29167" y="37500"/>
                </a:cubicBezTo>
                <a:close/>
                <a:moveTo>
                  <a:pt x="87500" y="62500"/>
                </a:moveTo>
                <a:lnTo>
                  <a:pt x="74642" y="49642"/>
                </a:lnTo>
                <a:cubicBezTo>
                  <a:pt x="71388" y="46388"/>
                  <a:pt x="66113" y="46388"/>
                  <a:pt x="62858" y="49642"/>
                </a:cubicBezTo>
                <a:lnTo>
                  <a:pt x="25000" y="87500"/>
                </a:lnTo>
              </a:path>
            </a:pathLst>
          </a:custGeom>
          <a:noFill/>
          <a:ln w="19050" cap="rnd">
            <a:solidFill>
              <a:srgbClr val="1B7FA6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773" name="Rectangle 18"/>
          <p:cNvSpPr/>
          <p:nvPr/>
        </p:nvSpPr>
        <p:spPr>
          <a:xfrm>
            <a:off x="6807200" y="3073400"/>
            <a:ext cx="4749800" cy="50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1B7FA6"/>
                </a:solidFill>
              </a:rPr>
              <a:t>See it in the walkthrough: slide 19, Check your ranking</a:t>
            </a:r>
            <a:endParaRPr sz="1200" b="0">
              <a:solidFill>
                <a:srgbClr val="1B7FA6"/>
              </a:solidFill>
            </a:endParaRPr>
          </a:p>
        </p:txBody>
      </p:sp>
      <p:sp>
        <p:nvSpPr>
          <p:cNvPr id="774" name="Rectangle 19"/>
          <p:cNvSpPr/>
          <p:nvPr/>
        </p:nvSpPr>
        <p:spPr>
          <a:xfrm>
            <a:off x="762000" y="5969000"/>
            <a:ext cx="10795000" cy="508000"/>
          </a:xfrm>
          <a:prstGeom prst="round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75" name="Document"/>
          <p:cNvSpPr/>
          <p:nvPr/>
        </p:nvSpPr>
        <p:spPr>
          <a:xfrm>
            <a:off x="965200" y="6083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25000" y="91667"/>
                </a:moveTo>
                <a:cubicBezTo>
                  <a:pt x="20398" y="91667"/>
                  <a:pt x="16667" y="87936"/>
                  <a:pt x="16667" y="83333"/>
                </a:cubicBezTo>
                <a:lnTo>
                  <a:pt x="16667" y="16667"/>
                </a:lnTo>
                <a:cubicBezTo>
                  <a:pt x="16667" y="12064"/>
                  <a:pt x="20398" y="8333"/>
                  <a:pt x="25000" y="8333"/>
                </a:cubicBezTo>
                <a:lnTo>
                  <a:pt x="58333" y="8333"/>
                </a:lnTo>
                <a:cubicBezTo>
                  <a:pt x="60998" y="8329"/>
                  <a:pt x="63553" y="9388"/>
                  <a:pt x="65433" y="11275"/>
                </a:cubicBezTo>
                <a:lnTo>
                  <a:pt x="80383" y="26225"/>
                </a:lnTo>
                <a:cubicBezTo>
                  <a:pt x="82275" y="28106"/>
                  <a:pt x="83338" y="30665"/>
                  <a:pt x="83333" y="33333"/>
                </a:cubicBezTo>
                <a:lnTo>
                  <a:pt x="83333" y="83333"/>
                </a:lnTo>
                <a:cubicBezTo>
                  <a:pt x="83333" y="87936"/>
                  <a:pt x="79603" y="91667"/>
                  <a:pt x="75000" y="91667"/>
                </a:cubicBezTo>
                <a:close/>
                <a:moveTo>
                  <a:pt x="58333" y="8333"/>
                </a:moveTo>
                <a:lnTo>
                  <a:pt x="58333" y="29167"/>
                </a:lnTo>
                <a:cubicBezTo>
                  <a:pt x="58333" y="31468"/>
                  <a:pt x="60199" y="33333"/>
                  <a:pt x="62500" y="33333"/>
                </a:cubicBezTo>
                <a:lnTo>
                  <a:pt x="83333" y="33333"/>
                </a:lnTo>
                <a:moveTo>
                  <a:pt x="41667" y="37500"/>
                </a:moveTo>
                <a:lnTo>
                  <a:pt x="33333" y="37500"/>
                </a:lnTo>
                <a:moveTo>
                  <a:pt x="66667" y="54167"/>
                </a:moveTo>
                <a:lnTo>
                  <a:pt x="33333" y="54167"/>
                </a:lnTo>
                <a:moveTo>
                  <a:pt x="66667" y="70833"/>
                </a:moveTo>
                <a:lnTo>
                  <a:pt x="33333" y="70833"/>
                </a:lnTo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776" name="Rectangle 21"/>
          <p:cNvSpPr/>
          <p:nvPr/>
        </p:nvSpPr>
        <p:spPr>
          <a:xfrm>
            <a:off x="1371600" y="5994400"/>
            <a:ext cx="10033000" cy="45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Answer form, row B5:  pick a choice, keep today, or write your own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1121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5288D33-BBAA-4D9F-8F9E-DF2657CB7F02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79" name="Rectangle 2"/>
          <p:cNvSpPr/>
          <p:nvPr/>
        </p:nvSpPr>
        <p:spPr>
          <a:xfrm>
            <a:off x="711200" y="508000"/>
            <a:ext cx="8255000" cy="812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B6. How long does an early registration stay valid?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780" name="Rectangle 3"/>
          <p:cNvSpPr/>
          <p:nvPr/>
        </p:nvSpPr>
        <p:spPr>
          <a:xfrm>
            <a:off x="9271000" y="508000"/>
            <a:ext cx="2286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Part B  |  10 of 20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781" name="Rectangle 4"/>
          <p:cNvSpPr/>
          <p:nvPr/>
        </p:nvSpPr>
        <p:spPr>
          <a:xfrm>
            <a:off x="762000" y="1422400"/>
            <a:ext cx="533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WHAT IT MEANS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782" name="Rectangle 5"/>
          <p:cNvSpPr/>
          <p:nvPr/>
        </p:nvSpPr>
        <p:spPr>
          <a:xfrm>
            <a:off x="762000" y="1701800"/>
            <a:ext cx="5334000" cy="863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1E2B3C"/>
                </a:solidFill>
              </a:rPr>
              <a:t>A partner registers a deal before the government posts the tender (an advance registration). How long can it wait, and how specific must it be to count?</a:t>
            </a:r>
            <a:endParaRPr sz="1400" b="0">
              <a:solidFill>
                <a:srgbClr val="1E2B3C"/>
              </a:solidFill>
            </a:endParaRPr>
          </a:p>
        </p:txBody>
      </p:sp>
      <p:sp>
        <p:nvSpPr>
          <p:cNvPr id="783" name="Rectangle 6"/>
          <p:cNvSpPr/>
          <p:nvPr/>
        </p:nvSpPr>
        <p:spPr>
          <a:xfrm>
            <a:off x="762000" y="2743200"/>
            <a:ext cx="5334000" cy="1016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84" name="Rectangle 7"/>
          <p:cNvSpPr/>
          <p:nvPr/>
        </p:nvSpPr>
        <p:spPr>
          <a:xfrm>
            <a:off x="965200" y="2870200"/>
            <a:ext cx="4953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THE PORTAL TODAY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785" name="Rectangle 8"/>
          <p:cNvSpPr/>
          <p:nvPr/>
        </p:nvSpPr>
        <p:spPr>
          <a:xfrm>
            <a:off x="965200" y="3149600"/>
            <a:ext cx="4978400" cy="558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No time limit and no reminders. DBGI judges whether the evidence is specific enough.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786" name="Rectangle 9"/>
          <p:cNvSpPr/>
          <p:nvPr/>
        </p:nvSpPr>
        <p:spPr>
          <a:xfrm>
            <a:off x="762000" y="3886200"/>
            <a:ext cx="5334000" cy="584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5B6B7A"/>
                </a:solidFill>
              </a:rPr>
              <a:t>Why it matters: expiry and reminder emails for early registrations.</a:t>
            </a:r>
            <a:endParaRPr sz="1200" b="0">
              <a:solidFill>
                <a:srgbClr val="5B6B7A"/>
              </a:solidFill>
            </a:endParaRPr>
          </a:p>
        </p:txBody>
      </p:sp>
      <p:sp>
        <p:nvSpPr>
          <p:cNvPr id="787" name="Rectangle 10"/>
          <p:cNvSpPr/>
          <p:nvPr/>
        </p:nvSpPr>
        <p:spPr>
          <a:xfrm>
            <a:off x="6477000" y="1422400"/>
            <a:ext cx="5080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CHOOSE ONE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788" name="Rectangle 11"/>
          <p:cNvSpPr/>
          <p:nvPr/>
        </p:nvSpPr>
        <p:spPr>
          <a:xfrm>
            <a:off x="6477000" y="1752600"/>
            <a:ext cx="5080000" cy="76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89" name="Oval 12"/>
          <p:cNvSpPr/>
          <p:nvPr/>
        </p:nvSpPr>
        <p:spPr>
          <a:xfrm>
            <a:off x="6629400" y="19431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790" name="Rectangle 13"/>
          <p:cNvSpPr/>
          <p:nvPr/>
        </p:nvSpPr>
        <p:spPr>
          <a:xfrm>
            <a:off x="7137400" y="1803400"/>
            <a:ext cx="4318000" cy="660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60 days, with a reminder 7 days before, then DBGI reviews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791" name="Rectangle 14"/>
          <p:cNvSpPr/>
          <p:nvPr/>
        </p:nvSpPr>
        <p:spPr>
          <a:xfrm>
            <a:off x="6477000" y="26416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92" name="Oval 15"/>
          <p:cNvSpPr/>
          <p:nvPr/>
        </p:nvSpPr>
        <p:spPr>
          <a:xfrm>
            <a:off x="6629400" y="27178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b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793" name="Rectangle 16"/>
          <p:cNvSpPr/>
          <p:nvPr/>
        </p:nvSpPr>
        <p:spPr>
          <a:xfrm>
            <a:off x="7137400" y="26924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No limit, DBGI cleans up manually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794" name="Picture"/>
          <p:cNvSpPr/>
          <p:nvPr/>
        </p:nvSpPr>
        <p:spPr>
          <a:xfrm>
            <a:off x="6502400" y="33528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20833" y="12500"/>
                </a:moveTo>
                <a:lnTo>
                  <a:pt x="79167" y="12500"/>
                </a:lnTo>
                <a:cubicBezTo>
                  <a:pt x="83769" y="12500"/>
                  <a:pt x="87500" y="16231"/>
                  <a:pt x="87500" y="20833"/>
                </a:cubicBezTo>
                <a:lnTo>
                  <a:pt x="87500" y="79167"/>
                </a:lnTo>
                <a:cubicBezTo>
                  <a:pt x="87500" y="83769"/>
                  <a:pt x="83769" y="87500"/>
                  <a:pt x="79167" y="87500"/>
                </a:cubicBezTo>
                <a:lnTo>
                  <a:pt x="20833" y="87500"/>
                </a:lnTo>
                <a:cubicBezTo>
                  <a:pt x="16231" y="87500"/>
                  <a:pt x="12500" y="83769"/>
                  <a:pt x="12500" y="79167"/>
                </a:cubicBezTo>
                <a:lnTo>
                  <a:pt x="12500" y="20833"/>
                </a:lnTo>
                <a:cubicBezTo>
                  <a:pt x="12500" y="16231"/>
                  <a:pt x="16231" y="12500"/>
                  <a:pt x="20833" y="12500"/>
                </a:cubicBezTo>
                <a:close/>
                <a:moveTo>
                  <a:pt x="29167" y="37500"/>
                </a:moveTo>
                <a:cubicBezTo>
                  <a:pt x="29167" y="32898"/>
                  <a:pt x="32898" y="29167"/>
                  <a:pt x="37500" y="29167"/>
                </a:cubicBezTo>
                <a:cubicBezTo>
                  <a:pt x="42103" y="29167"/>
                  <a:pt x="45833" y="32898"/>
                  <a:pt x="45833" y="37500"/>
                </a:cubicBezTo>
                <a:cubicBezTo>
                  <a:pt x="45833" y="42103"/>
                  <a:pt x="42103" y="45833"/>
                  <a:pt x="37500" y="45833"/>
                </a:cubicBezTo>
                <a:cubicBezTo>
                  <a:pt x="32898" y="45833"/>
                  <a:pt x="29167" y="42103"/>
                  <a:pt x="29167" y="37500"/>
                </a:cubicBezTo>
                <a:close/>
                <a:moveTo>
                  <a:pt x="87500" y="62500"/>
                </a:moveTo>
                <a:lnTo>
                  <a:pt x="74642" y="49642"/>
                </a:lnTo>
                <a:cubicBezTo>
                  <a:pt x="71388" y="46388"/>
                  <a:pt x="66113" y="46388"/>
                  <a:pt x="62858" y="49642"/>
                </a:cubicBezTo>
                <a:lnTo>
                  <a:pt x="25000" y="87500"/>
                </a:lnTo>
              </a:path>
            </a:pathLst>
          </a:custGeom>
          <a:noFill/>
          <a:ln w="19050" cap="rnd">
            <a:solidFill>
              <a:srgbClr val="1B7FA6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795" name="Rectangle 18"/>
          <p:cNvSpPr/>
          <p:nvPr/>
        </p:nvSpPr>
        <p:spPr>
          <a:xfrm>
            <a:off x="6807200" y="3302000"/>
            <a:ext cx="4749800" cy="50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1B7FA6"/>
                </a:solidFill>
              </a:rPr>
              <a:t>See it in the walkthrough: slide 8, Describe your evidence</a:t>
            </a:r>
            <a:endParaRPr sz="1200" b="0">
              <a:solidFill>
                <a:srgbClr val="1B7FA6"/>
              </a:solidFill>
            </a:endParaRPr>
          </a:p>
        </p:txBody>
      </p:sp>
      <p:sp>
        <p:nvSpPr>
          <p:cNvPr id="796" name="Rectangle 19"/>
          <p:cNvSpPr/>
          <p:nvPr/>
        </p:nvSpPr>
        <p:spPr>
          <a:xfrm>
            <a:off x="762000" y="5969000"/>
            <a:ext cx="10795000" cy="508000"/>
          </a:xfrm>
          <a:prstGeom prst="round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97" name="Document"/>
          <p:cNvSpPr/>
          <p:nvPr/>
        </p:nvSpPr>
        <p:spPr>
          <a:xfrm>
            <a:off x="965200" y="6083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25000" y="91667"/>
                </a:moveTo>
                <a:cubicBezTo>
                  <a:pt x="20398" y="91667"/>
                  <a:pt x="16667" y="87936"/>
                  <a:pt x="16667" y="83333"/>
                </a:cubicBezTo>
                <a:lnTo>
                  <a:pt x="16667" y="16667"/>
                </a:lnTo>
                <a:cubicBezTo>
                  <a:pt x="16667" y="12064"/>
                  <a:pt x="20398" y="8333"/>
                  <a:pt x="25000" y="8333"/>
                </a:cubicBezTo>
                <a:lnTo>
                  <a:pt x="58333" y="8333"/>
                </a:lnTo>
                <a:cubicBezTo>
                  <a:pt x="60998" y="8329"/>
                  <a:pt x="63553" y="9388"/>
                  <a:pt x="65433" y="11275"/>
                </a:cubicBezTo>
                <a:lnTo>
                  <a:pt x="80383" y="26225"/>
                </a:lnTo>
                <a:cubicBezTo>
                  <a:pt x="82275" y="28106"/>
                  <a:pt x="83338" y="30665"/>
                  <a:pt x="83333" y="33333"/>
                </a:cubicBezTo>
                <a:lnTo>
                  <a:pt x="83333" y="83333"/>
                </a:lnTo>
                <a:cubicBezTo>
                  <a:pt x="83333" y="87936"/>
                  <a:pt x="79603" y="91667"/>
                  <a:pt x="75000" y="91667"/>
                </a:cubicBezTo>
                <a:close/>
                <a:moveTo>
                  <a:pt x="58333" y="8333"/>
                </a:moveTo>
                <a:lnTo>
                  <a:pt x="58333" y="29167"/>
                </a:lnTo>
                <a:cubicBezTo>
                  <a:pt x="58333" y="31468"/>
                  <a:pt x="60199" y="33333"/>
                  <a:pt x="62500" y="33333"/>
                </a:cubicBezTo>
                <a:lnTo>
                  <a:pt x="83333" y="33333"/>
                </a:lnTo>
                <a:moveTo>
                  <a:pt x="41667" y="37500"/>
                </a:moveTo>
                <a:lnTo>
                  <a:pt x="33333" y="37500"/>
                </a:lnTo>
                <a:moveTo>
                  <a:pt x="66667" y="54167"/>
                </a:moveTo>
                <a:lnTo>
                  <a:pt x="33333" y="54167"/>
                </a:lnTo>
                <a:moveTo>
                  <a:pt x="66667" y="70833"/>
                </a:moveTo>
                <a:lnTo>
                  <a:pt x="33333" y="70833"/>
                </a:lnTo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798" name="Rectangle 21"/>
          <p:cNvSpPr/>
          <p:nvPr/>
        </p:nvSpPr>
        <p:spPr>
          <a:xfrm>
            <a:off x="1371600" y="5994400"/>
            <a:ext cx="10033000" cy="45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Answer form, row B6:  pick a choice, keep today, or write your own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1124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2D87927-9391-4972-8C9A-DD0B86DF8EEF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0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01" name="Rectangle 2"/>
          <p:cNvSpPr/>
          <p:nvPr/>
        </p:nvSpPr>
        <p:spPr>
          <a:xfrm>
            <a:off x="711200" y="508000"/>
            <a:ext cx="8255000" cy="812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B7. What if the government postpones, cancels, or reposts a tender?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802" name="Rectangle 3"/>
          <p:cNvSpPr/>
          <p:nvPr/>
        </p:nvSpPr>
        <p:spPr>
          <a:xfrm>
            <a:off x="9271000" y="508000"/>
            <a:ext cx="2286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Part B  |  11 of 20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803" name="Rectangle 4"/>
          <p:cNvSpPr/>
          <p:nvPr/>
        </p:nvSpPr>
        <p:spPr>
          <a:xfrm>
            <a:off x="762000" y="1422400"/>
            <a:ext cx="533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WHAT IT MEANS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804" name="Rectangle 5"/>
          <p:cNvSpPr/>
          <p:nvPr/>
        </p:nvSpPr>
        <p:spPr>
          <a:xfrm>
            <a:off x="762000" y="1701800"/>
            <a:ext cx="5334000" cy="609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1E2B3C"/>
                </a:solidFill>
              </a:rPr>
              <a:t>Does the partner keep their place when the same project is posted again?</a:t>
            </a:r>
            <a:endParaRPr sz="1400" b="0">
              <a:solidFill>
                <a:srgbClr val="1E2B3C"/>
              </a:solidFill>
            </a:endParaRPr>
          </a:p>
        </p:txBody>
      </p:sp>
      <p:sp>
        <p:nvSpPr>
          <p:cNvPr id="805" name="Rectangle 6"/>
          <p:cNvSpPr/>
          <p:nvPr/>
        </p:nvSpPr>
        <p:spPr>
          <a:xfrm>
            <a:off x="762000" y="2489200"/>
            <a:ext cx="5334000" cy="1016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06" name="Rectangle 7"/>
          <p:cNvSpPr/>
          <p:nvPr/>
        </p:nvSpPr>
        <p:spPr>
          <a:xfrm>
            <a:off x="965200" y="2616200"/>
            <a:ext cx="4953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THE PORTAL TODAY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807" name="Rectangle 8"/>
          <p:cNvSpPr/>
          <p:nvPr/>
        </p:nvSpPr>
        <p:spPr>
          <a:xfrm>
            <a:off x="965200" y="2895600"/>
            <a:ext cx="4978400" cy="558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Not handled. DBGI can only set the project status to Cancelled or On hold.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808" name="Rectangle 9"/>
          <p:cNvSpPr/>
          <p:nvPr/>
        </p:nvSpPr>
        <p:spPr>
          <a:xfrm>
            <a:off x="762000" y="3632200"/>
            <a:ext cx="5334000" cy="584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5B6B7A"/>
                </a:solidFill>
              </a:rPr>
              <a:t>Why it matters: notice-change handling.</a:t>
            </a:r>
            <a:endParaRPr sz="1200" b="0">
              <a:solidFill>
                <a:srgbClr val="5B6B7A"/>
              </a:solidFill>
            </a:endParaRPr>
          </a:p>
        </p:txBody>
      </p:sp>
      <p:sp>
        <p:nvSpPr>
          <p:cNvPr id="809" name="Rectangle 10"/>
          <p:cNvSpPr/>
          <p:nvPr/>
        </p:nvSpPr>
        <p:spPr>
          <a:xfrm>
            <a:off x="6477000" y="1422400"/>
            <a:ext cx="5080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CHOOSE ONE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810" name="Rectangle 11"/>
          <p:cNvSpPr/>
          <p:nvPr/>
        </p:nvSpPr>
        <p:spPr>
          <a:xfrm>
            <a:off x="6477000" y="1752600"/>
            <a:ext cx="5080000" cy="76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11" name="Oval 12"/>
          <p:cNvSpPr/>
          <p:nvPr/>
        </p:nvSpPr>
        <p:spPr>
          <a:xfrm>
            <a:off x="6629400" y="19431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812" name="Rectangle 13"/>
          <p:cNvSpPr/>
          <p:nvPr/>
        </p:nvSpPr>
        <p:spPr>
          <a:xfrm>
            <a:off x="7137400" y="1803400"/>
            <a:ext cx="4318000" cy="660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A repost of the same project keeps the original place in line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813" name="Rectangle 14"/>
          <p:cNvSpPr/>
          <p:nvPr/>
        </p:nvSpPr>
        <p:spPr>
          <a:xfrm>
            <a:off x="6477000" y="26416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14" name="Oval 15"/>
          <p:cNvSpPr/>
          <p:nvPr/>
        </p:nvSpPr>
        <p:spPr>
          <a:xfrm>
            <a:off x="6629400" y="27178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b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815" name="Rectangle 16"/>
          <p:cNvSpPr/>
          <p:nvPr/>
        </p:nvSpPr>
        <p:spPr>
          <a:xfrm>
            <a:off x="7137400" y="26924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A repost starts a new race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816" name="Rectangle 17"/>
          <p:cNvSpPr/>
          <p:nvPr/>
        </p:nvSpPr>
        <p:spPr>
          <a:xfrm>
            <a:off x="6477000" y="33020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17" name="Oval 18"/>
          <p:cNvSpPr/>
          <p:nvPr/>
        </p:nvSpPr>
        <p:spPr>
          <a:xfrm>
            <a:off x="6629400" y="33782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c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818" name="Rectangle 19"/>
          <p:cNvSpPr/>
          <p:nvPr/>
        </p:nvSpPr>
        <p:spPr>
          <a:xfrm>
            <a:off x="7137400" y="33528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DBGI decides each time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819" name="Picture"/>
          <p:cNvSpPr/>
          <p:nvPr/>
        </p:nvSpPr>
        <p:spPr>
          <a:xfrm>
            <a:off x="6502400" y="40132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20833" y="12500"/>
                </a:moveTo>
                <a:lnTo>
                  <a:pt x="79167" y="12500"/>
                </a:lnTo>
                <a:cubicBezTo>
                  <a:pt x="83769" y="12500"/>
                  <a:pt x="87500" y="16231"/>
                  <a:pt x="87500" y="20833"/>
                </a:cubicBezTo>
                <a:lnTo>
                  <a:pt x="87500" y="79167"/>
                </a:lnTo>
                <a:cubicBezTo>
                  <a:pt x="87500" y="83769"/>
                  <a:pt x="83769" y="87500"/>
                  <a:pt x="79167" y="87500"/>
                </a:cubicBezTo>
                <a:lnTo>
                  <a:pt x="20833" y="87500"/>
                </a:lnTo>
                <a:cubicBezTo>
                  <a:pt x="16231" y="87500"/>
                  <a:pt x="12500" y="83769"/>
                  <a:pt x="12500" y="79167"/>
                </a:cubicBezTo>
                <a:lnTo>
                  <a:pt x="12500" y="20833"/>
                </a:lnTo>
                <a:cubicBezTo>
                  <a:pt x="12500" y="16231"/>
                  <a:pt x="16231" y="12500"/>
                  <a:pt x="20833" y="12500"/>
                </a:cubicBezTo>
                <a:close/>
                <a:moveTo>
                  <a:pt x="29167" y="37500"/>
                </a:moveTo>
                <a:cubicBezTo>
                  <a:pt x="29167" y="32898"/>
                  <a:pt x="32898" y="29167"/>
                  <a:pt x="37500" y="29167"/>
                </a:cubicBezTo>
                <a:cubicBezTo>
                  <a:pt x="42103" y="29167"/>
                  <a:pt x="45833" y="32898"/>
                  <a:pt x="45833" y="37500"/>
                </a:cubicBezTo>
                <a:cubicBezTo>
                  <a:pt x="45833" y="42103"/>
                  <a:pt x="42103" y="45833"/>
                  <a:pt x="37500" y="45833"/>
                </a:cubicBezTo>
                <a:cubicBezTo>
                  <a:pt x="32898" y="45833"/>
                  <a:pt x="29167" y="42103"/>
                  <a:pt x="29167" y="37500"/>
                </a:cubicBezTo>
                <a:close/>
                <a:moveTo>
                  <a:pt x="87500" y="62500"/>
                </a:moveTo>
                <a:lnTo>
                  <a:pt x="74642" y="49642"/>
                </a:lnTo>
                <a:cubicBezTo>
                  <a:pt x="71388" y="46388"/>
                  <a:pt x="66113" y="46388"/>
                  <a:pt x="62858" y="49642"/>
                </a:cubicBezTo>
                <a:lnTo>
                  <a:pt x="25000" y="87500"/>
                </a:lnTo>
              </a:path>
            </a:pathLst>
          </a:custGeom>
          <a:noFill/>
          <a:ln w="19050" cap="rnd">
            <a:solidFill>
              <a:srgbClr val="1B7FA6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820" name="Rectangle 21"/>
          <p:cNvSpPr/>
          <p:nvPr/>
        </p:nvSpPr>
        <p:spPr>
          <a:xfrm>
            <a:off x="6807200" y="3962400"/>
            <a:ext cx="4749800" cy="50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1B7FA6"/>
                </a:solidFill>
              </a:rPr>
              <a:t>See it in the walkthrough: slide 5, Read the three status badges</a:t>
            </a:r>
            <a:endParaRPr sz="1200" b="0">
              <a:solidFill>
                <a:srgbClr val="1B7FA6"/>
              </a:solidFill>
            </a:endParaRPr>
          </a:p>
        </p:txBody>
      </p:sp>
      <p:sp>
        <p:nvSpPr>
          <p:cNvPr id="821" name="Rectangle 22"/>
          <p:cNvSpPr/>
          <p:nvPr/>
        </p:nvSpPr>
        <p:spPr>
          <a:xfrm>
            <a:off x="762000" y="5969000"/>
            <a:ext cx="10795000" cy="508000"/>
          </a:xfrm>
          <a:prstGeom prst="round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22" name="Document"/>
          <p:cNvSpPr/>
          <p:nvPr/>
        </p:nvSpPr>
        <p:spPr>
          <a:xfrm>
            <a:off x="965200" y="6083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25000" y="91667"/>
                </a:moveTo>
                <a:cubicBezTo>
                  <a:pt x="20398" y="91667"/>
                  <a:pt x="16667" y="87936"/>
                  <a:pt x="16667" y="83333"/>
                </a:cubicBezTo>
                <a:lnTo>
                  <a:pt x="16667" y="16667"/>
                </a:lnTo>
                <a:cubicBezTo>
                  <a:pt x="16667" y="12064"/>
                  <a:pt x="20398" y="8333"/>
                  <a:pt x="25000" y="8333"/>
                </a:cubicBezTo>
                <a:lnTo>
                  <a:pt x="58333" y="8333"/>
                </a:lnTo>
                <a:cubicBezTo>
                  <a:pt x="60998" y="8329"/>
                  <a:pt x="63553" y="9388"/>
                  <a:pt x="65433" y="11275"/>
                </a:cubicBezTo>
                <a:lnTo>
                  <a:pt x="80383" y="26225"/>
                </a:lnTo>
                <a:cubicBezTo>
                  <a:pt x="82275" y="28106"/>
                  <a:pt x="83338" y="30665"/>
                  <a:pt x="83333" y="33333"/>
                </a:cubicBezTo>
                <a:lnTo>
                  <a:pt x="83333" y="83333"/>
                </a:lnTo>
                <a:cubicBezTo>
                  <a:pt x="83333" y="87936"/>
                  <a:pt x="79603" y="91667"/>
                  <a:pt x="75000" y="91667"/>
                </a:cubicBezTo>
                <a:close/>
                <a:moveTo>
                  <a:pt x="58333" y="8333"/>
                </a:moveTo>
                <a:lnTo>
                  <a:pt x="58333" y="29167"/>
                </a:lnTo>
                <a:cubicBezTo>
                  <a:pt x="58333" y="31468"/>
                  <a:pt x="60199" y="33333"/>
                  <a:pt x="62500" y="33333"/>
                </a:cubicBezTo>
                <a:lnTo>
                  <a:pt x="83333" y="33333"/>
                </a:lnTo>
                <a:moveTo>
                  <a:pt x="41667" y="37500"/>
                </a:moveTo>
                <a:lnTo>
                  <a:pt x="33333" y="37500"/>
                </a:lnTo>
                <a:moveTo>
                  <a:pt x="66667" y="54167"/>
                </a:moveTo>
                <a:lnTo>
                  <a:pt x="33333" y="54167"/>
                </a:lnTo>
                <a:moveTo>
                  <a:pt x="66667" y="70833"/>
                </a:moveTo>
                <a:lnTo>
                  <a:pt x="33333" y="70833"/>
                </a:lnTo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823" name="Rectangle 24"/>
          <p:cNvSpPr/>
          <p:nvPr/>
        </p:nvSpPr>
        <p:spPr>
          <a:xfrm>
            <a:off x="1371600" y="5994400"/>
            <a:ext cx="10033000" cy="45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Answer form, row B7:  pick a choice, keep today, or write your own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1127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0CD13BB-211F-46C1-8A95-6E8277DF4C6C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5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26" name="Rectangle 2"/>
          <p:cNvSpPr/>
          <p:nvPr/>
        </p:nvSpPr>
        <p:spPr>
          <a:xfrm>
            <a:off x="711200" y="508000"/>
            <a:ext cx="8255000" cy="812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C1. How long is an approved special price valid?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827" name="Rectangle 3"/>
          <p:cNvSpPr/>
          <p:nvPr/>
        </p:nvSpPr>
        <p:spPr>
          <a:xfrm>
            <a:off x="9271000" y="508000"/>
            <a:ext cx="2286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Part C  |  12 of 20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828" name="Rectangle 4"/>
          <p:cNvSpPr/>
          <p:nvPr/>
        </p:nvSpPr>
        <p:spPr>
          <a:xfrm>
            <a:off x="762000" y="1422400"/>
            <a:ext cx="533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WHAT IT MEANS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829" name="Rectangle 5"/>
          <p:cNvSpPr/>
          <p:nvPr/>
        </p:nvSpPr>
        <p:spPr>
          <a:xfrm>
            <a:off x="762000" y="1701800"/>
            <a:ext cx="5334000" cy="863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1E2B3C"/>
                </a:solidFill>
              </a:rPr>
              <a:t>When DBGI approves a discount for a deal, how many days before it expires, and when should the partner be reminded?</a:t>
            </a:r>
            <a:endParaRPr sz="1400" b="0">
              <a:solidFill>
                <a:srgbClr val="1E2B3C"/>
              </a:solidFill>
            </a:endParaRPr>
          </a:p>
        </p:txBody>
      </p:sp>
      <p:sp>
        <p:nvSpPr>
          <p:cNvPr id="830" name="Rectangle 6"/>
          <p:cNvSpPr/>
          <p:nvPr/>
        </p:nvSpPr>
        <p:spPr>
          <a:xfrm>
            <a:off x="762000" y="2743200"/>
            <a:ext cx="5334000" cy="1016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31" name="Rectangle 7"/>
          <p:cNvSpPr/>
          <p:nvPr/>
        </p:nvSpPr>
        <p:spPr>
          <a:xfrm>
            <a:off x="965200" y="2870200"/>
            <a:ext cx="4953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THE PORTAL TODAY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832" name="Rectangle 8"/>
          <p:cNvSpPr/>
          <p:nvPr/>
        </p:nvSpPr>
        <p:spPr>
          <a:xfrm>
            <a:off x="965200" y="3149600"/>
            <a:ext cx="4978400" cy="558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DBGI types an expiry date by hand each time (no default). Renewals add 30 days, which is already decided.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833" name="Rectangle 9"/>
          <p:cNvSpPr/>
          <p:nvPr/>
        </p:nvSpPr>
        <p:spPr>
          <a:xfrm>
            <a:off x="762000" y="3886200"/>
            <a:ext cx="5334000" cy="584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5B6B7A"/>
                </a:solidFill>
              </a:rPr>
              <a:t>Why it matters: default expiry and reminders.</a:t>
            </a:r>
            <a:endParaRPr sz="1200" b="0">
              <a:solidFill>
                <a:srgbClr val="5B6B7A"/>
              </a:solidFill>
            </a:endParaRPr>
          </a:p>
        </p:txBody>
      </p:sp>
      <p:sp>
        <p:nvSpPr>
          <p:cNvPr id="834" name="Rectangle 10"/>
          <p:cNvSpPr/>
          <p:nvPr/>
        </p:nvSpPr>
        <p:spPr>
          <a:xfrm>
            <a:off x="6477000" y="1422400"/>
            <a:ext cx="5080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CHOOSE ONE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835" name="Rectangle 11"/>
          <p:cNvSpPr/>
          <p:nvPr/>
        </p:nvSpPr>
        <p:spPr>
          <a:xfrm>
            <a:off x="6477000" y="17526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36" name="Oval 12"/>
          <p:cNvSpPr/>
          <p:nvPr/>
        </p:nvSpPr>
        <p:spPr>
          <a:xfrm>
            <a:off x="6629400" y="18288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837" name="Rectangle 13"/>
          <p:cNvSpPr/>
          <p:nvPr/>
        </p:nvSpPr>
        <p:spPr>
          <a:xfrm>
            <a:off x="7137400" y="18034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90 days, reminder 14 days before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838" name="Rectangle 14"/>
          <p:cNvSpPr/>
          <p:nvPr/>
        </p:nvSpPr>
        <p:spPr>
          <a:xfrm>
            <a:off x="6477000" y="24130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39" name="Oval 15"/>
          <p:cNvSpPr/>
          <p:nvPr/>
        </p:nvSpPr>
        <p:spPr>
          <a:xfrm>
            <a:off x="6629400" y="24892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b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840" name="Rectangle 16"/>
          <p:cNvSpPr/>
          <p:nvPr/>
        </p:nvSpPr>
        <p:spPr>
          <a:xfrm>
            <a:off x="7137400" y="24638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Until the tender's delivery date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841" name="Rectangle 17"/>
          <p:cNvSpPr/>
          <p:nvPr/>
        </p:nvSpPr>
        <p:spPr>
          <a:xfrm>
            <a:off x="6477000" y="30734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42" name="Oval 18"/>
          <p:cNvSpPr/>
          <p:nvPr/>
        </p:nvSpPr>
        <p:spPr>
          <a:xfrm>
            <a:off x="6629400" y="31496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c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843" name="Rectangle 19"/>
          <p:cNvSpPr/>
          <p:nvPr/>
        </p:nvSpPr>
        <p:spPr>
          <a:xfrm>
            <a:off x="7137400" y="31242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Keep typing it each time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844" name="Picture"/>
          <p:cNvSpPr/>
          <p:nvPr/>
        </p:nvSpPr>
        <p:spPr>
          <a:xfrm>
            <a:off x="6502400" y="37846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20833" y="12500"/>
                </a:moveTo>
                <a:lnTo>
                  <a:pt x="79167" y="12500"/>
                </a:lnTo>
                <a:cubicBezTo>
                  <a:pt x="83769" y="12500"/>
                  <a:pt x="87500" y="16231"/>
                  <a:pt x="87500" y="20833"/>
                </a:cubicBezTo>
                <a:lnTo>
                  <a:pt x="87500" y="79167"/>
                </a:lnTo>
                <a:cubicBezTo>
                  <a:pt x="87500" y="83769"/>
                  <a:pt x="83769" y="87500"/>
                  <a:pt x="79167" y="87500"/>
                </a:cubicBezTo>
                <a:lnTo>
                  <a:pt x="20833" y="87500"/>
                </a:lnTo>
                <a:cubicBezTo>
                  <a:pt x="16231" y="87500"/>
                  <a:pt x="12500" y="83769"/>
                  <a:pt x="12500" y="79167"/>
                </a:cubicBezTo>
                <a:lnTo>
                  <a:pt x="12500" y="20833"/>
                </a:lnTo>
                <a:cubicBezTo>
                  <a:pt x="12500" y="16231"/>
                  <a:pt x="16231" y="12500"/>
                  <a:pt x="20833" y="12500"/>
                </a:cubicBezTo>
                <a:close/>
                <a:moveTo>
                  <a:pt x="29167" y="37500"/>
                </a:moveTo>
                <a:cubicBezTo>
                  <a:pt x="29167" y="32898"/>
                  <a:pt x="32898" y="29167"/>
                  <a:pt x="37500" y="29167"/>
                </a:cubicBezTo>
                <a:cubicBezTo>
                  <a:pt x="42103" y="29167"/>
                  <a:pt x="45833" y="32898"/>
                  <a:pt x="45833" y="37500"/>
                </a:cubicBezTo>
                <a:cubicBezTo>
                  <a:pt x="45833" y="42103"/>
                  <a:pt x="42103" y="45833"/>
                  <a:pt x="37500" y="45833"/>
                </a:cubicBezTo>
                <a:cubicBezTo>
                  <a:pt x="32898" y="45833"/>
                  <a:pt x="29167" y="42103"/>
                  <a:pt x="29167" y="37500"/>
                </a:cubicBezTo>
                <a:close/>
                <a:moveTo>
                  <a:pt x="87500" y="62500"/>
                </a:moveTo>
                <a:lnTo>
                  <a:pt x="74642" y="49642"/>
                </a:lnTo>
                <a:cubicBezTo>
                  <a:pt x="71388" y="46388"/>
                  <a:pt x="66113" y="46388"/>
                  <a:pt x="62858" y="49642"/>
                </a:cubicBezTo>
                <a:lnTo>
                  <a:pt x="25000" y="87500"/>
                </a:lnTo>
              </a:path>
            </a:pathLst>
          </a:custGeom>
          <a:noFill/>
          <a:ln w="19050" cap="rnd">
            <a:solidFill>
              <a:srgbClr val="1B7FA6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845" name="Rectangle 21"/>
          <p:cNvSpPr/>
          <p:nvPr/>
        </p:nvSpPr>
        <p:spPr>
          <a:xfrm>
            <a:off x="6807200" y="3733800"/>
            <a:ext cx="4749800" cy="50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1B7FA6"/>
                </a:solidFill>
              </a:rPr>
              <a:t>See it in the walkthrough: slide 18, See the approved price</a:t>
            </a:r>
            <a:endParaRPr sz="1200" b="0">
              <a:solidFill>
                <a:srgbClr val="1B7FA6"/>
              </a:solidFill>
            </a:endParaRPr>
          </a:p>
        </p:txBody>
      </p:sp>
      <p:sp>
        <p:nvSpPr>
          <p:cNvPr id="846" name="Rectangle 22"/>
          <p:cNvSpPr/>
          <p:nvPr/>
        </p:nvSpPr>
        <p:spPr>
          <a:xfrm>
            <a:off x="762000" y="5969000"/>
            <a:ext cx="10795000" cy="508000"/>
          </a:xfrm>
          <a:prstGeom prst="round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47" name="Document"/>
          <p:cNvSpPr/>
          <p:nvPr/>
        </p:nvSpPr>
        <p:spPr>
          <a:xfrm>
            <a:off x="965200" y="6083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25000" y="91667"/>
                </a:moveTo>
                <a:cubicBezTo>
                  <a:pt x="20398" y="91667"/>
                  <a:pt x="16667" y="87936"/>
                  <a:pt x="16667" y="83333"/>
                </a:cubicBezTo>
                <a:lnTo>
                  <a:pt x="16667" y="16667"/>
                </a:lnTo>
                <a:cubicBezTo>
                  <a:pt x="16667" y="12064"/>
                  <a:pt x="20398" y="8333"/>
                  <a:pt x="25000" y="8333"/>
                </a:cubicBezTo>
                <a:lnTo>
                  <a:pt x="58333" y="8333"/>
                </a:lnTo>
                <a:cubicBezTo>
                  <a:pt x="60998" y="8329"/>
                  <a:pt x="63553" y="9388"/>
                  <a:pt x="65433" y="11275"/>
                </a:cubicBezTo>
                <a:lnTo>
                  <a:pt x="80383" y="26225"/>
                </a:lnTo>
                <a:cubicBezTo>
                  <a:pt x="82275" y="28106"/>
                  <a:pt x="83338" y="30665"/>
                  <a:pt x="83333" y="33333"/>
                </a:cubicBezTo>
                <a:lnTo>
                  <a:pt x="83333" y="83333"/>
                </a:lnTo>
                <a:cubicBezTo>
                  <a:pt x="83333" y="87936"/>
                  <a:pt x="79603" y="91667"/>
                  <a:pt x="75000" y="91667"/>
                </a:cubicBezTo>
                <a:close/>
                <a:moveTo>
                  <a:pt x="58333" y="8333"/>
                </a:moveTo>
                <a:lnTo>
                  <a:pt x="58333" y="29167"/>
                </a:lnTo>
                <a:cubicBezTo>
                  <a:pt x="58333" y="31468"/>
                  <a:pt x="60199" y="33333"/>
                  <a:pt x="62500" y="33333"/>
                </a:cubicBezTo>
                <a:lnTo>
                  <a:pt x="83333" y="33333"/>
                </a:lnTo>
                <a:moveTo>
                  <a:pt x="41667" y="37500"/>
                </a:moveTo>
                <a:lnTo>
                  <a:pt x="33333" y="37500"/>
                </a:lnTo>
                <a:moveTo>
                  <a:pt x="66667" y="54167"/>
                </a:moveTo>
                <a:lnTo>
                  <a:pt x="33333" y="54167"/>
                </a:lnTo>
                <a:moveTo>
                  <a:pt x="66667" y="70833"/>
                </a:moveTo>
                <a:lnTo>
                  <a:pt x="33333" y="70833"/>
                </a:lnTo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848" name="Rectangle 24"/>
          <p:cNvSpPr/>
          <p:nvPr/>
        </p:nvSpPr>
        <p:spPr>
          <a:xfrm>
            <a:off x="1371600" y="5994400"/>
            <a:ext cx="10033000" cy="45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Answer form, row C1:  pick a choice, keep today, or write your own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1130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37FABD9-B00B-4D1C-8B97-DB0B98055511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0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51" name="Rectangle 2"/>
          <p:cNvSpPr/>
          <p:nvPr/>
        </p:nvSpPr>
        <p:spPr>
          <a:xfrm>
            <a:off x="711200" y="508000"/>
            <a:ext cx="8255000" cy="812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C2. Are prices with or without VAT?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852" name="Rectangle 3"/>
          <p:cNvSpPr/>
          <p:nvPr/>
        </p:nvSpPr>
        <p:spPr>
          <a:xfrm>
            <a:off x="9271000" y="508000"/>
            <a:ext cx="2286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Part C  |  13 of 20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853" name="Rectangle 4"/>
          <p:cNvSpPr/>
          <p:nvPr/>
        </p:nvSpPr>
        <p:spPr>
          <a:xfrm>
            <a:off x="762000" y="1422400"/>
            <a:ext cx="533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WHAT IT MEANS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854" name="Rectangle 5"/>
          <p:cNvSpPr/>
          <p:nvPr/>
        </p:nvSpPr>
        <p:spPr>
          <a:xfrm>
            <a:off x="762000" y="1701800"/>
            <a:ext cx="5334000" cy="609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1E2B3C"/>
                </a:solidFill>
              </a:rPr>
              <a:t>When a partner enters a requested price, or DBGI approves one, does it include 12% VAT?</a:t>
            </a:r>
            <a:endParaRPr sz="1400" b="0">
              <a:solidFill>
                <a:srgbClr val="1E2B3C"/>
              </a:solidFill>
            </a:endParaRPr>
          </a:p>
        </p:txBody>
      </p:sp>
      <p:sp>
        <p:nvSpPr>
          <p:cNvPr id="855" name="Rectangle 6"/>
          <p:cNvSpPr/>
          <p:nvPr/>
        </p:nvSpPr>
        <p:spPr>
          <a:xfrm>
            <a:off x="762000" y="2489200"/>
            <a:ext cx="5334000" cy="1016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56" name="Rectangle 7"/>
          <p:cNvSpPr/>
          <p:nvPr/>
        </p:nvSpPr>
        <p:spPr>
          <a:xfrm>
            <a:off x="965200" y="2616200"/>
            <a:ext cx="4953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THE PORTAL TODAY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857" name="Rectangle 8"/>
          <p:cNvSpPr/>
          <p:nvPr/>
        </p:nvSpPr>
        <p:spPr>
          <a:xfrm>
            <a:off x="965200" y="2895600"/>
            <a:ext cx="4978400" cy="558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The portal has no VAT handling. Each price is a single number.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858" name="Rectangle 9"/>
          <p:cNvSpPr/>
          <p:nvPr/>
        </p:nvSpPr>
        <p:spPr>
          <a:xfrm>
            <a:off x="762000" y="3632200"/>
            <a:ext cx="5334000" cy="584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5B6B7A"/>
                </a:solidFill>
              </a:rPr>
              <a:t>Why it matters: price history and correct totals. This must be confirmed by finance before launch.</a:t>
            </a:r>
            <a:endParaRPr sz="1200" b="0">
              <a:solidFill>
                <a:srgbClr val="5B6B7A"/>
              </a:solidFill>
            </a:endParaRPr>
          </a:p>
        </p:txBody>
      </p:sp>
      <p:sp>
        <p:nvSpPr>
          <p:cNvPr id="859" name="Rectangle 10"/>
          <p:cNvSpPr/>
          <p:nvPr/>
        </p:nvSpPr>
        <p:spPr>
          <a:xfrm>
            <a:off x="6477000" y="1422400"/>
            <a:ext cx="5080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CHOOSE ONE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860" name="Rectangle 11"/>
          <p:cNvSpPr/>
          <p:nvPr/>
        </p:nvSpPr>
        <p:spPr>
          <a:xfrm>
            <a:off x="6477000" y="17526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61" name="Oval 12"/>
          <p:cNvSpPr/>
          <p:nvPr/>
        </p:nvSpPr>
        <p:spPr>
          <a:xfrm>
            <a:off x="6629400" y="18288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862" name="Rectangle 13"/>
          <p:cNvSpPr/>
          <p:nvPr/>
        </p:nvSpPr>
        <p:spPr>
          <a:xfrm>
            <a:off x="7137400" y="18034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All prices VAT-inclusive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863" name="Rectangle 14"/>
          <p:cNvSpPr/>
          <p:nvPr/>
        </p:nvSpPr>
        <p:spPr>
          <a:xfrm>
            <a:off x="6477000" y="24130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64" name="Oval 15"/>
          <p:cNvSpPr/>
          <p:nvPr/>
        </p:nvSpPr>
        <p:spPr>
          <a:xfrm>
            <a:off x="6629400" y="24892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b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865" name="Rectangle 16"/>
          <p:cNvSpPr/>
          <p:nvPr/>
        </p:nvSpPr>
        <p:spPr>
          <a:xfrm>
            <a:off x="7137400" y="24638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All VAT-exclusive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866" name="Rectangle 17"/>
          <p:cNvSpPr/>
          <p:nvPr/>
        </p:nvSpPr>
        <p:spPr>
          <a:xfrm>
            <a:off x="6477000" y="30734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67" name="Oval 18"/>
          <p:cNvSpPr/>
          <p:nvPr/>
        </p:nvSpPr>
        <p:spPr>
          <a:xfrm>
            <a:off x="6629400" y="31496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c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868" name="Rectangle 19"/>
          <p:cNvSpPr/>
          <p:nvPr/>
        </p:nvSpPr>
        <p:spPr>
          <a:xfrm>
            <a:off x="7137400" y="31242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Set per product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869" name="Picture"/>
          <p:cNvSpPr/>
          <p:nvPr/>
        </p:nvSpPr>
        <p:spPr>
          <a:xfrm>
            <a:off x="6502400" y="37846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20833" y="12500"/>
                </a:moveTo>
                <a:lnTo>
                  <a:pt x="79167" y="12500"/>
                </a:lnTo>
                <a:cubicBezTo>
                  <a:pt x="83769" y="12500"/>
                  <a:pt x="87500" y="16231"/>
                  <a:pt x="87500" y="20833"/>
                </a:cubicBezTo>
                <a:lnTo>
                  <a:pt x="87500" y="79167"/>
                </a:lnTo>
                <a:cubicBezTo>
                  <a:pt x="87500" y="83769"/>
                  <a:pt x="83769" y="87500"/>
                  <a:pt x="79167" y="87500"/>
                </a:cubicBezTo>
                <a:lnTo>
                  <a:pt x="20833" y="87500"/>
                </a:lnTo>
                <a:cubicBezTo>
                  <a:pt x="16231" y="87500"/>
                  <a:pt x="12500" y="83769"/>
                  <a:pt x="12500" y="79167"/>
                </a:cubicBezTo>
                <a:lnTo>
                  <a:pt x="12500" y="20833"/>
                </a:lnTo>
                <a:cubicBezTo>
                  <a:pt x="12500" y="16231"/>
                  <a:pt x="16231" y="12500"/>
                  <a:pt x="20833" y="12500"/>
                </a:cubicBezTo>
                <a:close/>
                <a:moveTo>
                  <a:pt x="29167" y="37500"/>
                </a:moveTo>
                <a:cubicBezTo>
                  <a:pt x="29167" y="32898"/>
                  <a:pt x="32898" y="29167"/>
                  <a:pt x="37500" y="29167"/>
                </a:cubicBezTo>
                <a:cubicBezTo>
                  <a:pt x="42103" y="29167"/>
                  <a:pt x="45833" y="32898"/>
                  <a:pt x="45833" y="37500"/>
                </a:cubicBezTo>
                <a:cubicBezTo>
                  <a:pt x="45833" y="42103"/>
                  <a:pt x="42103" y="45833"/>
                  <a:pt x="37500" y="45833"/>
                </a:cubicBezTo>
                <a:cubicBezTo>
                  <a:pt x="32898" y="45833"/>
                  <a:pt x="29167" y="42103"/>
                  <a:pt x="29167" y="37500"/>
                </a:cubicBezTo>
                <a:close/>
                <a:moveTo>
                  <a:pt x="87500" y="62500"/>
                </a:moveTo>
                <a:lnTo>
                  <a:pt x="74642" y="49642"/>
                </a:lnTo>
                <a:cubicBezTo>
                  <a:pt x="71388" y="46388"/>
                  <a:pt x="66113" y="46388"/>
                  <a:pt x="62858" y="49642"/>
                </a:cubicBezTo>
                <a:lnTo>
                  <a:pt x="25000" y="87500"/>
                </a:lnTo>
              </a:path>
            </a:pathLst>
          </a:custGeom>
          <a:noFill/>
          <a:ln w="19050" cap="rnd">
            <a:solidFill>
              <a:srgbClr val="1B7FA6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870" name="Rectangle 21"/>
          <p:cNvSpPr/>
          <p:nvPr/>
        </p:nvSpPr>
        <p:spPr>
          <a:xfrm>
            <a:off x="6807200" y="3733800"/>
            <a:ext cx="4749800" cy="50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1B7FA6"/>
                </a:solidFill>
              </a:rPr>
              <a:t>See it in the walkthrough: slide 7, Add the products you need</a:t>
            </a:r>
            <a:endParaRPr sz="1200" b="0">
              <a:solidFill>
                <a:srgbClr val="1B7FA6"/>
              </a:solidFill>
            </a:endParaRPr>
          </a:p>
        </p:txBody>
      </p:sp>
      <p:sp>
        <p:nvSpPr>
          <p:cNvPr id="871" name="Rectangle 22"/>
          <p:cNvSpPr/>
          <p:nvPr/>
        </p:nvSpPr>
        <p:spPr>
          <a:xfrm>
            <a:off x="762000" y="5969000"/>
            <a:ext cx="10795000" cy="508000"/>
          </a:xfrm>
          <a:prstGeom prst="round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72" name="Document"/>
          <p:cNvSpPr/>
          <p:nvPr/>
        </p:nvSpPr>
        <p:spPr>
          <a:xfrm>
            <a:off x="965200" y="6083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25000" y="91667"/>
                </a:moveTo>
                <a:cubicBezTo>
                  <a:pt x="20398" y="91667"/>
                  <a:pt x="16667" y="87936"/>
                  <a:pt x="16667" y="83333"/>
                </a:cubicBezTo>
                <a:lnTo>
                  <a:pt x="16667" y="16667"/>
                </a:lnTo>
                <a:cubicBezTo>
                  <a:pt x="16667" y="12064"/>
                  <a:pt x="20398" y="8333"/>
                  <a:pt x="25000" y="8333"/>
                </a:cubicBezTo>
                <a:lnTo>
                  <a:pt x="58333" y="8333"/>
                </a:lnTo>
                <a:cubicBezTo>
                  <a:pt x="60998" y="8329"/>
                  <a:pt x="63553" y="9388"/>
                  <a:pt x="65433" y="11275"/>
                </a:cubicBezTo>
                <a:lnTo>
                  <a:pt x="80383" y="26225"/>
                </a:lnTo>
                <a:cubicBezTo>
                  <a:pt x="82275" y="28106"/>
                  <a:pt x="83338" y="30665"/>
                  <a:pt x="83333" y="33333"/>
                </a:cubicBezTo>
                <a:lnTo>
                  <a:pt x="83333" y="83333"/>
                </a:lnTo>
                <a:cubicBezTo>
                  <a:pt x="83333" y="87936"/>
                  <a:pt x="79603" y="91667"/>
                  <a:pt x="75000" y="91667"/>
                </a:cubicBezTo>
                <a:close/>
                <a:moveTo>
                  <a:pt x="58333" y="8333"/>
                </a:moveTo>
                <a:lnTo>
                  <a:pt x="58333" y="29167"/>
                </a:lnTo>
                <a:cubicBezTo>
                  <a:pt x="58333" y="31468"/>
                  <a:pt x="60199" y="33333"/>
                  <a:pt x="62500" y="33333"/>
                </a:cubicBezTo>
                <a:lnTo>
                  <a:pt x="83333" y="33333"/>
                </a:lnTo>
                <a:moveTo>
                  <a:pt x="41667" y="37500"/>
                </a:moveTo>
                <a:lnTo>
                  <a:pt x="33333" y="37500"/>
                </a:lnTo>
                <a:moveTo>
                  <a:pt x="66667" y="54167"/>
                </a:moveTo>
                <a:lnTo>
                  <a:pt x="33333" y="54167"/>
                </a:lnTo>
                <a:moveTo>
                  <a:pt x="66667" y="70833"/>
                </a:moveTo>
                <a:lnTo>
                  <a:pt x="33333" y="70833"/>
                </a:lnTo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873" name="Rectangle 24"/>
          <p:cNvSpPr/>
          <p:nvPr/>
        </p:nvSpPr>
        <p:spPr>
          <a:xfrm>
            <a:off x="1371600" y="5994400"/>
            <a:ext cx="10033000" cy="45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Answer form, row C2:  pick a choice, keep today, or write your own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1133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5B404BC1-014C-488B-8334-FE6DEE01E96E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5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76" name="Rectangle 2"/>
          <p:cNvSpPr/>
          <p:nvPr/>
        </p:nvSpPr>
        <p:spPr>
          <a:xfrm>
            <a:off x="711200" y="508000"/>
            <a:ext cx="8255000" cy="812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C3. How should totals be rounded?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877" name="Rectangle 3"/>
          <p:cNvSpPr/>
          <p:nvPr/>
        </p:nvSpPr>
        <p:spPr>
          <a:xfrm>
            <a:off x="9271000" y="508000"/>
            <a:ext cx="2286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Part C  |  14 of 20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878" name="Rectangle 4"/>
          <p:cNvSpPr/>
          <p:nvPr/>
        </p:nvSpPr>
        <p:spPr>
          <a:xfrm>
            <a:off x="762000" y="1422400"/>
            <a:ext cx="533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WHAT IT MEANS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879" name="Rectangle 5"/>
          <p:cNvSpPr/>
          <p:nvPr/>
        </p:nvSpPr>
        <p:spPr>
          <a:xfrm>
            <a:off x="762000" y="1701800"/>
            <a:ext cx="5334000" cy="609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1E2B3C"/>
                </a:solidFill>
              </a:rPr>
              <a:t>Quantity times discounted price can produce fractions of a centavo.</a:t>
            </a:r>
            <a:endParaRPr sz="1400" b="0">
              <a:solidFill>
                <a:srgbClr val="1E2B3C"/>
              </a:solidFill>
            </a:endParaRPr>
          </a:p>
        </p:txBody>
      </p:sp>
      <p:sp>
        <p:nvSpPr>
          <p:cNvPr id="880" name="Rectangle 6"/>
          <p:cNvSpPr/>
          <p:nvPr/>
        </p:nvSpPr>
        <p:spPr>
          <a:xfrm>
            <a:off x="762000" y="2489200"/>
            <a:ext cx="5334000" cy="7874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81" name="Rectangle 7"/>
          <p:cNvSpPr/>
          <p:nvPr/>
        </p:nvSpPr>
        <p:spPr>
          <a:xfrm>
            <a:off x="965200" y="2616200"/>
            <a:ext cx="4953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THE PORTAL TODAY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882" name="Rectangle 8"/>
          <p:cNvSpPr/>
          <p:nvPr/>
        </p:nvSpPr>
        <p:spPr>
          <a:xfrm>
            <a:off x="965200" y="2895600"/>
            <a:ext cx="4978400" cy="330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Line totals are rounded to two decimals.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883" name="Rectangle 9"/>
          <p:cNvSpPr/>
          <p:nvPr/>
        </p:nvSpPr>
        <p:spPr>
          <a:xfrm>
            <a:off x="762000" y="3403600"/>
            <a:ext cx="5334000" cy="584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5B6B7A"/>
                </a:solidFill>
              </a:rPr>
              <a:t>Why it matters: totals that match DBGI's quotations.</a:t>
            </a:r>
            <a:endParaRPr sz="1200" b="0">
              <a:solidFill>
                <a:srgbClr val="5B6B7A"/>
              </a:solidFill>
            </a:endParaRPr>
          </a:p>
        </p:txBody>
      </p:sp>
      <p:sp>
        <p:nvSpPr>
          <p:cNvPr id="884" name="Rectangle 10"/>
          <p:cNvSpPr/>
          <p:nvPr/>
        </p:nvSpPr>
        <p:spPr>
          <a:xfrm>
            <a:off x="6477000" y="1422400"/>
            <a:ext cx="5080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CHOOSE ONE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885" name="Rectangle 11"/>
          <p:cNvSpPr/>
          <p:nvPr/>
        </p:nvSpPr>
        <p:spPr>
          <a:xfrm>
            <a:off x="6477000" y="17526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86" name="Oval 12"/>
          <p:cNvSpPr/>
          <p:nvPr/>
        </p:nvSpPr>
        <p:spPr>
          <a:xfrm>
            <a:off x="6629400" y="18288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887" name="Rectangle 13"/>
          <p:cNvSpPr/>
          <p:nvPr/>
        </p:nvSpPr>
        <p:spPr>
          <a:xfrm>
            <a:off x="7137400" y="18034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Round each line to 2 decimals, add the lines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888" name="Rectangle 14"/>
          <p:cNvSpPr/>
          <p:nvPr/>
        </p:nvSpPr>
        <p:spPr>
          <a:xfrm>
            <a:off x="6477000" y="24130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89" name="Oval 15"/>
          <p:cNvSpPr/>
          <p:nvPr/>
        </p:nvSpPr>
        <p:spPr>
          <a:xfrm>
            <a:off x="6629400" y="24892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b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890" name="Rectangle 16"/>
          <p:cNvSpPr/>
          <p:nvPr/>
        </p:nvSpPr>
        <p:spPr>
          <a:xfrm>
            <a:off x="7137400" y="24638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Round only the grand total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891" name="Picture"/>
          <p:cNvSpPr/>
          <p:nvPr/>
        </p:nvSpPr>
        <p:spPr>
          <a:xfrm>
            <a:off x="6502400" y="31242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20833" y="12500"/>
                </a:moveTo>
                <a:lnTo>
                  <a:pt x="79167" y="12500"/>
                </a:lnTo>
                <a:cubicBezTo>
                  <a:pt x="83769" y="12500"/>
                  <a:pt x="87500" y="16231"/>
                  <a:pt x="87500" y="20833"/>
                </a:cubicBezTo>
                <a:lnTo>
                  <a:pt x="87500" y="79167"/>
                </a:lnTo>
                <a:cubicBezTo>
                  <a:pt x="87500" y="83769"/>
                  <a:pt x="83769" y="87500"/>
                  <a:pt x="79167" y="87500"/>
                </a:cubicBezTo>
                <a:lnTo>
                  <a:pt x="20833" y="87500"/>
                </a:lnTo>
                <a:cubicBezTo>
                  <a:pt x="16231" y="87500"/>
                  <a:pt x="12500" y="83769"/>
                  <a:pt x="12500" y="79167"/>
                </a:cubicBezTo>
                <a:lnTo>
                  <a:pt x="12500" y="20833"/>
                </a:lnTo>
                <a:cubicBezTo>
                  <a:pt x="12500" y="16231"/>
                  <a:pt x="16231" y="12500"/>
                  <a:pt x="20833" y="12500"/>
                </a:cubicBezTo>
                <a:close/>
                <a:moveTo>
                  <a:pt x="29167" y="37500"/>
                </a:moveTo>
                <a:cubicBezTo>
                  <a:pt x="29167" y="32898"/>
                  <a:pt x="32898" y="29167"/>
                  <a:pt x="37500" y="29167"/>
                </a:cubicBezTo>
                <a:cubicBezTo>
                  <a:pt x="42103" y="29167"/>
                  <a:pt x="45833" y="32898"/>
                  <a:pt x="45833" y="37500"/>
                </a:cubicBezTo>
                <a:cubicBezTo>
                  <a:pt x="45833" y="42103"/>
                  <a:pt x="42103" y="45833"/>
                  <a:pt x="37500" y="45833"/>
                </a:cubicBezTo>
                <a:cubicBezTo>
                  <a:pt x="32898" y="45833"/>
                  <a:pt x="29167" y="42103"/>
                  <a:pt x="29167" y="37500"/>
                </a:cubicBezTo>
                <a:close/>
                <a:moveTo>
                  <a:pt x="87500" y="62500"/>
                </a:moveTo>
                <a:lnTo>
                  <a:pt x="74642" y="49642"/>
                </a:lnTo>
                <a:cubicBezTo>
                  <a:pt x="71388" y="46388"/>
                  <a:pt x="66113" y="46388"/>
                  <a:pt x="62858" y="49642"/>
                </a:cubicBezTo>
                <a:lnTo>
                  <a:pt x="25000" y="87500"/>
                </a:lnTo>
              </a:path>
            </a:pathLst>
          </a:custGeom>
          <a:noFill/>
          <a:ln w="19050" cap="rnd">
            <a:solidFill>
              <a:srgbClr val="1B7FA6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892" name="Rectangle 18"/>
          <p:cNvSpPr/>
          <p:nvPr/>
        </p:nvSpPr>
        <p:spPr>
          <a:xfrm>
            <a:off x="6807200" y="3073400"/>
            <a:ext cx="4749800" cy="50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1B7FA6"/>
                </a:solidFill>
              </a:rPr>
              <a:t>See it in the walkthrough: slide 7, Add the products you need</a:t>
            </a:r>
            <a:endParaRPr sz="1200" b="0">
              <a:solidFill>
                <a:srgbClr val="1B7FA6"/>
              </a:solidFill>
            </a:endParaRPr>
          </a:p>
        </p:txBody>
      </p:sp>
      <p:sp>
        <p:nvSpPr>
          <p:cNvPr id="893" name="Rectangle 19"/>
          <p:cNvSpPr/>
          <p:nvPr/>
        </p:nvSpPr>
        <p:spPr>
          <a:xfrm>
            <a:off x="762000" y="5969000"/>
            <a:ext cx="10795000" cy="508000"/>
          </a:xfrm>
          <a:prstGeom prst="round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94" name="Document"/>
          <p:cNvSpPr/>
          <p:nvPr/>
        </p:nvSpPr>
        <p:spPr>
          <a:xfrm>
            <a:off x="965200" y="6083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25000" y="91667"/>
                </a:moveTo>
                <a:cubicBezTo>
                  <a:pt x="20398" y="91667"/>
                  <a:pt x="16667" y="87936"/>
                  <a:pt x="16667" y="83333"/>
                </a:cubicBezTo>
                <a:lnTo>
                  <a:pt x="16667" y="16667"/>
                </a:lnTo>
                <a:cubicBezTo>
                  <a:pt x="16667" y="12064"/>
                  <a:pt x="20398" y="8333"/>
                  <a:pt x="25000" y="8333"/>
                </a:cubicBezTo>
                <a:lnTo>
                  <a:pt x="58333" y="8333"/>
                </a:lnTo>
                <a:cubicBezTo>
                  <a:pt x="60998" y="8329"/>
                  <a:pt x="63553" y="9388"/>
                  <a:pt x="65433" y="11275"/>
                </a:cubicBezTo>
                <a:lnTo>
                  <a:pt x="80383" y="26225"/>
                </a:lnTo>
                <a:cubicBezTo>
                  <a:pt x="82275" y="28106"/>
                  <a:pt x="83338" y="30665"/>
                  <a:pt x="83333" y="33333"/>
                </a:cubicBezTo>
                <a:lnTo>
                  <a:pt x="83333" y="83333"/>
                </a:lnTo>
                <a:cubicBezTo>
                  <a:pt x="83333" y="87936"/>
                  <a:pt x="79603" y="91667"/>
                  <a:pt x="75000" y="91667"/>
                </a:cubicBezTo>
                <a:close/>
                <a:moveTo>
                  <a:pt x="58333" y="8333"/>
                </a:moveTo>
                <a:lnTo>
                  <a:pt x="58333" y="29167"/>
                </a:lnTo>
                <a:cubicBezTo>
                  <a:pt x="58333" y="31468"/>
                  <a:pt x="60199" y="33333"/>
                  <a:pt x="62500" y="33333"/>
                </a:cubicBezTo>
                <a:lnTo>
                  <a:pt x="83333" y="33333"/>
                </a:lnTo>
                <a:moveTo>
                  <a:pt x="41667" y="37500"/>
                </a:moveTo>
                <a:lnTo>
                  <a:pt x="33333" y="37500"/>
                </a:lnTo>
                <a:moveTo>
                  <a:pt x="66667" y="54167"/>
                </a:moveTo>
                <a:lnTo>
                  <a:pt x="33333" y="54167"/>
                </a:lnTo>
                <a:moveTo>
                  <a:pt x="66667" y="70833"/>
                </a:moveTo>
                <a:lnTo>
                  <a:pt x="33333" y="70833"/>
                </a:lnTo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895" name="Rectangle 21"/>
          <p:cNvSpPr/>
          <p:nvPr/>
        </p:nvSpPr>
        <p:spPr>
          <a:xfrm>
            <a:off x="1371600" y="5994400"/>
            <a:ext cx="10033000" cy="45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Answer form, row C3:  pick a choice, keep today, or write your own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1136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82FE2B0-41F3-4ADE-8001-DB20630F7E5B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7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98" name="Rectangle 2"/>
          <p:cNvSpPr/>
          <p:nvPr/>
        </p:nvSpPr>
        <p:spPr>
          <a:xfrm>
            <a:off x="711200" y="508000"/>
            <a:ext cx="8255000" cy="812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C4. Can DBGI approve a price for a product that is not in the catalog yet?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899" name="Rectangle 3"/>
          <p:cNvSpPr/>
          <p:nvPr/>
        </p:nvSpPr>
        <p:spPr>
          <a:xfrm>
            <a:off x="9271000" y="508000"/>
            <a:ext cx="2286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Part C  |  15 of 20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900" name="Rectangle 4"/>
          <p:cNvSpPr/>
          <p:nvPr/>
        </p:nvSpPr>
        <p:spPr>
          <a:xfrm>
            <a:off x="762000" y="1422400"/>
            <a:ext cx="533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WHAT IT MEANS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901" name="Rectangle 5"/>
          <p:cNvSpPr/>
          <p:nvPr/>
        </p:nvSpPr>
        <p:spPr>
          <a:xfrm>
            <a:off x="762000" y="1701800"/>
            <a:ext cx="5334000" cy="609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1E2B3C"/>
                </a:solidFill>
              </a:rPr>
              <a:t>Partners can request products not in the portal's list (typed by hand). Can those get an approved price?</a:t>
            </a:r>
            <a:endParaRPr sz="1400" b="0">
              <a:solidFill>
                <a:srgbClr val="1E2B3C"/>
              </a:solidFill>
            </a:endParaRPr>
          </a:p>
        </p:txBody>
      </p:sp>
      <p:sp>
        <p:nvSpPr>
          <p:cNvPr id="902" name="Rectangle 6"/>
          <p:cNvSpPr/>
          <p:nvPr/>
        </p:nvSpPr>
        <p:spPr>
          <a:xfrm>
            <a:off x="762000" y="2489200"/>
            <a:ext cx="5334000" cy="14732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03" name="Rectangle 7"/>
          <p:cNvSpPr/>
          <p:nvPr/>
        </p:nvSpPr>
        <p:spPr>
          <a:xfrm>
            <a:off x="965200" y="2616200"/>
            <a:ext cx="4953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THE PORTAL TODAY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904" name="Rectangle 8"/>
          <p:cNvSpPr/>
          <p:nvPr/>
        </p:nvSpPr>
        <p:spPr>
          <a:xfrm>
            <a:off x="965200" y="2895600"/>
            <a:ext cx="4978400" cy="1016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Partners can request them, but they get no price review at all. Price approvals are only created for catalog products, so a typed product cannot receive an approved price.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905" name="Rectangle 9"/>
          <p:cNvSpPr/>
          <p:nvPr/>
        </p:nvSpPr>
        <p:spPr>
          <a:xfrm>
            <a:off x="762000" y="4089400"/>
            <a:ext cx="5334000" cy="584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5B6B7A"/>
                </a:solidFill>
              </a:rPr>
              <a:t>Why it matters: the catalog onboarding rule.</a:t>
            </a:r>
            <a:endParaRPr sz="1200" b="0">
              <a:solidFill>
                <a:srgbClr val="5B6B7A"/>
              </a:solidFill>
            </a:endParaRPr>
          </a:p>
        </p:txBody>
      </p:sp>
      <p:sp>
        <p:nvSpPr>
          <p:cNvPr id="906" name="Rectangle 10"/>
          <p:cNvSpPr/>
          <p:nvPr/>
        </p:nvSpPr>
        <p:spPr>
          <a:xfrm>
            <a:off x="6477000" y="1422400"/>
            <a:ext cx="5080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CHOOSE ONE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907" name="Rectangle 11"/>
          <p:cNvSpPr/>
          <p:nvPr/>
        </p:nvSpPr>
        <p:spPr>
          <a:xfrm>
            <a:off x="6477000" y="1752600"/>
            <a:ext cx="5080000" cy="76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08" name="Oval 12"/>
          <p:cNvSpPr/>
          <p:nvPr/>
        </p:nvSpPr>
        <p:spPr>
          <a:xfrm>
            <a:off x="6629400" y="19431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909" name="Rectangle 13"/>
          <p:cNvSpPr/>
          <p:nvPr/>
        </p:nvSpPr>
        <p:spPr>
          <a:xfrm>
            <a:off x="7137400" y="1803400"/>
            <a:ext cx="4318000" cy="660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DBGI adds the product to the catalog first, then it gets reviewed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910" name="Rectangle 14"/>
          <p:cNvSpPr/>
          <p:nvPr/>
        </p:nvSpPr>
        <p:spPr>
          <a:xfrm>
            <a:off x="6477000" y="2641600"/>
            <a:ext cx="5080000" cy="76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11" name="Oval 15"/>
          <p:cNvSpPr/>
          <p:nvPr/>
        </p:nvSpPr>
        <p:spPr>
          <a:xfrm>
            <a:off x="6629400" y="28321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b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912" name="Rectangle 16"/>
          <p:cNvSpPr/>
          <p:nvPr/>
        </p:nvSpPr>
        <p:spPr>
          <a:xfrm>
            <a:off x="7137400" y="2692400"/>
            <a:ext cx="4318000" cy="660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Approve it as typed, under an "Other products" group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913" name="Picture"/>
          <p:cNvSpPr/>
          <p:nvPr/>
        </p:nvSpPr>
        <p:spPr>
          <a:xfrm>
            <a:off x="6502400" y="3581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20833" y="12500"/>
                </a:moveTo>
                <a:lnTo>
                  <a:pt x="79167" y="12500"/>
                </a:lnTo>
                <a:cubicBezTo>
                  <a:pt x="83769" y="12500"/>
                  <a:pt x="87500" y="16231"/>
                  <a:pt x="87500" y="20833"/>
                </a:cubicBezTo>
                <a:lnTo>
                  <a:pt x="87500" y="79167"/>
                </a:lnTo>
                <a:cubicBezTo>
                  <a:pt x="87500" y="83769"/>
                  <a:pt x="83769" y="87500"/>
                  <a:pt x="79167" y="87500"/>
                </a:cubicBezTo>
                <a:lnTo>
                  <a:pt x="20833" y="87500"/>
                </a:lnTo>
                <a:cubicBezTo>
                  <a:pt x="16231" y="87500"/>
                  <a:pt x="12500" y="83769"/>
                  <a:pt x="12500" y="79167"/>
                </a:cubicBezTo>
                <a:lnTo>
                  <a:pt x="12500" y="20833"/>
                </a:lnTo>
                <a:cubicBezTo>
                  <a:pt x="12500" y="16231"/>
                  <a:pt x="16231" y="12500"/>
                  <a:pt x="20833" y="12500"/>
                </a:cubicBezTo>
                <a:close/>
                <a:moveTo>
                  <a:pt x="29167" y="37500"/>
                </a:moveTo>
                <a:cubicBezTo>
                  <a:pt x="29167" y="32898"/>
                  <a:pt x="32898" y="29167"/>
                  <a:pt x="37500" y="29167"/>
                </a:cubicBezTo>
                <a:cubicBezTo>
                  <a:pt x="42103" y="29167"/>
                  <a:pt x="45833" y="32898"/>
                  <a:pt x="45833" y="37500"/>
                </a:cubicBezTo>
                <a:cubicBezTo>
                  <a:pt x="45833" y="42103"/>
                  <a:pt x="42103" y="45833"/>
                  <a:pt x="37500" y="45833"/>
                </a:cubicBezTo>
                <a:cubicBezTo>
                  <a:pt x="32898" y="45833"/>
                  <a:pt x="29167" y="42103"/>
                  <a:pt x="29167" y="37500"/>
                </a:cubicBezTo>
                <a:close/>
                <a:moveTo>
                  <a:pt x="87500" y="62500"/>
                </a:moveTo>
                <a:lnTo>
                  <a:pt x="74642" y="49642"/>
                </a:lnTo>
                <a:cubicBezTo>
                  <a:pt x="71388" y="46388"/>
                  <a:pt x="66113" y="46388"/>
                  <a:pt x="62858" y="49642"/>
                </a:cubicBezTo>
                <a:lnTo>
                  <a:pt x="25000" y="87500"/>
                </a:lnTo>
              </a:path>
            </a:pathLst>
          </a:custGeom>
          <a:noFill/>
          <a:ln w="19050" cap="rnd">
            <a:solidFill>
              <a:srgbClr val="1B7FA6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914" name="Rectangle 18"/>
          <p:cNvSpPr/>
          <p:nvPr/>
        </p:nvSpPr>
        <p:spPr>
          <a:xfrm>
            <a:off x="6807200" y="3530600"/>
            <a:ext cx="4749800" cy="50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1B7FA6"/>
                </a:solidFill>
              </a:rPr>
              <a:t>See it in the walkthrough: slide 7, Add the products you need</a:t>
            </a:r>
            <a:endParaRPr sz="1200" b="0">
              <a:solidFill>
                <a:srgbClr val="1B7FA6"/>
              </a:solidFill>
            </a:endParaRPr>
          </a:p>
        </p:txBody>
      </p:sp>
      <p:sp>
        <p:nvSpPr>
          <p:cNvPr id="915" name="Rectangle 19"/>
          <p:cNvSpPr/>
          <p:nvPr/>
        </p:nvSpPr>
        <p:spPr>
          <a:xfrm>
            <a:off x="762000" y="5969000"/>
            <a:ext cx="10795000" cy="508000"/>
          </a:xfrm>
          <a:prstGeom prst="round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16" name="Document"/>
          <p:cNvSpPr/>
          <p:nvPr/>
        </p:nvSpPr>
        <p:spPr>
          <a:xfrm>
            <a:off x="965200" y="6083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25000" y="91667"/>
                </a:moveTo>
                <a:cubicBezTo>
                  <a:pt x="20398" y="91667"/>
                  <a:pt x="16667" y="87936"/>
                  <a:pt x="16667" y="83333"/>
                </a:cubicBezTo>
                <a:lnTo>
                  <a:pt x="16667" y="16667"/>
                </a:lnTo>
                <a:cubicBezTo>
                  <a:pt x="16667" y="12064"/>
                  <a:pt x="20398" y="8333"/>
                  <a:pt x="25000" y="8333"/>
                </a:cubicBezTo>
                <a:lnTo>
                  <a:pt x="58333" y="8333"/>
                </a:lnTo>
                <a:cubicBezTo>
                  <a:pt x="60998" y="8329"/>
                  <a:pt x="63553" y="9388"/>
                  <a:pt x="65433" y="11275"/>
                </a:cubicBezTo>
                <a:lnTo>
                  <a:pt x="80383" y="26225"/>
                </a:lnTo>
                <a:cubicBezTo>
                  <a:pt x="82275" y="28106"/>
                  <a:pt x="83338" y="30665"/>
                  <a:pt x="83333" y="33333"/>
                </a:cubicBezTo>
                <a:lnTo>
                  <a:pt x="83333" y="83333"/>
                </a:lnTo>
                <a:cubicBezTo>
                  <a:pt x="83333" y="87936"/>
                  <a:pt x="79603" y="91667"/>
                  <a:pt x="75000" y="91667"/>
                </a:cubicBezTo>
                <a:close/>
                <a:moveTo>
                  <a:pt x="58333" y="8333"/>
                </a:moveTo>
                <a:lnTo>
                  <a:pt x="58333" y="29167"/>
                </a:lnTo>
                <a:cubicBezTo>
                  <a:pt x="58333" y="31468"/>
                  <a:pt x="60199" y="33333"/>
                  <a:pt x="62500" y="33333"/>
                </a:cubicBezTo>
                <a:lnTo>
                  <a:pt x="83333" y="33333"/>
                </a:lnTo>
                <a:moveTo>
                  <a:pt x="41667" y="37500"/>
                </a:moveTo>
                <a:lnTo>
                  <a:pt x="33333" y="37500"/>
                </a:lnTo>
                <a:moveTo>
                  <a:pt x="66667" y="54167"/>
                </a:moveTo>
                <a:lnTo>
                  <a:pt x="33333" y="54167"/>
                </a:lnTo>
                <a:moveTo>
                  <a:pt x="66667" y="70833"/>
                </a:moveTo>
                <a:lnTo>
                  <a:pt x="33333" y="70833"/>
                </a:lnTo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917" name="Rectangle 21"/>
          <p:cNvSpPr/>
          <p:nvPr/>
        </p:nvSpPr>
        <p:spPr>
          <a:xfrm>
            <a:off x="1371600" y="5994400"/>
            <a:ext cx="10033000" cy="45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Answer form, row C4:  pick a choice, keep today, or write your own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1139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15308F28-484E-456D-8A22-933197D5C258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20" name="Rectangle 2"/>
          <p:cNvSpPr/>
          <p:nvPr/>
        </p:nvSpPr>
        <p:spPr>
          <a:xfrm>
            <a:off x="711200" y="508000"/>
            <a:ext cx="8255000" cy="812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C5. What can partners see about prices?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921" name="Rectangle 3"/>
          <p:cNvSpPr/>
          <p:nvPr/>
        </p:nvSpPr>
        <p:spPr>
          <a:xfrm>
            <a:off x="9271000" y="508000"/>
            <a:ext cx="2286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Part C  |  16 of 20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922" name="Rectangle 4"/>
          <p:cNvSpPr/>
          <p:nvPr/>
        </p:nvSpPr>
        <p:spPr>
          <a:xfrm>
            <a:off x="762000" y="1422400"/>
            <a:ext cx="533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WHAT IT MEANS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923" name="Rectangle 5"/>
          <p:cNvSpPr/>
          <p:nvPr/>
        </p:nvSpPr>
        <p:spPr>
          <a:xfrm>
            <a:off x="762000" y="1701800"/>
            <a:ext cx="5334000" cy="609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1E2B3C"/>
                </a:solidFill>
              </a:rPr>
              <a:t>List prices, their own approved prices, or nothing until approved?</a:t>
            </a:r>
            <a:endParaRPr sz="1400" b="0">
              <a:solidFill>
                <a:srgbClr val="1E2B3C"/>
              </a:solidFill>
            </a:endParaRPr>
          </a:p>
        </p:txBody>
      </p:sp>
      <p:sp>
        <p:nvSpPr>
          <p:cNvPr id="924" name="Rectangle 6"/>
          <p:cNvSpPr/>
          <p:nvPr/>
        </p:nvSpPr>
        <p:spPr>
          <a:xfrm>
            <a:off x="762000" y="2489200"/>
            <a:ext cx="5334000" cy="12446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25" name="Rectangle 7"/>
          <p:cNvSpPr/>
          <p:nvPr/>
        </p:nvSpPr>
        <p:spPr>
          <a:xfrm>
            <a:off x="965200" y="2616200"/>
            <a:ext cx="4953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THE PORTAL TODAY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926" name="Rectangle 8"/>
          <p:cNvSpPr/>
          <p:nvPr/>
        </p:nvSpPr>
        <p:spPr>
          <a:xfrm>
            <a:off x="965200" y="2895600"/>
            <a:ext cx="4978400" cy="787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Partners see the list price at request time and their own approved prices. They never see other partners' prices.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927" name="Rectangle 9"/>
          <p:cNvSpPr/>
          <p:nvPr/>
        </p:nvSpPr>
        <p:spPr>
          <a:xfrm>
            <a:off x="762000" y="3860800"/>
            <a:ext cx="5334000" cy="584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5B6B7A"/>
                </a:solidFill>
              </a:rPr>
              <a:t>Why it matters: final price visibility in screens and exports.</a:t>
            </a:r>
            <a:endParaRPr sz="1200" b="0">
              <a:solidFill>
                <a:srgbClr val="5B6B7A"/>
              </a:solidFill>
            </a:endParaRPr>
          </a:p>
        </p:txBody>
      </p:sp>
      <p:sp>
        <p:nvSpPr>
          <p:cNvPr id="928" name="Rectangle 10"/>
          <p:cNvSpPr/>
          <p:nvPr/>
        </p:nvSpPr>
        <p:spPr>
          <a:xfrm>
            <a:off x="6477000" y="1422400"/>
            <a:ext cx="5080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CHOOSE ONE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929" name="Rectangle 11"/>
          <p:cNvSpPr/>
          <p:nvPr/>
        </p:nvSpPr>
        <p:spPr>
          <a:xfrm>
            <a:off x="6477000" y="17526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30" name="Oval 12"/>
          <p:cNvSpPr/>
          <p:nvPr/>
        </p:nvSpPr>
        <p:spPr>
          <a:xfrm>
            <a:off x="6629400" y="18288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931" name="Rectangle 13"/>
          <p:cNvSpPr/>
          <p:nvPr/>
        </p:nvSpPr>
        <p:spPr>
          <a:xfrm>
            <a:off x="7137400" y="18034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Keep today's rule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932" name="Rectangle 14"/>
          <p:cNvSpPr/>
          <p:nvPr/>
        </p:nvSpPr>
        <p:spPr>
          <a:xfrm>
            <a:off x="6477000" y="24130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33" name="Oval 15"/>
          <p:cNvSpPr/>
          <p:nvPr/>
        </p:nvSpPr>
        <p:spPr>
          <a:xfrm>
            <a:off x="6629400" y="24892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b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934" name="Rectangle 16"/>
          <p:cNvSpPr/>
          <p:nvPr/>
        </p:nvSpPr>
        <p:spPr>
          <a:xfrm>
            <a:off x="7137400" y="24638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Hide list prices too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935" name="Picture"/>
          <p:cNvSpPr/>
          <p:nvPr/>
        </p:nvSpPr>
        <p:spPr>
          <a:xfrm>
            <a:off x="6502400" y="31242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20833" y="12500"/>
                </a:moveTo>
                <a:lnTo>
                  <a:pt x="79167" y="12500"/>
                </a:lnTo>
                <a:cubicBezTo>
                  <a:pt x="83769" y="12500"/>
                  <a:pt x="87500" y="16231"/>
                  <a:pt x="87500" y="20833"/>
                </a:cubicBezTo>
                <a:lnTo>
                  <a:pt x="87500" y="79167"/>
                </a:lnTo>
                <a:cubicBezTo>
                  <a:pt x="87500" y="83769"/>
                  <a:pt x="83769" y="87500"/>
                  <a:pt x="79167" y="87500"/>
                </a:cubicBezTo>
                <a:lnTo>
                  <a:pt x="20833" y="87500"/>
                </a:lnTo>
                <a:cubicBezTo>
                  <a:pt x="16231" y="87500"/>
                  <a:pt x="12500" y="83769"/>
                  <a:pt x="12500" y="79167"/>
                </a:cubicBezTo>
                <a:lnTo>
                  <a:pt x="12500" y="20833"/>
                </a:lnTo>
                <a:cubicBezTo>
                  <a:pt x="12500" y="16231"/>
                  <a:pt x="16231" y="12500"/>
                  <a:pt x="20833" y="12500"/>
                </a:cubicBezTo>
                <a:close/>
                <a:moveTo>
                  <a:pt x="29167" y="37500"/>
                </a:moveTo>
                <a:cubicBezTo>
                  <a:pt x="29167" y="32898"/>
                  <a:pt x="32898" y="29167"/>
                  <a:pt x="37500" y="29167"/>
                </a:cubicBezTo>
                <a:cubicBezTo>
                  <a:pt x="42103" y="29167"/>
                  <a:pt x="45833" y="32898"/>
                  <a:pt x="45833" y="37500"/>
                </a:cubicBezTo>
                <a:cubicBezTo>
                  <a:pt x="45833" y="42103"/>
                  <a:pt x="42103" y="45833"/>
                  <a:pt x="37500" y="45833"/>
                </a:cubicBezTo>
                <a:cubicBezTo>
                  <a:pt x="32898" y="45833"/>
                  <a:pt x="29167" y="42103"/>
                  <a:pt x="29167" y="37500"/>
                </a:cubicBezTo>
                <a:close/>
                <a:moveTo>
                  <a:pt x="87500" y="62500"/>
                </a:moveTo>
                <a:lnTo>
                  <a:pt x="74642" y="49642"/>
                </a:lnTo>
                <a:cubicBezTo>
                  <a:pt x="71388" y="46388"/>
                  <a:pt x="66113" y="46388"/>
                  <a:pt x="62858" y="49642"/>
                </a:cubicBezTo>
                <a:lnTo>
                  <a:pt x="25000" y="87500"/>
                </a:lnTo>
              </a:path>
            </a:pathLst>
          </a:custGeom>
          <a:noFill/>
          <a:ln w="19050" cap="rnd">
            <a:solidFill>
              <a:srgbClr val="1B7FA6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936" name="Rectangle 18"/>
          <p:cNvSpPr/>
          <p:nvPr/>
        </p:nvSpPr>
        <p:spPr>
          <a:xfrm>
            <a:off x="6807200" y="3073400"/>
            <a:ext cx="4749800" cy="50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1B7FA6"/>
                </a:solidFill>
              </a:rPr>
              <a:t>See it in the walkthrough: slide 18, See the approved price</a:t>
            </a:r>
            <a:endParaRPr sz="1200" b="0">
              <a:solidFill>
                <a:srgbClr val="1B7FA6"/>
              </a:solidFill>
            </a:endParaRPr>
          </a:p>
        </p:txBody>
      </p:sp>
      <p:sp>
        <p:nvSpPr>
          <p:cNvPr id="937" name="Rectangle 19"/>
          <p:cNvSpPr/>
          <p:nvPr/>
        </p:nvSpPr>
        <p:spPr>
          <a:xfrm>
            <a:off x="762000" y="5969000"/>
            <a:ext cx="10795000" cy="508000"/>
          </a:xfrm>
          <a:prstGeom prst="round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38" name="Document"/>
          <p:cNvSpPr/>
          <p:nvPr/>
        </p:nvSpPr>
        <p:spPr>
          <a:xfrm>
            <a:off x="965200" y="6083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25000" y="91667"/>
                </a:moveTo>
                <a:cubicBezTo>
                  <a:pt x="20398" y="91667"/>
                  <a:pt x="16667" y="87936"/>
                  <a:pt x="16667" y="83333"/>
                </a:cubicBezTo>
                <a:lnTo>
                  <a:pt x="16667" y="16667"/>
                </a:lnTo>
                <a:cubicBezTo>
                  <a:pt x="16667" y="12064"/>
                  <a:pt x="20398" y="8333"/>
                  <a:pt x="25000" y="8333"/>
                </a:cubicBezTo>
                <a:lnTo>
                  <a:pt x="58333" y="8333"/>
                </a:lnTo>
                <a:cubicBezTo>
                  <a:pt x="60998" y="8329"/>
                  <a:pt x="63553" y="9388"/>
                  <a:pt x="65433" y="11275"/>
                </a:cubicBezTo>
                <a:lnTo>
                  <a:pt x="80383" y="26225"/>
                </a:lnTo>
                <a:cubicBezTo>
                  <a:pt x="82275" y="28106"/>
                  <a:pt x="83338" y="30665"/>
                  <a:pt x="83333" y="33333"/>
                </a:cubicBezTo>
                <a:lnTo>
                  <a:pt x="83333" y="83333"/>
                </a:lnTo>
                <a:cubicBezTo>
                  <a:pt x="83333" y="87936"/>
                  <a:pt x="79603" y="91667"/>
                  <a:pt x="75000" y="91667"/>
                </a:cubicBezTo>
                <a:close/>
                <a:moveTo>
                  <a:pt x="58333" y="8333"/>
                </a:moveTo>
                <a:lnTo>
                  <a:pt x="58333" y="29167"/>
                </a:lnTo>
                <a:cubicBezTo>
                  <a:pt x="58333" y="31468"/>
                  <a:pt x="60199" y="33333"/>
                  <a:pt x="62500" y="33333"/>
                </a:cubicBezTo>
                <a:lnTo>
                  <a:pt x="83333" y="33333"/>
                </a:lnTo>
                <a:moveTo>
                  <a:pt x="41667" y="37500"/>
                </a:moveTo>
                <a:lnTo>
                  <a:pt x="33333" y="37500"/>
                </a:lnTo>
                <a:moveTo>
                  <a:pt x="66667" y="54167"/>
                </a:moveTo>
                <a:lnTo>
                  <a:pt x="33333" y="54167"/>
                </a:lnTo>
                <a:moveTo>
                  <a:pt x="66667" y="70833"/>
                </a:moveTo>
                <a:lnTo>
                  <a:pt x="33333" y="70833"/>
                </a:lnTo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939" name="Rectangle 21"/>
          <p:cNvSpPr/>
          <p:nvPr/>
        </p:nvSpPr>
        <p:spPr>
          <a:xfrm>
            <a:off x="1371600" y="5994400"/>
            <a:ext cx="10033000" cy="45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Answer form, row C5:  pick a choice, keep today, or write your own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1142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BA8E689-B97F-4808-825B-0EF07E46C53D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1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42" name="Rectangle 2"/>
          <p:cNvSpPr/>
          <p:nvPr/>
        </p:nvSpPr>
        <p:spPr>
          <a:xfrm>
            <a:off x="711200" y="508000"/>
            <a:ext cx="8255000" cy="812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D1. Repeat orders on an approved price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943" name="Rectangle 3"/>
          <p:cNvSpPr/>
          <p:nvPr/>
        </p:nvSpPr>
        <p:spPr>
          <a:xfrm>
            <a:off x="9271000" y="508000"/>
            <a:ext cx="2286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Part D  |  17 of 20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944" name="Rectangle 4"/>
          <p:cNvSpPr/>
          <p:nvPr/>
        </p:nvSpPr>
        <p:spPr>
          <a:xfrm>
            <a:off x="762000" y="1422400"/>
            <a:ext cx="533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WHAT IT MEANS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945" name="Rectangle 5"/>
          <p:cNvSpPr/>
          <p:nvPr/>
        </p:nvSpPr>
        <p:spPr>
          <a:xfrm>
            <a:off x="762000" y="1701800"/>
            <a:ext cx="5334000" cy="863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1E2B3C"/>
                </a:solidFill>
              </a:rPr>
              <a:t>After approval, a partner places more orders for the same customer. What proof is needed, and how does DBGI spot duplicates?</a:t>
            </a:r>
            <a:endParaRPr sz="1400" b="0">
              <a:solidFill>
                <a:srgbClr val="1E2B3C"/>
              </a:solidFill>
            </a:endParaRPr>
          </a:p>
        </p:txBody>
      </p:sp>
      <p:sp>
        <p:nvSpPr>
          <p:cNvPr id="946" name="Rectangle 6"/>
          <p:cNvSpPr/>
          <p:nvPr/>
        </p:nvSpPr>
        <p:spPr>
          <a:xfrm>
            <a:off x="762000" y="2743200"/>
            <a:ext cx="5334000" cy="7874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47" name="Rectangle 7"/>
          <p:cNvSpPr/>
          <p:nvPr/>
        </p:nvSpPr>
        <p:spPr>
          <a:xfrm>
            <a:off x="965200" y="2870200"/>
            <a:ext cx="4953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THE PORTAL TODAY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948" name="Rectangle 8"/>
          <p:cNvSpPr/>
          <p:nvPr/>
        </p:nvSpPr>
        <p:spPr>
          <a:xfrm>
            <a:off x="965200" y="3149600"/>
            <a:ext cx="4978400" cy="330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Not built yet. It depends on Part C.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949" name="Rectangle 9"/>
          <p:cNvSpPr/>
          <p:nvPr/>
        </p:nvSpPr>
        <p:spPr>
          <a:xfrm>
            <a:off x="6477000" y="1422400"/>
            <a:ext cx="5080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TELL US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950" name="Rectangle 10"/>
          <p:cNvSpPr/>
          <p:nvPr/>
        </p:nvSpPr>
        <p:spPr>
          <a:xfrm>
            <a:off x="6477000" y="1752600"/>
            <a:ext cx="5080000" cy="1397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58800" rIns="177800" anchor="ctr">
            <a:noAutofit/>
          </a:bodyPr>
          <a:lstStyle/>
          <a:p>
            <a:pPr algn="l"/>
            <a:r>
              <a:rPr sz="1400" b="0">
                <a:solidFill>
                  <a:srgbClr val="12384D"/>
                </a:solidFill>
              </a:rPr>
              <a:t>What should DBGI check before honouring a repeat order at the special price (for example a purchase order, the same end-user, the same product)?</a:t>
            </a:r>
            <a:endParaRPr sz="1400" b="0">
              <a:solidFill>
                <a:srgbClr val="12384D"/>
              </a:solidFill>
            </a:endParaRPr>
          </a:p>
        </p:txBody>
      </p:sp>
      <p:sp>
        <p:nvSpPr>
          <p:cNvPr id="951" name="Message"/>
          <p:cNvSpPr/>
          <p:nvPr/>
        </p:nvSpPr>
        <p:spPr>
          <a:xfrm>
            <a:off x="6629400" y="23114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12467" y="68092"/>
                </a:moveTo>
                <a:cubicBezTo>
                  <a:pt x="13079" y="69637"/>
                  <a:pt x="13216" y="71330"/>
                  <a:pt x="12858" y="72954"/>
                </a:cubicBezTo>
                <a:lnTo>
                  <a:pt x="8421" y="86663"/>
                </a:lnTo>
                <a:cubicBezTo>
                  <a:pt x="8130" y="88076"/>
                  <a:pt x="8591" y="89539"/>
                  <a:pt x="9640" y="90530"/>
                </a:cubicBezTo>
                <a:cubicBezTo>
                  <a:pt x="10689" y="91521"/>
                  <a:pt x="12176" y="91899"/>
                  <a:pt x="13571" y="91529"/>
                </a:cubicBezTo>
                <a:lnTo>
                  <a:pt x="27792" y="87371"/>
                </a:lnTo>
                <a:cubicBezTo>
                  <a:pt x="29324" y="87067"/>
                  <a:pt x="30910" y="87200"/>
                  <a:pt x="32371" y="87754"/>
                </a:cubicBezTo>
                <a:cubicBezTo>
                  <a:pt x="50740" y="96333"/>
                  <a:pt x="72617" y="90445"/>
                  <a:pt x="84199" y="73806"/>
                </a:cubicBezTo>
                <a:cubicBezTo>
                  <a:pt x="95781" y="57167"/>
                  <a:pt x="93706" y="34607"/>
                  <a:pt x="79284" y="20359"/>
                </a:cubicBezTo>
                <a:cubicBezTo>
                  <a:pt x="64861" y="6112"/>
                  <a:pt x="42277" y="4313"/>
                  <a:pt x="25781" y="16097"/>
                </a:cubicBezTo>
                <a:cubicBezTo>
                  <a:pt x="9285" y="27882"/>
                  <a:pt x="3665" y="49829"/>
                  <a:pt x="12467" y="68092"/>
                </a:cubicBezTo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952" name="Rectangle 12"/>
          <p:cNvSpPr/>
          <p:nvPr/>
        </p:nvSpPr>
        <p:spPr>
          <a:xfrm>
            <a:off x="762000" y="5969000"/>
            <a:ext cx="10795000" cy="508000"/>
          </a:xfrm>
          <a:prstGeom prst="round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53" name="Document"/>
          <p:cNvSpPr/>
          <p:nvPr/>
        </p:nvSpPr>
        <p:spPr>
          <a:xfrm>
            <a:off x="965200" y="6083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25000" y="91667"/>
                </a:moveTo>
                <a:cubicBezTo>
                  <a:pt x="20398" y="91667"/>
                  <a:pt x="16667" y="87936"/>
                  <a:pt x="16667" y="83333"/>
                </a:cubicBezTo>
                <a:lnTo>
                  <a:pt x="16667" y="16667"/>
                </a:lnTo>
                <a:cubicBezTo>
                  <a:pt x="16667" y="12064"/>
                  <a:pt x="20398" y="8333"/>
                  <a:pt x="25000" y="8333"/>
                </a:cubicBezTo>
                <a:lnTo>
                  <a:pt x="58333" y="8333"/>
                </a:lnTo>
                <a:cubicBezTo>
                  <a:pt x="60998" y="8329"/>
                  <a:pt x="63553" y="9388"/>
                  <a:pt x="65433" y="11275"/>
                </a:cubicBezTo>
                <a:lnTo>
                  <a:pt x="80383" y="26225"/>
                </a:lnTo>
                <a:cubicBezTo>
                  <a:pt x="82275" y="28106"/>
                  <a:pt x="83338" y="30665"/>
                  <a:pt x="83333" y="33333"/>
                </a:cubicBezTo>
                <a:lnTo>
                  <a:pt x="83333" y="83333"/>
                </a:lnTo>
                <a:cubicBezTo>
                  <a:pt x="83333" y="87936"/>
                  <a:pt x="79603" y="91667"/>
                  <a:pt x="75000" y="91667"/>
                </a:cubicBezTo>
                <a:close/>
                <a:moveTo>
                  <a:pt x="58333" y="8333"/>
                </a:moveTo>
                <a:lnTo>
                  <a:pt x="58333" y="29167"/>
                </a:lnTo>
                <a:cubicBezTo>
                  <a:pt x="58333" y="31468"/>
                  <a:pt x="60199" y="33333"/>
                  <a:pt x="62500" y="33333"/>
                </a:cubicBezTo>
                <a:lnTo>
                  <a:pt x="83333" y="33333"/>
                </a:lnTo>
                <a:moveTo>
                  <a:pt x="41667" y="37500"/>
                </a:moveTo>
                <a:lnTo>
                  <a:pt x="33333" y="37500"/>
                </a:lnTo>
                <a:moveTo>
                  <a:pt x="66667" y="54167"/>
                </a:moveTo>
                <a:lnTo>
                  <a:pt x="33333" y="54167"/>
                </a:lnTo>
                <a:moveTo>
                  <a:pt x="66667" y="70833"/>
                </a:moveTo>
                <a:lnTo>
                  <a:pt x="33333" y="70833"/>
                </a:lnTo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954" name="Rectangle 14"/>
          <p:cNvSpPr/>
          <p:nvPr/>
        </p:nvSpPr>
        <p:spPr>
          <a:xfrm>
            <a:off x="1371600" y="5994400"/>
            <a:ext cx="10033000" cy="45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Answer form, row D1:  write your answer in Notes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1145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2C613433-3098-412C-8341-209F9FAF5C71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6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57" name="Rectangle 2"/>
          <p:cNvSpPr/>
          <p:nvPr/>
        </p:nvSpPr>
        <p:spPr>
          <a:xfrm>
            <a:off x="711200" y="508000"/>
            <a:ext cx="8255000" cy="812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D2. Who gets which emails?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958" name="Rectangle 3"/>
          <p:cNvSpPr/>
          <p:nvPr/>
        </p:nvSpPr>
        <p:spPr>
          <a:xfrm>
            <a:off x="9271000" y="508000"/>
            <a:ext cx="2286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Part D  |  18 of 20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959" name="Rectangle 4"/>
          <p:cNvSpPr/>
          <p:nvPr/>
        </p:nvSpPr>
        <p:spPr>
          <a:xfrm>
            <a:off x="762000" y="1422400"/>
            <a:ext cx="533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WHAT IT MEANS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960" name="Rectangle 5"/>
          <p:cNvSpPr/>
          <p:nvPr/>
        </p:nvSpPr>
        <p:spPr>
          <a:xfrm>
            <a:off x="762000" y="1701800"/>
            <a:ext cx="5334000" cy="609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1E2B3C"/>
                </a:solidFill>
              </a:rPr>
              <a:t>Which people receive the portal's email notifications, on the partner side and at DBGI.</a:t>
            </a:r>
            <a:endParaRPr sz="1400" b="0">
              <a:solidFill>
                <a:srgbClr val="1E2B3C"/>
              </a:solidFill>
            </a:endParaRPr>
          </a:p>
        </p:txBody>
      </p:sp>
      <p:sp>
        <p:nvSpPr>
          <p:cNvPr id="961" name="Rectangle 6"/>
          <p:cNvSpPr/>
          <p:nvPr/>
        </p:nvSpPr>
        <p:spPr>
          <a:xfrm>
            <a:off x="762000" y="2489200"/>
            <a:ext cx="5334000" cy="12446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62" name="Rectangle 7"/>
          <p:cNvSpPr/>
          <p:nvPr/>
        </p:nvSpPr>
        <p:spPr>
          <a:xfrm>
            <a:off x="965200" y="2616200"/>
            <a:ext cx="4953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THE PORTAL TODAY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963" name="Rectangle 8"/>
          <p:cNvSpPr/>
          <p:nvPr/>
        </p:nvSpPr>
        <p:spPr>
          <a:xfrm>
            <a:off x="965200" y="2895600"/>
            <a:ext cx="4978400" cy="787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Every active user at the partner company receives each notification. DBGI staff get no emails and work from the dashboard queues.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964" name="Rectangle 9"/>
          <p:cNvSpPr/>
          <p:nvPr/>
        </p:nvSpPr>
        <p:spPr>
          <a:xfrm>
            <a:off x="6477000" y="1422400"/>
            <a:ext cx="5080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CHOOSE ONE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965" name="Rectangle 10"/>
          <p:cNvSpPr/>
          <p:nvPr/>
        </p:nvSpPr>
        <p:spPr>
          <a:xfrm>
            <a:off x="6477000" y="17526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66" name="Oval 11"/>
          <p:cNvSpPr/>
          <p:nvPr/>
        </p:nvSpPr>
        <p:spPr>
          <a:xfrm>
            <a:off x="6629400" y="18288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967" name="Rectangle 12"/>
          <p:cNvSpPr/>
          <p:nvPr/>
        </p:nvSpPr>
        <p:spPr>
          <a:xfrm>
            <a:off x="7137400" y="18034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Keep today's rule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968" name="Rectangle 13"/>
          <p:cNvSpPr/>
          <p:nvPr/>
        </p:nvSpPr>
        <p:spPr>
          <a:xfrm>
            <a:off x="6477000" y="24130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69" name="Oval 14"/>
          <p:cNvSpPr/>
          <p:nvPr/>
        </p:nvSpPr>
        <p:spPr>
          <a:xfrm>
            <a:off x="6629400" y="24892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b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970" name="Rectangle 15"/>
          <p:cNvSpPr/>
          <p:nvPr/>
        </p:nvSpPr>
        <p:spPr>
          <a:xfrm>
            <a:off x="7137400" y="24638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Email only the person who submitted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971" name="Rectangle 16"/>
          <p:cNvSpPr/>
          <p:nvPr/>
        </p:nvSpPr>
        <p:spPr>
          <a:xfrm>
            <a:off x="6477000" y="3073400"/>
            <a:ext cx="5080000" cy="76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72" name="Oval 17"/>
          <p:cNvSpPr/>
          <p:nvPr/>
        </p:nvSpPr>
        <p:spPr>
          <a:xfrm>
            <a:off x="6629400" y="32639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c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973" name="Rectangle 18"/>
          <p:cNvSpPr/>
          <p:nvPr/>
        </p:nvSpPr>
        <p:spPr>
          <a:xfrm>
            <a:off x="7137400" y="3124200"/>
            <a:ext cx="4318000" cy="660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Also email DBGI reviewers when something needs action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974" name="Picture"/>
          <p:cNvSpPr/>
          <p:nvPr/>
        </p:nvSpPr>
        <p:spPr>
          <a:xfrm>
            <a:off x="6502400" y="40132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20833" y="12500"/>
                </a:moveTo>
                <a:lnTo>
                  <a:pt x="79167" y="12500"/>
                </a:lnTo>
                <a:cubicBezTo>
                  <a:pt x="83769" y="12500"/>
                  <a:pt x="87500" y="16231"/>
                  <a:pt x="87500" y="20833"/>
                </a:cubicBezTo>
                <a:lnTo>
                  <a:pt x="87500" y="79167"/>
                </a:lnTo>
                <a:cubicBezTo>
                  <a:pt x="87500" y="83769"/>
                  <a:pt x="83769" y="87500"/>
                  <a:pt x="79167" y="87500"/>
                </a:cubicBezTo>
                <a:lnTo>
                  <a:pt x="20833" y="87500"/>
                </a:lnTo>
                <a:cubicBezTo>
                  <a:pt x="16231" y="87500"/>
                  <a:pt x="12500" y="83769"/>
                  <a:pt x="12500" y="79167"/>
                </a:cubicBezTo>
                <a:lnTo>
                  <a:pt x="12500" y="20833"/>
                </a:lnTo>
                <a:cubicBezTo>
                  <a:pt x="12500" y="16231"/>
                  <a:pt x="16231" y="12500"/>
                  <a:pt x="20833" y="12500"/>
                </a:cubicBezTo>
                <a:close/>
                <a:moveTo>
                  <a:pt x="29167" y="37500"/>
                </a:moveTo>
                <a:cubicBezTo>
                  <a:pt x="29167" y="32898"/>
                  <a:pt x="32898" y="29167"/>
                  <a:pt x="37500" y="29167"/>
                </a:cubicBezTo>
                <a:cubicBezTo>
                  <a:pt x="42103" y="29167"/>
                  <a:pt x="45833" y="32898"/>
                  <a:pt x="45833" y="37500"/>
                </a:cubicBezTo>
                <a:cubicBezTo>
                  <a:pt x="45833" y="42103"/>
                  <a:pt x="42103" y="45833"/>
                  <a:pt x="37500" y="45833"/>
                </a:cubicBezTo>
                <a:cubicBezTo>
                  <a:pt x="32898" y="45833"/>
                  <a:pt x="29167" y="42103"/>
                  <a:pt x="29167" y="37500"/>
                </a:cubicBezTo>
                <a:close/>
                <a:moveTo>
                  <a:pt x="87500" y="62500"/>
                </a:moveTo>
                <a:lnTo>
                  <a:pt x="74642" y="49642"/>
                </a:lnTo>
                <a:cubicBezTo>
                  <a:pt x="71388" y="46388"/>
                  <a:pt x="66113" y="46388"/>
                  <a:pt x="62858" y="49642"/>
                </a:cubicBezTo>
                <a:lnTo>
                  <a:pt x="25000" y="87500"/>
                </a:lnTo>
              </a:path>
            </a:pathLst>
          </a:custGeom>
          <a:noFill/>
          <a:ln w="19050" cap="rnd">
            <a:solidFill>
              <a:srgbClr val="1B7FA6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975" name="Rectangle 20"/>
          <p:cNvSpPr/>
          <p:nvPr/>
        </p:nvSpPr>
        <p:spPr>
          <a:xfrm>
            <a:off x="6807200" y="3962400"/>
            <a:ext cx="4749800" cy="50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1B7FA6"/>
                </a:solidFill>
              </a:rPr>
              <a:t>See it in the walkthrough: slide 10, Notifications</a:t>
            </a:r>
            <a:endParaRPr sz="1200" b="0">
              <a:solidFill>
                <a:srgbClr val="1B7FA6"/>
              </a:solidFill>
            </a:endParaRPr>
          </a:p>
        </p:txBody>
      </p:sp>
      <p:sp>
        <p:nvSpPr>
          <p:cNvPr id="976" name="Rectangle 21"/>
          <p:cNvSpPr/>
          <p:nvPr/>
        </p:nvSpPr>
        <p:spPr>
          <a:xfrm>
            <a:off x="762000" y="5969000"/>
            <a:ext cx="10795000" cy="508000"/>
          </a:xfrm>
          <a:prstGeom prst="round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77" name="Document"/>
          <p:cNvSpPr/>
          <p:nvPr/>
        </p:nvSpPr>
        <p:spPr>
          <a:xfrm>
            <a:off x="965200" y="6083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25000" y="91667"/>
                </a:moveTo>
                <a:cubicBezTo>
                  <a:pt x="20398" y="91667"/>
                  <a:pt x="16667" y="87936"/>
                  <a:pt x="16667" y="83333"/>
                </a:cubicBezTo>
                <a:lnTo>
                  <a:pt x="16667" y="16667"/>
                </a:lnTo>
                <a:cubicBezTo>
                  <a:pt x="16667" y="12064"/>
                  <a:pt x="20398" y="8333"/>
                  <a:pt x="25000" y="8333"/>
                </a:cubicBezTo>
                <a:lnTo>
                  <a:pt x="58333" y="8333"/>
                </a:lnTo>
                <a:cubicBezTo>
                  <a:pt x="60998" y="8329"/>
                  <a:pt x="63553" y="9388"/>
                  <a:pt x="65433" y="11275"/>
                </a:cubicBezTo>
                <a:lnTo>
                  <a:pt x="80383" y="26225"/>
                </a:lnTo>
                <a:cubicBezTo>
                  <a:pt x="82275" y="28106"/>
                  <a:pt x="83338" y="30665"/>
                  <a:pt x="83333" y="33333"/>
                </a:cubicBezTo>
                <a:lnTo>
                  <a:pt x="83333" y="83333"/>
                </a:lnTo>
                <a:cubicBezTo>
                  <a:pt x="83333" y="87936"/>
                  <a:pt x="79603" y="91667"/>
                  <a:pt x="75000" y="91667"/>
                </a:cubicBezTo>
                <a:close/>
                <a:moveTo>
                  <a:pt x="58333" y="8333"/>
                </a:moveTo>
                <a:lnTo>
                  <a:pt x="58333" y="29167"/>
                </a:lnTo>
                <a:cubicBezTo>
                  <a:pt x="58333" y="31468"/>
                  <a:pt x="60199" y="33333"/>
                  <a:pt x="62500" y="33333"/>
                </a:cubicBezTo>
                <a:lnTo>
                  <a:pt x="83333" y="33333"/>
                </a:lnTo>
                <a:moveTo>
                  <a:pt x="41667" y="37500"/>
                </a:moveTo>
                <a:lnTo>
                  <a:pt x="33333" y="37500"/>
                </a:lnTo>
                <a:moveTo>
                  <a:pt x="66667" y="54167"/>
                </a:moveTo>
                <a:lnTo>
                  <a:pt x="33333" y="54167"/>
                </a:lnTo>
                <a:moveTo>
                  <a:pt x="66667" y="70833"/>
                </a:moveTo>
                <a:lnTo>
                  <a:pt x="33333" y="70833"/>
                </a:lnTo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978" name="Rectangle 23"/>
          <p:cNvSpPr/>
          <p:nvPr/>
        </p:nvSpPr>
        <p:spPr>
          <a:xfrm>
            <a:off x="1371600" y="5994400"/>
            <a:ext cx="10033000" cy="45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Answer form, row D2:  pick a choice, keep today, or write your own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1148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98BD73FC-224A-46D1-8C2A-CE27EA4C51CC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0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81" name="Rectangle 2"/>
          <p:cNvSpPr/>
          <p:nvPr/>
        </p:nvSpPr>
        <p:spPr>
          <a:xfrm>
            <a:off x="711200" y="508000"/>
            <a:ext cx="8255000" cy="812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D3. Records, backups, and recovery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982" name="Rectangle 3"/>
          <p:cNvSpPr/>
          <p:nvPr/>
        </p:nvSpPr>
        <p:spPr>
          <a:xfrm>
            <a:off x="9271000" y="508000"/>
            <a:ext cx="2286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Part D  |  19 of 20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983" name="Rectangle 4"/>
          <p:cNvSpPr/>
          <p:nvPr/>
        </p:nvSpPr>
        <p:spPr>
          <a:xfrm>
            <a:off x="762000" y="1422400"/>
            <a:ext cx="533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WHAT IT MEANS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984" name="Rectangle 5"/>
          <p:cNvSpPr/>
          <p:nvPr/>
        </p:nvSpPr>
        <p:spPr>
          <a:xfrm>
            <a:off x="762000" y="1701800"/>
            <a:ext cx="5334000" cy="609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1E2B3C"/>
                </a:solidFill>
              </a:rPr>
              <a:t>How long to keep old deals and files, and how quickly the portal must be back after a failure.</a:t>
            </a:r>
            <a:endParaRPr sz="1400" b="0">
              <a:solidFill>
                <a:srgbClr val="1E2B3C"/>
              </a:solidFill>
            </a:endParaRPr>
          </a:p>
        </p:txBody>
      </p:sp>
      <p:sp>
        <p:nvSpPr>
          <p:cNvPr id="985" name="Rectangle 6"/>
          <p:cNvSpPr/>
          <p:nvPr/>
        </p:nvSpPr>
        <p:spPr>
          <a:xfrm>
            <a:off x="762000" y="2489200"/>
            <a:ext cx="5334000" cy="1016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86" name="Rectangle 7"/>
          <p:cNvSpPr/>
          <p:nvPr/>
        </p:nvSpPr>
        <p:spPr>
          <a:xfrm>
            <a:off x="965200" y="2616200"/>
            <a:ext cx="4953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THE PORTAL TODAY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987" name="Rectangle 8"/>
          <p:cNvSpPr/>
          <p:nvPr/>
        </p:nvSpPr>
        <p:spPr>
          <a:xfrm>
            <a:off x="965200" y="2895600"/>
            <a:ext cx="4978400" cy="558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The portal is not in production yet. Nothing is deleted automatically, and no backup schedule exists.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988" name="Rectangle 9"/>
          <p:cNvSpPr/>
          <p:nvPr/>
        </p:nvSpPr>
        <p:spPr>
          <a:xfrm>
            <a:off x="6477000" y="1422400"/>
            <a:ext cx="5080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CHOOSE ONE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989" name="Rectangle 10"/>
          <p:cNvSpPr/>
          <p:nvPr/>
        </p:nvSpPr>
        <p:spPr>
          <a:xfrm>
            <a:off x="6477000" y="1752600"/>
            <a:ext cx="5080000" cy="76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90" name="Oval 11"/>
          <p:cNvSpPr/>
          <p:nvPr/>
        </p:nvSpPr>
        <p:spPr>
          <a:xfrm>
            <a:off x="6629400" y="19431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991" name="Rectangle 12"/>
          <p:cNvSpPr/>
          <p:nvPr/>
        </p:nvSpPr>
        <p:spPr>
          <a:xfrm>
            <a:off x="7137400" y="1803400"/>
            <a:ext cx="4318000" cy="660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Keep everything for 5 years, daily backups, back within one working day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992" name="Rectangle 13"/>
          <p:cNvSpPr/>
          <p:nvPr/>
        </p:nvSpPr>
        <p:spPr>
          <a:xfrm>
            <a:off x="6477000" y="26416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93" name="Oval 14"/>
          <p:cNvSpPr/>
          <p:nvPr/>
        </p:nvSpPr>
        <p:spPr>
          <a:xfrm>
            <a:off x="6629400" y="27178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b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994" name="Rectangle 15"/>
          <p:cNvSpPr/>
          <p:nvPr/>
        </p:nvSpPr>
        <p:spPr>
          <a:xfrm>
            <a:off x="7137400" y="26924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IT sets the targets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995" name="Rectangle 16"/>
          <p:cNvSpPr/>
          <p:nvPr/>
        </p:nvSpPr>
        <p:spPr>
          <a:xfrm>
            <a:off x="762000" y="5969000"/>
            <a:ext cx="10795000" cy="508000"/>
          </a:xfrm>
          <a:prstGeom prst="round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96" name="Document"/>
          <p:cNvSpPr/>
          <p:nvPr/>
        </p:nvSpPr>
        <p:spPr>
          <a:xfrm>
            <a:off x="965200" y="6083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25000" y="91667"/>
                </a:moveTo>
                <a:cubicBezTo>
                  <a:pt x="20398" y="91667"/>
                  <a:pt x="16667" y="87936"/>
                  <a:pt x="16667" y="83333"/>
                </a:cubicBezTo>
                <a:lnTo>
                  <a:pt x="16667" y="16667"/>
                </a:lnTo>
                <a:cubicBezTo>
                  <a:pt x="16667" y="12064"/>
                  <a:pt x="20398" y="8333"/>
                  <a:pt x="25000" y="8333"/>
                </a:cubicBezTo>
                <a:lnTo>
                  <a:pt x="58333" y="8333"/>
                </a:lnTo>
                <a:cubicBezTo>
                  <a:pt x="60998" y="8329"/>
                  <a:pt x="63553" y="9388"/>
                  <a:pt x="65433" y="11275"/>
                </a:cubicBezTo>
                <a:lnTo>
                  <a:pt x="80383" y="26225"/>
                </a:lnTo>
                <a:cubicBezTo>
                  <a:pt x="82275" y="28106"/>
                  <a:pt x="83338" y="30665"/>
                  <a:pt x="83333" y="33333"/>
                </a:cubicBezTo>
                <a:lnTo>
                  <a:pt x="83333" y="83333"/>
                </a:lnTo>
                <a:cubicBezTo>
                  <a:pt x="83333" y="87936"/>
                  <a:pt x="79603" y="91667"/>
                  <a:pt x="75000" y="91667"/>
                </a:cubicBezTo>
                <a:close/>
                <a:moveTo>
                  <a:pt x="58333" y="8333"/>
                </a:moveTo>
                <a:lnTo>
                  <a:pt x="58333" y="29167"/>
                </a:lnTo>
                <a:cubicBezTo>
                  <a:pt x="58333" y="31468"/>
                  <a:pt x="60199" y="33333"/>
                  <a:pt x="62500" y="33333"/>
                </a:cubicBezTo>
                <a:lnTo>
                  <a:pt x="83333" y="33333"/>
                </a:lnTo>
                <a:moveTo>
                  <a:pt x="41667" y="37500"/>
                </a:moveTo>
                <a:lnTo>
                  <a:pt x="33333" y="37500"/>
                </a:lnTo>
                <a:moveTo>
                  <a:pt x="66667" y="54167"/>
                </a:moveTo>
                <a:lnTo>
                  <a:pt x="33333" y="54167"/>
                </a:lnTo>
                <a:moveTo>
                  <a:pt x="66667" y="70833"/>
                </a:moveTo>
                <a:lnTo>
                  <a:pt x="33333" y="70833"/>
                </a:lnTo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997" name="Rectangle 18"/>
          <p:cNvSpPr/>
          <p:nvPr/>
        </p:nvSpPr>
        <p:spPr>
          <a:xfrm>
            <a:off x="1371600" y="5994400"/>
            <a:ext cx="10033000" cy="45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Answer form, row D3:  pick a choice, keep today, or write your own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1151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CB3A740-2E9C-452E-80DC-13F30A3E5EBB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1000" name="Rectangle 2"/>
          <p:cNvSpPr/>
          <p:nvPr/>
        </p:nvSpPr>
        <p:spPr>
          <a:xfrm>
            <a:off x="711200" y="508000"/>
            <a:ext cx="8255000" cy="812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D4. Business hours and holidays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1001" name="Rectangle 3"/>
          <p:cNvSpPr/>
          <p:nvPr/>
        </p:nvSpPr>
        <p:spPr>
          <a:xfrm>
            <a:off x="9271000" y="508000"/>
            <a:ext cx="2286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Part D  |  20 of 20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1002" name="Rectangle 4"/>
          <p:cNvSpPr/>
          <p:nvPr/>
        </p:nvSpPr>
        <p:spPr>
          <a:xfrm>
            <a:off x="762000" y="1422400"/>
            <a:ext cx="533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WHAT IT MEANS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1003" name="Rectangle 5"/>
          <p:cNvSpPr/>
          <p:nvPr/>
        </p:nvSpPr>
        <p:spPr>
          <a:xfrm>
            <a:off x="762000" y="1701800"/>
            <a:ext cx="5334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1E2B3C"/>
                </a:solidFill>
              </a:rPr>
              <a:t>Deadlines like "one working day" need a definition.</a:t>
            </a:r>
            <a:endParaRPr sz="1400" b="0">
              <a:solidFill>
                <a:srgbClr val="1E2B3C"/>
              </a:solidFill>
            </a:endParaRPr>
          </a:p>
        </p:txBody>
      </p:sp>
      <p:sp>
        <p:nvSpPr>
          <p:cNvPr id="1004" name="Rectangle 6"/>
          <p:cNvSpPr/>
          <p:nvPr/>
        </p:nvSpPr>
        <p:spPr>
          <a:xfrm>
            <a:off x="762000" y="2235200"/>
            <a:ext cx="5334000" cy="12446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1005" name="Rectangle 7"/>
          <p:cNvSpPr/>
          <p:nvPr/>
        </p:nvSpPr>
        <p:spPr>
          <a:xfrm>
            <a:off x="965200" y="2362200"/>
            <a:ext cx="4953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THE PORTAL TODAY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1006" name="Rectangle 8"/>
          <p:cNvSpPr/>
          <p:nvPr/>
        </p:nvSpPr>
        <p:spPr>
          <a:xfrm>
            <a:off x="965200" y="2641600"/>
            <a:ext cx="4978400" cy="787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The portal uses Philippine time and counts calendar days (for example, a renewal adds 30 calendar days). There are no working-day or holiday rules.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1007" name="Rectangle 9"/>
          <p:cNvSpPr/>
          <p:nvPr/>
        </p:nvSpPr>
        <p:spPr>
          <a:xfrm>
            <a:off x="6477000" y="1422400"/>
            <a:ext cx="5080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CHOOSE ONE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1008" name="Rectangle 10"/>
          <p:cNvSpPr/>
          <p:nvPr/>
        </p:nvSpPr>
        <p:spPr>
          <a:xfrm>
            <a:off x="6477000" y="1752600"/>
            <a:ext cx="5080000" cy="76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1009" name="Oval 11"/>
          <p:cNvSpPr/>
          <p:nvPr/>
        </p:nvSpPr>
        <p:spPr>
          <a:xfrm>
            <a:off x="6629400" y="19431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1010" name="Rectangle 12"/>
          <p:cNvSpPr/>
          <p:nvPr/>
        </p:nvSpPr>
        <p:spPr>
          <a:xfrm>
            <a:off x="7137400" y="1803400"/>
            <a:ext cx="4318000" cy="660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Monday to Friday, Philippine public holidays excluded, 5:00 PM cutoff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1011" name="Rectangle 13"/>
          <p:cNvSpPr/>
          <p:nvPr/>
        </p:nvSpPr>
        <p:spPr>
          <a:xfrm>
            <a:off x="6477000" y="26416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1012" name="Oval 14"/>
          <p:cNvSpPr/>
          <p:nvPr/>
        </p:nvSpPr>
        <p:spPr>
          <a:xfrm>
            <a:off x="6629400" y="27178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b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1013" name="Rectangle 15"/>
          <p:cNvSpPr/>
          <p:nvPr/>
        </p:nvSpPr>
        <p:spPr>
          <a:xfrm>
            <a:off x="7137400" y="26924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Calendar days only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1014" name="Rectangle 16"/>
          <p:cNvSpPr/>
          <p:nvPr/>
        </p:nvSpPr>
        <p:spPr>
          <a:xfrm>
            <a:off x="762000" y="5969000"/>
            <a:ext cx="10795000" cy="508000"/>
          </a:xfrm>
          <a:prstGeom prst="round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1015" name="Document"/>
          <p:cNvSpPr/>
          <p:nvPr/>
        </p:nvSpPr>
        <p:spPr>
          <a:xfrm>
            <a:off x="965200" y="6083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25000" y="91667"/>
                </a:moveTo>
                <a:cubicBezTo>
                  <a:pt x="20398" y="91667"/>
                  <a:pt x="16667" y="87936"/>
                  <a:pt x="16667" y="83333"/>
                </a:cubicBezTo>
                <a:lnTo>
                  <a:pt x="16667" y="16667"/>
                </a:lnTo>
                <a:cubicBezTo>
                  <a:pt x="16667" y="12064"/>
                  <a:pt x="20398" y="8333"/>
                  <a:pt x="25000" y="8333"/>
                </a:cubicBezTo>
                <a:lnTo>
                  <a:pt x="58333" y="8333"/>
                </a:lnTo>
                <a:cubicBezTo>
                  <a:pt x="60998" y="8329"/>
                  <a:pt x="63553" y="9388"/>
                  <a:pt x="65433" y="11275"/>
                </a:cubicBezTo>
                <a:lnTo>
                  <a:pt x="80383" y="26225"/>
                </a:lnTo>
                <a:cubicBezTo>
                  <a:pt x="82275" y="28106"/>
                  <a:pt x="83338" y="30665"/>
                  <a:pt x="83333" y="33333"/>
                </a:cubicBezTo>
                <a:lnTo>
                  <a:pt x="83333" y="83333"/>
                </a:lnTo>
                <a:cubicBezTo>
                  <a:pt x="83333" y="87936"/>
                  <a:pt x="79603" y="91667"/>
                  <a:pt x="75000" y="91667"/>
                </a:cubicBezTo>
                <a:close/>
                <a:moveTo>
                  <a:pt x="58333" y="8333"/>
                </a:moveTo>
                <a:lnTo>
                  <a:pt x="58333" y="29167"/>
                </a:lnTo>
                <a:cubicBezTo>
                  <a:pt x="58333" y="31468"/>
                  <a:pt x="60199" y="33333"/>
                  <a:pt x="62500" y="33333"/>
                </a:cubicBezTo>
                <a:lnTo>
                  <a:pt x="83333" y="33333"/>
                </a:lnTo>
                <a:moveTo>
                  <a:pt x="41667" y="37500"/>
                </a:moveTo>
                <a:lnTo>
                  <a:pt x="33333" y="37500"/>
                </a:lnTo>
                <a:moveTo>
                  <a:pt x="66667" y="54167"/>
                </a:moveTo>
                <a:lnTo>
                  <a:pt x="33333" y="54167"/>
                </a:lnTo>
                <a:moveTo>
                  <a:pt x="66667" y="70833"/>
                </a:moveTo>
                <a:lnTo>
                  <a:pt x="33333" y="70833"/>
                </a:lnTo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1016" name="Rectangle 18"/>
          <p:cNvSpPr/>
          <p:nvPr/>
        </p:nvSpPr>
        <p:spPr>
          <a:xfrm>
            <a:off x="1371600" y="5994400"/>
            <a:ext cx="10033000" cy="45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Answer form, row D4:  pick a choice, keep today, or write your own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1154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3EBE9A9-91FE-421B-8E36-B043DC6B754E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8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1019" name="Rectangle 2"/>
          <p:cNvSpPr/>
          <p:nvPr/>
        </p:nvSpPr>
        <p:spPr>
          <a:xfrm>
            <a:off x="711200" y="533400"/>
            <a:ext cx="10795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600" b="1">
                <a:solidFill>
                  <a:srgbClr val="12384D"/>
                </a:solidFill>
              </a:rPr>
              <a:t>Your reply</a:t>
            </a:r>
            <a:endParaRPr sz="2600" b="1">
              <a:solidFill>
                <a:srgbClr val="12384D"/>
              </a:solidFill>
            </a:endParaRPr>
          </a:p>
        </p:txBody>
      </p:sp>
      <p:sp>
        <p:nvSpPr>
          <p:cNvPr id="1020" name="Rectangle 3"/>
          <p:cNvSpPr/>
          <p:nvPr/>
        </p:nvSpPr>
        <p:spPr>
          <a:xfrm>
            <a:off x="736600" y="1143000"/>
            <a:ext cx="10795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5B6B7A"/>
                </a:solidFill>
              </a:rPr>
              <a:t>Easiest: fill in the Word answer form. Or copy these lines into an email.</a:t>
            </a:r>
            <a:endParaRPr sz="1400" b="0">
              <a:solidFill>
                <a:srgbClr val="5B6B7A"/>
              </a:solidFill>
            </a:endParaRPr>
          </a:p>
        </p:txBody>
      </p:sp>
      <p:sp>
        <p:nvSpPr>
          <p:cNvPr id="1021" name="Rectangle 4"/>
          <p:cNvSpPr/>
          <p:nvPr/>
        </p:nvSpPr>
        <p:spPr>
          <a:xfrm>
            <a:off x="762000" y="1651000"/>
            <a:ext cx="3429000" cy="2667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0" tIns="17780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2384D"/>
                </a:solidFill>
              </a:rPr>
              <a:t>A1:</a:t>
            </a:r>
            <a:endParaRPr sz="1600" b="1">
              <a:solidFill>
                <a:srgbClr val="12384D"/>
              </a:solidFill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2384D"/>
                </a:solidFill>
              </a:rPr>
              <a:t>A2:</a:t>
            </a:r>
            <a:endParaRPr sz="1600" b="1">
              <a:solidFill>
                <a:srgbClr val="12384D"/>
              </a:solidFill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2384D"/>
                </a:solidFill>
              </a:rPr>
              <a:t>A3:</a:t>
            </a:r>
            <a:endParaRPr sz="1600" b="1">
              <a:solidFill>
                <a:srgbClr val="12384D"/>
              </a:solidFill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2384D"/>
                </a:solidFill>
              </a:rPr>
              <a:t>A4:</a:t>
            </a:r>
            <a:endParaRPr sz="1600" b="1">
              <a:solidFill>
                <a:srgbClr val="12384D"/>
              </a:solidFill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2384D"/>
                </a:solidFill>
              </a:rPr>
              <a:t>B1:</a:t>
            </a:r>
            <a:endParaRPr sz="1600" b="1">
              <a:solidFill>
                <a:srgbClr val="12384D"/>
              </a:solidFill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2384D"/>
                </a:solidFill>
              </a:rPr>
              <a:t>B2:</a:t>
            </a:r>
            <a:endParaRPr sz="1600" b="1">
              <a:solidFill>
                <a:srgbClr val="12384D"/>
              </a:solidFill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2384D"/>
                </a:solidFill>
              </a:rPr>
              <a:t>B3:</a:t>
            </a:r>
            <a:endParaRPr sz="1600" b="1">
              <a:solidFill>
                <a:srgbClr val="12384D"/>
              </a:solidFill>
            </a:endParaRPr>
          </a:p>
        </p:txBody>
      </p:sp>
      <p:sp>
        <p:nvSpPr>
          <p:cNvPr id="1022" name="Rectangle 5"/>
          <p:cNvSpPr/>
          <p:nvPr/>
        </p:nvSpPr>
        <p:spPr>
          <a:xfrm>
            <a:off x="4445000" y="1651000"/>
            <a:ext cx="3429000" cy="2667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0" tIns="17780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2384D"/>
                </a:solidFill>
              </a:rPr>
              <a:t>B4:</a:t>
            </a:r>
            <a:endParaRPr sz="1600" b="1">
              <a:solidFill>
                <a:srgbClr val="12384D"/>
              </a:solidFill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2384D"/>
                </a:solidFill>
              </a:rPr>
              <a:t>B5:</a:t>
            </a:r>
            <a:endParaRPr sz="1600" b="1">
              <a:solidFill>
                <a:srgbClr val="12384D"/>
              </a:solidFill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2384D"/>
                </a:solidFill>
              </a:rPr>
              <a:t>B6:</a:t>
            </a:r>
            <a:endParaRPr sz="1600" b="1">
              <a:solidFill>
                <a:srgbClr val="12384D"/>
              </a:solidFill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2384D"/>
                </a:solidFill>
              </a:rPr>
              <a:t>B7:</a:t>
            </a:r>
            <a:endParaRPr sz="1600" b="1">
              <a:solidFill>
                <a:srgbClr val="12384D"/>
              </a:solidFill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2384D"/>
                </a:solidFill>
              </a:rPr>
              <a:t>C1:</a:t>
            </a:r>
            <a:endParaRPr sz="1600" b="1">
              <a:solidFill>
                <a:srgbClr val="12384D"/>
              </a:solidFill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2384D"/>
                </a:solidFill>
              </a:rPr>
              <a:t>C2:</a:t>
            </a:r>
            <a:endParaRPr sz="1600" b="1">
              <a:solidFill>
                <a:srgbClr val="12384D"/>
              </a:solidFill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2384D"/>
                </a:solidFill>
              </a:rPr>
              <a:t>C3:</a:t>
            </a:r>
            <a:endParaRPr sz="1600" b="1">
              <a:solidFill>
                <a:srgbClr val="12384D"/>
              </a:solidFill>
            </a:endParaRPr>
          </a:p>
        </p:txBody>
      </p:sp>
      <p:sp>
        <p:nvSpPr>
          <p:cNvPr id="1023" name="Rectangle 6"/>
          <p:cNvSpPr/>
          <p:nvPr/>
        </p:nvSpPr>
        <p:spPr>
          <a:xfrm>
            <a:off x="8128000" y="1651000"/>
            <a:ext cx="3429000" cy="2667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0" tIns="17780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2384D"/>
                </a:solidFill>
              </a:rPr>
              <a:t>C4:</a:t>
            </a:r>
            <a:endParaRPr sz="1600" b="1">
              <a:solidFill>
                <a:srgbClr val="12384D"/>
              </a:solidFill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2384D"/>
                </a:solidFill>
              </a:rPr>
              <a:t>C5:</a:t>
            </a:r>
            <a:endParaRPr sz="1600" b="1">
              <a:solidFill>
                <a:srgbClr val="12384D"/>
              </a:solidFill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2384D"/>
                </a:solidFill>
              </a:rPr>
              <a:t>D1:</a:t>
            </a:r>
            <a:endParaRPr sz="1600" b="1">
              <a:solidFill>
                <a:srgbClr val="12384D"/>
              </a:solidFill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2384D"/>
                </a:solidFill>
              </a:rPr>
              <a:t>D2:</a:t>
            </a:r>
            <a:endParaRPr sz="1600" b="1">
              <a:solidFill>
                <a:srgbClr val="12384D"/>
              </a:solidFill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2384D"/>
                </a:solidFill>
              </a:rPr>
              <a:t>D3:</a:t>
            </a:r>
            <a:endParaRPr sz="1600" b="1">
              <a:solidFill>
                <a:srgbClr val="12384D"/>
              </a:solidFill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2384D"/>
                </a:solidFill>
              </a:rPr>
              <a:t>D4:</a:t>
            </a:r>
            <a:endParaRPr sz="1600" b="1">
              <a:solidFill>
                <a:srgbClr val="12384D"/>
              </a:solidFill>
            </a:endParaRPr>
          </a:p>
        </p:txBody>
      </p:sp>
      <p:sp>
        <p:nvSpPr>
          <p:cNvPr id="1024" name="Rectangle 7"/>
          <p:cNvSpPr/>
          <p:nvPr/>
        </p:nvSpPr>
        <p:spPr>
          <a:xfrm>
            <a:off x="762000" y="4699000"/>
            <a:ext cx="10795000" cy="635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58800" rIns="177800" anchor="ctr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"DBGI Portal Answer Form" (Word) has a drop-down for each question. Save it and send it back.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1025" name="Document"/>
          <p:cNvSpPr/>
          <p:nvPr/>
        </p:nvSpPr>
        <p:spPr>
          <a:xfrm>
            <a:off x="914400" y="48768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25000" y="91667"/>
                </a:moveTo>
                <a:cubicBezTo>
                  <a:pt x="20398" y="91667"/>
                  <a:pt x="16667" y="87936"/>
                  <a:pt x="16667" y="83333"/>
                </a:cubicBezTo>
                <a:lnTo>
                  <a:pt x="16667" y="16667"/>
                </a:lnTo>
                <a:cubicBezTo>
                  <a:pt x="16667" y="12064"/>
                  <a:pt x="20398" y="8333"/>
                  <a:pt x="25000" y="8333"/>
                </a:cubicBezTo>
                <a:lnTo>
                  <a:pt x="58333" y="8333"/>
                </a:lnTo>
                <a:cubicBezTo>
                  <a:pt x="60998" y="8329"/>
                  <a:pt x="63553" y="9388"/>
                  <a:pt x="65433" y="11275"/>
                </a:cubicBezTo>
                <a:lnTo>
                  <a:pt x="80383" y="26225"/>
                </a:lnTo>
                <a:cubicBezTo>
                  <a:pt x="82275" y="28106"/>
                  <a:pt x="83338" y="30665"/>
                  <a:pt x="83333" y="33333"/>
                </a:cubicBezTo>
                <a:lnTo>
                  <a:pt x="83333" y="83333"/>
                </a:lnTo>
                <a:cubicBezTo>
                  <a:pt x="83333" y="87936"/>
                  <a:pt x="79603" y="91667"/>
                  <a:pt x="75000" y="91667"/>
                </a:cubicBezTo>
                <a:close/>
                <a:moveTo>
                  <a:pt x="58333" y="8333"/>
                </a:moveTo>
                <a:lnTo>
                  <a:pt x="58333" y="29167"/>
                </a:lnTo>
                <a:cubicBezTo>
                  <a:pt x="58333" y="31468"/>
                  <a:pt x="60199" y="33333"/>
                  <a:pt x="62500" y="33333"/>
                </a:cubicBezTo>
                <a:lnTo>
                  <a:pt x="83333" y="33333"/>
                </a:lnTo>
                <a:moveTo>
                  <a:pt x="41667" y="37500"/>
                </a:moveTo>
                <a:lnTo>
                  <a:pt x="33333" y="37500"/>
                </a:lnTo>
                <a:moveTo>
                  <a:pt x="66667" y="54167"/>
                </a:moveTo>
                <a:lnTo>
                  <a:pt x="33333" y="54167"/>
                </a:lnTo>
                <a:moveTo>
                  <a:pt x="66667" y="70833"/>
                </a:moveTo>
                <a:lnTo>
                  <a:pt x="33333" y="70833"/>
                </a:lnTo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1157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192D79B1-2CDC-46B0-8633-EA8EBCBFA355}" type="slidenum">
              <a:rPr/>
              <a:t>‹#›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Harbor">
  <a:themeElements>
    <a:clrScheme name="Harbor">
      <a:dk1>
        <a:srgbClr val="0B1F2A"/>
      </a:dk1>
      <a:lt1>
        <a:srgbClr val="FFFFFF"/>
      </a:lt1>
      <a:dk2>
        <a:srgbClr val="12384D"/>
      </a:dk2>
      <a:lt2>
        <a:srgbClr val="E4EEF2"/>
      </a:lt2>
      <a:accent1>
        <a:srgbClr val="1B7FA6"/>
      </a:accent1>
      <a:accent2>
        <a:srgbClr val="36B3A8"/>
      </a:accent2>
      <a:accent3>
        <a:srgbClr val="F2C14E"/>
      </a:accent3>
      <a:accent4>
        <a:srgbClr val="F78154"/>
      </a:accent4>
      <a:accent5>
        <a:srgbClr val="5D576B"/>
      </a:accent5>
      <a:accent6>
        <a:srgbClr val="8AA29E"/>
      </a:accent6>
      <a:hlink>
        <a:srgbClr val="1B7FA6"/>
      </a:hlink>
      <a:folHlink>
        <a:srgbClr val="5D576B"/>
      </a:folHlink>
    </a:clrScheme>
    <a:fontScheme name="Harbor">
      <a:majorFont>
        <a:latin typeface="Merriweather"/>
        <a:ea typeface=""/>
        <a:cs typeface=""/>
      </a:majorFont>
      <a:minorFont>
        <a:latin typeface="Open Sans"/>
        <a:ea typeface=""/>
        <a:cs typeface=""/>
      </a:minorFont>
    </a:fontScheme>
    <a:fmtScheme name="DeckCraft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3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lumMod val="105000"/>
                <a:satMod val="103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</a:gradFill>
      </a:fillStyleLst>
      <a:lnStyleLst>
        <a:ln w="9525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76200" dist="38100" dir="5400000" algn="t" rotWithShape="0">
              <a:srgbClr val="000000">
                <a:alpha val="4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lumMod val="102000"/>
                <a:satMod val="103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DeckCraft</Application>
  <Slides>44</Slides>
  <Notes>0</Notes>
  <HiddenSlides>0</Hidden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Using the DBGI Portal</dc:title>
</cp:coreProperties>
</file>