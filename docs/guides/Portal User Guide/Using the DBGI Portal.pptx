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theme" Target="theme/theme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Harb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762000" y="1778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1" name="Rectangle 2"/>
          <p:cNvSpPr/>
          <p:nvPr/>
        </p:nvSpPr>
        <p:spPr>
          <a:xfrm>
            <a:off x="711200" y="2032000"/>
            <a:ext cx="10922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Using the DBGI Project Registration Portal</a:t>
            </a:r>
            <a:endParaRPr sz="4000" b="1">
              <a:solidFill>
                <a:srgbClr val="FFFFFF"/>
              </a:solidFill>
            </a:endParaRPr>
          </a:p>
        </p:txBody>
      </p:sp>
      <p:sp>
        <p:nvSpPr>
          <p:cNvPr id="262" name="Rectangle 3"/>
          <p:cNvSpPr/>
          <p:nvPr/>
        </p:nvSpPr>
        <p:spPr>
          <a:xfrm>
            <a:off x="736600" y="3454400"/>
            <a:ext cx="10668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100" b="0">
                <a:solidFill>
                  <a:srgbClr val="B9D4E0"/>
                </a:solidFill>
              </a:rPr>
              <a:t>One deal, from registration to approved price, with real screens</a:t>
            </a:r>
            <a:endParaRPr sz="2100" b="0">
              <a:solidFill>
                <a:srgbClr val="B9D4E0"/>
              </a:solidFill>
            </a:endParaRPr>
          </a:p>
        </p:txBody>
      </p:sp>
      <p:sp>
        <p:nvSpPr>
          <p:cNvPr id="263" name="Rectangle 4"/>
          <p:cNvSpPr/>
          <p:nvPr/>
        </p:nvSpPr>
        <p:spPr>
          <a:xfrm>
            <a:off x="736600" y="5588000"/>
            <a:ext cx="10668000" cy="38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8FB3C4"/>
                </a:solidFill>
              </a:rPr>
              <a:t>Walkthrough for company users and DBGI administrators, then questions for DBGI  |  2026-10-28</a:t>
            </a:r>
            <a:endParaRPr sz="1400" b="0">
              <a:solidFill>
                <a:srgbClr val="8FB3C4"/>
              </a:solidFill>
            </a:endParaRPr>
          </a:p>
        </p:txBody>
      </p:sp>
      <p:sp>
        <p:nvSpPr>
          <p:cNvPr id="101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4E0D67-8901-4D8D-881D-3D861B2E5A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Two kinds of users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6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Everyone signs in at the same portal, but sees different screens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68" name="Rectangle 4"/>
          <p:cNvSpPr/>
          <p:nvPr/>
        </p:nvSpPr>
        <p:spPr>
          <a:xfrm>
            <a:off x="7620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9" name="Rectangle 5"/>
          <p:cNvSpPr/>
          <p:nvPr/>
        </p:nvSpPr>
        <p:spPr>
          <a:xfrm>
            <a:off x="762000" y="1714500"/>
            <a:ext cx="5270500" cy="1016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0" name="Oval 6"/>
          <p:cNvSpPr/>
          <p:nvPr/>
        </p:nvSpPr>
        <p:spPr>
          <a:xfrm>
            <a:off x="1066800" y="2095500"/>
            <a:ext cx="711200" cy="7112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1" name="Briefcase"/>
          <p:cNvSpPr/>
          <p:nvPr/>
        </p:nvSpPr>
        <p:spPr>
          <a:xfrm>
            <a:off x="12446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3333"/>
                </a:moveTo>
                <a:lnTo>
                  <a:pt x="66667" y="16667"/>
                </a:lnTo>
                <a:cubicBezTo>
                  <a:pt x="66667" y="12064"/>
                  <a:pt x="62936" y="8333"/>
                  <a:pt x="58333" y="8333"/>
                </a:cubicBezTo>
                <a:lnTo>
                  <a:pt x="41667" y="8333"/>
                </a:lnTo>
                <a:cubicBezTo>
                  <a:pt x="37064" y="8333"/>
                  <a:pt x="33333" y="12064"/>
                  <a:pt x="33333" y="16667"/>
                </a:cubicBezTo>
                <a:lnTo>
                  <a:pt x="33333" y="83333"/>
                </a:lnTo>
                <a:moveTo>
                  <a:pt x="16667" y="25000"/>
                </a:moveTo>
                <a:lnTo>
                  <a:pt x="83333" y="25000"/>
                </a:lnTo>
                <a:cubicBezTo>
                  <a:pt x="87936" y="25000"/>
                  <a:pt x="91667" y="28731"/>
                  <a:pt x="91667" y="33333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33333"/>
                </a:lnTo>
                <a:cubicBezTo>
                  <a:pt x="8333" y="28731"/>
                  <a:pt x="12064" y="25000"/>
                  <a:pt x="16667" y="25000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2" name="Rectangle 8"/>
          <p:cNvSpPr/>
          <p:nvPr/>
        </p:nvSpPr>
        <p:spPr>
          <a:xfrm>
            <a:off x="19812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Company user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73" name="Rectangle 9"/>
          <p:cNvSpPr/>
          <p:nvPr/>
        </p:nvSpPr>
        <p:spPr>
          <a:xfrm>
            <a:off x="10668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a partner dealer.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Registers deals, answers DBGI's questions, and checks decisions and approved prices.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74" name="Rectangle 10"/>
          <p:cNvSpPr/>
          <p:nvPr/>
        </p:nvSpPr>
        <p:spPr>
          <a:xfrm>
            <a:off x="10668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Registrations, Notifications, Rankings, Help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75" name="Rectangle 11"/>
          <p:cNvSpPr/>
          <p:nvPr/>
        </p:nvSpPr>
        <p:spPr>
          <a:xfrm>
            <a:off x="62865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6" name="Rectangle 12"/>
          <p:cNvSpPr/>
          <p:nvPr/>
        </p:nvSpPr>
        <p:spPr>
          <a:xfrm>
            <a:off x="6286500" y="1714500"/>
            <a:ext cx="5270500" cy="1016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7" name="Oval 13"/>
          <p:cNvSpPr/>
          <p:nvPr/>
        </p:nvSpPr>
        <p:spPr>
          <a:xfrm>
            <a:off x="6591300" y="2095500"/>
            <a:ext cx="711200" cy="7112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8" name="Building"/>
          <p:cNvSpPr/>
          <p:nvPr/>
        </p:nvSpPr>
        <p:spPr>
          <a:xfrm>
            <a:off x="67691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50000" y="41667"/>
                </a:moveTo>
                <a:lnTo>
                  <a:pt x="50042" y="41667"/>
                </a:lnTo>
                <a:moveTo>
                  <a:pt x="50000" y="58333"/>
                </a:moveTo>
                <a:lnTo>
                  <a:pt x="50042" y="58333"/>
                </a:lnTo>
                <a:moveTo>
                  <a:pt x="50000" y="25000"/>
                </a:moveTo>
                <a:lnTo>
                  <a:pt x="50042" y="25000"/>
                </a:lnTo>
                <a:moveTo>
                  <a:pt x="66667" y="41667"/>
                </a:moveTo>
                <a:lnTo>
                  <a:pt x="66708" y="41667"/>
                </a:lnTo>
                <a:moveTo>
                  <a:pt x="66667" y="58333"/>
                </a:moveTo>
                <a:lnTo>
                  <a:pt x="66708" y="58333"/>
                </a:lnTo>
                <a:moveTo>
                  <a:pt x="66667" y="25000"/>
                </a:moveTo>
                <a:lnTo>
                  <a:pt x="66708" y="25000"/>
                </a:lnTo>
                <a:moveTo>
                  <a:pt x="33333" y="41667"/>
                </a:moveTo>
                <a:lnTo>
                  <a:pt x="33375" y="41667"/>
                </a:lnTo>
                <a:moveTo>
                  <a:pt x="33333" y="58333"/>
                </a:moveTo>
                <a:lnTo>
                  <a:pt x="33375" y="58333"/>
                </a:lnTo>
                <a:moveTo>
                  <a:pt x="33333" y="25000"/>
                </a:moveTo>
                <a:lnTo>
                  <a:pt x="33375" y="25000"/>
                </a:lnTo>
                <a:moveTo>
                  <a:pt x="37500" y="91667"/>
                </a:moveTo>
                <a:lnTo>
                  <a:pt x="37500" y="79167"/>
                </a:lnTo>
                <a:cubicBezTo>
                  <a:pt x="37500" y="76865"/>
                  <a:pt x="39365" y="75000"/>
                  <a:pt x="41667" y="75000"/>
                </a:cubicBezTo>
                <a:lnTo>
                  <a:pt x="58333" y="75000"/>
                </a:lnTo>
                <a:cubicBezTo>
                  <a:pt x="60635" y="75000"/>
                  <a:pt x="62500" y="76865"/>
                  <a:pt x="62500" y="79167"/>
                </a:cubicBezTo>
                <a:lnTo>
                  <a:pt x="62500" y="91667"/>
                </a:lnTo>
                <a:moveTo>
                  <a:pt x="25000" y="8333"/>
                </a:moveTo>
                <a:lnTo>
                  <a:pt x="75000" y="8333"/>
                </a:lnTo>
                <a:cubicBezTo>
                  <a:pt x="79603" y="8333"/>
                  <a:pt x="83333" y="12064"/>
                  <a:pt x="83333" y="16667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lnTo>
                  <a:pt x="25000" y="91667"/>
                </a:ln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9" name="Rectangle 15"/>
          <p:cNvSpPr/>
          <p:nvPr/>
        </p:nvSpPr>
        <p:spPr>
          <a:xfrm>
            <a:off x="75057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DBGI administrator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80" name="Rectangle 16"/>
          <p:cNvSpPr/>
          <p:nvPr/>
        </p:nvSpPr>
        <p:spPr>
          <a:xfrm>
            <a:off x="65913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DBGI.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Reviews every registration, decides matches and prices, and keeps master data clean.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81" name="Rectangle 17"/>
          <p:cNvSpPr/>
          <p:nvPr/>
        </p:nvSpPr>
        <p:spPr>
          <a:xfrm>
            <a:off x="65913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 pages and the Administration area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82" name="Rectangle 18"/>
          <p:cNvSpPr/>
          <p:nvPr/>
        </p:nvSpPr>
        <p:spPr>
          <a:xfrm>
            <a:off x="762000" y="5778500"/>
            <a:ext cx="10795000" cy="584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slide that follows shows a chip in the top-right corner saying who does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283" name="Info"/>
          <p:cNvSpPr/>
          <p:nvPr/>
        </p:nvSpPr>
        <p:spPr>
          <a:xfrm>
            <a:off x="914400" y="5930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1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266782-2A85-475A-865E-BAD95958CD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The journey we will follow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 real registration, DBGI-000012, created in the portal's test environment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88" name="Rectangle 4"/>
          <p:cNvSpPr/>
          <p:nvPr/>
        </p:nvSpPr>
        <p:spPr>
          <a:xfrm>
            <a:off x="762000" y="1625600"/>
            <a:ext cx="3810000" cy="4191000"/>
          </a:xfrm>
          <a:prstGeom prst="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9" name="Rectangle 5"/>
          <p:cNvSpPr/>
          <p:nvPr/>
        </p:nvSpPr>
        <p:spPr>
          <a:xfrm>
            <a:off x="965200" y="1752600"/>
            <a:ext cx="3429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2384D"/>
                </a:solidFill>
              </a:rPr>
              <a:t>The example deal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290" name="Rectangle 6"/>
          <p:cNvSpPr/>
          <p:nvPr/>
        </p:nvSpPr>
        <p:spPr>
          <a:xfrm>
            <a:off x="965200" y="2133600"/>
            <a:ext cx="3454400" cy="3683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Dealer: DEMO ONLY - Sample Partner (a demo company)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Buyer (End-user): Pasig City Schools Division Office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Needs: 20 laser printers, model M1820W</a:t>
            </a:r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List price: PHP 10,000 each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Competitor: Canon at PHP 9,300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Dealer asks DBGI for: PHP 9,000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1" name="Oval 7"/>
          <p:cNvSpPr/>
          <p:nvPr/>
        </p:nvSpPr>
        <p:spPr>
          <a:xfrm>
            <a:off x="4889500" y="1625600"/>
            <a:ext cx="431800" cy="431800"/>
          </a:xfrm>
          <a:prstGeom prst="ellipse">
            <a:avLst/>
          </a:prstGeom>
          <a:solidFill>
            <a:srgbClr val="5B6B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2" name="Rectangle 8"/>
          <p:cNvSpPr/>
          <p:nvPr/>
        </p:nvSpPr>
        <p:spPr>
          <a:xfrm>
            <a:off x="5435600" y="1625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Sign in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9474200" y="1625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5B6B7A"/>
                </a:solidFill>
              </a:rPr>
              <a:t>Both</a:t>
            </a:r>
            <a:endParaRPr sz="1200" b="1">
              <a:solidFill>
                <a:srgbClr val="5B6B7A"/>
              </a:solidFill>
            </a:endParaRPr>
          </a:p>
        </p:txBody>
      </p:sp>
      <p:sp>
        <p:nvSpPr>
          <p:cNvPr id="294" name="Oval 10"/>
          <p:cNvSpPr/>
          <p:nvPr/>
        </p:nvSpPr>
        <p:spPr>
          <a:xfrm>
            <a:off x="4889500" y="2159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5435600" y="2159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Create and submit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9474200" y="2159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297" name="Oval 13"/>
          <p:cNvSpPr/>
          <p:nvPr/>
        </p:nvSpPr>
        <p:spPr>
          <a:xfrm>
            <a:off x="4889500" y="26924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8" name="Rectangle 14"/>
          <p:cNvSpPr/>
          <p:nvPr/>
        </p:nvSpPr>
        <p:spPr>
          <a:xfrm>
            <a:off x="5435600" y="2692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Review it and ask for a correction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9474200" y="2692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0" name="Oval 16"/>
          <p:cNvSpPr/>
          <p:nvPr/>
        </p:nvSpPr>
        <p:spPr>
          <a:xfrm>
            <a:off x="4889500" y="32258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1" name="Rectangle 17"/>
          <p:cNvSpPr/>
          <p:nvPr/>
        </p:nvSpPr>
        <p:spPr>
          <a:xfrm>
            <a:off x="5435600" y="32258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Correct it and resubmit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2" name="Rectangle 18"/>
          <p:cNvSpPr/>
          <p:nvPr/>
        </p:nvSpPr>
        <p:spPr>
          <a:xfrm>
            <a:off x="9474200" y="32258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03" name="Oval 19"/>
          <p:cNvSpPr/>
          <p:nvPr/>
        </p:nvSpPr>
        <p:spPr>
          <a:xfrm>
            <a:off x="4889500" y="37592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4" name="Rectangle 20"/>
          <p:cNvSpPr/>
          <p:nvPr/>
        </p:nvSpPr>
        <p:spPr>
          <a:xfrm>
            <a:off x="5435600" y="37592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Confirm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5" name="Rectangle 21"/>
          <p:cNvSpPr/>
          <p:nvPr/>
        </p:nvSpPr>
        <p:spPr>
          <a:xfrm>
            <a:off x="9474200" y="37592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6" name="Oval 22"/>
          <p:cNvSpPr/>
          <p:nvPr/>
        </p:nvSpPr>
        <p:spPr>
          <a:xfrm>
            <a:off x="4889500" y="42926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7" name="Rectangle 23"/>
          <p:cNvSpPr/>
          <p:nvPr/>
        </p:nvSpPr>
        <p:spPr>
          <a:xfrm>
            <a:off x="5435600" y="4292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the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8" name="Rectangle 24"/>
          <p:cNvSpPr/>
          <p:nvPr/>
        </p:nvSpPr>
        <p:spPr>
          <a:xfrm>
            <a:off x="9474200" y="4292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9" name="Oval 25"/>
          <p:cNvSpPr/>
          <p:nvPr/>
        </p:nvSpPr>
        <p:spPr>
          <a:xfrm>
            <a:off x="4889500" y="4826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0" name="Rectangle 26"/>
          <p:cNvSpPr/>
          <p:nvPr/>
        </p:nvSpPr>
        <p:spPr>
          <a:xfrm>
            <a:off x="5435600" y="4826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See the decision and approved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1" name="Rectangle 27"/>
          <p:cNvSpPr/>
          <p:nvPr/>
        </p:nvSpPr>
        <p:spPr>
          <a:xfrm>
            <a:off x="9474200" y="4826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2" name="Oval 28"/>
          <p:cNvSpPr/>
          <p:nvPr/>
        </p:nvSpPr>
        <p:spPr>
          <a:xfrm>
            <a:off x="4889500" y="53594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3" name="Rectangle 29"/>
          <p:cNvSpPr/>
          <p:nvPr/>
        </p:nvSpPr>
        <p:spPr>
          <a:xfrm>
            <a:off x="5435600" y="5359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Check the ranking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4" name="Rectangle 30"/>
          <p:cNvSpPr/>
          <p:nvPr/>
        </p:nvSpPr>
        <p:spPr>
          <a:xfrm>
            <a:off x="9474200" y="5359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5" name="Rectangle 31"/>
          <p:cNvSpPr/>
          <p:nvPr/>
        </p:nvSpPr>
        <p:spPr>
          <a:xfrm>
            <a:off x="762000" y="59944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Steps 3 and 4 are optional in real life: they only happen when DBGI needs more information.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16" name="Info"/>
          <p:cNvSpPr/>
          <p:nvPr/>
        </p:nvSpPr>
        <p:spPr>
          <a:xfrm>
            <a:off x="914400" y="6108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1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0D219E0-3C5E-43C7-87F2-6F36B66D5D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19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Sign in and find your way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2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registrations list is your home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21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1  |  Both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23" name="Picture 5" descr="login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51000"/>
            <a:ext cx="2921000" cy="26543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25" name="Picture 6" descr="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37000" y="1651000"/>
            <a:ext cx="762000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26" name="Rectangle 7"/>
          <p:cNvSpPr/>
          <p:nvPr/>
        </p:nvSpPr>
        <p:spPr>
          <a:xfrm>
            <a:off x="762000" y="4699000"/>
            <a:ext cx="10795000" cy="177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Sign in with the username and password DBGI gave you. Test environments also show one-click test accounts.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top menu has Rankings, Notifications, Help, and Log out. DBGI administrators also see Administration.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Company users start a deal with NEW REGISTRATION. Each row in the table is one registration; click its reference to open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2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1DB54B-4FC6-4944-8106-E43DA6D789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29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the three status badges separately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registration shows three badges. They answer different questions.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762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32" name="Rectangle 5"/>
          <p:cNvSpPr/>
          <p:nvPr/>
        </p:nvSpPr>
        <p:spPr>
          <a:xfrm>
            <a:off x="762000" y="1587500"/>
            <a:ext cx="3429000" cy="5080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Registration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939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deal accepted by DBGI?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939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939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Under review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939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939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939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Registered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39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Review required after edit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939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4445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42" name="Rectangle 15"/>
          <p:cNvSpPr/>
          <p:nvPr/>
        </p:nvSpPr>
        <p:spPr>
          <a:xfrm>
            <a:off x="4445000" y="1587500"/>
            <a:ext cx="3429000" cy="5080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Project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4622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procurement itself going ahead?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44" name="Rectangle 17"/>
          <p:cNvSpPr/>
          <p:nvPr/>
        </p:nvSpPr>
        <p:spPr>
          <a:xfrm>
            <a:off x="4622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Not linked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5" name="Rectangle 18"/>
          <p:cNvSpPr/>
          <p:nvPr/>
        </p:nvSpPr>
        <p:spPr>
          <a:xfrm>
            <a:off x="4622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Upcoming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6" name="Rectangle 19"/>
          <p:cNvSpPr/>
          <p:nvPr/>
        </p:nvSpPr>
        <p:spPr>
          <a:xfrm>
            <a:off x="4622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Active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7" name="Rectangle 20"/>
          <p:cNvSpPr/>
          <p:nvPr/>
        </p:nvSpPr>
        <p:spPr>
          <a:xfrm>
            <a:off x="4622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Won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8" name="Rectangle 21"/>
          <p:cNvSpPr/>
          <p:nvPr/>
        </p:nvSpPr>
        <p:spPr>
          <a:xfrm>
            <a:off x="4622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Lost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9" name="Rectangle 22"/>
          <p:cNvSpPr/>
          <p:nvPr/>
        </p:nvSpPr>
        <p:spPr>
          <a:xfrm>
            <a:off x="4622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Cancelled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0" name="Rectangle 23"/>
          <p:cNvSpPr/>
          <p:nvPr/>
        </p:nvSpPr>
        <p:spPr>
          <a:xfrm>
            <a:off x="4622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On hold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1" name="Rectangle 24"/>
          <p:cNvSpPr/>
          <p:nvPr/>
        </p:nvSpPr>
        <p:spPr>
          <a:xfrm>
            <a:off x="8128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52" name="Rectangle 25"/>
          <p:cNvSpPr/>
          <p:nvPr/>
        </p:nvSpPr>
        <p:spPr>
          <a:xfrm>
            <a:off x="8128000" y="1587500"/>
            <a:ext cx="3429000" cy="508000"/>
          </a:xfrm>
          <a:prstGeom prst="rect">
            <a:avLst/>
          </a:prstGeom>
          <a:solidFill>
            <a:srgbClr val="2EA3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Pricing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53" name="Rectangle 26"/>
          <p:cNvSpPr/>
          <p:nvPr/>
        </p:nvSpPr>
        <p:spPr>
          <a:xfrm>
            <a:off x="8305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Has DBGI decided the price?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54" name="Rectangle 27"/>
          <p:cNvSpPr/>
          <p:nvPr/>
        </p:nvSpPr>
        <p:spPr>
          <a:xfrm>
            <a:off x="8305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Pending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5" name="Rectangle 28"/>
          <p:cNvSpPr/>
          <p:nvPr/>
        </p:nvSpPr>
        <p:spPr>
          <a:xfrm>
            <a:off x="8305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6" name="Rectangle 29"/>
          <p:cNvSpPr/>
          <p:nvPr/>
        </p:nvSpPr>
        <p:spPr>
          <a:xfrm>
            <a:off x="8305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Partially 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7" name="Rectangle 30"/>
          <p:cNvSpPr/>
          <p:nvPr/>
        </p:nvSpPr>
        <p:spPr>
          <a:xfrm>
            <a:off x="8305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8" name="Rectangle 31"/>
          <p:cNvSpPr/>
          <p:nvPr/>
        </p:nvSpPr>
        <p:spPr>
          <a:xfrm>
            <a:off x="8305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9" name="Rectangle 32"/>
          <p:cNvSpPr/>
          <p:nvPr/>
        </p:nvSpPr>
        <p:spPr>
          <a:xfrm>
            <a:off x="8305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Expired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60" name="Rectangle 33"/>
          <p:cNvSpPr/>
          <p:nvPr/>
        </p:nvSpPr>
        <p:spPr>
          <a:xfrm>
            <a:off x="762000" y="57785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Example: a deal can be Registered with Pricing still Pending. Hover over any badge in the portal to see what it means.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61" name="Idea"/>
          <p:cNvSpPr/>
          <p:nvPr/>
        </p:nvSpPr>
        <p:spPr>
          <a:xfrm>
            <a:off x="914400" y="5956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2500" y="58333"/>
                </a:moveTo>
                <a:cubicBezTo>
                  <a:pt x="63333" y="54167"/>
                  <a:pt x="65417" y="51250"/>
                  <a:pt x="68750" y="47917"/>
                </a:cubicBezTo>
                <a:cubicBezTo>
                  <a:pt x="72917" y="44167"/>
                  <a:pt x="75000" y="38750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37500"/>
                  <a:pt x="25833" y="42500"/>
                  <a:pt x="31250" y="47917"/>
                </a:cubicBezTo>
                <a:cubicBezTo>
                  <a:pt x="34167" y="50833"/>
                  <a:pt x="36667" y="54167"/>
                  <a:pt x="37500" y="58333"/>
                </a:cubicBezTo>
                <a:moveTo>
                  <a:pt x="37500" y="75000"/>
                </a:moveTo>
                <a:lnTo>
                  <a:pt x="62500" y="75000"/>
                </a:lnTo>
                <a:moveTo>
                  <a:pt x="41667" y="91667"/>
                </a:moveTo>
                <a:lnTo>
                  <a:pt x="58333" y="91667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2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374AA8-8310-4FC9-8E61-808E79049F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Create a registration: who and what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Start from Registrations, then NEW REGISTRATION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68" name="Picture 5" descr="enduse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25600"/>
            <a:ext cx="6604000" cy="2686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69" name="Rectangle 6"/>
          <p:cNvSpPr/>
          <p:nvPr/>
        </p:nvSpPr>
        <p:spPr>
          <a:xfrm>
            <a:off x="7620000" y="1625600"/>
            <a:ext cx="3937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Type part of the buyer's name in End-user and pick the match. A green line confirms the address and that DBGI verified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 in the list? Use ADD MISSING END-USER. DBGI verifies it later.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the project title, bid date, and delivery date.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Check the contact details. They are filled from your profile.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70" name="Rectangle 7"/>
          <p:cNvSpPr/>
          <p:nvPr/>
        </p:nvSpPr>
        <p:spPr>
          <a:xfrm>
            <a:off x="762000" y="5664200"/>
            <a:ext cx="10795000" cy="7112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Register each real opportunity once. To fix something later, edit the existing registration instead of creating a new one.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71" name="Alert"/>
          <p:cNvSpPr/>
          <p:nvPr/>
        </p:nvSpPr>
        <p:spPr>
          <a:xfrm>
            <a:off x="914400" y="5880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2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FD5AD5D-00E4-4746-836B-F0EA3C4886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7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Add the competitor and the products you need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7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Both tables need at least one row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78" name="Picture 5" descr="competito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207000" cy="31584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80" name="Picture 6" descr="produc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285496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81" name="Rectangle 7"/>
          <p:cNvSpPr/>
          <p:nvPr/>
        </p:nvSpPr>
        <p:spPr>
          <a:xfrm>
            <a:off x="762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COMPETITOR.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or type the brand and model, their bid price, and a remark. Only you and DBGI see this.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82" name="Rectangle 8"/>
          <p:cNvSpPr/>
          <p:nvPr/>
        </p:nvSpPr>
        <p:spPr>
          <a:xfrm>
            <a:off x="6350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PRODUCT and choose the catalog product.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quantity, the unit price you are requesting, and why you need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3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9A8C84-1846-4993-8C55-9E7286E57C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8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Describe your evidence and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Evidence tells DBGI how you know this opportunity is real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8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89" name="Picture 5" descr="evidence-submit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194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90" name="Rectangle 6"/>
          <p:cNvSpPr/>
          <p:nvPr/>
        </p:nvSpPr>
        <p:spPr>
          <a:xfrm>
            <a:off x="8128000" y="1587500"/>
            <a:ext cx="3429000" cy="406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Explain how you learned about the deal, with dates and reference numbers if you have them.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Add files if available. Never upload another company's pricing, IDs, or signatures.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Tick the authorization box.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CREATE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91" name="Rectangle 7"/>
          <p:cNvSpPr/>
          <p:nvPr/>
        </p:nvSpPr>
        <p:spPr>
          <a:xfrm>
            <a:off x="762000" y="5080000"/>
            <a:ext cx="7112000" cy="1270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Requested prices are only proposals until DBGI approves them. Do not promise a requested price to the buyer.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92" name="Alert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4E5D909-40B4-4C80-8454-38C8AE8D059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9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Right after you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9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gets a DBGI reference and waits for review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9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99" name="Picture 5" descr="submitt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4465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01" name="Picture 6" descr="submitt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27400"/>
            <a:ext cx="7112000" cy="3044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02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Note the reference, here DBGI-000012. Use it whenever you talk to DBGI.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 show Submitted, Project: Not linked, and Pricing: Pending.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"What happens next?" always tells you what to do now.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portal works out the discount you asked for (10%) and the total. Approved unit price stays Pending until DBGI decides.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3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0EC94FA-F8E2-4AC5-8BAF-84C1CD9CCE2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0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Notifications keep you up to date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0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submission and DBGI decision appears here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0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09" name="Picture 5" descr="notifica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97764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1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NOTIFICATIONS from the top menu.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Unread items are marked. Select VIEW REGISTRATION to open the deal.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Email may send a copy, but the portal notification is the official record.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11" name="Rectangle 7"/>
          <p:cNvSpPr/>
          <p:nvPr/>
        </p:nvSpPr>
        <p:spPr>
          <a:xfrm>
            <a:off x="762000" y="59182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Check Notifications daily, especially while a registration is waiting for you.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12" name="Bell"/>
          <p:cNvSpPr/>
          <p:nvPr/>
        </p:nvSpPr>
        <p:spPr>
          <a:xfrm>
            <a:off x="914400" y="6032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67E2D13-7704-45C7-8091-8B2F05FD78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1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Start each day on the Operations dashboard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1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 opens here; it lists what needs a DBGI decision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1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19" name="Picture 5" descr="dashboar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06920" cy="38989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2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cards count work waiting: registration reviews, pricing decisions, End-users to verify, failed emails, and expiring approvals.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queues below list the actual items. Click a reference to open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left menu has every list, such as Registrations, Price approvals, and End-users.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21" name="Rectangle 7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The Danger Zone at the bottom permanently deletes data. Only superusers can open it.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22" name="Warning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0542" y="75000"/>
                </a:moveTo>
                <a:lnTo>
                  <a:pt x="57208" y="16667"/>
                </a:lnTo>
                <a:cubicBezTo>
                  <a:pt x="55729" y="14056"/>
                  <a:pt x="52960" y="12442"/>
                  <a:pt x="49958" y="12442"/>
                </a:cubicBezTo>
                <a:cubicBezTo>
                  <a:pt x="46957" y="12442"/>
                  <a:pt x="44188" y="14056"/>
                  <a:pt x="42708" y="16667"/>
                </a:cubicBezTo>
                <a:lnTo>
                  <a:pt x="9375" y="75000"/>
                </a:lnTo>
                <a:cubicBezTo>
                  <a:pt x="7880" y="77590"/>
                  <a:pt x="7887" y="80783"/>
                  <a:pt x="9393" y="83366"/>
                </a:cubicBezTo>
                <a:cubicBezTo>
                  <a:pt x="10900" y="85949"/>
                  <a:pt x="13676" y="87527"/>
                  <a:pt x="16667" y="87500"/>
                </a:cubicBezTo>
                <a:lnTo>
                  <a:pt x="83333" y="87500"/>
                </a:lnTo>
                <a:cubicBezTo>
                  <a:pt x="86309" y="87497"/>
                  <a:pt x="89057" y="85908"/>
                  <a:pt x="90544" y="83330"/>
                </a:cubicBezTo>
                <a:cubicBezTo>
                  <a:pt x="92030" y="80752"/>
                  <a:pt x="92030" y="77577"/>
                  <a:pt x="90542" y="75000"/>
                </a:cubicBezTo>
                <a:moveTo>
                  <a:pt x="50000" y="37500"/>
                </a:moveTo>
                <a:lnTo>
                  <a:pt x="50000" y="54167"/>
                </a:lnTo>
                <a:moveTo>
                  <a:pt x="50000" y="70833"/>
                </a:moveTo>
                <a:lnTo>
                  <a:pt x="50042" y="70833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5D27AB5-652A-495A-8336-EEDE33D062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2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Open the registration and start the review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2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Administrators see a DBGI review panel at the top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2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29" name="Picture 5" descr="start-review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5255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3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Read the system recommendation and match score. They are only suggestions.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Compare the End-user, address, products, and evidence yourself.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a short review reason and select START REVIEW. This only marks the review as started.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31" name="Rectangle 7"/>
          <p:cNvSpPr/>
          <p:nvPr/>
        </p:nvSpPr>
        <p:spPr>
          <a:xfrm>
            <a:off x="762000" y="5334000"/>
            <a:ext cx="7112000" cy="1016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Never confirm a match from the score alone. Here the score is 53% against a different Pasig project.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32" name="Alert"/>
          <p:cNvSpPr/>
          <p:nvPr/>
        </p:nvSpPr>
        <p:spPr>
          <a:xfrm>
            <a:off x="914400" y="5702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2FA209A-C3A7-4F8D-8E85-A91313DE55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3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Choose exactly one decision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3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In the example, DBGI asks the dealer for the RFQ reference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39" name="Picture 5" descr="decision-op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6604000" cy="42481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40" name="Rectangle 6"/>
          <p:cNvSpPr/>
          <p:nvPr/>
        </p:nvSpPr>
        <p:spPr>
          <a:xfrm>
            <a:off x="7620000" y="15875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Link to an existing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1" name="Rectangle 7"/>
          <p:cNvSpPr/>
          <p:nvPr/>
        </p:nvSpPr>
        <p:spPr>
          <a:xfrm>
            <a:off x="7620000" y="19177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This deal is the same procurement as one already in the portal.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2" name="Rectangle 8"/>
          <p:cNvSpPr/>
          <p:nvPr/>
        </p:nvSpPr>
        <p:spPr>
          <a:xfrm>
            <a:off x="7620000" y="26543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Create a new whole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3" name="Rectangle 9"/>
          <p:cNvSpPr/>
          <p:nvPr/>
        </p:nvSpPr>
        <p:spPr>
          <a:xfrm>
            <a:off x="7620000" y="29845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existing opportunity fits.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4" name="Rectangle 10"/>
          <p:cNvSpPr/>
          <p:nvPr/>
        </p:nvSpPr>
        <p:spPr>
          <a:xfrm>
            <a:off x="7620000" y="37211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Request changes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5" name="Rectangle 11"/>
          <p:cNvSpPr/>
          <p:nvPr/>
        </p:nvSpPr>
        <p:spPr>
          <a:xfrm>
            <a:off x="7620000" y="40513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Something is missing or wrong. Write exact instructions.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6" name="Rectangle 12"/>
          <p:cNvSpPr/>
          <p:nvPr/>
        </p:nvSpPr>
        <p:spPr>
          <a:xfrm>
            <a:off x="7620000" y="47879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Reject registration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7" name="Rectangle 13"/>
          <p:cNvSpPr/>
          <p:nvPr/>
        </p:nvSpPr>
        <p:spPr>
          <a:xfrm>
            <a:off x="7620000" y="51181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Give a clear business reason.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8" name="Rectangle 14"/>
          <p:cNvSpPr/>
          <p:nvPr/>
        </p:nvSpPr>
        <p:spPr>
          <a:xfrm>
            <a:off x="762000" y="5969000"/>
            <a:ext cx="10795000" cy="482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company is notified automatically after every decision.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49" name="Bell"/>
          <p:cNvSpPr/>
          <p:nvPr/>
        </p:nvSpPr>
        <p:spPr>
          <a:xfrm>
            <a:off x="914400" y="607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67565-E9B8-43A8-859B-FB8AC9415F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52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what DBGI needs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now shows Changes requested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56" name="Picture 5" descr="changes-request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58" name="Picture 6" descr="activity-reas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65500"/>
            <a:ext cx="759587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59" name="Rectangle 7"/>
          <p:cNvSpPr/>
          <p:nvPr/>
        </p:nvSpPr>
        <p:spPr>
          <a:xfrm>
            <a:off x="8636000" y="1587500"/>
            <a:ext cx="2921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Changes requested notification, or the registration itself.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Scroll to Activity. DBGI's exact instructions are under Request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EDIT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60" name="Rectangle 8"/>
          <p:cNvSpPr/>
          <p:nvPr/>
        </p:nvSpPr>
        <p:spPr>
          <a:xfrm>
            <a:off x="762000" y="5143500"/>
            <a:ext cx="7620000" cy="1143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View changes under each Activity entry shows the before and after values for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61" name="Info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469FB7-52EC-4B93-8A4D-4826A82733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Fix only what was asked, then save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same registration goes back to DBGI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68" name="Picture 5" descr="edit-evidenc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693410" cy="2184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70" name="Picture 6" descr="resubmitt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9624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71" name="Rectangle 7"/>
          <p:cNvSpPr/>
          <p:nvPr/>
        </p:nvSpPr>
        <p:spPr>
          <a:xfrm>
            <a:off x="8636000" y="1587500"/>
            <a:ext cx="2921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Change only the fields DBGI mentioned. Here, the RFQ reference was added to the evidence.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Review everything, then select SAVE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status becomes Resubmitted. DBGI reviews the corrected version.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72" name="Rectangle 8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Editing a registration that was already Registered also sends it back for review.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73" name="Alert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581C090-3B8A-4946-86C5-674662338F4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76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the changes, then confirm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7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Activity shows exactly what the company changed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5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80" name="Picture 5" descr="activity-change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019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82" name="Picture 6" descr="create-opportunity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33489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83" name="Rectangle 7"/>
          <p:cNvSpPr/>
          <p:nvPr/>
        </p:nvSpPr>
        <p:spPr>
          <a:xfrm>
            <a:off x="762000" y="4318000"/>
            <a:ext cx="5334000" cy="215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Company edit entry and compare old and new values.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Start review again with a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the final decision. Here: Create a new whole opportunity, because this is a school division purchase.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84" name="Rectangle 8"/>
          <p:cNvSpPr/>
          <p:nvPr/>
        </p:nvSpPr>
        <p:spPr>
          <a:xfrm>
            <a:off x="6350000" y="5080000"/>
            <a:ext cx="5207000" cy="1270000"/>
          </a:xfrm>
          <a:prstGeom prst="roundRect">
            <a:avLst/>
          </a:prstGeom>
          <a:solidFill>
            <a:srgbClr val="E3F4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D6B48"/>
                </a:solidFill>
              </a:rPr>
              <a:t>Result: Registered, Project: Upcoming. The opportunity now exists and ranking can be calculated.</a:t>
            </a:r>
            <a:endParaRPr sz="1300" b="0">
              <a:solidFill>
                <a:srgbClr val="1D6B48"/>
              </a:solidFill>
            </a:endParaRPr>
          </a:p>
        </p:txBody>
      </p:sp>
      <p:sp>
        <p:nvSpPr>
          <p:cNvPr id="485" name="Check circle"/>
          <p:cNvSpPr/>
          <p:nvPr/>
        </p:nvSpPr>
        <p:spPr>
          <a:xfrm>
            <a:off x="6502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66667" y="37500"/>
                </a:moveTo>
                <a:lnTo>
                  <a:pt x="43750" y="60417"/>
                </a:lnTo>
                <a:lnTo>
                  <a:pt x="33333" y="50000"/>
                </a:lnTo>
              </a:path>
            </a:pathLst>
          </a:custGeom>
          <a:noFill/>
          <a:ln w="23283" cap="rnd">
            <a:solidFill>
              <a:srgbClr val="1D6B48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E35DDB-BDB6-41C9-8A22-79D7436636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88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Approve the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8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Administration, Price approvals (or the dashboard's Pricing queue)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90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6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92" name="Picture 5" descr="pricing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4000" cy="29451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94" name="Picture 6" descr="pricing-item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4724400"/>
            <a:ext cx="5334000" cy="164338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95" name="Rectangle 7"/>
          <p:cNvSpPr/>
          <p:nvPr/>
        </p:nvSpPr>
        <p:spPr>
          <a:xfrm>
            <a:off x="6350000" y="1587500"/>
            <a:ext cx="5207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pending category for the registration.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Set Status: Approved, Partially approved, Rejected, or Changes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the rationale and set Valid until.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Under Registration item approvals, add the item and its approved unit price.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Save. Reviewed by and Reviewed at are filled in with your name and the time.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96" name="Rectangle 8"/>
          <p:cNvSpPr/>
          <p:nvPr/>
        </p:nvSpPr>
        <p:spPr>
          <a:xfrm>
            <a:off x="6350000" y="5207000"/>
            <a:ext cx="5207000" cy="1168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this registration's items are offered, each labelled with its reference, such as DBGI-000012.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97" name="Info"/>
          <p:cNvSpPr/>
          <p:nvPr/>
        </p:nvSpPr>
        <p:spPr>
          <a:xfrm>
            <a:off x="6502400" y="5651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6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C9C87E-8A6C-4B44-888E-C579E651A6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0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See the decision and the approved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0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All three badges now have an answer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7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04" name="Picture 5" descr="approv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5062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506" name="Picture 6" descr="approv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276600"/>
            <a:ext cx="6615430" cy="31115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07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Badges: Registered, Project: Upcoming, Pricing: Approved.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Commercial approvals shows the decision, valid-until date, reviewer, and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Requested products shows the approved unit price: PHP 9,200, not the PHP 9,000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Quote only the approved price, and only until the valid-until date.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C792AA4-C711-45BF-83AD-4A57D36F8096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your ranking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RANKINGS in the top menu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1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8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14" name="Picture 5" descr="ranking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10795000" cy="3298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15" name="Rectangle 6"/>
          <p:cNvSpPr/>
          <p:nvPr/>
        </p:nvSpPr>
        <p:spPr>
          <a:xfrm>
            <a:off x="762000" y="5016500"/>
            <a:ext cx="10795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Each row is a confirmed opportunity your company registered for, with your rank and the date you became eligible.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You only see your own rank. Other companies and their registrations stay private.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D1473E2-B8A3-4312-85D3-8022AD2E19E3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Other situations you will meet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Covered step by step in the portal's Help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20" name="Oval 4"/>
          <p:cNvSpPr/>
          <p:nvPr/>
        </p:nvSpPr>
        <p:spPr>
          <a:xfrm>
            <a:off x="762000" y="16256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1" name="Users"/>
          <p:cNvSpPr/>
          <p:nvPr/>
        </p:nvSpPr>
        <p:spPr>
          <a:xfrm>
            <a:off x="939800" y="1803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7500"/>
                </a:moveTo>
                <a:lnTo>
                  <a:pt x="66667" y="79167"/>
                </a:lnTo>
                <a:cubicBezTo>
                  <a:pt x="66667" y="69962"/>
                  <a:pt x="59205" y="62500"/>
                  <a:pt x="50000" y="62500"/>
                </a:cubicBezTo>
                <a:lnTo>
                  <a:pt x="25000" y="62500"/>
                </a:lnTo>
                <a:cubicBezTo>
                  <a:pt x="15795" y="62500"/>
                  <a:pt x="8333" y="69962"/>
                  <a:pt x="8333" y="79167"/>
                </a:cubicBezTo>
                <a:lnTo>
                  <a:pt x="8333" y="87500"/>
                </a:lnTo>
                <a:moveTo>
                  <a:pt x="66667" y="13033"/>
                </a:moveTo>
                <a:cubicBezTo>
                  <a:pt x="74018" y="14939"/>
                  <a:pt x="79151" y="21573"/>
                  <a:pt x="79151" y="29167"/>
                </a:cubicBezTo>
                <a:cubicBezTo>
                  <a:pt x="79151" y="36760"/>
                  <a:pt x="74018" y="43394"/>
                  <a:pt x="66667" y="45300"/>
                </a:cubicBezTo>
                <a:moveTo>
                  <a:pt x="91667" y="87500"/>
                </a:moveTo>
                <a:lnTo>
                  <a:pt x="91667" y="79167"/>
                </a:lnTo>
                <a:cubicBezTo>
                  <a:pt x="91661" y="71571"/>
                  <a:pt x="86521" y="64940"/>
                  <a:pt x="79167" y="63042"/>
                </a:cubicBezTo>
                <a:moveTo>
                  <a:pt x="20833" y="29167"/>
                </a:moveTo>
                <a:cubicBezTo>
                  <a:pt x="20833" y="19962"/>
                  <a:pt x="28295" y="12500"/>
                  <a:pt x="37500" y="12500"/>
                </a:cubicBezTo>
                <a:cubicBezTo>
                  <a:pt x="46705" y="12500"/>
                  <a:pt x="54167" y="19962"/>
                  <a:pt x="54167" y="29167"/>
                </a:cubicBezTo>
                <a:cubicBezTo>
                  <a:pt x="54167" y="38371"/>
                  <a:pt x="46705" y="45833"/>
                  <a:pt x="37500" y="45833"/>
                </a:cubicBezTo>
                <a:cubicBezTo>
                  <a:pt x="28295" y="45833"/>
                  <a:pt x="20833" y="38371"/>
                  <a:pt x="20833" y="291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2" name="Rectangle 6"/>
          <p:cNvSpPr/>
          <p:nvPr/>
        </p:nvSpPr>
        <p:spPr>
          <a:xfrm>
            <a:off x="1651000" y="16256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Buyer missing from the End-user list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3" name="Rectangle 7"/>
          <p:cNvSpPr/>
          <p:nvPr/>
        </p:nvSpPr>
        <p:spPr>
          <a:xfrm>
            <a:off x="1651000" y="19558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Company: use Add missing End-user. Admin: Administration, End-users; check the official name and address, add aliases, then verify.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4" name="Oval 8"/>
          <p:cNvSpPr/>
          <p:nvPr/>
        </p:nvSpPr>
        <p:spPr>
          <a:xfrm>
            <a:off x="762000" y="27940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5" name="X"/>
          <p:cNvSpPr/>
          <p:nvPr/>
        </p:nvSpPr>
        <p:spPr>
          <a:xfrm>
            <a:off x="939800" y="2971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75000" y="25000"/>
                </a:moveTo>
                <a:lnTo>
                  <a:pt x="25000" y="75000"/>
                </a:lnTo>
                <a:moveTo>
                  <a:pt x="25000" y="25000"/>
                </a:moveTo>
                <a:lnTo>
                  <a:pt x="75000" y="750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6" name="Rectangle 10"/>
          <p:cNvSpPr/>
          <p:nvPr/>
        </p:nvSpPr>
        <p:spPr>
          <a:xfrm>
            <a:off x="1651000" y="27940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Registration rejected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7" name="Rectangle 11"/>
          <p:cNvSpPr/>
          <p:nvPr/>
        </p:nvSpPr>
        <p:spPr>
          <a:xfrm>
            <a:off x="1651000" y="31242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Read the reason in Activity. Do not resubmit the same deal as a new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8" name="Oval 12"/>
          <p:cNvSpPr/>
          <p:nvPr/>
        </p:nvSpPr>
        <p:spPr>
          <a:xfrm>
            <a:off x="762000" y="39624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9" name="Mail"/>
          <p:cNvSpPr/>
          <p:nvPr/>
        </p:nvSpPr>
        <p:spPr>
          <a:xfrm>
            <a:off x="939800" y="414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0" name="Rectangle 14"/>
          <p:cNvSpPr/>
          <p:nvPr/>
        </p:nvSpPr>
        <p:spPr>
          <a:xfrm>
            <a:off x="1651000" y="39624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email failed to send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1" name="Rectangle 15"/>
          <p:cNvSpPr/>
          <p:nvPr/>
        </p:nvSpPr>
        <p:spPr>
          <a:xfrm>
            <a:off x="1651000" y="42926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Administration, Notification deliveries. Fix the address or settings, then retry. The portal notification was never lost.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32" name="Oval 16"/>
          <p:cNvSpPr/>
          <p:nvPr/>
        </p:nvSpPr>
        <p:spPr>
          <a:xfrm>
            <a:off x="762000" y="51308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3" name="Calendar"/>
          <p:cNvSpPr/>
          <p:nvPr/>
        </p:nvSpPr>
        <p:spPr>
          <a:xfrm>
            <a:off x="939800" y="5308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33333" y="8333"/>
                </a:moveTo>
                <a:lnTo>
                  <a:pt x="33333" y="20833"/>
                </a:lnTo>
                <a:moveTo>
                  <a:pt x="66667" y="8333"/>
                </a:moveTo>
                <a:lnTo>
                  <a:pt x="66667" y="20833"/>
                </a:lnTo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12500" y="37500"/>
                </a:moveTo>
                <a:lnTo>
                  <a:pt x="87500" y="375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4" name="Rectangle 18"/>
          <p:cNvSpPr/>
          <p:nvPr/>
        </p:nvSpPr>
        <p:spPr>
          <a:xfrm>
            <a:off x="1651000" y="51308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approval is about to expire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5" name="Rectangle 19"/>
          <p:cNvSpPr/>
          <p:nvPr/>
        </p:nvSpPr>
        <p:spPr>
          <a:xfrm>
            <a:off x="1651000" y="54610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the dashboard's Expiring in 30 days card and Price renewals. Each renewal adds 30 days.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F867CA9-AA29-4B16-809F-F852F057BB3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Golden rules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3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If you remember nothing else, remember these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40" name="Rectangle 4"/>
          <p:cNvSpPr/>
          <p:nvPr/>
        </p:nvSpPr>
        <p:spPr>
          <a:xfrm>
            <a:off x="7620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1" name="Oval 5"/>
          <p:cNvSpPr/>
          <p:nvPr/>
        </p:nvSpPr>
        <p:spPr>
          <a:xfrm>
            <a:off x="9652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2" name="Alert"/>
          <p:cNvSpPr/>
          <p:nvPr/>
        </p:nvSpPr>
        <p:spPr>
          <a:xfrm>
            <a:off x="11176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3" name="Rectangle 7"/>
          <p:cNvSpPr/>
          <p:nvPr/>
        </p:nvSpPr>
        <p:spPr>
          <a:xfrm>
            <a:off x="17526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 requested price is never an approved price.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4" name="Rectangle 8"/>
          <p:cNvSpPr/>
          <p:nvPr/>
        </p:nvSpPr>
        <p:spPr>
          <a:xfrm>
            <a:off x="7620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5" name="Oval 9"/>
          <p:cNvSpPr/>
          <p:nvPr/>
        </p:nvSpPr>
        <p:spPr>
          <a:xfrm>
            <a:off x="9652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6" name="Document"/>
          <p:cNvSpPr/>
          <p:nvPr/>
        </p:nvSpPr>
        <p:spPr>
          <a:xfrm>
            <a:off x="11176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7" name="Rectangle 11"/>
          <p:cNvSpPr/>
          <p:nvPr/>
        </p:nvSpPr>
        <p:spPr>
          <a:xfrm>
            <a:off x="17526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One registration per real opportunity. Edit it; do not duplicate it.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8" name="Rectangle 12"/>
          <p:cNvSpPr/>
          <p:nvPr/>
        </p:nvSpPr>
        <p:spPr>
          <a:xfrm>
            <a:off x="7620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9" name="Oval 13"/>
          <p:cNvSpPr/>
          <p:nvPr/>
        </p:nvSpPr>
        <p:spPr>
          <a:xfrm>
            <a:off x="9652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0" name="Bell"/>
          <p:cNvSpPr/>
          <p:nvPr/>
        </p:nvSpPr>
        <p:spPr>
          <a:xfrm>
            <a:off x="11176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1" name="Rectangle 15"/>
          <p:cNvSpPr/>
          <p:nvPr/>
        </p:nvSpPr>
        <p:spPr>
          <a:xfrm>
            <a:off x="17526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The portal notification is the official record. Email is only a copy.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2" name="Rectangle 16"/>
          <p:cNvSpPr/>
          <p:nvPr/>
        </p:nvSpPr>
        <p:spPr>
          <a:xfrm>
            <a:off x="62865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3" name="Oval 17"/>
          <p:cNvSpPr/>
          <p:nvPr/>
        </p:nvSpPr>
        <p:spPr>
          <a:xfrm>
            <a:off x="64897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4" name="Message"/>
          <p:cNvSpPr/>
          <p:nvPr/>
        </p:nvSpPr>
        <p:spPr>
          <a:xfrm>
            <a:off x="66421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5" name="Rectangle 19"/>
          <p:cNvSpPr/>
          <p:nvPr/>
        </p:nvSpPr>
        <p:spPr>
          <a:xfrm>
            <a:off x="72771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Write reasons and instructions someone else can act on without asking you.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6" name="Rectangle 20"/>
          <p:cNvSpPr/>
          <p:nvPr/>
        </p:nvSpPr>
        <p:spPr>
          <a:xfrm>
            <a:off x="62865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7" name="Oval 21"/>
          <p:cNvSpPr/>
          <p:nvPr/>
        </p:nvSpPr>
        <p:spPr>
          <a:xfrm>
            <a:off x="64897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8" name="Check"/>
          <p:cNvSpPr/>
          <p:nvPr/>
        </p:nvSpPr>
        <p:spPr>
          <a:xfrm>
            <a:off x="66421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3" y="25000"/>
                </a:moveTo>
                <a:lnTo>
                  <a:pt x="37500" y="70833"/>
                </a:lnTo>
                <a:lnTo>
                  <a:pt x="16667" y="50000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9" name="Rectangle 23"/>
          <p:cNvSpPr/>
          <p:nvPr/>
        </p:nvSpPr>
        <p:spPr>
          <a:xfrm>
            <a:off x="72771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Read the three badges separately: registration, project, pricing.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60" name="Rectangle 24"/>
          <p:cNvSpPr/>
          <p:nvPr/>
        </p:nvSpPr>
        <p:spPr>
          <a:xfrm>
            <a:off x="62865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1" name="Oval 25"/>
          <p:cNvSpPr/>
          <p:nvPr/>
        </p:nvSpPr>
        <p:spPr>
          <a:xfrm>
            <a:off x="64897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2" name="Info"/>
          <p:cNvSpPr/>
          <p:nvPr/>
        </p:nvSpPr>
        <p:spPr>
          <a:xfrm>
            <a:off x="66421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63" name="Rectangle 27"/>
          <p:cNvSpPr/>
          <p:nvPr/>
        </p:nvSpPr>
        <p:spPr>
          <a:xfrm>
            <a:off x="72771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Stuck? Open HELP. It has step-by-step guides for your role.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107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ACB274-83E7-4463-813B-4190E1E9489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Quick reference: where do I go?</a:t>
            </a:r>
            <a:endParaRPr sz="2600" b="1">
              <a:solidFill>
                <a:srgbClr val="12384D"/>
              </a:solidFill>
            </a:endParaRPr>
          </a:p>
        </p:txBody>
      </p:sp>
      <p:graphicFrame>
        <p:nvGraphicFramePr>
          <p:cNvPr id="567" name="Table 3"/>
          <p:cNvGraphicFramePr>
            <a:graphicFrameLocks noGrp="1"/>
          </p:cNvGraphicFramePr>
          <p:nvPr/>
        </p:nvGraphicFramePr>
        <p:xfrm>
          <a:off x="762000" y="1397000"/>
          <a:ext cx="10795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/>
                <a:gridCol w="6604000"/>
              </a:tblGrid>
              <a:tr h="508000">
                <a:tc>
                  <a:txBody>
                    <a:bodyPr/>
                    <a:lstStyle/>
                    <a:p>
                      <a:r>
                        <a:rPr sz="1400"/>
                        <a:t>I want to...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Go to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Register a new deal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Registrations, then NEW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what DBGI decided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NOTIFICATIONS, then VIEW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Fix a registration DBGI sent back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registration, read Activity, EDIT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approved price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registration: Commercial approvals and Requested products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rank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RANKINGS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Review a registration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 dashboard, Registration review queue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Decide a price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Administration, Price approvals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Get step-by-step help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HELP in the top menu</a:t>
                      </a:r>
                      <a:endParaRPr sz="140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7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4DE16EB-4549-4654-8ABF-75DC5CCEF24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762000" y="1397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70" name="Rectangle 2"/>
          <p:cNvSpPr/>
          <p:nvPr/>
        </p:nvSpPr>
        <p:spPr>
          <a:xfrm>
            <a:off x="711200" y="1651000"/>
            <a:ext cx="10922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Your answers decide what we build next</a:t>
            </a:r>
            <a:endParaRPr sz="3400" b="1">
              <a:solidFill>
                <a:srgbClr val="FFFFFF"/>
              </a:solidFill>
            </a:endParaRPr>
          </a:p>
        </p:txBody>
      </p:sp>
      <p:sp>
        <p:nvSpPr>
          <p:cNvPr id="571" name="Rectangle 3"/>
          <p:cNvSpPr/>
          <p:nvPr/>
        </p:nvSpPr>
        <p:spPr>
          <a:xfrm>
            <a:off x="736600" y="2438400"/>
            <a:ext cx="10668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700" b="0">
                <a:solidFill>
                  <a:srgbClr val="B9D4E0"/>
                </a:solidFill>
              </a:rPr>
              <a:t>The next 21 slides each ask one question about how DBGI handles deals. There are no wrong answers: you know the process, the portal should follow it.</a:t>
            </a:r>
            <a:endParaRPr sz="1700" b="0">
              <a:solidFill>
                <a:srgbClr val="B9D4E0"/>
              </a:solidFill>
            </a:endParaRPr>
          </a:p>
        </p:txBody>
      </p:sp>
      <p:sp>
        <p:nvSpPr>
          <p:cNvPr id="572" name="Oval 4"/>
          <p:cNvSpPr/>
          <p:nvPr/>
        </p:nvSpPr>
        <p:spPr>
          <a:xfrm>
            <a:off x="762000" y="36195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1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3" name="Rectangle 5"/>
          <p:cNvSpPr/>
          <p:nvPr/>
        </p:nvSpPr>
        <p:spPr>
          <a:xfrm>
            <a:off x="1397000" y="36449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Read what the portal does today, then pick a choice, or say "keep today", or write your own rule.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4" name="Oval 6"/>
          <p:cNvSpPr/>
          <p:nvPr/>
        </p:nvSpPr>
        <p:spPr>
          <a:xfrm>
            <a:off x="762000" y="42799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2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5" name="Rectangle 7"/>
          <p:cNvSpPr/>
          <p:nvPr/>
        </p:nvSpPr>
        <p:spPr>
          <a:xfrm>
            <a:off x="1397000" y="43053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The first choice is only a suggestion to react to, not a decision.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6" name="Oval 8"/>
          <p:cNvSpPr/>
          <p:nvPr/>
        </p:nvSpPr>
        <p:spPr>
          <a:xfrm>
            <a:off x="762000" y="49403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3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7" name="Rectangle 9"/>
          <p:cNvSpPr/>
          <p:nvPr/>
        </p:nvSpPr>
        <p:spPr>
          <a:xfrm>
            <a:off x="1397000" y="49657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Skip anything outside your area. Part A matters most.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8" name="Oval 10"/>
          <p:cNvSpPr/>
          <p:nvPr/>
        </p:nvSpPr>
        <p:spPr>
          <a:xfrm>
            <a:off x="762000" y="56007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4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9" name="Rectangle 11"/>
          <p:cNvSpPr/>
          <p:nvPr/>
        </p:nvSpPr>
        <p:spPr>
          <a:xfrm>
            <a:off x="1397000" y="56261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Answer in the Word answer form sent with this deck, or by email, one line per question: B2: a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107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88BB43A-D0FF-4F99-8EB8-B9EAA4A0740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A1. Does the basic flow match how DBGI works?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58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deal, DBGI checks it, decides who was first, then approves a special price. Is that really the process?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586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8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does exactly that loop, end to end, with notifications.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confidence that the remaining work is on the right path.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59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91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happens today when a partner tells DBGI about a government deal? Where does the portal differ from that?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592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3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9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5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A1: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8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9B8C1B4-314F-41AA-82F7-95875421752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9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A2. How is this done today, without the portal?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59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2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0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1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Spreadsheets, email, Viber, phone? Knowing this tells us what the portal must replace and what people will compare it to.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02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03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4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recorded anywhere in the project.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05" name="Rectangle 9"/>
          <p:cNvSpPr/>
          <p:nvPr/>
        </p:nvSpPr>
        <p:spPr>
          <a:xfrm>
            <a:off x="762000" y="3657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importing existing deals, matching familiar terms and columns.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0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7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do you use today (spreadsheet, email, chat)? If you can, attach an example from a recent deal, with partner names removed.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08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09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0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11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A2: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8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5D75BB-123F-4917-80B9-1E1597FFA67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A3. Who will actually use it first?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1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3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1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17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DBGI staff review registrations, and which partner companies should try it first.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18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9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0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Two roles exist: company user (partner staff) and DBGI administrator. All DBGI admins can do everything.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21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user accounts, training, and whether DBGI needs separate reviewer and pricing roles.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22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3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4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25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small pilot with 2 to 3 trusted partners and one DBGI reviewer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26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7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28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partners at once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29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0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31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A3: a   or   A3: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8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CADB88-B499-4338-8237-59C19F108A6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A4. What must work on day one, and what can wait?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3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4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3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37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The smallest version DBGI would actually use.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38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9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0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Registration, review, ranking, and price approval work. Withdrawal, merging deals, price history, and reorders do not exist yet.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41" name="Rectangle 9"/>
          <p:cNvSpPr/>
          <p:nvPr/>
        </p:nvSpPr>
        <p:spPr>
          <a:xfrm>
            <a:off x="762000" y="3606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launch date and what is in scope for it.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42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3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4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45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Launch with today's loop plus withdrawal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46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7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48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pricing history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49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0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51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reorders as well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52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3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54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A4: a   or   A4: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DA63C4-2A02-4A9D-8309-223C9070563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A5. Do the words make sense to partners?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5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5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5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Labels like "Registered", "Changes requested", "Review required after edit", "Opportunity scope", "Lot".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61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3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 statuses are Submitted, Under review, Changes requested, Resubmitted, Registered, Review required after edit, Approved, and Rejected.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64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screen labels and help text.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65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6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Would a partner understand these labels? What words do you use for them today?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67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68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9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70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A5: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C6ABD80-DCB7-434E-8AA4-FAC1A04A5B4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B1. Can partners edit a deal after submitting 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7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6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7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7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Once a partner submits, can they keep changing it, or only when DBGI asks?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77" name="Rectangle 6"/>
          <p:cNvSpPr/>
          <p:nvPr/>
        </p:nvSpPr>
        <p:spPr>
          <a:xfrm>
            <a:off x="762000" y="2489200"/>
            <a:ext cx="5334000" cy="17018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79" name="Rectangle 8"/>
          <p:cNvSpPr/>
          <p:nvPr/>
        </p:nvSpPr>
        <p:spPr>
          <a:xfrm>
            <a:off x="965200" y="2895600"/>
            <a:ext cx="4978400" cy="1244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edit at any time. Products and prices lock once DBGI starts the price review. Editing a deal that is already Registered sends it back to DBGI ("Review required after edit"), but it keeps its original place in line.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80" name="Rectangle 9"/>
          <p:cNvSpPr/>
          <p:nvPr/>
        </p:nvSpPr>
        <p:spPr>
          <a:xfrm>
            <a:off x="762000" y="43180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editing rules and status flow.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81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82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3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84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85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6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87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Only edit when DBGI requests changes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88" name="Rectangle 17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9" name="Oval 18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90" name="Rectangle 19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Allow small fixes freely, re-review for big ones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91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2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93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B1: a   or   B1: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F102130-0A8A-4CBB-89F9-48638E711ED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B2. Can a partner withdraw a deal, and can it come back?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9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7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9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99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drops out of a deal. Do they lose their place permanently, and does DBGI need to confirm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00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1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02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There is no withdrawal. DBGI can only reject.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03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withdrawal feature (the next planned build).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04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05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6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07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requests, DBGI confirms, the place in line is lost for good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08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9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10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withdraws instantly, DBGI is notified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11" name="Rectangle 17"/>
          <p:cNvSpPr/>
          <p:nvPr/>
        </p:nvSpPr>
        <p:spPr>
          <a:xfrm>
            <a:off x="6477000" y="3530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2" name="Oval 18"/>
          <p:cNvSpPr/>
          <p:nvPr/>
        </p:nvSpPr>
        <p:spPr>
          <a:xfrm>
            <a:off x="6629400" y="3721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13" name="Rectangle 19"/>
          <p:cNvSpPr/>
          <p:nvPr/>
        </p:nvSpPr>
        <p:spPr>
          <a:xfrm>
            <a:off x="7137400" y="3581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Withdrawn deals can be restored within a set time with their original place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14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16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B2: a   or   B2: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6977E4B-5CEA-4025-8B70-AC24C01FA0F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B3. What happens when two registrations turn out to be one deal, or one turns out to be two?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2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8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2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2" name="Rectangle 5"/>
          <p:cNvSpPr/>
          <p:nvPr/>
        </p:nvSpPr>
        <p:spPr>
          <a:xfrm>
            <a:off x="762000" y="1701800"/>
            <a:ext cx="5334000" cy="1117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DBGI later learns two partner registrations are the same tender (merge), or one registration actually covers two separate lots (split). Who keeps first place, and what happens to approved prices?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23" name="Rectangle 6"/>
          <p:cNvSpPr/>
          <p:nvPr/>
        </p:nvSpPr>
        <p:spPr>
          <a:xfrm>
            <a:off x="762000" y="2997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4" name="Rectangle 7"/>
          <p:cNvSpPr/>
          <p:nvPr/>
        </p:nvSpPr>
        <p:spPr>
          <a:xfrm>
            <a:off x="965200" y="3124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5" name="Rectangle 8"/>
          <p:cNvSpPr/>
          <p:nvPr/>
        </p:nvSpPr>
        <p:spPr>
          <a:xfrm>
            <a:off x="965200" y="3403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groups matching registrations under one opportunity and lot when reviewing. There is no merge or split afterwards.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26" name="Rectangle 9"/>
          <p:cNvSpPr/>
          <p:nvPr/>
        </p:nvSpPr>
        <p:spPr>
          <a:xfrm>
            <a:off x="762000" y="4368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merge and split tools.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2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8" name="Rectangle 11"/>
          <p:cNvSpPr/>
          <p:nvPr/>
        </p:nvSpPr>
        <p:spPr>
          <a:xfrm>
            <a:off x="6477000" y="1752600"/>
            <a:ext cx="5080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9" name="Oval 12"/>
          <p:cNvSpPr/>
          <p:nvPr/>
        </p:nvSpPr>
        <p:spPr>
          <a:xfrm>
            <a:off x="6629400" y="20574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30" name="Rectangle 13"/>
          <p:cNvSpPr/>
          <p:nvPr/>
        </p:nvSpPr>
        <p:spPr>
          <a:xfrm>
            <a:off x="7137400" y="1803400"/>
            <a:ext cx="4318000" cy="88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Always keep each registration's original submission time for ranking, and re-review prices after any merge or split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31" name="Rectangle 14"/>
          <p:cNvSpPr/>
          <p:nvPr/>
        </p:nvSpPr>
        <p:spPr>
          <a:xfrm>
            <a:off x="6477000" y="28702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2" name="Oval 15"/>
          <p:cNvSpPr/>
          <p:nvPr/>
        </p:nvSpPr>
        <p:spPr>
          <a:xfrm>
            <a:off x="6629400" y="30607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33" name="Rectangle 16"/>
          <p:cNvSpPr/>
          <p:nvPr/>
        </p:nvSpPr>
        <p:spPr>
          <a:xfrm>
            <a:off x="7137400" y="29210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case by case with a written reason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3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3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B3: a   or   B3: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A0DB81F-7F0B-4B60-8552-86EC2BBBBBF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B4. Who decides Won, Lost, Cancelled, or On hold?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4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9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4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Who marks the outcome of the government project, and should partners be able to report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43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5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DBGI administrators set it, with a reason. Partners cannot.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46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outcome tracking and win and loss reports.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4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8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9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50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DBGI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51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2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53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Partners report, DBGI confirms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5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5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B4: a   or   B4: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5288D33-BBAA-4D9F-8F9E-DF2657CB7F0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B5. What if two partners register at exactly the same moment?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6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10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6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First come, first served. Ties are very rare, but the rule should be known.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63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5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earliest server-recorded submission time wins. Identical times share a rank and are marked as tied.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66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final ranking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6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8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9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70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a shared rank, DBGI decides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71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2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73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The better-documented registration wins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7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7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B5: a   or   B5: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2D87927-9391-4972-8C9A-DD0B86DF8EE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B6. How long does an early registration stay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8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8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2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 before the government posts the tender (an advance registration). How long can it wait, and how specific must it be to count?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83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4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5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 time limit and no reminders. DBGI judges whether the evidence is specific enough.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86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expiry and reminder emails for early registrations.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8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8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9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90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60 days, with a reminder 7 days before, then DBGI reviews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91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2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93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limit, DBGI cleans up manually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9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9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B6: a   or   B6: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0CD13BB-211F-46C1-8A95-6E8277DF4C6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B7. What if the government postpones, cancels, or reposts a tender?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0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12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0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Does the partner keep their place when the same project is posted again?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03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5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handled. DBGI can only set the project status to Cancelled or On hold.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06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notice-change handling.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0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8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9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0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of the same project keeps the original place in line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1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2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3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starts a new race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4" name="Rectangle 17"/>
          <p:cNvSpPr/>
          <p:nvPr/>
        </p:nvSpPr>
        <p:spPr>
          <a:xfrm>
            <a:off x="6477000" y="3302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5" name="Oval 18"/>
          <p:cNvSpPr/>
          <p:nvPr/>
        </p:nvSpPr>
        <p:spPr>
          <a:xfrm>
            <a:off x="6629400" y="3378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6" name="Rectangle 19"/>
          <p:cNvSpPr/>
          <p:nvPr/>
        </p:nvSpPr>
        <p:spPr>
          <a:xfrm>
            <a:off x="7137400" y="3352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7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8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19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B7: a   or   B7: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7FABD9-B00B-4D1C-8B97-DB0B9805551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C1. How long is an approved special price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2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13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2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DBGI approves a discount for a deal, how many days before it expires, and when should the partner be reminded?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26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8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types an expiry date by hand each time (no default). Renewals add 30 days, which is already decided.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29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default expiry and reminders.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3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31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2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3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90 days, reminder 14 days before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4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5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6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Until the tender's delivery date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7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8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9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typing it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40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1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42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C1: a   or   C1: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B404BC1-014C-488B-8334-FE6DEE01E96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C2. Are prices with or without VAT?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4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14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4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48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a partner enters a requested price, or DBGI approves one, does it include 12% VAT?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49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0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1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has no VAT handling. Each price is a single number.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52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price history and correct totals. This must be confirmed by finance before launch.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53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4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5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6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prices VAT-inclusive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57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8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9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VAT-exclusive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0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1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62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Set per product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3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65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C2: a   or   C2: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2FE2B0-41F3-4ADE-8001-DB20630F7E5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C3. How should totals be rounded?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6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15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7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Quantity times discounted price can produce fractions of a centavo.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72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4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Line totals are rounded to two decimals.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75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totals that match DBGI's quotations.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7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7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8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79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each line to 2 decimals, add the lines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0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1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82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only the grand total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3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85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C3: a   or   C3: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5308F28-484E-456D-8A22-933197D5C258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C4. Can DBGI approve a price for a product that is not in the catalog yet?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8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16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9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Partners can request products not in the portal's list (typed by hand). Can those get an approved price?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92" name="Rectangle 6"/>
          <p:cNvSpPr/>
          <p:nvPr/>
        </p:nvSpPr>
        <p:spPr>
          <a:xfrm>
            <a:off x="762000" y="2489200"/>
            <a:ext cx="5334000" cy="1473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4" name="Rectangle 8"/>
          <p:cNvSpPr/>
          <p:nvPr/>
        </p:nvSpPr>
        <p:spPr>
          <a:xfrm>
            <a:off x="965200" y="2895600"/>
            <a:ext cx="49784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request them, but they get no price review at all. Price approvals are only created for catalog products, so a typed product cannot receive an approved price.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95" name="Rectangle 9"/>
          <p:cNvSpPr/>
          <p:nvPr/>
        </p:nvSpPr>
        <p:spPr>
          <a:xfrm>
            <a:off x="762000" y="40894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catalog onboarding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9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7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8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99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adds the product to the catalog first, then it gets reviewed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00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1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02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it as typed, under an "Other products" group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03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05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C4: a   or   C4: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A8E689-B97F-4808-825B-0EF07E46C53D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C5. What can partners see about prices?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0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17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1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List prices, their own approved prices, or nothing until approved?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12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4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see the list price at request time and their own approved prices. They never see other partners' prices.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15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price visibility in screens and exports.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1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7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8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19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20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1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22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Hide list prices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23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25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C5: a   or   C5: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C613433-3098-412C-8341-209F9FAF5C7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D1. Repeat orders on an approved price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2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18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3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1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After approval, a partner places more orders for the same customer. What proof is needed, and how does DBGI spot duplicates?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32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3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4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built yet. It depends on Part C.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35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6" name="Rectangle 10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does DBGI check today before honouring a repeat order at the special price?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937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38" name="Rectangle 1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9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40" name="Rectangle 1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D1: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8BD73FC-224A-46D1-8C2A-CE27EA4C51C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D2. Who gets which emails?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4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19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4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people receive the portal's email notifications, on the partner side and at DBGI.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47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9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active user at the partner company receives each notification. DBGI staff get no emails and work from the dashboard queues.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50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51" name="Rectangle 10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2" name="Oval 11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3" name="Rectangle 12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54" name="Rectangle 13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5" name="Oval 14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6" name="Rectangle 15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Email only the person who submitted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57" name="Rectangle 16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8" name="Oval 17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9" name="Rectangle 18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Also email DBGI reviewers when something needs action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60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1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62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D2: a   or   D2: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CB3A740-2E9C-452E-80DC-13F30A3E5EB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D3. Records, backups, and recovery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6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20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6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8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How long to keep old deals and files, and how quickly the portal must be back after a failure.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69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0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71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is not in production yet. Nothing is deleted automatically, and no backup schedule exists.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72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73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4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75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everything for 5 years, daily backups, back within one working day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76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7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78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IT sets the targets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79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0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81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D3: a   or   D3: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3EBE9A9-91FE-421B-8E36-B043DC6B754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D4. Business hours and holidays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8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8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87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Deadlines like "one working day" need a definition.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88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9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90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uses Philippine time and counts calendar days (for example, a renewal adds 30 calendar days). There are no working-day or holiday rules.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91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92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3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94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Monday to Friday, Philippine public holidays excluded, 5:00 PM cutoff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5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6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97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Calendar days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8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9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00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D4: a   or   D4: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92D79B1-2CDC-46B0-8633-EA8EBCBFA35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3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Your reply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1004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Easiest: fill in the Word answer form. Or copy these lines into an email.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1005" name="Rectangle 4"/>
          <p:cNvSpPr/>
          <p:nvPr/>
        </p:nvSpPr>
        <p:spPr>
          <a:xfrm>
            <a:off x="762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B2: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06" name="Rectangle 5"/>
          <p:cNvSpPr/>
          <p:nvPr/>
        </p:nvSpPr>
        <p:spPr>
          <a:xfrm>
            <a:off x="4445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B6: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B7: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C2: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07" name="Rectangle 6"/>
          <p:cNvSpPr/>
          <p:nvPr/>
        </p:nvSpPr>
        <p:spPr>
          <a:xfrm>
            <a:off x="8128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D4: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08" name="Rectangle 7"/>
          <p:cNvSpPr/>
          <p:nvPr/>
        </p:nvSpPr>
        <p:spPr>
          <a:xfrm>
            <a:off x="762000" y="46990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"DBGI Portal Answer Form" (Word) has a drop-down for each question. Save it and send it back.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09" name="Document"/>
          <p:cNvSpPr/>
          <p:nvPr/>
        </p:nvSpPr>
        <p:spPr>
          <a:xfrm>
            <a:off x="914400" y="4876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14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F0115D-A7D6-4DB5-87C7-9EEC19D432D0}" type="slidenum">
              <a:rPr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Harbor">
  <a:themeElements>
    <a:clrScheme name="Harbor">
      <a:dk1>
        <a:srgbClr val="0B1F2A"/>
      </a:dk1>
      <a:lt1>
        <a:srgbClr val="FFFFFF"/>
      </a:lt1>
      <a:dk2>
        <a:srgbClr val="12384D"/>
      </a:dk2>
      <a:lt2>
        <a:srgbClr val="E4EEF2"/>
      </a:lt2>
      <a:accent1>
        <a:srgbClr val="1B7FA6"/>
      </a:accent1>
      <a:accent2>
        <a:srgbClr val="36B3A8"/>
      </a:accent2>
      <a:accent3>
        <a:srgbClr val="F2C14E"/>
      </a:accent3>
      <a:accent4>
        <a:srgbClr val="F78154"/>
      </a:accent4>
      <a:accent5>
        <a:srgbClr val="5D576B"/>
      </a:accent5>
      <a:accent6>
        <a:srgbClr val="8AA29E"/>
      </a:accent6>
      <a:hlink>
        <a:srgbClr val="1B7FA6"/>
      </a:hlink>
      <a:folHlink>
        <a:srgbClr val="5D576B"/>
      </a:folHlink>
    </a:clrScheme>
    <a:fontScheme name="Harbor">
      <a:majorFont>
        <a:latin typeface="Merriweather"/>
        <a:ea typeface=""/>
        <a:cs typeface=""/>
      </a:majorFont>
      <a:minorFont>
        <a:latin typeface="Open Sans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45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the DBGI Portal</dc:title>
</cp:coreProperties>
</file>