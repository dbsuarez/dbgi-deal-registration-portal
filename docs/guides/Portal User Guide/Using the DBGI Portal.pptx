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theme" Target="theme/theme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arb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8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762000" y="1778000"/>
            <a:ext cx="889000" cy="10160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61" name="Rectangle 2"/>
          <p:cNvSpPr/>
          <p:nvPr/>
        </p:nvSpPr>
        <p:spPr>
          <a:xfrm>
            <a:off x="711200" y="2032000"/>
            <a:ext cx="10922000" cy="139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Using the DBGI Project Registration Portal</a:t>
            </a:r>
            <a:endParaRPr sz="4000" b="1">
              <a:solidFill>
                <a:srgbClr val="FFFFFF"/>
              </a:solidFill>
            </a:endParaRPr>
          </a:p>
        </p:txBody>
      </p:sp>
      <p:sp>
        <p:nvSpPr>
          <p:cNvPr id="262" name="Rectangle 3"/>
          <p:cNvSpPr/>
          <p:nvPr/>
        </p:nvSpPr>
        <p:spPr>
          <a:xfrm>
            <a:off x="736600" y="3454400"/>
            <a:ext cx="10668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100" b="0">
                <a:solidFill>
                  <a:srgbClr val="B9D4E0"/>
                </a:solidFill>
              </a:rPr>
              <a:t>One deal, from registration to approved price, with real screens</a:t>
            </a:r>
            <a:endParaRPr sz="2100" b="0">
              <a:solidFill>
                <a:srgbClr val="B9D4E0"/>
              </a:solidFill>
            </a:endParaRPr>
          </a:p>
        </p:txBody>
      </p:sp>
      <p:sp>
        <p:nvSpPr>
          <p:cNvPr id="263" name="Rectangle 4"/>
          <p:cNvSpPr/>
          <p:nvPr/>
        </p:nvSpPr>
        <p:spPr>
          <a:xfrm>
            <a:off x="736600" y="5588000"/>
            <a:ext cx="10668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8FB3C4"/>
                </a:solidFill>
              </a:rPr>
              <a:t>Walkthrough for company users and DBGI administrators  |  2026-10-26</a:t>
            </a:r>
            <a:endParaRPr sz="1400" b="0">
              <a:solidFill>
                <a:srgbClr val="8FB3C4"/>
              </a:solidFill>
            </a:endParaRPr>
          </a:p>
        </p:txBody>
      </p:sp>
      <p:sp>
        <p:nvSpPr>
          <p:cNvPr id="570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4E0D67-8901-4D8D-881D-3D861B2E5AE2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66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Two kinds of users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267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Everyone signs in at the same portal, but sees different screens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268" name="Rectangle 4"/>
          <p:cNvSpPr/>
          <p:nvPr/>
        </p:nvSpPr>
        <p:spPr>
          <a:xfrm>
            <a:off x="762000" y="1714500"/>
            <a:ext cx="5270500" cy="381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69" name="Rectangle 5"/>
          <p:cNvSpPr/>
          <p:nvPr/>
        </p:nvSpPr>
        <p:spPr>
          <a:xfrm>
            <a:off x="762000" y="1714500"/>
            <a:ext cx="5270500" cy="1016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70" name="Oval 6"/>
          <p:cNvSpPr/>
          <p:nvPr/>
        </p:nvSpPr>
        <p:spPr>
          <a:xfrm>
            <a:off x="1066800" y="2095500"/>
            <a:ext cx="711200" cy="7112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71" name="Briefcase"/>
          <p:cNvSpPr/>
          <p:nvPr/>
        </p:nvSpPr>
        <p:spPr>
          <a:xfrm>
            <a:off x="1244600" y="22733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66667" y="83333"/>
                </a:moveTo>
                <a:lnTo>
                  <a:pt x="66667" y="16667"/>
                </a:lnTo>
                <a:cubicBezTo>
                  <a:pt x="66667" y="12064"/>
                  <a:pt x="62936" y="8333"/>
                  <a:pt x="58333" y="8333"/>
                </a:cubicBezTo>
                <a:lnTo>
                  <a:pt x="41667" y="8333"/>
                </a:lnTo>
                <a:cubicBezTo>
                  <a:pt x="37064" y="8333"/>
                  <a:pt x="33333" y="12064"/>
                  <a:pt x="33333" y="16667"/>
                </a:cubicBezTo>
                <a:lnTo>
                  <a:pt x="33333" y="83333"/>
                </a:lnTo>
                <a:moveTo>
                  <a:pt x="16667" y="25000"/>
                </a:moveTo>
                <a:lnTo>
                  <a:pt x="83333" y="25000"/>
                </a:lnTo>
                <a:cubicBezTo>
                  <a:pt x="87936" y="25000"/>
                  <a:pt x="91667" y="28731"/>
                  <a:pt x="91667" y="33333"/>
                </a:cubicBezTo>
                <a:lnTo>
                  <a:pt x="91667" y="75000"/>
                </a:lnTo>
                <a:cubicBezTo>
                  <a:pt x="91667" y="79603"/>
                  <a:pt x="87936" y="83333"/>
                  <a:pt x="83333" y="83333"/>
                </a:cubicBezTo>
                <a:lnTo>
                  <a:pt x="16667" y="83333"/>
                </a:lnTo>
                <a:cubicBezTo>
                  <a:pt x="12064" y="83333"/>
                  <a:pt x="8333" y="79603"/>
                  <a:pt x="8333" y="75000"/>
                </a:cubicBezTo>
                <a:lnTo>
                  <a:pt x="8333" y="33333"/>
                </a:lnTo>
                <a:cubicBezTo>
                  <a:pt x="8333" y="28731"/>
                  <a:pt x="12064" y="25000"/>
                  <a:pt x="16667" y="25000"/>
                </a:cubicBezTo>
                <a:close/>
              </a:path>
            </a:pathLst>
          </a:custGeom>
          <a:noFill/>
          <a:ln w="29633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272" name="Rectangle 8"/>
          <p:cNvSpPr/>
          <p:nvPr/>
        </p:nvSpPr>
        <p:spPr>
          <a:xfrm>
            <a:off x="1981200" y="2184400"/>
            <a:ext cx="381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2200" b="1">
                <a:solidFill>
                  <a:srgbClr val="12384D"/>
                </a:solidFill>
              </a:rPr>
              <a:t>Company user</a:t>
            </a:r>
            <a:endParaRPr sz="2200" b="1">
              <a:solidFill>
                <a:srgbClr val="12384D"/>
              </a:solidFill>
            </a:endParaRPr>
          </a:p>
        </p:txBody>
      </p:sp>
      <p:sp>
        <p:nvSpPr>
          <p:cNvPr id="273" name="Rectangle 9"/>
          <p:cNvSpPr/>
          <p:nvPr/>
        </p:nvSpPr>
        <p:spPr>
          <a:xfrm>
            <a:off x="1066800" y="3048000"/>
            <a:ext cx="4699000" cy="15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Works for a partner dealer.</a:t>
            </a:r>
            <a:endParaRPr sz="1500" b="0">
              <a:solidFill>
                <a:srgbClr val="1E2B3C"/>
              </a:solidFill>
            </a:endParaRPr>
          </a:p>
          <a:p>
            <a:pPr algn="l"/>
            <a:r>
              <a:rPr sz="1500" b="0">
                <a:solidFill>
                  <a:srgbClr val="1E2B3C"/>
                </a:solidFill>
              </a:rPr>
              <a:t>Registers deals, answers DBGI's questions, and checks decisions and approved prices.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274" name="Rectangle 10"/>
          <p:cNvSpPr/>
          <p:nvPr/>
        </p:nvSpPr>
        <p:spPr>
          <a:xfrm>
            <a:off x="1066800" y="4762500"/>
            <a:ext cx="4660900" cy="508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300" b="1">
                <a:solidFill>
                  <a:srgbClr val="12384D"/>
                </a:solidFill>
              </a:rPr>
              <a:t>Uses: Registrations, Notifications, Rankings, Help</a:t>
            </a:r>
            <a:endParaRPr sz="1300" b="1">
              <a:solidFill>
                <a:srgbClr val="12384D"/>
              </a:solidFill>
            </a:endParaRPr>
          </a:p>
        </p:txBody>
      </p:sp>
      <p:sp>
        <p:nvSpPr>
          <p:cNvPr id="275" name="Rectangle 11"/>
          <p:cNvSpPr/>
          <p:nvPr/>
        </p:nvSpPr>
        <p:spPr>
          <a:xfrm>
            <a:off x="6286500" y="1714500"/>
            <a:ext cx="5270500" cy="381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76" name="Rectangle 12"/>
          <p:cNvSpPr/>
          <p:nvPr/>
        </p:nvSpPr>
        <p:spPr>
          <a:xfrm>
            <a:off x="6286500" y="1714500"/>
            <a:ext cx="5270500" cy="101600"/>
          </a:xfrm>
          <a:prstGeom prst="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77" name="Oval 13"/>
          <p:cNvSpPr/>
          <p:nvPr/>
        </p:nvSpPr>
        <p:spPr>
          <a:xfrm>
            <a:off x="6591300" y="2095500"/>
            <a:ext cx="711200" cy="7112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78" name="Building"/>
          <p:cNvSpPr/>
          <p:nvPr/>
        </p:nvSpPr>
        <p:spPr>
          <a:xfrm>
            <a:off x="6769100" y="22733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50000" y="41667"/>
                </a:moveTo>
                <a:lnTo>
                  <a:pt x="50042" y="41667"/>
                </a:lnTo>
                <a:moveTo>
                  <a:pt x="50000" y="58333"/>
                </a:moveTo>
                <a:lnTo>
                  <a:pt x="50042" y="58333"/>
                </a:lnTo>
                <a:moveTo>
                  <a:pt x="50000" y="25000"/>
                </a:moveTo>
                <a:lnTo>
                  <a:pt x="50042" y="25000"/>
                </a:lnTo>
                <a:moveTo>
                  <a:pt x="66667" y="41667"/>
                </a:moveTo>
                <a:lnTo>
                  <a:pt x="66708" y="41667"/>
                </a:lnTo>
                <a:moveTo>
                  <a:pt x="66667" y="58333"/>
                </a:moveTo>
                <a:lnTo>
                  <a:pt x="66708" y="58333"/>
                </a:lnTo>
                <a:moveTo>
                  <a:pt x="66667" y="25000"/>
                </a:moveTo>
                <a:lnTo>
                  <a:pt x="66708" y="25000"/>
                </a:lnTo>
                <a:moveTo>
                  <a:pt x="33333" y="41667"/>
                </a:moveTo>
                <a:lnTo>
                  <a:pt x="33375" y="41667"/>
                </a:lnTo>
                <a:moveTo>
                  <a:pt x="33333" y="58333"/>
                </a:moveTo>
                <a:lnTo>
                  <a:pt x="33375" y="58333"/>
                </a:lnTo>
                <a:moveTo>
                  <a:pt x="33333" y="25000"/>
                </a:moveTo>
                <a:lnTo>
                  <a:pt x="33375" y="25000"/>
                </a:lnTo>
                <a:moveTo>
                  <a:pt x="37500" y="91667"/>
                </a:moveTo>
                <a:lnTo>
                  <a:pt x="37500" y="79167"/>
                </a:lnTo>
                <a:cubicBezTo>
                  <a:pt x="37500" y="76865"/>
                  <a:pt x="39365" y="75000"/>
                  <a:pt x="41667" y="75000"/>
                </a:cubicBezTo>
                <a:lnTo>
                  <a:pt x="58333" y="75000"/>
                </a:lnTo>
                <a:cubicBezTo>
                  <a:pt x="60635" y="75000"/>
                  <a:pt x="62500" y="76865"/>
                  <a:pt x="62500" y="79167"/>
                </a:cubicBezTo>
                <a:lnTo>
                  <a:pt x="62500" y="91667"/>
                </a:lnTo>
                <a:moveTo>
                  <a:pt x="25000" y="8333"/>
                </a:moveTo>
                <a:lnTo>
                  <a:pt x="75000" y="8333"/>
                </a:lnTo>
                <a:cubicBezTo>
                  <a:pt x="79603" y="8333"/>
                  <a:pt x="83333" y="12064"/>
                  <a:pt x="83333" y="16667"/>
                </a:cubicBezTo>
                <a:lnTo>
                  <a:pt x="83333" y="83333"/>
                </a:lnTo>
                <a:cubicBezTo>
                  <a:pt x="83333" y="87936"/>
                  <a:pt x="79603" y="91667"/>
                  <a:pt x="75000" y="91667"/>
                </a:cubicBezTo>
                <a:lnTo>
                  <a:pt x="25000" y="91667"/>
                </a:lnTo>
                <a:cubicBezTo>
                  <a:pt x="20398" y="91667"/>
                  <a:pt x="16667" y="87936"/>
                  <a:pt x="16667" y="83333"/>
                </a:cubicBezTo>
                <a:lnTo>
                  <a:pt x="16667" y="16667"/>
                </a:lnTo>
                <a:cubicBezTo>
                  <a:pt x="16667" y="12064"/>
                  <a:pt x="20398" y="8333"/>
                  <a:pt x="25000" y="8333"/>
                </a:cubicBezTo>
                <a:close/>
              </a:path>
            </a:pathLst>
          </a:custGeom>
          <a:noFill/>
          <a:ln w="29633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279" name="Rectangle 15"/>
          <p:cNvSpPr/>
          <p:nvPr/>
        </p:nvSpPr>
        <p:spPr>
          <a:xfrm>
            <a:off x="7505700" y="2184400"/>
            <a:ext cx="38100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2200" b="1">
                <a:solidFill>
                  <a:srgbClr val="12384D"/>
                </a:solidFill>
              </a:rPr>
              <a:t>DBGI administrator</a:t>
            </a:r>
            <a:endParaRPr sz="2200" b="1">
              <a:solidFill>
                <a:srgbClr val="12384D"/>
              </a:solidFill>
            </a:endParaRPr>
          </a:p>
        </p:txBody>
      </p:sp>
      <p:sp>
        <p:nvSpPr>
          <p:cNvPr id="280" name="Rectangle 16"/>
          <p:cNvSpPr/>
          <p:nvPr/>
        </p:nvSpPr>
        <p:spPr>
          <a:xfrm>
            <a:off x="6591300" y="3048000"/>
            <a:ext cx="4699000" cy="15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1E2B3C"/>
                </a:solidFill>
              </a:rPr>
              <a:t>Works for DBGI.</a:t>
            </a:r>
            <a:endParaRPr sz="1500" b="0">
              <a:solidFill>
                <a:srgbClr val="1E2B3C"/>
              </a:solidFill>
            </a:endParaRPr>
          </a:p>
          <a:p>
            <a:pPr algn="l"/>
            <a:r>
              <a:rPr sz="1500" b="0">
                <a:solidFill>
                  <a:srgbClr val="1E2B3C"/>
                </a:solidFill>
              </a:rPr>
              <a:t>Reviews every registration, decides matches and prices, and keeps master data clean.</a:t>
            </a:r>
            <a:endParaRPr sz="1500" b="0">
              <a:solidFill>
                <a:srgbClr val="1E2B3C"/>
              </a:solidFill>
            </a:endParaRPr>
          </a:p>
        </p:txBody>
      </p:sp>
      <p:sp>
        <p:nvSpPr>
          <p:cNvPr id="281" name="Rectangle 17"/>
          <p:cNvSpPr/>
          <p:nvPr/>
        </p:nvSpPr>
        <p:spPr>
          <a:xfrm>
            <a:off x="6591300" y="4762500"/>
            <a:ext cx="4660900" cy="508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300" b="1">
                <a:solidFill>
                  <a:srgbClr val="12384D"/>
                </a:solidFill>
              </a:rPr>
              <a:t>Uses: Registration pages and the Administration area</a:t>
            </a:r>
            <a:endParaRPr sz="1300" b="1">
              <a:solidFill>
                <a:srgbClr val="12384D"/>
              </a:solidFill>
            </a:endParaRPr>
          </a:p>
        </p:txBody>
      </p:sp>
      <p:sp>
        <p:nvSpPr>
          <p:cNvPr id="282" name="Rectangle 18"/>
          <p:cNvSpPr/>
          <p:nvPr/>
        </p:nvSpPr>
        <p:spPr>
          <a:xfrm>
            <a:off x="762000" y="5778500"/>
            <a:ext cx="10795000" cy="5842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12384D"/>
                </a:solidFill>
              </a:rPr>
              <a:t>Every slide that follows shows a chip in the top-right corner saying who does that step.</a:t>
            </a:r>
            <a:endParaRPr sz="1300" b="0">
              <a:solidFill>
                <a:srgbClr val="12384D"/>
              </a:solidFill>
            </a:endParaRPr>
          </a:p>
        </p:txBody>
      </p:sp>
      <p:sp>
        <p:nvSpPr>
          <p:cNvPr id="283" name="Info"/>
          <p:cNvSpPr/>
          <p:nvPr/>
        </p:nvSpPr>
        <p:spPr>
          <a:xfrm>
            <a:off x="914400" y="5930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66667"/>
                </a:moveTo>
                <a:lnTo>
                  <a:pt x="50000" y="50000"/>
                </a:lnTo>
                <a:moveTo>
                  <a:pt x="50000" y="33333"/>
                </a:moveTo>
                <a:lnTo>
                  <a:pt x="50042" y="33333"/>
                </a:lnTo>
              </a:path>
            </a:pathLst>
          </a:custGeom>
          <a:noFill/>
          <a:ln w="23283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73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266782-2A85-475A-865E-BAD95958CDD5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86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The journey we will follow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287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A real registration, DBGI-000012, created in the portal's test environment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288" name="Rectangle 4"/>
          <p:cNvSpPr/>
          <p:nvPr/>
        </p:nvSpPr>
        <p:spPr>
          <a:xfrm>
            <a:off x="762000" y="1625600"/>
            <a:ext cx="3810000" cy="4191000"/>
          </a:xfrm>
          <a:prstGeom prst="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89" name="Rectangle 5"/>
          <p:cNvSpPr/>
          <p:nvPr/>
        </p:nvSpPr>
        <p:spPr>
          <a:xfrm>
            <a:off x="965200" y="1752600"/>
            <a:ext cx="3429000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12384D"/>
                </a:solidFill>
              </a:rPr>
              <a:t>The example deal</a:t>
            </a:r>
            <a:endParaRPr sz="1600" b="1">
              <a:solidFill>
                <a:srgbClr val="12384D"/>
              </a:solidFill>
            </a:endParaRPr>
          </a:p>
        </p:txBody>
      </p:sp>
      <p:sp>
        <p:nvSpPr>
          <p:cNvPr id="290" name="Rectangle 6"/>
          <p:cNvSpPr/>
          <p:nvPr/>
        </p:nvSpPr>
        <p:spPr>
          <a:xfrm>
            <a:off x="965200" y="2133600"/>
            <a:ext cx="3454400" cy="368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Dealer: DEMO ONLY - Sample Partner (a demo company)</a:t>
            </a:r>
            <a:endParaRPr sz="1300" b="0">
              <a:solidFill>
                <a:srgbClr val="1E2B3C"/>
              </a:solidFill>
            </a:endParaRPr>
          </a:p>
          <a:p>
            <a:pPr algn="l"/>
            <a:endParaRPr sz="1300" b="0">
              <a:solidFill>
                <a:srgbClr val="1E2B3C"/>
              </a:solidFill>
            </a:endParaRPr>
          </a:p>
          <a:p>
            <a:pPr algn="l"/>
            <a:r>
              <a:rPr sz="1300" b="0">
                <a:solidFill>
                  <a:srgbClr val="1E2B3C"/>
                </a:solidFill>
              </a:rPr>
              <a:t>Buyer (End-user): Pasig City Schools Division Office</a:t>
            </a:r>
            <a:endParaRPr sz="1300" b="0">
              <a:solidFill>
                <a:srgbClr val="1E2B3C"/>
              </a:solidFill>
            </a:endParaRPr>
          </a:p>
          <a:p>
            <a:pPr algn="l"/>
            <a:endParaRPr sz="1300" b="0">
              <a:solidFill>
                <a:srgbClr val="1E2B3C"/>
              </a:solidFill>
            </a:endParaRPr>
          </a:p>
          <a:p>
            <a:pPr algn="l"/>
            <a:r>
              <a:rPr sz="1300" b="0">
                <a:solidFill>
                  <a:srgbClr val="1E2B3C"/>
                </a:solidFill>
              </a:rPr>
              <a:t>Needs: 20 laser printers, model M1820W</a:t>
            </a:r>
            <a:endParaRPr sz="1300" b="0">
              <a:solidFill>
                <a:srgbClr val="1E2B3C"/>
              </a:solidFill>
            </a:endParaRPr>
          </a:p>
          <a:p>
            <a:pPr algn="l"/>
            <a:r>
              <a:rPr sz="1300" b="0">
                <a:solidFill>
                  <a:srgbClr val="1E2B3C"/>
                </a:solidFill>
              </a:rPr>
              <a:t>List price: PHP 10,000 each</a:t>
            </a:r>
            <a:endParaRPr sz="1300" b="0">
              <a:solidFill>
                <a:srgbClr val="1E2B3C"/>
              </a:solidFill>
            </a:endParaRPr>
          </a:p>
          <a:p>
            <a:pPr algn="l"/>
            <a:endParaRPr sz="1300" b="0">
              <a:solidFill>
                <a:srgbClr val="1E2B3C"/>
              </a:solidFill>
            </a:endParaRPr>
          </a:p>
          <a:p>
            <a:pPr algn="l"/>
            <a:r>
              <a:rPr sz="1300" b="0">
                <a:solidFill>
                  <a:srgbClr val="1E2B3C"/>
                </a:solidFill>
              </a:rPr>
              <a:t>Competitor: Canon at PHP 9,300</a:t>
            </a:r>
            <a:endParaRPr sz="1300" b="0">
              <a:solidFill>
                <a:srgbClr val="1E2B3C"/>
              </a:solidFill>
            </a:endParaRPr>
          </a:p>
          <a:p>
            <a:pPr algn="l"/>
            <a:endParaRPr sz="1300" b="0">
              <a:solidFill>
                <a:srgbClr val="1E2B3C"/>
              </a:solidFill>
            </a:endParaRPr>
          </a:p>
          <a:p>
            <a:pPr algn="l"/>
            <a:r>
              <a:rPr sz="1300" b="0">
                <a:solidFill>
                  <a:srgbClr val="1E2B3C"/>
                </a:solidFill>
              </a:rPr>
              <a:t>Dealer asks DBGI for: PHP 9,000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291" name="Oval 7"/>
          <p:cNvSpPr/>
          <p:nvPr/>
        </p:nvSpPr>
        <p:spPr>
          <a:xfrm>
            <a:off x="4889500" y="1625600"/>
            <a:ext cx="431800" cy="431800"/>
          </a:xfrm>
          <a:prstGeom prst="ellipse">
            <a:avLst/>
          </a:prstGeom>
          <a:solidFill>
            <a:srgbClr val="5B6B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292" name="Rectangle 8"/>
          <p:cNvSpPr/>
          <p:nvPr/>
        </p:nvSpPr>
        <p:spPr>
          <a:xfrm>
            <a:off x="5435600" y="1625600"/>
            <a:ext cx="3937000" cy="43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Sign in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293" name="Rectangle 9"/>
          <p:cNvSpPr/>
          <p:nvPr/>
        </p:nvSpPr>
        <p:spPr>
          <a:xfrm>
            <a:off x="9474200" y="1625600"/>
            <a:ext cx="2159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200" b="1">
                <a:solidFill>
                  <a:srgbClr val="5B6B7A"/>
                </a:solidFill>
              </a:rPr>
              <a:t>Both</a:t>
            </a:r>
            <a:endParaRPr sz="1200" b="1">
              <a:solidFill>
                <a:srgbClr val="5B6B7A"/>
              </a:solidFill>
            </a:endParaRPr>
          </a:p>
        </p:txBody>
      </p:sp>
      <p:sp>
        <p:nvSpPr>
          <p:cNvPr id="294" name="Oval 10"/>
          <p:cNvSpPr/>
          <p:nvPr/>
        </p:nvSpPr>
        <p:spPr>
          <a:xfrm>
            <a:off x="4889500" y="2159000"/>
            <a:ext cx="431800" cy="431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295" name="Rectangle 11"/>
          <p:cNvSpPr/>
          <p:nvPr/>
        </p:nvSpPr>
        <p:spPr>
          <a:xfrm>
            <a:off x="5435600" y="2159000"/>
            <a:ext cx="3937000" cy="43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Create and submit the registration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296" name="Rectangle 12"/>
          <p:cNvSpPr/>
          <p:nvPr/>
        </p:nvSpPr>
        <p:spPr>
          <a:xfrm>
            <a:off x="9474200" y="2159000"/>
            <a:ext cx="2159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200" b="1">
                <a:solidFill>
                  <a:srgbClr val="1B7FA6"/>
                </a:solidFill>
              </a:rPr>
              <a:t>Company user</a:t>
            </a:r>
            <a:endParaRPr sz="1200" b="1">
              <a:solidFill>
                <a:srgbClr val="1B7FA6"/>
              </a:solidFill>
            </a:endParaRPr>
          </a:p>
        </p:txBody>
      </p:sp>
      <p:sp>
        <p:nvSpPr>
          <p:cNvPr id="297" name="Oval 13"/>
          <p:cNvSpPr/>
          <p:nvPr/>
        </p:nvSpPr>
        <p:spPr>
          <a:xfrm>
            <a:off x="4889500" y="2692400"/>
            <a:ext cx="431800" cy="4318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298" name="Rectangle 14"/>
          <p:cNvSpPr/>
          <p:nvPr/>
        </p:nvSpPr>
        <p:spPr>
          <a:xfrm>
            <a:off x="5435600" y="2692400"/>
            <a:ext cx="3937000" cy="43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Review it and ask for a correction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299" name="Rectangle 15"/>
          <p:cNvSpPr/>
          <p:nvPr/>
        </p:nvSpPr>
        <p:spPr>
          <a:xfrm>
            <a:off x="9474200" y="2692400"/>
            <a:ext cx="2159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200" b="1">
                <a:solidFill>
                  <a:srgbClr val="12384D"/>
                </a:solidFill>
              </a:rPr>
              <a:t>DBGI administrator</a:t>
            </a:r>
            <a:endParaRPr sz="1200" b="1">
              <a:solidFill>
                <a:srgbClr val="12384D"/>
              </a:solidFill>
            </a:endParaRPr>
          </a:p>
        </p:txBody>
      </p:sp>
      <p:sp>
        <p:nvSpPr>
          <p:cNvPr id="300" name="Oval 16"/>
          <p:cNvSpPr/>
          <p:nvPr/>
        </p:nvSpPr>
        <p:spPr>
          <a:xfrm>
            <a:off x="4889500" y="3225800"/>
            <a:ext cx="431800" cy="431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301" name="Rectangle 17"/>
          <p:cNvSpPr/>
          <p:nvPr/>
        </p:nvSpPr>
        <p:spPr>
          <a:xfrm>
            <a:off x="5435600" y="3225800"/>
            <a:ext cx="3937000" cy="43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Correct it and resubmit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02" name="Rectangle 18"/>
          <p:cNvSpPr/>
          <p:nvPr/>
        </p:nvSpPr>
        <p:spPr>
          <a:xfrm>
            <a:off x="9474200" y="3225800"/>
            <a:ext cx="2159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200" b="1">
                <a:solidFill>
                  <a:srgbClr val="1B7FA6"/>
                </a:solidFill>
              </a:rPr>
              <a:t>Company user</a:t>
            </a:r>
            <a:endParaRPr sz="1200" b="1">
              <a:solidFill>
                <a:srgbClr val="1B7FA6"/>
              </a:solidFill>
            </a:endParaRPr>
          </a:p>
        </p:txBody>
      </p:sp>
      <p:sp>
        <p:nvSpPr>
          <p:cNvPr id="303" name="Oval 19"/>
          <p:cNvSpPr/>
          <p:nvPr/>
        </p:nvSpPr>
        <p:spPr>
          <a:xfrm>
            <a:off x="4889500" y="3759200"/>
            <a:ext cx="431800" cy="4318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304" name="Rectangle 20"/>
          <p:cNvSpPr/>
          <p:nvPr/>
        </p:nvSpPr>
        <p:spPr>
          <a:xfrm>
            <a:off x="5435600" y="3759200"/>
            <a:ext cx="3937000" cy="43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Confirm the registration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05" name="Rectangle 21"/>
          <p:cNvSpPr/>
          <p:nvPr/>
        </p:nvSpPr>
        <p:spPr>
          <a:xfrm>
            <a:off x="9474200" y="3759200"/>
            <a:ext cx="2159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200" b="1">
                <a:solidFill>
                  <a:srgbClr val="12384D"/>
                </a:solidFill>
              </a:rPr>
              <a:t>DBGI administrator</a:t>
            </a:r>
            <a:endParaRPr sz="1200" b="1">
              <a:solidFill>
                <a:srgbClr val="12384D"/>
              </a:solidFill>
            </a:endParaRPr>
          </a:p>
        </p:txBody>
      </p:sp>
      <p:sp>
        <p:nvSpPr>
          <p:cNvPr id="306" name="Oval 22"/>
          <p:cNvSpPr/>
          <p:nvPr/>
        </p:nvSpPr>
        <p:spPr>
          <a:xfrm>
            <a:off x="4889500" y="4292600"/>
            <a:ext cx="431800" cy="431800"/>
          </a:xfrm>
          <a:prstGeom prst="ellipse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307" name="Rectangle 23"/>
          <p:cNvSpPr/>
          <p:nvPr/>
        </p:nvSpPr>
        <p:spPr>
          <a:xfrm>
            <a:off x="5435600" y="4292600"/>
            <a:ext cx="3937000" cy="43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Approve the price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08" name="Rectangle 24"/>
          <p:cNvSpPr/>
          <p:nvPr/>
        </p:nvSpPr>
        <p:spPr>
          <a:xfrm>
            <a:off x="9474200" y="4292600"/>
            <a:ext cx="2159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200" b="1">
                <a:solidFill>
                  <a:srgbClr val="12384D"/>
                </a:solidFill>
              </a:rPr>
              <a:t>DBGI administrator</a:t>
            </a:r>
            <a:endParaRPr sz="1200" b="1">
              <a:solidFill>
                <a:srgbClr val="12384D"/>
              </a:solidFill>
            </a:endParaRPr>
          </a:p>
        </p:txBody>
      </p:sp>
      <p:sp>
        <p:nvSpPr>
          <p:cNvPr id="309" name="Oval 25"/>
          <p:cNvSpPr/>
          <p:nvPr/>
        </p:nvSpPr>
        <p:spPr>
          <a:xfrm>
            <a:off x="4889500" y="4826000"/>
            <a:ext cx="431800" cy="431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310" name="Rectangle 26"/>
          <p:cNvSpPr/>
          <p:nvPr/>
        </p:nvSpPr>
        <p:spPr>
          <a:xfrm>
            <a:off x="5435600" y="4826000"/>
            <a:ext cx="3937000" cy="43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See the decision and approved price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11" name="Rectangle 27"/>
          <p:cNvSpPr/>
          <p:nvPr/>
        </p:nvSpPr>
        <p:spPr>
          <a:xfrm>
            <a:off x="9474200" y="4826000"/>
            <a:ext cx="2159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200" b="1">
                <a:solidFill>
                  <a:srgbClr val="1B7FA6"/>
                </a:solidFill>
              </a:rPr>
              <a:t>Company user</a:t>
            </a:r>
            <a:endParaRPr sz="1200" b="1">
              <a:solidFill>
                <a:srgbClr val="1B7FA6"/>
              </a:solidFill>
            </a:endParaRPr>
          </a:p>
        </p:txBody>
      </p:sp>
      <p:sp>
        <p:nvSpPr>
          <p:cNvPr id="312" name="Oval 28"/>
          <p:cNvSpPr/>
          <p:nvPr/>
        </p:nvSpPr>
        <p:spPr>
          <a:xfrm>
            <a:off x="4889500" y="5359400"/>
            <a:ext cx="431800" cy="431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313" name="Rectangle 29"/>
          <p:cNvSpPr/>
          <p:nvPr/>
        </p:nvSpPr>
        <p:spPr>
          <a:xfrm>
            <a:off x="5435600" y="5359400"/>
            <a:ext cx="3937000" cy="43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Check the ranking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14" name="Rectangle 30"/>
          <p:cNvSpPr/>
          <p:nvPr/>
        </p:nvSpPr>
        <p:spPr>
          <a:xfrm>
            <a:off x="9474200" y="5359400"/>
            <a:ext cx="21590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200" b="1">
                <a:solidFill>
                  <a:srgbClr val="1B7FA6"/>
                </a:solidFill>
              </a:rPr>
              <a:t>Company user</a:t>
            </a:r>
            <a:endParaRPr sz="1200" b="1">
              <a:solidFill>
                <a:srgbClr val="1B7FA6"/>
              </a:solidFill>
            </a:endParaRPr>
          </a:p>
        </p:txBody>
      </p:sp>
      <p:sp>
        <p:nvSpPr>
          <p:cNvPr id="315" name="Rectangle 31"/>
          <p:cNvSpPr/>
          <p:nvPr/>
        </p:nvSpPr>
        <p:spPr>
          <a:xfrm>
            <a:off x="762000" y="5994400"/>
            <a:ext cx="10795000" cy="508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12384D"/>
                </a:solidFill>
              </a:rPr>
              <a:t>Steps 3 and 4 are optional in real life: they only happen when DBGI needs more information.</a:t>
            </a:r>
            <a:endParaRPr sz="1300" b="0">
              <a:solidFill>
                <a:srgbClr val="12384D"/>
              </a:solidFill>
            </a:endParaRPr>
          </a:p>
        </p:txBody>
      </p:sp>
      <p:sp>
        <p:nvSpPr>
          <p:cNvPr id="316" name="Info"/>
          <p:cNvSpPr/>
          <p:nvPr/>
        </p:nvSpPr>
        <p:spPr>
          <a:xfrm>
            <a:off x="914400" y="6108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66667"/>
                </a:moveTo>
                <a:lnTo>
                  <a:pt x="50000" y="50000"/>
                </a:lnTo>
                <a:moveTo>
                  <a:pt x="50000" y="33333"/>
                </a:moveTo>
                <a:lnTo>
                  <a:pt x="50042" y="33333"/>
                </a:lnTo>
              </a:path>
            </a:pathLst>
          </a:custGeom>
          <a:noFill/>
          <a:ln w="23283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76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219E0-3C5E-43C7-87F2-6F36B66D5D50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19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Sign in and find your way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320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The registrations list is your home page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321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1  |  Both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323" name="Picture 5" descr="login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651000"/>
            <a:ext cx="2921000" cy="265430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pic>
        <p:nvPicPr>
          <p:cNvPr id="325" name="Picture 6" descr="lis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37000" y="1651000"/>
            <a:ext cx="7620000" cy="254000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326" name="Rectangle 7"/>
          <p:cNvSpPr/>
          <p:nvPr/>
        </p:nvSpPr>
        <p:spPr>
          <a:xfrm>
            <a:off x="762000" y="4699000"/>
            <a:ext cx="10795000" cy="177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Sign in with the username and password DBGI gave you. Test environments also show one-click test accounts.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The top menu has Rankings, Notifications, Help, and Log out. DBGI administrators also see Administration.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Company users start a deal with NEW REGISTRATION. Each row in the table is one registration; click its reference to open it.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579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D1DB54B-4FC6-4944-8106-E43DA6D7893B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29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Read the three status badges separately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330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Every registration shows three badges. They answer different questions.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331" name="Rectangle 4"/>
          <p:cNvSpPr/>
          <p:nvPr/>
        </p:nvSpPr>
        <p:spPr>
          <a:xfrm>
            <a:off x="762000" y="1587500"/>
            <a:ext cx="3429000" cy="403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32" name="Rectangle 5"/>
          <p:cNvSpPr/>
          <p:nvPr/>
        </p:nvSpPr>
        <p:spPr>
          <a:xfrm>
            <a:off x="762000" y="1587500"/>
            <a:ext cx="3429000" cy="5080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Registration status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33" name="Rectangle 6"/>
          <p:cNvSpPr/>
          <p:nvPr/>
        </p:nvSpPr>
        <p:spPr>
          <a:xfrm>
            <a:off x="939800" y="2159000"/>
            <a:ext cx="30734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5B6B7A"/>
                </a:solidFill>
              </a:rPr>
              <a:t>Is the deal accepted by DBGI?</a:t>
            </a:r>
            <a:endParaRPr sz="1300" b="0">
              <a:solidFill>
                <a:srgbClr val="5B6B7A"/>
              </a:solidFill>
            </a:endParaRPr>
          </a:p>
        </p:txBody>
      </p:sp>
      <p:sp>
        <p:nvSpPr>
          <p:cNvPr id="334" name="Rectangle 7"/>
          <p:cNvSpPr/>
          <p:nvPr/>
        </p:nvSpPr>
        <p:spPr>
          <a:xfrm>
            <a:off x="939800" y="26924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Submitted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35" name="Rectangle 8"/>
          <p:cNvSpPr/>
          <p:nvPr/>
        </p:nvSpPr>
        <p:spPr>
          <a:xfrm>
            <a:off x="939800" y="30861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Under review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36" name="Rectangle 9"/>
          <p:cNvSpPr/>
          <p:nvPr/>
        </p:nvSpPr>
        <p:spPr>
          <a:xfrm>
            <a:off x="939800" y="34798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Changes requested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37" name="Rectangle 10"/>
          <p:cNvSpPr/>
          <p:nvPr/>
        </p:nvSpPr>
        <p:spPr>
          <a:xfrm>
            <a:off x="939800" y="38735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Resubmitted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38" name="Rectangle 11"/>
          <p:cNvSpPr/>
          <p:nvPr/>
        </p:nvSpPr>
        <p:spPr>
          <a:xfrm>
            <a:off x="939800" y="42672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Registered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39" name="Rectangle 12"/>
          <p:cNvSpPr/>
          <p:nvPr/>
        </p:nvSpPr>
        <p:spPr>
          <a:xfrm>
            <a:off x="939800" y="46609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Review required after edit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40" name="Rectangle 13"/>
          <p:cNvSpPr/>
          <p:nvPr/>
        </p:nvSpPr>
        <p:spPr>
          <a:xfrm>
            <a:off x="939800" y="50546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Rejected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41" name="Rectangle 14"/>
          <p:cNvSpPr/>
          <p:nvPr/>
        </p:nvSpPr>
        <p:spPr>
          <a:xfrm>
            <a:off x="4445000" y="1587500"/>
            <a:ext cx="3429000" cy="403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42" name="Rectangle 15"/>
          <p:cNvSpPr/>
          <p:nvPr/>
        </p:nvSpPr>
        <p:spPr>
          <a:xfrm>
            <a:off x="4445000" y="1587500"/>
            <a:ext cx="3429000" cy="508000"/>
          </a:xfrm>
          <a:prstGeom prst="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Project status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43" name="Rectangle 16"/>
          <p:cNvSpPr/>
          <p:nvPr/>
        </p:nvSpPr>
        <p:spPr>
          <a:xfrm>
            <a:off x="4622800" y="2159000"/>
            <a:ext cx="30734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5B6B7A"/>
                </a:solidFill>
              </a:rPr>
              <a:t>Is the procurement itself going ahead?</a:t>
            </a:r>
            <a:endParaRPr sz="1300" b="0">
              <a:solidFill>
                <a:srgbClr val="5B6B7A"/>
              </a:solidFill>
            </a:endParaRPr>
          </a:p>
        </p:txBody>
      </p:sp>
      <p:sp>
        <p:nvSpPr>
          <p:cNvPr id="344" name="Rectangle 17"/>
          <p:cNvSpPr/>
          <p:nvPr/>
        </p:nvSpPr>
        <p:spPr>
          <a:xfrm>
            <a:off x="4622800" y="26924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Not linked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45" name="Rectangle 18"/>
          <p:cNvSpPr/>
          <p:nvPr/>
        </p:nvSpPr>
        <p:spPr>
          <a:xfrm>
            <a:off x="4622800" y="30861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Upcoming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46" name="Rectangle 19"/>
          <p:cNvSpPr/>
          <p:nvPr/>
        </p:nvSpPr>
        <p:spPr>
          <a:xfrm>
            <a:off x="4622800" y="34798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Active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47" name="Rectangle 20"/>
          <p:cNvSpPr/>
          <p:nvPr/>
        </p:nvSpPr>
        <p:spPr>
          <a:xfrm>
            <a:off x="4622800" y="38735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Won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48" name="Rectangle 21"/>
          <p:cNvSpPr/>
          <p:nvPr/>
        </p:nvSpPr>
        <p:spPr>
          <a:xfrm>
            <a:off x="4622800" y="42672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Lost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49" name="Rectangle 22"/>
          <p:cNvSpPr/>
          <p:nvPr/>
        </p:nvSpPr>
        <p:spPr>
          <a:xfrm>
            <a:off x="4622800" y="46609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Cancelled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50" name="Rectangle 23"/>
          <p:cNvSpPr/>
          <p:nvPr/>
        </p:nvSpPr>
        <p:spPr>
          <a:xfrm>
            <a:off x="4622800" y="50546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On hold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51" name="Rectangle 24"/>
          <p:cNvSpPr/>
          <p:nvPr/>
        </p:nvSpPr>
        <p:spPr>
          <a:xfrm>
            <a:off x="8128000" y="1587500"/>
            <a:ext cx="3429000" cy="403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52" name="Rectangle 25"/>
          <p:cNvSpPr/>
          <p:nvPr/>
        </p:nvSpPr>
        <p:spPr>
          <a:xfrm>
            <a:off x="8128000" y="1587500"/>
            <a:ext cx="3429000" cy="508000"/>
          </a:xfrm>
          <a:prstGeom prst="rect">
            <a:avLst/>
          </a:prstGeom>
          <a:solidFill>
            <a:srgbClr val="2EA3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Pricing status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53" name="Rectangle 26"/>
          <p:cNvSpPr/>
          <p:nvPr/>
        </p:nvSpPr>
        <p:spPr>
          <a:xfrm>
            <a:off x="8305800" y="2159000"/>
            <a:ext cx="3073400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5B6B7A"/>
                </a:solidFill>
              </a:rPr>
              <a:t>Has DBGI decided the price?</a:t>
            </a:r>
            <a:endParaRPr sz="1300" b="0">
              <a:solidFill>
                <a:srgbClr val="5B6B7A"/>
              </a:solidFill>
            </a:endParaRPr>
          </a:p>
        </p:txBody>
      </p:sp>
      <p:sp>
        <p:nvSpPr>
          <p:cNvPr id="354" name="Rectangle 27"/>
          <p:cNvSpPr/>
          <p:nvPr/>
        </p:nvSpPr>
        <p:spPr>
          <a:xfrm>
            <a:off x="8305800" y="26924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Pending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55" name="Rectangle 28"/>
          <p:cNvSpPr/>
          <p:nvPr/>
        </p:nvSpPr>
        <p:spPr>
          <a:xfrm>
            <a:off x="8305800" y="30861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Changes requested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56" name="Rectangle 29"/>
          <p:cNvSpPr/>
          <p:nvPr/>
        </p:nvSpPr>
        <p:spPr>
          <a:xfrm>
            <a:off x="8305800" y="34798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Partially approved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57" name="Rectangle 30"/>
          <p:cNvSpPr/>
          <p:nvPr/>
        </p:nvSpPr>
        <p:spPr>
          <a:xfrm>
            <a:off x="8305800" y="38735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Approved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58" name="Rectangle 31"/>
          <p:cNvSpPr/>
          <p:nvPr/>
        </p:nvSpPr>
        <p:spPr>
          <a:xfrm>
            <a:off x="8305800" y="42672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Rejected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59" name="Rectangle 32"/>
          <p:cNvSpPr/>
          <p:nvPr/>
        </p:nvSpPr>
        <p:spPr>
          <a:xfrm>
            <a:off x="8305800" y="4660900"/>
            <a:ext cx="3073400" cy="3175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anchor="ctr">
            <a:noAutofit/>
          </a:bodyPr>
          <a:lstStyle/>
          <a:p>
            <a:pPr algn="l"/>
            <a:r>
              <a:rPr sz="1200" b="0">
                <a:solidFill>
                  <a:srgbClr val="12384D"/>
                </a:solidFill>
              </a:rPr>
              <a:t>Expired</a:t>
            </a:r>
            <a:endParaRPr sz="1200" b="0">
              <a:solidFill>
                <a:srgbClr val="12384D"/>
              </a:solidFill>
            </a:endParaRPr>
          </a:p>
        </p:txBody>
      </p:sp>
      <p:sp>
        <p:nvSpPr>
          <p:cNvPr id="360" name="Rectangle 33"/>
          <p:cNvSpPr/>
          <p:nvPr/>
        </p:nvSpPr>
        <p:spPr>
          <a:xfrm>
            <a:off x="762000" y="5778500"/>
            <a:ext cx="10795000" cy="635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12384D"/>
                </a:solidFill>
              </a:rPr>
              <a:t>Example: a deal can be Registered with Pricing still Pending. Hover over any badge in the portal to see what it means.</a:t>
            </a:r>
            <a:endParaRPr sz="1300" b="0">
              <a:solidFill>
                <a:srgbClr val="12384D"/>
              </a:solidFill>
            </a:endParaRPr>
          </a:p>
        </p:txBody>
      </p:sp>
      <p:sp>
        <p:nvSpPr>
          <p:cNvPr id="361" name="Idea"/>
          <p:cNvSpPr/>
          <p:nvPr/>
        </p:nvSpPr>
        <p:spPr>
          <a:xfrm>
            <a:off x="914400" y="5956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62500" y="58333"/>
                </a:moveTo>
                <a:cubicBezTo>
                  <a:pt x="63333" y="54167"/>
                  <a:pt x="65417" y="51250"/>
                  <a:pt x="68750" y="47917"/>
                </a:cubicBezTo>
                <a:cubicBezTo>
                  <a:pt x="72917" y="44167"/>
                  <a:pt x="75000" y="38750"/>
                  <a:pt x="75000" y="33333"/>
                </a:cubicBezTo>
                <a:cubicBezTo>
                  <a:pt x="75000" y="19526"/>
                  <a:pt x="63807" y="8333"/>
                  <a:pt x="50000" y="8333"/>
                </a:cubicBezTo>
                <a:cubicBezTo>
                  <a:pt x="36193" y="8333"/>
                  <a:pt x="25000" y="19526"/>
                  <a:pt x="25000" y="33333"/>
                </a:cubicBezTo>
                <a:cubicBezTo>
                  <a:pt x="25000" y="37500"/>
                  <a:pt x="25833" y="42500"/>
                  <a:pt x="31250" y="47917"/>
                </a:cubicBezTo>
                <a:cubicBezTo>
                  <a:pt x="34167" y="50833"/>
                  <a:pt x="36667" y="54167"/>
                  <a:pt x="37500" y="58333"/>
                </a:cubicBezTo>
                <a:moveTo>
                  <a:pt x="37500" y="75000"/>
                </a:moveTo>
                <a:lnTo>
                  <a:pt x="62500" y="75000"/>
                </a:lnTo>
                <a:moveTo>
                  <a:pt x="41667" y="91667"/>
                </a:moveTo>
                <a:lnTo>
                  <a:pt x="58333" y="91667"/>
                </a:lnTo>
              </a:path>
            </a:pathLst>
          </a:custGeom>
          <a:noFill/>
          <a:ln w="23283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82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D374AA8-8310-4FC9-8E61-808E79049FCE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64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Create a registration: who and what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365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Start from Registrations, then NEW REGISTRATION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366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2  |  Company user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368" name="Picture 5" descr="enduser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625600"/>
            <a:ext cx="6604000" cy="268605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369" name="Rectangle 6"/>
          <p:cNvSpPr/>
          <p:nvPr/>
        </p:nvSpPr>
        <p:spPr>
          <a:xfrm>
            <a:off x="7620000" y="1625600"/>
            <a:ext cx="3937000" cy="381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Type part of the buyer's name in End-user and pick the match. A green line confirms the address and that DBGI verified it.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Not in the list? Use ADD MISSING END-USER. DBGI verifies it later.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Enter the project title, bid date, and delivery date.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Check the contact details. They are filled from your profile.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70" name="Rectangle 7"/>
          <p:cNvSpPr/>
          <p:nvPr/>
        </p:nvSpPr>
        <p:spPr>
          <a:xfrm>
            <a:off x="762000" y="5664200"/>
            <a:ext cx="10795000" cy="711200"/>
          </a:xfrm>
          <a:prstGeom prst="roundRect">
            <a:avLst/>
          </a:prstGeom>
          <a:solidFill>
            <a:srgbClr val="FDF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8A5A00"/>
                </a:solidFill>
              </a:rPr>
              <a:t>Register each real opportunity once. To fix something later, edit the existing registration instead of creating a new one.</a:t>
            </a:r>
            <a:endParaRPr sz="1300" b="0">
              <a:solidFill>
                <a:srgbClr val="8A5A00"/>
              </a:solidFill>
            </a:endParaRPr>
          </a:p>
        </p:txBody>
      </p:sp>
      <p:sp>
        <p:nvSpPr>
          <p:cNvPr id="371" name="Alert"/>
          <p:cNvSpPr/>
          <p:nvPr/>
        </p:nvSpPr>
        <p:spPr>
          <a:xfrm>
            <a:off x="914400" y="5880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33333"/>
                </a:moveTo>
                <a:lnTo>
                  <a:pt x="50000" y="50000"/>
                </a:lnTo>
                <a:moveTo>
                  <a:pt x="50000" y="66667"/>
                </a:moveTo>
                <a:lnTo>
                  <a:pt x="50042" y="66667"/>
                </a:lnTo>
              </a:path>
            </a:pathLst>
          </a:custGeom>
          <a:noFill/>
          <a:ln w="23283" cap="rnd">
            <a:solidFill>
              <a:srgbClr val="8A5A00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85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FD5AD5D-00E4-4746-836B-F0EA3C4886F1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74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Add the competitor and the products you need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375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Both tables need at least one row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376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2  |  Company user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378" name="Picture 5" descr="competitor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5207000" cy="315849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pic>
        <p:nvPicPr>
          <p:cNvPr id="380" name="Picture 6" descr="produc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50000" y="1587500"/>
            <a:ext cx="5207000" cy="285496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381" name="Rectangle 7"/>
          <p:cNvSpPr/>
          <p:nvPr/>
        </p:nvSpPr>
        <p:spPr>
          <a:xfrm>
            <a:off x="762000" y="4889500"/>
            <a:ext cx="5207000" cy="165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Select ADD COMPETITOR.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Pick or type the brand and model, their bid price, and a remark. Only you and DBGI see this.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82" name="Rectangle 8"/>
          <p:cNvSpPr/>
          <p:nvPr/>
        </p:nvSpPr>
        <p:spPr>
          <a:xfrm>
            <a:off x="6350000" y="4889500"/>
            <a:ext cx="5207000" cy="165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Select ADD PRODUCT and choose the catalog product.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Enter quantity, the unit price you are requesting, and why you need it.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588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79A8C84-1846-4993-8C55-9E7286E57C4C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85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Describe your evidence and submit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386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Evidence tells DBGI how you know this opportunity is real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387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2  |  Company user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389" name="Picture 5" descr="evidence-submit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7112000" cy="319405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390" name="Rectangle 6"/>
          <p:cNvSpPr/>
          <p:nvPr/>
        </p:nvSpPr>
        <p:spPr>
          <a:xfrm>
            <a:off x="8128000" y="1587500"/>
            <a:ext cx="3429000" cy="406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Explain how you learned about the deal, with dates and reference numbers if you have them.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Add files if available. Never upload another company's pricing, IDs, or signatures.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Tick the authorization box.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Select CREATE REGISTRATION.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391" name="Rectangle 7"/>
          <p:cNvSpPr/>
          <p:nvPr/>
        </p:nvSpPr>
        <p:spPr>
          <a:xfrm>
            <a:off x="762000" y="5080000"/>
            <a:ext cx="7112000" cy="1270000"/>
          </a:xfrm>
          <a:prstGeom prst="roundRect">
            <a:avLst/>
          </a:prstGeom>
          <a:solidFill>
            <a:srgbClr val="FDF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8A5A00"/>
                </a:solidFill>
              </a:rPr>
              <a:t>Requested prices are only proposals until DBGI approves them. Do not promise a requested price to the buyer.</a:t>
            </a:r>
            <a:endParaRPr sz="1300" b="0">
              <a:solidFill>
                <a:srgbClr val="8A5A00"/>
              </a:solidFill>
            </a:endParaRPr>
          </a:p>
        </p:txBody>
      </p:sp>
      <p:sp>
        <p:nvSpPr>
          <p:cNvPr id="392" name="Alert"/>
          <p:cNvSpPr/>
          <p:nvPr/>
        </p:nvSpPr>
        <p:spPr>
          <a:xfrm>
            <a:off x="914400" y="5575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33333"/>
                </a:moveTo>
                <a:lnTo>
                  <a:pt x="50000" y="50000"/>
                </a:lnTo>
                <a:moveTo>
                  <a:pt x="50000" y="66667"/>
                </a:moveTo>
                <a:lnTo>
                  <a:pt x="50042" y="66667"/>
                </a:lnTo>
              </a:path>
            </a:pathLst>
          </a:custGeom>
          <a:noFill/>
          <a:ln w="23283" cap="rnd">
            <a:solidFill>
              <a:srgbClr val="8A5A00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91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4E5D909-40B4-4C80-8454-38C8AE8D0597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95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Right after you submit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396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The registration gets a DBGI reference and waits for review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397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2  |  Company user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399" name="Picture 5" descr="submitted-top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7112000" cy="144653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pic>
        <p:nvPicPr>
          <p:cNvPr id="401" name="Picture 6" descr="submitted-pricing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2000" y="3327400"/>
            <a:ext cx="7112000" cy="304419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402" name="Rectangle 7"/>
          <p:cNvSpPr/>
          <p:nvPr/>
        </p:nvSpPr>
        <p:spPr>
          <a:xfrm>
            <a:off x="8128000" y="1587500"/>
            <a:ext cx="3429000" cy="48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Note the reference, here DBGI-000012. Use it whenever you talk to DBGI.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Badges show Submitted, Project: Not linked, and Pricing: Pending.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"What happens next?" always tells you what to do now.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The portal works out the discount you asked for (10%) and the total. Approved unit price stays Pending until DBGI decides.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594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0EC94FA-F8E2-4AC5-8BAF-84C1CD9CCE2A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05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Notifications keep you up to date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406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Every submission and DBGI decision appears here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407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Company user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409" name="Picture 5" descr="notifications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7112000" cy="397764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410" name="Rectangle 6"/>
          <p:cNvSpPr/>
          <p:nvPr/>
        </p:nvSpPr>
        <p:spPr>
          <a:xfrm>
            <a:off x="8128000" y="1587500"/>
            <a:ext cx="3429000" cy="419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Open NOTIFICATIONS from the top menu.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Unread items are marked. Select VIEW REGISTRATION to open the deal.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Email may send a copy, but the portal notification is the official record.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411" name="Rectangle 7"/>
          <p:cNvSpPr/>
          <p:nvPr/>
        </p:nvSpPr>
        <p:spPr>
          <a:xfrm>
            <a:off x="762000" y="5918200"/>
            <a:ext cx="10795000" cy="508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12384D"/>
                </a:solidFill>
              </a:rPr>
              <a:t>Check Notifications daily, especially while a registration is waiting for you.</a:t>
            </a:r>
            <a:endParaRPr sz="1300" b="0">
              <a:solidFill>
                <a:srgbClr val="12384D"/>
              </a:solidFill>
            </a:endParaRPr>
          </a:p>
        </p:txBody>
      </p:sp>
      <p:sp>
        <p:nvSpPr>
          <p:cNvPr id="412" name="Bell"/>
          <p:cNvSpPr/>
          <p:nvPr/>
        </p:nvSpPr>
        <p:spPr>
          <a:xfrm>
            <a:off x="914400" y="6032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42783" y="87500"/>
                </a:moveTo>
                <a:cubicBezTo>
                  <a:pt x="44272" y="90078"/>
                  <a:pt x="47023" y="91666"/>
                  <a:pt x="50000" y="91666"/>
                </a:cubicBezTo>
                <a:cubicBezTo>
                  <a:pt x="52977" y="91666"/>
                  <a:pt x="55728" y="90078"/>
                  <a:pt x="57217" y="87500"/>
                </a:cubicBezTo>
                <a:moveTo>
                  <a:pt x="13592" y="63858"/>
                </a:moveTo>
                <a:cubicBezTo>
                  <a:pt x="12480" y="65077"/>
                  <a:pt x="12192" y="66838"/>
                  <a:pt x="12857" y="68348"/>
                </a:cubicBezTo>
                <a:cubicBezTo>
                  <a:pt x="13523" y="69858"/>
                  <a:pt x="15017" y="70832"/>
                  <a:pt x="16667" y="70833"/>
                </a:cubicBezTo>
                <a:lnTo>
                  <a:pt x="83333" y="70833"/>
                </a:lnTo>
                <a:cubicBezTo>
                  <a:pt x="84983" y="70834"/>
                  <a:pt x="86478" y="69861"/>
                  <a:pt x="87145" y="68352"/>
                </a:cubicBezTo>
                <a:cubicBezTo>
                  <a:pt x="87813" y="66843"/>
                  <a:pt x="87527" y="65083"/>
                  <a:pt x="86417" y="63863"/>
                </a:cubicBezTo>
                <a:cubicBezTo>
                  <a:pt x="80875" y="58150"/>
                  <a:pt x="75000" y="52079"/>
                  <a:pt x="75000" y="33333"/>
                </a:cubicBezTo>
                <a:cubicBezTo>
                  <a:pt x="75000" y="19526"/>
                  <a:pt x="63807" y="8333"/>
                  <a:pt x="50000" y="8333"/>
                </a:cubicBezTo>
                <a:cubicBezTo>
                  <a:pt x="36193" y="8333"/>
                  <a:pt x="25000" y="19526"/>
                  <a:pt x="25000" y="33333"/>
                </a:cubicBezTo>
                <a:cubicBezTo>
                  <a:pt x="25000" y="52079"/>
                  <a:pt x="19121" y="58150"/>
                  <a:pt x="13592" y="63858"/>
                </a:cubicBezTo>
              </a:path>
            </a:pathLst>
          </a:custGeom>
          <a:noFill/>
          <a:ln w="23283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97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67E2D13-7704-45C7-8091-8B2F05FD78CE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15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Start each day on the Operations dashboard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416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Administration opens here; it lists what needs a DBGI decision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417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3  |  DBGI administrator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419" name="Picture 5" descr="dashboard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7106920" cy="389890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420" name="Rectangle 6"/>
          <p:cNvSpPr/>
          <p:nvPr/>
        </p:nvSpPr>
        <p:spPr>
          <a:xfrm>
            <a:off x="8128000" y="1587500"/>
            <a:ext cx="3429000" cy="419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The cards count work waiting: registration reviews, pricing decisions, End-users to verify, failed emails, and expiring approvals.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The queues below list the actual items. Click a reference to open it.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The left menu has every list, such as Registrations, Price approvals, and End-users.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421" name="Rectangle 7"/>
          <p:cNvSpPr/>
          <p:nvPr/>
        </p:nvSpPr>
        <p:spPr>
          <a:xfrm>
            <a:off x="762000" y="5689600"/>
            <a:ext cx="10795000" cy="635000"/>
          </a:xfrm>
          <a:prstGeom prst="roundRect">
            <a:avLst/>
          </a:prstGeom>
          <a:solidFill>
            <a:srgbClr val="FDF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8A5A00"/>
                </a:solidFill>
              </a:rPr>
              <a:t>The Danger Zone at the bottom permanently deletes data. Only superusers can open it.</a:t>
            </a:r>
            <a:endParaRPr sz="1300" b="0">
              <a:solidFill>
                <a:srgbClr val="8A5A00"/>
              </a:solidFill>
            </a:endParaRPr>
          </a:p>
        </p:txBody>
      </p:sp>
      <p:sp>
        <p:nvSpPr>
          <p:cNvPr id="422" name="Warning"/>
          <p:cNvSpPr/>
          <p:nvPr/>
        </p:nvSpPr>
        <p:spPr>
          <a:xfrm>
            <a:off x="914400" y="5867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90542" y="75000"/>
                </a:moveTo>
                <a:lnTo>
                  <a:pt x="57208" y="16667"/>
                </a:lnTo>
                <a:cubicBezTo>
                  <a:pt x="55729" y="14056"/>
                  <a:pt x="52960" y="12442"/>
                  <a:pt x="49958" y="12442"/>
                </a:cubicBezTo>
                <a:cubicBezTo>
                  <a:pt x="46957" y="12442"/>
                  <a:pt x="44188" y="14056"/>
                  <a:pt x="42708" y="16667"/>
                </a:cubicBezTo>
                <a:lnTo>
                  <a:pt x="9375" y="75000"/>
                </a:lnTo>
                <a:cubicBezTo>
                  <a:pt x="7880" y="77590"/>
                  <a:pt x="7887" y="80783"/>
                  <a:pt x="9393" y="83366"/>
                </a:cubicBezTo>
                <a:cubicBezTo>
                  <a:pt x="10900" y="85949"/>
                  <a:pt x="13676" y="87527"/>
                  <a:pt x="16667" y="87500"/>
                </a:cubicBezTo>
                <a:lnTo>
                  <a:pt x="83333" y="87500"/>
                </a:lnTo>
                <a:cubicBezTo>
                  <a:pt x="86309" y="87497"/>
                  <a:pt x="89057" y="85908"/>
                  <a:pt x="90544" y="83330"/>
                </a:cubicBezTo>
                <a:cubicBezTo>
                  <a:pt x="92030" y="80752"/>
                  <a:pt x="92030" y="77577"/>
                  <a:pt x="90542" y="75000"/>
                </a:cubicBezTo>
                <a:moveTo>
                  <a:pt x="50000" y="37500"/>
                </a:moveTo>
                <a:lnTo>
                  <a:pt x="50000" y="54167"/>
                </a:lnTo>
                <a:moveTo>
                  <a:pt x="50000" y="70833"/>
                </a:moveTo>
                <a:lnTo>
                  <a:pt x="50042" y="70833"/>
                </a:lnTo>
              </a:path>
            </a:pathLst>
          </a:custGeom>
          <a:noFill/>
          <a:ln w="23283" cap="rnd">
            <a:solidFill>
              <a:srgbClr val="8A5A00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600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D27AB5-652A-495A-8336-EEDE33D0623B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25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Open the registration and start the review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426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Administrators see a DBGI review panel at the top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427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3  |  DBGI administrator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429" name="Picture 5" descr="start-review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7112000" cy="352552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430" name="Rectangle 6"/>
          <p:cNvSpPr/>
          <p:nvPr/>
        </p:nvSpPr>
        <p:spPr>
          <a:xfrm>
            <a:off x="8128000" y="1587500"/>
            <a:ext cx="3429000" cy="419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Read the system recommendation and match score. They are only suggestions.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Compare the End-user, address, products, and evidence yourself.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Write a short review reason and select START REVIEW. This only marks the review as started.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431" name="Rectangle 7"/>
          <p:cNvSpPr/>
          <p:nvPr/>
        </p:nvSpPr>
        <p:spPr>
          <a:xfrm>
            <a:off x="762000" y="5334000"/>
            <a:ext cx="7112000" cy="1016000"/>
          </a:xfrm>
          <a:prstGeom prst="roundRect">
            <a:avLst/>
          </a:prstGeom>
          <a:solidFill>
            <a:srgbClr val="FDF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8A5A00"/>
                </a:solidFill>
              </a:rPr>
              <a:t>Never confirm a match from the score alone. Here the score is 53% against a different Pasig project.</a:t>
            </a:r>
            <a:endParaRPr sz="1300" b="0">
              <a:solidFill>
                <a:srgbClr val="8A5A00"/>
              </a:solidFill>
            </a:endParaRPr>
          </a:p>
        </p:txBody>
      </p:sp>
      <p:sp>
        <p:nvSpPr>
          <p:cNvPr id="432" name="Alert"/>
          <p:cNvSpPr/>
          <p:nvPr/>
        </p:nvSpPr>
        <p:spPr>
          <a:xfrm>
            <a:off x="914400" y="5702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33333"/>
                </a:moveTo>
                <a:lnTo>
                  <a:pt x="50000" y="50000"/>
                </a:lnTo>
                <a:moveTo>
                  <a:pt x="50000" y="66667"/>
                </a:moveTo>
                <a:lnTo>
                  <a:pt x="50042" y="66667"/>
                </a:lnTo>
              </a:path>
            </a:pathLst>
          </a:custGeom>
          <a:noFill/>
          <a:ln w="23283" cap="rnd">
            <a:solidFill>
              <a:srgbClr val="8A5A00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603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2FA209A-C3A7-4F8D-8E85-A91313DE554C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35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Choose exactly one decision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436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In the example, DBGI asks the dealer for the RFQ reference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437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3  |  DBGI administrator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439" name="Picture 5" descr="decision-options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6604000" cy="424815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440" name="Rectangle 6"/>
          <p:cNvSpPr/>
          <p:nvPr/>
        </p:nvSpPr>
        <p:spPr>
          <a:xfrm>
            <a:off x="7620000" y="1587500"/>
            <a:ext cx="3937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2384D"/>
                </a:solidFill>
              </a:rPr>
              <a:t>Link to an existing opportunity</a:t>
            </a:r>
            <a:endParaRPr sz="1400" b="1">
              <a:solidFill>
                <a:srgbClr val="12384D"/>
              </a:solidFill>
            </a:endParaRPr>
          </a:p>
        </p:txBody>
      </p:sp>
      <p:sp>
        <p:nvSpPr>
          <p:cNvPr id="441" name="Rectangle 7"/>
          <p:cNvSpPr/>
          <p:nvPr/>
        </p:nvSpPr>
        <p:spPr>
          <a:xfrm>
            <a:off x="7620000" y="1917700"/>
            <a:ext cx="3937000" cy="66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This deal is the same procurement as one already in the portal.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442" name="Rectangle 8"/>
          <p:cNvSpPr/>
          <p:nvPr/>
        </p:nvSpPr>
        <p:spPr>
          <a:xfrm>
            <a:off x="7620000" y="2654300"/>
            <a:ext cx="3937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2384D"/>
                </a:solidFill>
              </a:rPr>
              <a:t>Create a new whole opportunity</a:t>
            </a:r>
            <a:endParaRPr sz="1400" b="1">
              <a:solidFill>
                <a:srgbClr val="12384D"/>
              </a:solidFill>
            </a:endParaRPr>
          </a:p>
        </p:txBody>
      </p:sp>
      <p:sp>
        <p:nvSpPr>
          <p:cNvPr id="443" name="Rectangle 9"/>
          <p:cNvSpPr/>
          <p:nvPr/>
        </p:nvSpPr>
        <p:spPr>
          <a:xfrm>
            <a:off x="7620000" y="2984500"/>
            <a:ext cx="3937000" cy="66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No existing opportunity fits.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444" name="Rectangle 10"/>
          <p:cNvSpPr/>
          <p:nvPr/>
        </p:nvSpPr>
        <p:spPr>
          <a:xfrm>
            <a:off x="7620000" y="3721100"/>
            <a:ext cx="3937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2384D"/>
                </a:solidFill>
              </a:rPr>
              <a:t>Request changes</a:t>
            </a:r>
            <a:endParaRPr sz="1400" b="1">
              <a:solidFill>
                <a:srgbClr val="12384D"/>
              </a:solidFill>
            </a:endParaRPr>
          </a:p>
        </p:txBody>
      </p:sp>
      <p:sp>
        <p:nvSpPr>
          <p:cNvPr id="445" name="Rectangle 11"/>
          <p:cNvSpPr/>
          <p:nvPr/>
        </p:nvSpPr>
        <p:spPr>
          <a:xfrm>
            <a:off x="7620000" y="4051300"/>
            <a:ext cx="3937000" cy="66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Something is missing or wrong. Write exact instructions.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446" name="Rectangle 12"/>
          <p:cNvSpPr/>
          <p:nvPr/>
        </p:nvSpPr>
        <p:spPr>
          <a:xfrm>
            <a:off x="7620000" y="4787900"/>
            <a:ext cx="3937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12384D"/>
                </a:solidFill>
              </a:rPr>
              <a:t>Reject registration</a:t>
            </a:r>
            <a:endParaRPr sz="1400" b="1">
              <a:solidFill>
                <a:srgbClr val="12384D"/>
              </a:solidFill>
            </a:endParaRPr>
          </a:p>
        </p:txBody>
      </p:sp>
      <p:sp>
        <p:nvSpPr>
          <p:cNvPr id="447" name="Rectangle 13"/>
          <p:cNvSpPr/>
          <p:nvPr/>
        </p:nvSpPr>
        <p:spPr>
          <a:xfrm>
            <a:off x="7620000" y="5118100"/>
            <a:ext cx="3937000" cy="66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Give a clear business reason.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448" name="Rectangle 14"/>
          <p:cNvSpPr/>
          <p:nvPr/>
        </p:nvSpPr>
        <p:spPr>
          <a:xfrm>
            <a:off x="762000" y="5969000"/>
            <a:ext cx="10795000" cy="4826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12384D"/>
                </a:solidFill>
              </a:rPr>
              <a:t>The company is notified automatically after every decision.</a:t>
            </a:r>
            <a:endParaRPr sz="1300" b="0">
              <a:solidFill>
                <a:srgbClr val="12384D"/>
              </a:solidFill>
            </a:endParaRPr>
          </a:p>
        </p:txBody>
      </p:sp>
      <p:sp>
        <p:nvSpPr>
          <p:cNvPr id="449" name="Bell"/>
          <p:cNvSpPr/>
          <p:nvPr/>
        </p:nvSpPr>
        <p:spPr>
          <a:xfrm>
            <a:off x="914400" y="607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42783" y="87500"/>
                </a:moveTo>
                <a:cubicBezTo>
                  <a:pt x="44272" y="90078"/>
                  <a:pt x="47023" y="91666"/>
                  <a:pt x="50000" y="91666"/>
                </a:cubicBezTo>
                <a:cubicBezTo>
                  <a:pt x="52977" y="91666"/>
                  <a:pt x="55728" y="90078"/>
                  <a:pt x="57217" y="87500"/>
                </a:cubicBezTo>
                <a:moveTo>
                  <a:pt x="13592" y="63858"/>
                </a:moveTo>
                <a:cubicBezTo>
                  <a:pt x="12480" y="65077"/>
                  <a:pt x="12192" y="66838"/>
                  <a:pt x="12857" y="68348"/>
                </a:cubicBezTo>
                <a:cubicBezTo>
                  <a:pt x="13523" y="69858"/>
                  <a:pt x="15017" y="70832"/>
                  <a:pt x="16667" y="70833"/>
                </a:cubicBezTo>
                <a:lnTo>
                  <a:pt x="83333" y="70833"/>
                </a:lnTo>
                <a:cubicBezTo>
                  <a:pt x="84983" y="70834"/>
                  <a:pt x="86478" y="69861"/>
                  <a:pt x="87145" y="68352"/>
                </a:cubicBezTo>
                <a:cubicBezTo>
                  <a:pt x="87813" y="66843"/>
                  <a:pt x="87527" y="65083"/>
                  <a:pt x="86417" y="63863"/>
                </a:cubicBezTo>
                <a:cubicBezTo>
                  <a:pt x="80875" y="58150"/>
                  <a:pt x="75000" y="52079"/>
                  <a:pt x="75000" y="33333"/>
                </a:cubicBezTo>
                <a:cubicBezTo>
                  <a:pt x="75000" y="19526"/>
                  <a:pt x="63807" y="8333"/>
                  <a:pt x="50000" y="8333"/>
                </a:cubicBezTo>
                <a:cubicBezTo>
                  <a:pt x="36193" y="8333"/>
                  <a:pt x="25000" y="19526"/>
                  <a:pt x="25000" y="33333"/>
                </a:cubicBezTo>
                <a:cubicBezTo>
                  <a:pt x="25000" y="52079"/>
                  <a:pt x="19121" y="58150"/>
                  <a:pt x="13592" y="63858"/>
                </a:cubicBezTo>
              </a:path>
            </a:pathLst>
          </a:custGeom>
          <a:noFill/>
          <a:ln w="23283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606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8C67565-E9B8-43A8-859B-FB8AC9415FF1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52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Read what DBGI needs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453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The registration now shows Changes requested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454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4  |  Company user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456" name="Picture 5" descr="changes-requested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7617460" cy="154940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pic>
        <p:nvPicPr>
          <p:cNvPr id="458" name="Picture 6" descr="activity-reason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2000" y="3365500"/>
            <a:ext cx="7595870" cy="154940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459" name="Rectangle 7"/>
          <p:cNvSpPr/>
          <p:nvPr/>
        </p:nvSpPr>
        <p:spPr>
          <a:xfrm>
            <a:off x="8636000" y="1587500"/>
            <a:ext cx="2921000" cy="381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Open the Changes requested notification, or the registration itself.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Scroll to Activity. DBGI's exact instructions are under Request changes.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Select EDIT REGISTRATION.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460" name="Rectangle 8"/>
          <p:cNvSpPr/>
          <p:nvPr/>
        </p:nvSpPr>
        <p:spPr>
          <a:xfrm>
            <a:off x="762000" y="5143500"/>
            <a:ext cx="7620000" cy="1143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12384D"/>
                </a:solidFill>
              </a:rPr>
              <a:t>View changes under each Activity entry shows the before and after values for that step.</a:t>
            </a:r>
            <a:endParaRPr sz="1300" b="0">
              <a:solidFill>
                <a:srgbClr val="12384D"/>
              </a:solidFill>
            </a:endParaRPr>
          </a:p>
        </p:txBody>
      </p:sp>
      <p:sp>
        <p:nvSpPr>
          <p:cNvPr id="461" name="Info"/>
          <p:cNvSpPr/>
          <p:nvPr/>
        </p:nvSpPr>
        <p:spPr>
          <a:xfrm>
            <a:off x="914400" y="5575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66667"/>
                </a:moveTo>
                <a:lnTo>
                  <a:pt x="50000" y="50000"/>
                </a:lnTo>
                <a:moveTo>
                  <a:pt x="50000" y="33333"/>
                </a:moveTo>
                <a:lnTo>
                  <a:pt x="50042" y="33333"/>
                </a:lnTo>
              </a:path>
            </a:pathLst>
          </a:custGeom>
          <a:noFill/>
          <a:ln w="23283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609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D469FB7-52EC-4B93-8A4D-4826A82733E2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64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Fix only what was asked, then save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465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The same registration goes back to DBGI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466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4  |  Company user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468" name="Picture 5" descr="edit-evidenc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5693410" cy="218440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pic>
        <p:nvPicPr>
          <p:cNvPr id="470" name="Picture 6" descr="resubmitt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2000" y="3962400"/>
            <a:ext cx="7617460" cy="154940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471" name="Rectangle 7"/>
          <p:cNvSpPr/>
          <p:nvPr/>
        </p:nvSpPr>
        <p:spPr>
          <a:xfrm>
            <a:off x="8636000" y="1587500"/>
            <a:ext cx="2921000" cy="419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Change only the fields DBGI mentioned. Here, the RFQ reference was added to the evidence.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Review everything, then select SAVE CHANGES.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The status becomes Resubmitted. DBGI reviews the corrected version.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472" name="Rectangle 8"/>
          <p:cNvSpPr/>
          <p:nvPr/>
        </p:nvSpPr>
        <p:spPr>
          <a:xfrm>
            <a:off x="762000" y="5689600"/>
            <a:ext cx="10795000" cy="635000"/>
          </a:xfrm>
          <a:prstGeom prst="roundRect">
            <a:avLst/>
          </a:prstGeom>
          <a:solidFill>
            <a:srgbClr val="FDF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8A5A00"/>
                </a:solidFill>
              </a:rPr>
              <a:t>Editing a registration that was already Registered also sends it back for review.</a:t>
            </a:r>
            <a:endParaRPr sz="1300" b="0">
              <a:solidFill>
                <a:srgbClr val="8A5A00"/>
              </a:solidFill>
            </a:endParaRPr>
          </a:p>
        </p:txBody>
      </p:sp>
      <p:sp>
        <p:nvSpPr>
          <p:cNvPr id="473" name="Alert"/>
          <p:cNvSpPr/>
          <p:nvPr/>
        </p:nvSpPr>
        <p:spPr>
          <a:xfrm>
            <a:off x="914400" y="5867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33333"/>
                </a:moveTo>
                <a:lnTo>
                  <a:pt x="50000" y="50000"/>
                </a:lnTo>
                <a:moveTo>
                  <a:pt x="50000" y="66667"/>
                </a:moveTo>
                <a:lnTo>
                  <a:pt x="50042" y="66667"/>
                </a:lnTo>
              </a:path>
            </a:pathLst>
          </a:custGeom>
          <a:noFill/>
          <a:ln w="23283" cap="rnd">
            <a:solidFill>
              <a:srgbClr val="8A5A00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612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581C090-3B8A-4946-86C5-674662338F4F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76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Check the changes, then confirm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477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Activity shows exactly what the company changed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478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5  |  DBGI administrator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480" name="Picture 5" descr="activity-changes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5330190" cy="254000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pic>
        <p:nvPicPr>
          <p:cNvPr id="482" name="Picture 6" descr="create-opportunity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50000" y="1587500"/>
            <a:ext cx="5207000" cy="334899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483" name="Rectangle 7"/>
          <p:cNvSpPr/>
          <p:nvPr/>
        </p:nvSpPr>
        <p:spPr>
          <a:xfrm>
            <a:off x="762000" y="4318000"/>
            <a:ext cx="5334000" cy="2159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Open the Company edit entry and compare old and new values.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Start review again with a reason.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Pick the final decision. Here: Create a new whole opportunity, because this is a school division purchase.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484" name="Rectangle 8"/>
          <p:cNvSpPr/>
          <p:nvPr/>
        </p:nvSpPr>
        <p:spPr>
          <a:xfrm>
            <a:off x="6350000" y="5080000"/>
            <a:ext cx="5207000" cy="1270000"/>
          </a:xfrm>
          <a:prstGeom prst="roundRect">
            <a:avLst/>
          </a:prstGeom>
          <a:solidFill>
            <a:srgbClr val="E3F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1D6B48"/>
                </a:solidFill>
              </a:rPr>
              <a:t>Result: Registered, Project: Upcoming. The opportunity now exists and ranking can be calculated.</a:t>
            </a:r>
            <a:endParaRPr sz="1300" b="0">
              <a:solidFill>
                <a:srgbClr val="1D6B48"/>
              </a:solidFill>
            </a:endParaRPr>
          </a:p>
        </p:txBody>
      </p:sp>
      <p:sp>
        <p:nvSpPr>
          <p:cNvPr id="485" name="Check circle"/>
          <p:cNvSpPr/>
          <p:nvPr/>
        </p:nvSpPr>
        <p:spPr>
          <a:xfrm>
            <a:off x="6502400" y="5575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66667" y="37500"/>
                </a:moveTo>
                <a:lnTo>
                  <a:pt x="43750" y="60417"/>
                </a:lnTo>
                <a:lnTo>
                  <a:pt x="33333" y="50000"/>
                </a:lnTo>
              </a:path>
            </a:pathLst>
          </a:custGeom>
          <a:noFill/>
          <a:ln w="23283" cap="rnd">
            <a:solidFill>
              <a:srgbClr val="1D6B48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615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2E35DDB-BDB6-41C9-8A22-79D743663650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488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Approve the price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489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Administration, Price approvals (or the dashboard's Pricing queue)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490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6  |  DBGI administrator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492" name="Picture 5" descr="pricing-top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5334000" cy="294513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pic>
        <p:nvPicPr>
          <p:cNvPr id="494" name="Picture 6" descr="pricing-items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2000" y="4724400"/>
            <a:ext cx="5334000" cy="164338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495" name="Rectangle 7"/>
          <p:cNvSpPr/>
          <p:nvPr/>
        </p:nvSpPr>
        <p:spPr>
          <a:xfrm>
            <a:off x="6350000" y="1587500"/>
            <a:ext cx="5207000" cy="355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Open the pending category for the registration.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Set Status: Approved, Partially approved, Rejected, or Changes requested.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Write the rationale and set Valid until.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Under Registration item approvals, add the item and its approved unit price.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Select Save. Reviewed by and Reviewed at are filled in with your name and the time.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496" name="Rectangle 8"/>
          <p:cNvSpPr/>
          <p:nvPr/>
        </p:nvSpPr>
        <p:spPr>
          <a:xfrm>
            <a:off x="6350000" y="5207000"/>
            <a:ext cx="5207000" cy="11684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58800" rIns="177800" anchor="ctr">
            <a:noAutofit/>
          </a:bodyPr>
          <a:lstStyle/>
          <a:p>
            <a:pPr algn="l"/>
            <a:r>
              <a:rPr sz="1300" b="0">
                <a:solidFill>
                  <a:srgbClr val="12384D"/>
                </a:solidFill>
              </a:rPr>
              <a:t>Only this registration's items are offered, each labelled with its reference, such as DBGI-000012.</a:t>
            </a:r>
            <a:endParaRPr sz="1300" b="0">
              <a:solidFill>
                <a:srgbClr val="12384D"/>
              </a:solidFill>
            </a:endParaRPr>
          </a:p>
        </p:txBody>
      </p:sp>
      <p:sp>
        <p:nvSpPr>
          <p:cNvPr id="497" name="Info"/>
          <p:cNvSpPr/>
          <p:nvPr/>
        </p:nvSpPr>
        <p:spPr>
          <a:xfrm>
            <a:off x="6502400" y="5651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66667"/>
                </a:moveTo>
                <a:lnTo>
                  <a:pt x="50000" y="50000"/>
                </a:lnTo>
                <a:moveTo>
                  <a:pt x="50000" y="33333"/>
                </a:moveTo>
                <a:lnTo>
                  <a:pt x="50042" y="33333"/>
                </a:lnTo>
              </a:path>
            </a:pathLst>
          </a:custGeom>
          <a:noFill/>
          <a:ln w="23283" cap="rnd">
            <a:solidFill>
              <a:srgbClr val="12384D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618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2C9C87E-8A6C-4B44-888E-C579E651A6D5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00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See the decision and the approved price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501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All three badges now have an answer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502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7  |  Company user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504" name="Picture 5" descr="approved-top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7112000" cy="150622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pic>
        <p:nvPicPr>
          <p:cNvPr id="506" name="Picture 6" descr="approved-pricing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2000" y="3276600"/>
            <a:ext cx="6615430" cy="311150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507" name="Rectangle 7"/>
          <p:cNvSpPr/>
          <p:nvPr/>
        </p:nvSpPr>
        <p:spPr>
          <a:xfrm>
            <a:off x="8128000" y="1587500"/>
            <a:ext cx="3429000" cy="48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Badges: Registered, Project: Upcoming, Pricing: Approved.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Commercial approvals shows the decision, valid-until date, reviewer, and reason.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Requested products shows the approved unit price: PHP 9,200, not the PHP 9,000 requested.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Quote only the approved price, and only until the valid-until date.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621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C792AA4-C711-45BF-83AD-4A57D36F8096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10" name="Rectangle 2"/>
          <p:cNvSpPr/>
          <p:nvPr/>
        </p:nvSpPr>
        <p:spPr>
          <a:xfrm>
            <a:off x="711200" y="533400"/>
            <a:ext cx="8001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Check your ranking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511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RANKINGS in the top menu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512" name="Rectangle 4"/>
          <p:cNvSpPr/>
          <p:nvPr/>
        </p:nvSpPr>
        <p:spPr>
          <a:xfrm>
            <a:off x="8763000" y="508000"/>
            <a:ext cx="2794000" cy="355600"/>
          </a:xfrm>
          <a:prstGeom prst="round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8  |  Company user</a:t>
            </a:r>
            <a:endParaRPr sz="1200" b="1">
              <a:solidFill>
                <a:srgbClr val="FFFFFF"/>
              </a:solidFill>
            </a:endParaRPr>
          </a:p>
        </p:txBody>
      </p:sp>
      <p:pic>
        <p:nvPicPr>
          <p:cNvPr id="514" name="Picture 5" descr="rankings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2000" y="1587500"/>
            <a:ext cx="10795000" cy="3298190"/>
          </a:xfrm>
          <a:prstGeom prst="rect">
            <a:avLst/>
          </a:prstGeom>
          <a:ln w="12700">
            <a:solidFill>
              <a:srgbClr val="C9D6DE"/>
            </a:solidFill>
          </a:ln>
        </p:spPr>
      </p:pic>
      <p:sp>
        <p:nvSpPr>
          <p:cNvPr id="515" name="Rectangle 6"/>
          <p:cNvSpPr/>
          <p:nvPr/>
        </p:nvSpPr>
        <p:spPr>
          <a:xfrm>
            <a:off x="762000" y="5016500"/>
            <a:ext cx="10795000" cy="139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anchor="t">
            <a:noAutofit/>
          </a:bodyPr>
          <a:lstStyle/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Each row is a confirmed opportunity your company registered for, with your rank and the date you became eligible.</a:t>
            </a:r>
            <a:endParaRPr sz="1300" b="0">
              <a:solidFill>
                <a:srgbClr val="1E2B3C"/>
              </a:solidFill>
            </a:endParaRPr>
          </a:p>
          <a:p>
            <a:pPr marL="342900" indent="-342900" algn="l">
              <a:spcAft>
                <a:spcPts val="600"/>
              </a:spcAft>
              <a:buClr>
                <a:srgbClr val="1B7FA6"/>
              </a:buClr>
              <a:buAutoNum type="arabicPeriod"/>
            </a:pPr>
            <a:r>
              <a:rPr sz="1300" b="0">
                <a:solidFill>
                  <a:srgbClr val="1E2B3C"/>
                </a:solidFill>
              </a:rPr>
              <a:t>You only see your own rank. Other companies and their registrations stay private.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624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1473E2-B8A3-4312-85D3-8022AD2E19E3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18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Other situations you will meet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519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Covered step by step in the portal's Help page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520" name="Oval 4"/>
          <p:cNvSpPr/>
          <p:nvPr/>
        </p:nvSpPr>
        <p:spPr>
          <a:xfrm>
            <a:off x="762000" y="1625600"/>
            <a:ext cx="685800" cy="685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21" name="Users"/>
          <p:cNvSpPr/>
          <p:nvPr/>
        </p:nvSpPr>
        <p:spPr>
          <a:xfrm>
            <a:off x="939800" y="1803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66667" y="87500"/>
                </a:moveTo>
                <a:lnTo>
                  <a:pt x="66667" y="79167"/>
                </a:lnTo>
                <a:cubicBezTo>
                  <a:pt x="66667" y="69962"/>
                  <a:pt x="59205" y="62500"/>
                  <a:pt x="50000" y="62500"/>
                </a:cubicBezTo>
                <a:lnTo>
                  <a:pt x="25000" y="62500"/>
                </a:lnTo>
                <a:cubicBezTo>
                  <a:pt x="15795" y="62500"/>
                  <a:pt x="8333" y="69962"/>
                  <a:pt x="8333" y="79167"/>
                </a:cubicBezTo>
                <a:lnTo>
                  <a:pt x="8333" y="87500"/>
                </a:lnTo>
                <a:moveTo>
                  <a:pt x="66667" y="13033"/>
                </a:moveTo>
                <a:cubicBezTo>
                  <a:pt x="74018" y="14939"/>
                  <a:pt x="79151" y="21573"/>
                  <a:pt x="79151" y="29167"/>
                </a:cubicBezTo>
                <a:cubicBezTo>
                  <a:pt x="79151" y="36760"/>
                  <a:pt x="74018" y="43394"/>
                  <a:pt x="66667" y="45300"/>
                </a:cubicBezTo>
                <a:moveTo>
                  <a:pt x="91667" y="87500"/>
                </a:moveTo>
                <a:lnTo>
                  <a:pt x="91667" y="79167"/>
                </a:lnTo>
                <a:cubicBezTo>
                  <a:pt x="91661" y="71571"/>
                  <a:pt x="86521" y="64940"/>
                  <a:pt x="79167" y="63042"/>
                </a:cubicBezTo>
                <a:moveTo>
                  <a:pt x="20833" y="29167"/>
                </a:moveTo>
                <a:cubicBezTo>
                  <a:pt x="20833" y="19962"/>
                  <a:pt x="28295" y="12500"/>
                  <a:pt x="37500" y="12500"/>
                </a:cubicBezTo>
                <a:cubicBezTo>
                  <a:pt x="46705" y="12500"/>
                  <a:pt x="54167" y="19962"/>
                  <a:pt x="54167" y="29167"/>
                </a:cubicBezTo>
                <a:cubicBezTo>
                  <a:pt x="54167" y="38371"/>
                  <a:pt x="46705" y="45833"/>
                  <a:pt x="37500" y="45833"/>
                </a:cubicBezTo>
                <a:cubicBezTo>
                  <a:pt x="28295" y="45833"/>
                  <a:pt x="20833" y="38371"/>
                  <a:pt x="20833" y="29167"/>
                </a:cubicBezTo>
                <a:close/>
              </a:path>
            </a:pathLst>
          </a:custGeom>
          <a:noFill/>
          <a:ln w="27517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22" name="Rectangle 6"/>
          <p:cNvSpPr/>
          <p:nvPr/>
        </p:nvSpPr>
        <p:spPr>
          <a:xfrm>
            <a:off x="1651000" y="1625600"/>
            <a:ext cx="9906000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2384D"/>
                </a:solidFill>
              </a:rPr>
              <a:t>Buyer missing from the End-user list</a:t>
            </a:r>
            <a:endParaRPr sz="1500" b="1">
              <a:solidFill>
                <a:srgbClr val="12384D"/>
              </a:solidFill>
            </a:endParaRPr>
          </a:p>
        </p:txBody>
      </p:sp>
      <p:sp>
        <p:nvSpPr>
          <p:cNvPr id="523" name="Rectangle 7"/>
          <p:cNvSpPr/>
          <p:nvPr/>
        </p:nvSpPr>
        <p:spPr>
          <a:xfrm>
            <a:off x="1651000" y="1955800"/>
            <a:ext cx="9906000" cy="71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Company: use Add missing End-user. Admin: Administration, End-users; check the official name and address, add aliases, then verify.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524" name="Oval 8"/>
          <p:cNvSpPr/>
          <p:nvPr/>
        </p:nvSpPr>
        <p:spPr>
          <a:xfrm>
            <a:off x="762000" y="2794000"/>
            <a:ext cx="685800" cy="685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25" name="X"/>
          <p:cNvSpPr/>
          <p:nvPr/>
        </p:nvSpPr>
        <p:spPr>
          <a:xfrm>
            <a:off x="939800" y="2971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75000" y="25000"/>
                </a:moveTo>
                <a:lnTo>
                  <a:pt x="25000" y="75000"/>
                </a:lnTo>
                <a:moveTo>
                  <a:pt x="25000" y="25000"/>
                </a:moveTo>
                <a:lnTo>
                  <a:pt x="75000" y="75000"/>
                </a:lnTo>
              </a:path>
            </a:pathLst>
          </a:custGeom>
          <a:noFill/>
          <a:ln w="27517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26" name="Rectangle 10"/>
          <p:cNvSpPr/>
          <p:nvPr/>
        </p:nvSpPr>
        <p:spPr>
          <a:xfrm>
            <a:off x="1651000" y="2794000"/>
            <a:ext cx="9906000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2384D"/>
                </a:solidFill>
              </a:rPr>
              <a:t>Registration rejected</a:t>
            </a:r>
            <a:endParaRPr sz="1500" b="1">
              <a:solidFill>
                <a:srgbClr val="12384D"/>
              </a:solidFill>
            </a:endParaRPr>
          </a:p>
        </p:txBody>
      </p:sp>
      <p:sp>
        <p:nvSpPr>
          <p:cNvPr id="527" name="Rectangle 11"/>
          <p:cNvSpPr/>
          <p:nvPr/>
        </p:nvSpPr>
        <p:spPr>
          <a:xfrm>
            <a:off x="1651000" y="3124200"/>
            <a:ext cx="9906000" cy="71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Read the reason in Activity. Do not resubmit the same deal as a new registration.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528" name="Oval 12"/>
          <p:cNvSpPr/>
          <p:nvPr/>
        </p:nvSpPr>
        <p:spPr>
          <a:xfrm>
            <a:off x="762000" y="3962400"/>
            <a:ext cx="685800" cy="685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29" name="Mail"/>
          <p:cNvSpPr/>
          <p:nvPr/>
        </p:nvSpPr>
        <p:spPr>
          <a:xfrm>
            <a:off x="939800" y="414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91667" y="29167"/>
                </a:moveTo>
                <a:lnTo>
                  <a:pt x="54204" y="53029"/>
                </a:lnTo>
                <a:cubicBezTo>
                  <a:pt x="51616" y="54532"/>
                  <a:pt x="48421" y="54532"/>
                  <a:pt x="45833" y="53029"/>
                </a:cubicBezTo>
                <a:lnTo>
                  <a:pt x="8333" y="29167"/>
                </a:lnTo>
                <a:moveTo>
                  <a:pt x="16667" y="16667"/>
                </a:moveTo>
                <a:lnTo>
                  <a:pt x="83333" y="16667"/>
                </a:lnTo>
                <a:cubicBezTo>
                  <a:pt x="87936" y="16667"/>
                  <a:pt x="91667" y="20398"/>
                  <a:pt x="91667" y="25000"/>
                </a:cubicBezTo>
                <a:lnTo>
                  <a:pt x="91667" y="75000"/>
                </a:lnTo>
                <a:cubicBezTo>
                  <a:pt x="91667" y="79603"/>
                  <a:pt x="87936" y="83333"/>
                  <a:pt x="83333" y="83333"/>
                </a:cubicBezTo>
                <a:lnTo>
                  <a:pt x="16667" y="83333"/>
                </a:lnTo>
                <a:cubicBezTo>
                  <a:pt x="12064" y="83333"/>
                  <a:pt x="8333" y="79603"/>
                  <a:pt x="8333" y="75000"/>
                </a:cubicBezTo>
                <a:lnTo>
                  <a:pt x="8333" y="25000"/>
                </a:lnTo>
                <a:cubicBezTo>
                  <a:pt x="8333" y="20398"/>
                  <a:pt x="12064" y="16667"/>
                  <a:pt x="16667" y="16667"/>
                </a:cubicBezTo>
                <a:close/>
              </a:path>
            </a:pathLst>
          </a:custGeom>
          <a:noFill/>
          <a:ln w="27517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30" name="Rectangle 14"/>
          <p:cNvSpPr/>
          <p:nvPr/>
        </p:nvSpPr>
        <p:spPr>
          <a:xfrm>
            <a:off x="1651000" y="3962400"/>
            <a:ext cx="9906000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2384D"/>
                </a:solidFill>
              </a:rPr>
              <a:t>An email failed to send</a:t>
            </a:r>
            <a:endParaRPr sz="1500" b="1">
              <a:solidFill>
                <a:srgbClr val="12384D"/>
              </a:solidFill>
            </a:endParaRPr>
          </a:p>
        </p:txBody>
      </p:sp>
      <p:sp>
        <p:nvSpPr>
          <p:cNvPr id="531" name="Rectangle 15"/>
          <p:cNvSpPr/>
          <p:nvPr/>
        </p:nvSpPr>
        <p:spPr>
          <a:xfrm>
            <a:off x="1651000" y="4292600"/>
            <a:ext cx="9906000" cy="71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Admin: Administration, Notification deliveries. Fix the address or settings, then retry. The portal notification was never lost.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532" name="Oval 16"/>
          <p:cNvSpPr/>
          <p:nvPr/>
        </p:nvSpPr>
        <p:spPr>
          <a:xfrm>
            <a:off x="762000" y="5130800"/>
            <a:ext cx="685800" cy="6858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33" name="Calendar"/>
          <p:cNvSpPr/>
          <p:nvPr/>
        </p:nvSpPr>
        <p:spPr>
          <a:xfrm>
            <a:off x="939800" y="5308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33333" y="8333"/>
                </a:moveTo>
                <a:lnTo>
                  <a:pt x="33333" y="20833"/>
                </a:lnTo>
                <a:moveTo>
                  <a:pt x="66667" y="8333"/>
                </a:moveTo>
                <a:lnTo>
                  <a:pt x="66667" y="20833"/>
                </a:lnTo>
                <a:moveTo>
                  <a:pt x="20833" y="12500"/>
                </a:moveTo>
                <a:lnTo>
                  <a:pt x="79167" y="12500"/>
                </a:lnTo>
                <a:cubicBezTo>
                  <a:pt x="83769" y="12500"/>
                  <a:pt x="87500" y="16231"/>
                  <a:pt x="87500" y="20833"/>
                </a:cubicBezTo>
                <a:lnTo>
                  <a:pt x="87500" y="79167"/>
                </a:lnTo>
                <a:cubicBezTo>
                  <a:pt x="87500" y="83769"/>
                  <a:pt x="83769" y="87500"/>
                  <a:pt x="79167" y="87500"/>
                </a:cubicBezTo>
                <a:lnTo>
                  <a:pt x="20833" y="87500"/>
                </a:lnTo>
                <a:cubicBezTo>
                  <a:pt x="16231" y="87500"/>
                  <a:pt x="12500" y="83769"/>
                  <a:pt x="12500" y="79167"/>
                </a:cubicBezTo>
                <a:lnTo>
                  <a:pt x="12500" y="20833"/>
                </a:lnTo>
                <a:cubicBezTo>
                  <a:pt x="12500" y="16231"/>
                  <a:pt x="16231" y="12500"/>
                  <a:pt x="20833" y="12500"/>
                </a:cubicBezTo>
                <a:close/>
                <a:moveTo>
                  <a:pt x="12500" y="37500"/>
                </a:moveTo>
                <a:lnTo>
                  <a:pt x="87500" y="37500"/>
                </a:lnTo>
              </a:path>
            </a:pathLst>
          </a:custGeom>
          <a:noFill/>
          <a:ln w="27517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34" name="Rectangle 18"/>
          <p:cNvSpPr/>
          <p:nvPr/>
        </p:nvSpPr>
        <p:spPr>
          <a:xfrm>
            <a:off x="1651000" y="5130800"/>
            <a:ext cx="9906000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12384D"/>
                </a:solidFill>
              </a:rPr>
              <a:t>An approval is about to expire</a:t>
            </a:r>
            <a:endParaRPr sz="1500" b="1">
              <a:solidFill>
                <a:srgbClr val="12384D"/>
              </a:solidFill>
            </a:endParaRPr>
          </a:p>
        </p:txBody>
      </p:sp>
      <p:sp>
        <p:nvSpPr>
          <p:cNvPr id="535" name="Rectangle 19"/>
          <p:cNvSpPr/>
          <p:nvPr/>
        </p:nvSpPr>
        <p:spPr>
          <a:xfrm>
            <a:off x="1651000" y="5461000"/>
            <a:ext cx="9906000" cy="71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1E2B3C"/>
                </a:solidFill>
              </a:rPr>
              <a:t>Admin: the dashboard's Expiring in 30 days card and Price renewals. Each renewal adds 30 days.</a:t>
            </a:r>
            <a:endParaRPr sz="1300" b="0">
              <a:solidFill>
                <a:srgbClr val="1E2B3C"/>
              </a:solidFill>
            </a:endParaRPr>
          </a:p>
        </p:txBody>
      </p:sp>
      <p:sp>
        <p:nvSpPr>
          <p:cNvPr id="627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867CA9-AA29-4B16-809F-F852F057BB3F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38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Golden rules</a:t>
            </a:r>
            <a:endParaRPr sz="2600" b="1">
              <a:solidFill>
                <a:srgbClr val="12384D"/>
              </a:solidFill>
            </a:endParaRPr>
          </a:p>
        </p:txBody>
      </p:sp>
      <p:sp>
        <p:nvSpPr>
          <p:cNvPr id="539" name="Rectangle 3"/>
          <p:cNvSpPr/>
          <p:nvPr/>
        </p:nvSpPr>
        <p:spPr>
          <a:xfrm>
            <a:off x="736600" y="1143000"/>
            <a:ext cx="10795000" cy="35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5B6B7A"/>
                </a:solidFill>
              </a:rPr>
              <a:t>If you remember nothing else, remember these</a:t>
            </a:r>
            <a:endParaRPr sz="1400" b="0">
              <a:solidFill>
                <a:srgbClr val="5B6B7A"/>
              </a:solidFill>
            </a:endParaRPr>
          </a:p>
        </p:txBody>
      </p:sp>
      <p:sp>
        <p:nvSpPr>
          <p:cNvPr id="540" name="Rectangle 4"/>
          <p:cNvSpPr/>
          <p:nvPr/>
        </p:nvSpPr>
        <p:spPr>
          <a:xfrm>
            <a:off x="762000" y="1651000"/>
            <a:ext cx="5270500" cy="1270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41" name="Oval 5"/>
          <p:cNvSpPr/>
          <p:nvPr/>
        </p:nvSpPr>
        <p:spPr>
          <a:xfrm>
            <a:off x="965200" y="1981200"/>
            <a:ext cx="609600" cy="6096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42" name="Alert"/>
          <p:cNvSpPr/>
          <p:nvPr/>
        </p:nvSpPr>
        <p:spPr>
          <a:xfrm>
            <a:off x="111760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33333"/>
                </a:moveTo>
                <a:lnTo>
                  <a:pt x="50000" y="50000"/>
                </a:lnTo>
                <a:moveTo>
                  <a:pt x="50000" y="66667"/>
                </a:moveTo>
                <a:lnTo>
                  <a:pt x="50042" y="66667"/>
                </a:lnTo>
              </a:path>
            </a:pathLst>
          </a:custGeom>
          <a:noFill/>
          <a:ln w="25400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43" name="Rectangle 7"/>
          <p:cNvSpPr/>
          <p:nvPr/>
        </p:nvSpPr>
        <p:spPr>
          <a:xfrm>
            <a:off x="1752600" y="1778000"/>
            <a:ext cx="41275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500" b="1">
                <a:solidFill>
                  <a:srgbClr val="12384D"/>
                </a:solidFill>
              </a:rPr>
              <a:t>A requested price is never an approved price.</a:t>
            </a:r>
            <a:endParaRPr sz="1500" b="1">
              <a:solidFill>
                <a:srgbClr val="12384D"/>
              </a:solidFill>
            </a:endParaRPr>
          </a:p>
        </p:txBody>
      </p:sp>
      <p:sp>
        <p:nvSpPr>
          <p:cNvPr id="544" name="Rectangle 8"/>
          <p:cNvSpPr/>
          <p:nvPr/>
        </p:nvSpPr>
        <p:spPr>
          <a:xfrm>
            <a:off x="762000" y="3175000"/>
            <a:ext cx="5270500" cy="1270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45" name="Oval 9"/>
          <p:cNvSpPr/>
          <p:nvPr/>
        </p:nvSpPr>
        <p:spPr>
          <a:xfrm>
            <a:off x="965200" y="3505200"/>
            <a:ext cx="609600" cy="6096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46" name="Document"/>
          <p:cNvSpPr/>
          <p:nvPr/>
        </p:nvSpPr>
        <p:spPr>
          <a:xfrm>
            <a:off x="1117600" y="3657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25000" y="91667"/>
                </a:moveTo>
                <a:cubicBezTo>
                  <a:pt x="20398" y="91667"/>
                  <a:pt x="16667" y="87936"/>
                  <a:pt x="16667" y="83333"/>
                </a:cubicBezTo>
                <a:lnTo>
                  <a:pt x="16667" y="16667"/>
                </a:lnTo>
                <a:cubicBezTo>
                  <a:pt x="16667" y="12064"/>
                  <a:pt x="20398" y="8333"/>
                  <a:pt x="25000" y="8333"/>
                </a:cubicBezTo>
                <a:lnTo>
                  <a:pt x="58333" y="8333"/>
                </a:lnTo>
                <a:cubicBezTo>
                  <a:pt x="60998" y="8329"/>
                  <a:pt x="63553" y="9388"/>
                  <a:pt x="65433" y="11275"/>
                </a:cubicBezTo>
                <a:lnTo>
                  <a:pt x="80383" y="26225"/>
                </a:lnTo>
                <a:cubicBezTo>
                  <a:pt x="82275" y="28106"/>
                  <a:pt x="83338" y="30665"/>
                  <a:pt x="83333" y="33333"/>
                </a:cubicBezTo>
                <a:lnTo>
                  <a:pt x="83333" y="83333"/>
                </a:lnTo>
                <a:cubicBezTo>
                  <a:pt x="83333" y="87936"/>
                  <a:pt x="79603" y="91667"/>
                  <a:pt x="75000" y="91667"/>
                </a:cubicBezTo>
                <a:close/>
                <a:moveTo>
                  <a:pt x="58333" y="8333"/>
                </a:moveTo>
                <a:lnTo>
                  <a:pt x="58333" y="29167"/>
                </a:lnTo>
                <a:cubicBezTo>
                  <a:pt x="58333" y="31468"/>
                  <a:pt x="60199" y="33333"/>
                  <a:pt x="62500" y="33333"/>
                </a:cubicBezTo>
                <a:lnTo>
                  <a:pt x="83333" y="33333"/>
                </a:lnTo>
                <a:moveTo>
                  <a:pt x="41667" y="37500"/>
                </a:moveTo>
                <a:lnTo>
                  <a:pt x="33333" y="37500"/>
                </a:lnTo>
                <a:moveTo>
                  <a:pt x="66667" y="54167"/>
                </a:moveTo>
                <a:lnTo>
                  <a:pt x="33333" y="54167"/>
                </a:lnTo>
                <a:moveTo>
                  <a:pt x="66667" y="70833"/>
                </a:moveTo>
                <a:lnTo>
                  <a:pt x="33333" y="70833"/>
                </a:lnTo>
              </a:path>
            </a:pathLst>
          </a:custGeom>
          <a:noFill/>
          <a:ln w="25400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47" name="Rectangle 11"/>
          <p:cNvSpPr/>
          <p:nvPr/>
        </p:nvSpPr>
        <p:spPr>
          <a:xfrm>
            <a:off x="1752600" y="3302000"/>
            <a:ext cx="41275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500" b="1">
                <a:solidFill>
                  <a:srgbClr val="12384D"/>
                </a:solidFill>
              </a:rPr>
              <a:t>One registration per real opportunity. Edit it; do not duplicate it.</a:t>
            </a:r>
            <a:endParaRPr sz="1500" b="1">
              <a:solidFill>
                <a:srgbClr val="12384D"/>
              </a:solidFill>
            </a:endParaRPr>
          </a:p>
        </p:txBody>
      </p:sp>
      <p:sp>
        <p:nvSpPr>
          <p:cNvPr id="548" name="Rectangle 12"/>
          <p:cNvSpPr/>
          <p:nvPr/>
        </p:nvSpPr>
        <p:spPr>
          <a:xfrm>
            <a:off x="762000" y="4699000"/>
            <a:ext cx="5270500" cy="1270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49" name="Oval 13"/>
          <p:cNvSpPr/>
          <p:nvPr/>
        </p:nvSpPr>
        <p:spPr>
          <a:xfrm>
            <a:off x="965200" y="5029200"/>
            <a:ext cx="609600" cy="6096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50" name="Bell"/>
          <p:cNvSpPr/>
          <p:nvPr/>
        </p:nvSpPr>
        <p:spPr>
          <a:xfrm>
            <a:off x="1117600" y="5181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42783" y="87500"/>
                </a:moveTo>
                <a:cubicBezTo>
                  <a:pt x="44272" y="90078"/>
                  <a:pt x="47023" y="91666"/>
                  <a:pt x="50000" y="91666"/>
                </a:cubicBezTo>
                <a:cubicBezTo>
                  <a:pt x="52977" y="91666"/>
                  <a:pt x="55728" y="90078"/>
                  <a:pt x="57217" y="87500"/>
                </a:cubicBezTo>
                <a:moveTo>
                  <a:pt x="13592" y="63858"/>
                </a:moveTo>
                <a:cubicBezTo>
                  <a:pt x="12480" y="65077"/>
                  <a:pt x="12192" y="66838"/>
                  <a:pt x="12857" y="68348"/>
                </a:cubicBezTo>
                <a:cubicBezTo>
                  <a:pt x="13523" y="69858"/>
                  <a:pt x="15017" y="70832"/>
                  <a:pt x="16667" y="70833"/>
                </a:cubicBezTo>
                <a:lnTo>
                  <a:pt x="83333" y="70833"/>
                </a:lnTo>
                <a:cubicBezTo>
                  <a:pt x="84983" y="70834"/>
                  <a:pt x="86478" y="69861"/>
                  <a:pt x="87145" y="68352"/>
                </a:cubicBezTo>
                <a:cubicBezTo>
                  <a:pt x="87813" y="66843"/>
                  <a:pt x="87527" y="65083"/>
                  <a:pt x="86417" y="63863"/>
                </a:cubicBezTo>
                <a:cubicBezTo>
                  <a:pt x="80875" y="58150"/>
                  <a:pt x="75000" y="52079"/>
                  <a:pt x="75000" y="33333"/>
                </a:cubicBezTo>
                <a:cubicBezTo>
                  <a:pt x="75000" y="19526"/>
                  <a:pt x="63807" y="8333"/>
                  <a:pt x="50000" y="8333"/>
                </a:cubicBezTo>
                <a:cubicBezTo>
                  <a:pt x="36193" y="8333"/>
                  <a:pt x="25000" y="19526"/>
                  <a:pt x="25000" y="33333"/>
                </a:cubicBezTo>
                <a:cubicBezTo>
                  <a:pt x="25000" y="52079"/>
                  <a:pt x="19121" y="58150"/>
                  <a:pt x="13592" y="63858"/>
                </a:cubicBezTo>
              </a:path>
            </a:pathLst>
          </a:custGeom>
          <a:noFill/>
          <a:ln w="25400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51" name="Rectangle 15"/>
          <p:cNvSpPr/>
          <p:nvPr/>
        </p:nvSpPr>
        <p:spPr>
          <a:xfrm>
            <a:off x="1752600" y="4826000"/>
            <a:ext cx="41275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500" b="1">
                <a:solidFill>
                  <a:srgbClr val="12384D"/>
                </a:solidFill>
              </a:rPr>
              <a:t>The portal notification is the official record. Email is only a copy.</a:t>
            </a:r>
            <a:endParaRPr sz="1500" b="1">
              <a:solidFill>
                <a:srgbClr val="12384D"/>
              </a:solidFill>
            </a:endParaRPr>
          </a:p>
        </p:txBody>
      </p:sp>
      <p:sp>
        <p:nvSpPr>
          <p:cNvPr id="552" name="Rectangle 16"/>
          <p:cNvSpPr/>
          <p:nvPr/>
        </p:nvSpPr>
        <p:spPr>
          <a:xfrm>
            <a:off x="6286500" y="1651000"/>
            <a:ext cx="5270500" cy="1270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53" name="Oval 17"/>
          <p:cNvSpPr/>
          <p:nvPr/>
        </p:nvSpPr>
        <p:spPr>
          <a:xfrm>
            <a:off x="6489700" y="1981200"/>
            <a:ext cx="609600" cy="6096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54" name="Message"/>
          <p:cNvSpPr/>
          <p:nvPr/>
        </p:nvSpPr>
        <p:spPr>
          <a:xfrm>
            <a:off x="664210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12467" y="68092"/>
                </a:moveTo>
                <a:cubicBezTo>
                  <a:pt x="13079" y="69637"/>
                  <a:pt x="13216" y="71330"/>
                  <a:pt x="12858" y="72954"/>
                </a:cubicBezTo>
                <a:lnTo>
                  <a:pt x="8421" y="86663"/>
                </a:lnTo>
                <a:cubicBezTo>
                  <a:pt x="8130" y="88076"/>
                  <a:pt x="8591" y="89539"/>
                  <a:pt x="9640" y="90530"/>
                </a:cubicBezTo>
                <a:cubicBezTo>
                  <a:pt x="10689" y="91521"/>
                  <a:pt x="12176" y="91899"/>
                  <a:pt x="13571" y="91529"/>
                </a:cubicBezTo>
                <a:lnTo>
                  <a:pt x="27792" y="87371"/>
                </a:lnTo>
                <a:cubicBezTo>
                  <a:pt x="29324" y="87067"/>
                  <a:pt x="30910" y="87200"/>
                  <a:pt x="32371" y="87754"/>
                </a:cubicBezTo>
                <a:cubicBezTo>
                  <a:pt x="50740" y="96333"/>
                  <a:pt x="72617" y="90445"/>
                  <a:pt x="84199" y="73806"/>
                </a:cubicBezTo>
                <a:cubicBezTo>
                  <a:pt x="95781" y="57167"/>
                  <a:pt x="93706" y="34607"/>
                  <a:pt x="79284" y="20359"/>
                </a:cubicBezTo>
                <a:cubicBezTo>
                  <a:pt x="64861" y="6112"/>
                  <a:pt x="42277" y="4313"/>
                  <a:pt x="25781" y="16097"/>
                </a:cubicBezTo>
                <a:cubicBezTo>
                  <a:pt x="9285" y="27882"/>
                  <a:pt x="3665" y="49829"/>
                  <a:pt x="12467" y="68092"/>
                </a:cubicBezTo>
              </a:path>
            </a:pathLst>
          </a:custGeom>
          <a:noFill/>
          <a:ln w="25400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55" name="Rectangle 19"/>
          <p:cNvSpPr/>
          <p:nvPr/>
        </p:nvSpPr>
        <p:spPr>
          <a:xfrm>
            <a:off x="7277100" y="1778000"/>
            <a:ext cx="41275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500" b="1">
                <a:solidFill>
                  <a:srgbClr val="12384D"/>
                </a:solidFill>
              </a:rPr>
              <a:t>Write reasons and instructions someone else can act on without asking you.</a:t>
            </a:r>
            <a:endParaRPr sz="1500" b="1">
              <a:solidFill>
                <a:srgbClr val="12384D"/>
              </a:solidFill>
            </a:endParaRPr>
          </a:p>
        </p:txBody>
      </p:sp>
      <p:sp>
        <p:nvSpPr>
          <p:cNvPr id="556" name="Rectangle 20"/>
          <p:cNvSpPr/>
          <p:nvPr/>
        </p:nvSpPr>
        <p:spPr>
          <a:xfrm>
            <a:off x="6286500" y="3175000"/>
            <a:ext cx="5270500" cy="1270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57" name="Oval 21"/>
          <p:cNvSpPr/>
          <p:nvPr/>
        </p:nvSpPr>
        <p:spPr>
          <a:xfrm>
            <a:off x="6489700" y="3505200"/>
            <a:ext cx="609600" cy="6096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58" name="Check"/>
          <p:cNvSpPr/>
          <p:nvPr/>
        </p:nvSpPr>
        <p:spPr>
          <a:xfrm>
            <a:off x="6642100" y="3657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3" y="25000"/>
                </a:moveTo>
                <a:lnTo>
                  <a:pt x="37500" y="70833"/>
                </a:lnTo>
                <a:lnTo>
                  <a:pt x="16667" y="50000"/>
                </a:lnTo>
              </a:path>
            </a:pathLst>
          </a:custGeom>
          <a:noFill/>
          <a:ln w="25400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59" name="Rectangle 23"/>
          <p:cNvSpPr/>
          <p:nvPr/>
        </p:nvSpPr>
        <p:spPr>
          <a:xfrm>
            <a:off x="7277100" y="3302000"/>
            <a:ext cx="41275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500" b="1">
                <a:solidFill>
                  <a:srgbClr val="12384D"/>
                </a:solidFill>
              </a:rPr>
              <a:t>Read the three badges separately: registration, project, pricing.</a:t>
            </a:r>
            <a:endParaRPr sz="1500" b="1">
              <a:solidFill>
                <a:srgbClr val="12384D"/>
              </a:solidFill>
            </a:endParaRPr>
          </a:p>
        </p:txBody>
      </p:sp>
      <p:sp>
        <p:nvSpPr>
          <p:cNvPr id="560" name="Rectangle 24"/>
          <p:cNvSpPr/>
          <p:nvPr/>
        </p:nvSpPr>
        <p:spPr>
          <a:xfrm>
            <a:off x="6286500" y="4699000"/>
            <a:ext cx="5270500" cy="1270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61" name="Oval 25"/>
          <p:cNvSpPr/>
          <p:nvPr/>
        </p:nvSpPr>
        <p:spPr>
          <a:xfrm>
            <a:off x="6489700" y="5029200"/>
            <a:ext cx="609600" cy="609600"/>
          </a:xfrm>
          <a:prstGeom prst="ellipse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62" name="Info"/>
          <p:cNvSpPr/>
          <p:nvPr/>
        </p:nvSpPr>
        <p:spPr>
          <a:xfrm>
            <a:off x="6642100" y="5181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8333" y="50000"/>
                </a:move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lose/>
                <a:moveTo>
                  <a:pt x="50000" y="66667"/>
                </a:moveTo>
                <a:lnTo>
                  <a:pt x="50000" y="50000"/>
                </a:lnTo>
                <a:moveTo>
                  <a:pt x="50000" y="33333"/>
                </a:moveTo>
                <a:lnTo>
                  <a:pt x="50042" y="33333"/>
                </a:lnTo>
              </a:path>
            </a:pathLst>
          </a:custGeom>
          <a:noFill/>
          <a:ln w="25400" cap="rnd">
            <a:solidFill>
              <a:srgbClr val="FFFFFF"/>
            </a:solidFill>
            <a:round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sp>
      <p:sp>
        <p:nvSpPr>
          <p:cNvPr id="563" name="Rectangle 27"/>
          <p:cNvSpPr/>
          <p:nvPr/>
        </p:nvSpPr>
        <p:spPr>
          <a:xfrm>
            <a:off x="7277100" y="4826000"/>
            <a:ext cx="41275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l"/>
            <a:r>
              <a:rPr sz="1500" b="1">
                <a:solidFill>
                  <a:srgbClr val="12384D"/>
                </a:solidFill>
              </a:rPr>
              <a:t>Stuck? Open HELP. It has step-by-step guides for your role.</a:t>
            </a:r>
            <a:endParaRPr sz="1500" b="1">
              <a:solidFill>
                <a:srgbClr val="12384D"/>
              </a:solidFill>
            </a:endParaRPr>
          </a:p>
        </p:txBody>
      </p:sp>
      <p:sp>
        <p:nvSpPr>
          <p:cNvPr id="630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ACB274-83E7-4463-813B-4190E1E94892}" type="slidenum">
              <a:rPr/>
              <a:t>‹#›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Rectangle 1"/>
          <p:cNvSpPr/>
          <p:nvPr/>
        </p:nvSpPr>
        <p:spPr>
          <a:xfrm>
            <a:off x="762000" y="381000"/>
            <a:ext cx="711200" cy="76200"/>
          </a:xfrm>
          <a:prstGeom prst="rect">
            <a:avLst/>
          </a:prstGeom>
          <a:solidFill>
            <a:srgbClr val="1B7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566" name="Rectangle 2"/>
          <p:cNvSpPr/>
          <p:nvPr/>
        </p:nvSpPr>
        <p:spPr>
          <a:xfrm>
            <a:off x="711200" y="533400"/>
            <a:ext cx="10795000" cy="63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algn="l"/>
            <a:r>
              <a:rPr sz="2600" b="1">
                <a:solidFill>
                  <a:srgbClr val="12384D"/>
                </a:solidFill>
              </a:rPr>
              <a:t>Quick reference: where do I go?</a:t>
            </a:r>
            <a:endParaRPr sz="2600" b="1">
              <a:solidFill>
                <a:srgbClr val="12384D"/>
              </a:solidFill>
            </a:endParaRPr>
          </a:p>
        </p:txBody>
      </p:sp>
      <p:graphicFrame>
        <p:nvGraphicFramePr>
          <p:cNvPr id="567" name="Table 3"/>
          <p:cNvGraphicFramePr>
            <a:graphicFrameLocks noGrp="1"/>
          </p:cNvGraphicFramePr>
          <p:nvPr/>
        </p:nvGraphicFramePr>
        <p:xfrm>
          <a:off x="762000" y="1397000"/>
          <a:ext cx="10795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/>
                <a:gridCol w="6604000"/>
              </a:tblGrid>
              <a:tr h="508000">
                <a:tc>
                  <a:txBody>
                    <a:bodyPr/>
                    <a:lstStyle/>
                    <a:p>
                      <a:r>
                        <a:rPr sz="1400"/>
                        <a:t>I want to...</a:t>
                      </a:r>
                      <a:endParaRPr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Go to</a:t>
                      </a:r>
                      <a:endParaRPr sz="1400"/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Register a new deal</a:t>
                      </a:r>
                      <a:endParaRPr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Registrations, then NEW REGISTRATION</a:t>
                      </a:r>
                      <a:endParaRPr sz="1400"/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See what DBGI decided</a:t>
                      </a:r>
                      <a:endParaRPr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NOTIFICATIONS, then VIEW REGISTRATION</a:t>
                      </a:r>
                      <a:endParaRPr sz="1400"/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Fix a registration DBGI sent back</a:t>
                      </a:r>
                      <a:endParaRPr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Open the registration, read Activity, EDIT REGISTRATION</a:t>
                      </a:r>
                      <a:endParaRPr sz="1400"/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See my approved price</a:t>
                      </a:r>
                      <a:endParaRPr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Open the registration: Commercial approvals and Requested products</a:t>
                      </a:r>
                      <a:endParaRPr sz="1400"/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See my rank</a:t>
                      </a:r>
                      <a:endParaRPr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RANKINGS</a:t>
                      </a:r>
                      <a:endParaRPr sz="1400"/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Review a registration (DBGI)</a:t>
                      </a:r>
                      <a:endParaRPr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Administration dashboard, Registration review queue</a:t>
                      </a:r>
                      <a:endParaRPr sz="1400"/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Decide a price (DBGI)</a:t>
                      </a:r>
                      <a:endParaRPr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Administration, Price approvals</a:t>
                      </a:r>
                      <a:endParaRPr sz="1400"/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Get step-by-step help</a:t>
                      </a:r>
                      <a:endParaRPr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HELP in the top menu</a:t>
                      </a:r>
                      <a:endParaRPr sz="140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33" name="Slide Number Placeholder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4DE16EB-4549-4654-8ABF-75DC5CCEF245}" type="slidenum">
              <a:rPr/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arbor">
  <a:themeElements>
    <a:clrScheme name="Harbor">
      <a:dk1>
        <a:srgbClr val="0B1F2A"/>
      </a:dk1>
      <a:lt1>
        <a:srgbClr val="FFFFFF"/>
      </a:lt1>
      <a:dk2>
        <a:srgbClr val="12384D"/>
      </a:dk2>
      <a:lt2>
        <a:srgbClr val="E4EEF2"/>
      </a:lt2>
      <a:accent1>
        <a:srgbClr val="1B7FA6"/>
      </a:accent1>
      <a:accent2>
        <a:srgbClr val="36B3A8"/>
      </a:accent2>
      <a:accent3>
        <a:srgbClr val="F2C14E"/>
      </a:accent3>
      <a:accent4>
        <a:srgbClr val="F78154"/>
      </a:accent4>
      <a:accent5>
        <a:srgbClr val="5D576B"/>
      </a:accent5>
      <a:accent6>
        <a:srgbClr val="8AA29E"/>
      </a:accent6>
      <a:hlink>
        <a:srgbClr val="1B7FA6"/>
      </a:hlink>
      <a:folHlink>
        <a:srgbClr val="5D576B"/>
      </a:folHlink>
    </a:clrScheme>
    <a:fontScheme name="Harbor">
      <a:majorFont>
        <a:latin typeface="Merriweather"/>
        <a:ea typeface=""/>
        <a:cs typeface=""/>
      </a:majorFont>
      <a:minorFont>
        <a:latin typeface="Open Sans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22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the DBGI Project Registration Portal</dc:title>
</cp:coreProperties>
</file>