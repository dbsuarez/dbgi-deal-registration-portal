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theme" Target="theme/theme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arb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8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762000" y="1905000"/>
            <a:ext cx="889000" cy="10160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61" name="Rectangle 2"/>
          <p:cNvSpPr/>
          <p:nvPr/>
        </p:nvSpPr>
        <p:spPr>
          <a:xfrm>
            <a:off x="711200" y="2159000"/>
            <a:ext cx="106680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Deal Registration, Made Simple</a:t>
            </a:r>
            <a:endParaRPr sz="4400" b="1">
              <a:solidFill>
                <a:srgbClr val="FFFFFF"/>
              </a:solidFill>
            </a:endParaRPr>
          </a:p>
        </p:txBody>
      </p:sp>
      <p:sp>
        <p:nvSpPr>
          <p:cNvPr id="262" name="Rectangle 3"/>
          <p:cNvSpPr/>
          <p:nvPr/>
        </p:nvSpPr>
        <p:spPr>
          <a:xfrm>
            <a:off x="736600" y="3175000"/>
            <a:ext cx="10668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200" b="0">
                <a:solidFill>
                  <a:srgbClr val="B9D4E0"/>
                </a:solidFill>
              </a:rPr>
              <a:t>How it works in general, and where our portal fits in</a:t>
            </a:r>
            <a:endParaRPr sz="2200" b="0">
              <a:solidFill>
                <a:srgbClr val="B9D4E0"/>
              </a:solidFill>
            </a:endParaRPr>
          </a:p>
        </p:txBody>
      </p:sp>
      <p:sp>
        <p:nvSpPr>
          <p:cNvPr id="263" name="Rectangle 4"/>
          <p:cNvSpPr/>
          <p:nvPr/>
        </p:nvSpPr>
        <p:spPr>
          <a:xfrm>
            <a:off x="736600" y="5588000"/>
            <a:ext cx="10668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8FB3C4"/>
                </a:solidFill>
              </a:rPr>
              <a:t>DBGI Project Registration Portal  |  Learning guide  |  2026-10-26</a:t>
            </a:r>
            <a:endParaRPr sz="1400" b="0">
              <a:solidFill>
                <a:srgbClr val="8FB3C4"/>
              </a:solidFill>
            </a:endParaRPr>
          </a:p>
        </p:txBody>
      </p:sp>
      <p:sp>
        <p:nvSpPr>
          <p:cNvPr id="548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4E0D67-8901-4D8D-881D-3D861B2E5AE2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66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12384D"/>
                </a:solidFill>
              </a:rPr>
              <a:t>The problem: everyone chases the same customer</a:t>
            </a:r>
            <a:endParaRPr sz="2800" b="1">
              <a:solidFill>
                <a:srgbClr val="12384D"/>
              </a:solidFill>
            </a:endParaRPr>
          </a:p>
        </p:txBody>
      </p:sp>
      <p:sp>
        <p:nvSpPr>
          <p:cNvPr id="267" name="Rectangle 3"/>
          <p:cNvSpPr/>
          <p:nvPr/>
        </p:nvSpPr>
        <p:spPr>
          <a:xfrm>
            <a:off x="736600" y="1168400"/>
            <a:ext cx="1079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B6B7A"/>
                </a:solidFill>
              </a:rPr>
              <a:t>Without rules, three dealers hear about one buyer and fight over it</a:t>
            </a:r>
            <a:endParaRPr sz="1500" b="0">
              <a:solidFill>
                <a:srgbClr val="5B6B7A"/>
              </a:solidFill>
            </a:endParaRPr>
          </a:p>
        </p:txBody>
      </p:sp>
      <p:sp>
        <p:nvSpPr>
          <p:cNvPr id="268" name="Rectangle 4"/>
          <p:cNvSpPr/>
          <p:nvPr/>
        </p:nvSpPr>
        <p:spPr>
          <a:xfrm>
            <a:off x="762000" y="2032000"/>
            <a:ext cx="2413000" cy="8890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Dealer A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69" name="Briefcase"/>
          <p:cNvSpPr/>
          <p:nvPr/>
        </p:nvSpPr>
        <p:spPr>
          <a:xfrm>
            <a:off x="965200" y="2336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66667" y="83333"/>
                </a:moveTo>
                <a:lnTo>
                  <a:pt x="66667" y="16667"/>
                </a:lnTo>
                <a:cubicBezTo>
                  <a:pt x="66667" y="12064"/>
                  <a:pt x="62936" y="8333"/>
                  <a:pt x="58333" y="8333"/>
                </a:cubicBezTo>
                <a:lnTo>
                  <a:pt x="41667" y="8333"/>
                </a:lnTo>
                <a:cubicBezTo>
                  <a:pt x="37064" y="8333"/>
                  <a:pt x="33333" y="12064"/>
                  <a:pt x="33333" y="16667"/>
                </a:cubicBezTo>
                <a:lnTo>
                  <a:pt x="33333" y="83333"/>
                </a:lnTo>
                <a:moveTo>
                  <a:pt x="16667" y="25000"/>
                </a:moveTo>
                <a:lnTo>
                  <a:pt x="83333" y="25000"/>
                </a:lnTo>
                <a:cubicBezTo>
                  <a:pt x="87936" y="25000"/>
                  <a:pt x="91667" y="28731"/>
                  <a:pt x="91667" y="33333"/>
                </a:cubicBezTo>
                <a:lnTo>
                  <a:pt x="91667" y="75000"/>
                </a:lnTo>
                <a:cubicBezTo>
                  <a:pt x="91667" y="79603"/>
                  <a:pt x="87936" y="83333"/>
                  <a:pt x="83333" y="83333"/>
                </a:cubicBezTo>
                <a:lnTo>
                  <a:pt x="16667" y="83333"/>
                </a:lnTo>
                <a:cubicBezTo>
                  <a:pt x="12064" y="83333"/>
                  <a:pt x="8333" y="79603"/>
                  <a:pt x="8333" y="75000"/>
                </a:cubicBezTo>
                <a:lnTo>
                  <a:pt x="8333" y="33333"/>
                </a:lnTo>
                <a:cubicBezTo>
                  <a:pt x="8333" y="28731"/>
                  <a:pt x="12064" y="25000"/>
                  <a:pt x="16667" y="25000"/>
                </a:cubicBezTo>
                <a:close/>
              </a:path>
            </a:pathLst>
          </a:custGeom>
          <a:noFill/>
          <a:ln w="23283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cxnSp>
        <p:nvCxnSpPr>
          <p:cNvPr id="270" name="Arrow 6"/>
          <p:cNvCxnSpPr/>
          <p:nvPr/>
        </p:nvCxnSpPr>
        <p:spPr>
          <a:xfrm>
            <a:off x="3175000" y="2476500"/>
            <a:ext cx="1905000" cy="1206500"/>
          </a:xfrm>
          <a:prstGeom prst="straightConnector1">
            <a:avLst/>
          </a:prstGeom>
          <a:ln w="38100">
            <a:solidFill>
              <a:srgbClr val="F7815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Rectangle 7"/>
          <p:cNvSpPr/>
          <p:nvPr/>
        </p:nvSpPr>
        <p:spPr>
          <a:xfrm>
            <a:off x="762000" y="3429000"/>
            <a:ext cx="2413000" cy="8890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Dealer B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72" name="Briefcase"/>
          <p:cNvSpPr/>
          <p:nvPr/>
        </p:nvSpPr>
        <p:spPr>
          <a:xfrm>
            <a:off x="965200" y="3733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66667" y="83333"/>
                </a:moveTo>
                <a:lnTo>
                  <a:pt x="66667" y="16667"/>
                </a:lnTo>
                <a:cubicBezTo>
                  <a:pt x="66667" y="12064"/>
                  <a:pt x="62936" y="8333"/>
                  <a:pt x="58333" y="8333"/>
                </a:cubicBezTo>
                <a:lnTo>
                  <a:pt x="41667" y="8333"/>
                </a:lnTo>
                <a:cubicBezTo>
                  <a:pt x="37064" y="8333"/>
                  <a:pt x="33333" y="12064"/>
                  <a:pt x="33333" y="16667"/>
                </a:cubicBezTo>
                <a:lnTo>
                  <a:pt x="33333" y="83333"/>
                </a:lnTo>
                <a:moveTo>
                  <a:pt x="16667" y="25000"/>
                </a:moveTo>
                <a:lnTo>
                  <a:pt x="83333" y="25000"/>
                </a:lnTo>
                <a:cubicBezTo>
                  <a:pt x="87936" y="25000"/>
                  <a:pt x="91667" y="28731"/>
                  <a:pt x="91667" y="33333"/>
                </a:cubicBezTo>
                <a:lnTo>
                  <a:pt x="91667" y="75000"/>
                </a:lnTo>
                <a:cubicBezTo>
                  <a:pt x="91667" y="79603"/>
                  <a:pt x="87936" y="83333"/>
                  <a:pt x="83333" y="83333"/>
                </a:cubicBezTo>
                <a:lnTo>
                  <a:pt x="16667" y="83333"/>
                </a:lnTo>
                <a:cubicBezTo>
                  <a:pt x="12064" y="83333"/>
                  <a:pt x="8333" y="79603"/>
                  <a:pt x="8333" y="75000"/>
                </a:cubicBezTo>
                <a:lnTo>
                  <a:pt x="8333" y="33333"/>
                </a:lnTo>
                <a:cubicBezTo>
                  <a:pt x="8333" y="28731"/>
                  <a:pt x="12064" y="25000"/>
                  <a:pt x="16667" y="25000"/>
                </a:cubicBezTo>
                <a:close/>
              </a:path>
            </a:pathLst>
          </a:custGeom>
          <a:noFill/>
          <a:ln w="23283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cxnSp>
        <p:nvCxnSpPr>
          <p:cNvPr id="273" name="Arrow 9"/>
          <p:cNvCxnSpPr/>
          <p:nvPr/>
        </p:nvCxnSpPr>
        <p:spPr>
          <a:xfrm flipV="1">
            <a:off x="3175000" y="3683000"/>
            <a:ext cx="1905000" cy="190500"/>
          </a:xfrm>
          <a:prstGeom prst="straightConnector1">
            <a:avLst/>
          </a:prstGeom>
          <a:ln w="38100">
            <a:solidFill>
              <a:srgbClr val="F7815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Rectangle 10"/>
          <p:cNvSpPr/>
          <p:nvPr/>
        </p:nvSpPr>
        <p:spPr>
          <a:xfrm>
            <a:off x="762000" y="4826000"/>
            <a:ext cx="2413000" cy="8890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Dealer C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75" name="Briefcase"/>
          <p:cNvSpPr/>
          <p:nvPr/>
        </p:nvSpPr>
        <p:spPr>
          <a:xfrm>
            <a:off x="965200" y="5130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66667" y="83333"/>
                </a:moveTo>
                <a:lnTo>
                  <a:pt x="66667" y="16667"/>
                </a:lnTo>
                <a:cubicBezTo>
                  <a:pt x="66667" y="12064"/>
                  <a:pt x="62936" y="8333"/>
                  <a:pt x="58333" y="8333"/>
                </a:cubicBezTo>
                <a:lnTo>
                  <a:pt x="41667" y="8333"/>
                </a:lnTo>
                <a:cubicBezTo>
                  <a:pt x="37064" y="8333"/>
                  <a:pt x="33333" y="12064"/>
                  <a:pt x="33333" y="16667"/>
                </a:cubicBezTo>
                <a:lnTo>
                  <a:pt x="33333" y="83333"/>
                </a:lnTo>
                <a:moveTo>
                  <a:pt x="16667" y="25000"/>
                </a:moveTo>
                <a:lnTo>
                  <a:pt x="83333" y="25000"/>
                </a:lnTo>
                <a:cubicBezTo>
                  <a:pt x="87936" y="25000"/>
                  <a:pt x="91667" y="28731"/>
                  <a:pt x="91667" y="33333"/>
                </a:cubicBezTo>
                <a:lnTo>
                  <a:pt x="91667" y="75000"/>
                </a:lnTo>
                <a:cubicBezTo>
                  <a:pt x="91667" y="79603"/>
                  <a:pt x="87936" y="83333"/>
                  <a:pt x="83333" y="83333"/>
                </a:cubicBezTo>
                <a:lnTo>
                  <a:pt x="16667" y="83333"/>
                </a:lnTo>
                <a:cubicBezTo>
                  <a:pt x="12064" y="83333"/>
                  <a:pt x="8333" y="79603"/>
                  <a:pt x="8333" y="75000"/>
                </a:cubicBezTo>
                <a:lnTo>
                  <a:pt x="8333" y="33333"/>
                </a:lnTo>
                <a:cubicBezTo>
                  <a:pt x="8333" y="28731"/>
                  <a:pt x="12064" y="25000"/>
                  <a:pt x="16667" y="25000"/>
                </a:cubicBezTo>
                <a:close/>
              </a:path>
            </a:pathLst>
          </a:custGeom>
          <a:noFill/>
          <a:ln w="23283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cxnSp>
        <p:nvCxnSpPr>
          <p:cNvPr id="276" name="Arrow 12"/>
          <p:cNvCxnSpPr/>
          <p:nvPr/>
        </p:nvCxnSpPr>
        <p:spPr>
          <a:xfrm flipV="1">
            <a:off x="3175000" y="3683000"/>
            <a:ext cx="1905000" cy="1587500"/>
          </a:xfrm>
          <a:prstGeom prst="straightConnector1">
            <a:avLst/>
          </a:prstGeom>
          <a:ln w="38100">
            <a:solidFill>
              <a:srgbClr val="F7815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Rectangle 13"/>
          <p:cNvSpPr/>
          <p:nvPr/>
        </p:nvSpPr>
        <p:spPr>
          <a:xfrm>
            <a:off x="5080000" y="2921000"/>
            <a:ext cx="2667000" cy="1524000"/>
          </a:xfrm>
          <a:prstGeom prst="roundRect">
            <a:avLst/>
          </a:prstGeom>
          <a:solidFill>
            <a:srgbClr val="E4EEF2"/>
          </a:solidFill>
          <a:ln w="19050">
            <a:solidFill>
              <a:srgbClr val="1238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700" b="1">
                <a:solidFill>
                  <a:srgbClr val="12384D"/>
                </a:solidFill>
              </a:rPr>
              <a:t>Pasig City Hall</a:t>
            </a:r>
            <a:endParaRPr sz="1700" b="1">
              <a:solidFill>
                <a:srgbClr val="12384D"/>
              </a:solidFill>
            </a:endParaRPr>
          </a:p>
          <a:p>
            <a:pPr algn="ctr"/>
            <a:r>
              <a:rPr sz="1700" b="1">
                <a:solidFill>
                  <a:srgbClr val="12384D"/>
                </a:solidFill>
              </a:rPr>
              <a:t>needs 20 printers</a:t>
            </a:r>
            <a:endParaRPr sz="1700" b="1">
              <a:solidFill>
                <a:srgbClr val="12384D"/>
              </a:solidFill>
            </a:endParaRPr>
          </a:p>
        </p:txBody>
      </p:sp>
      <p:sp>
        <p:nvSpPr>
          <p:cNvPr id="278" name="Building"/>
          <p:cNvSpPr/>
          <p:nvPr/>
        </p:nvSpPr>
        <p:spPr>
          <a:xfrm>
            <a:off x="6223000" y="2489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50000" y="41667"/>
                </a:moveTo>
                <a:lnTo>
                  <a:pt x="50042" y="41667"/>
                </a:lnTo>
                <a:moveTo>
                  <a:pt x="50000" y="58333"/>
                </a:moveTo>
                <a:lnTo>
                  <a:pt x="50042" y="58333"/>
                </a:lnTo>
                <a:moveTo>
                  <a:pt x="50000" y="25000"/>
                </a:moveTo>
                <a:lnTo>
                  <a:pt x="50042" y="25000"/>
                </a:lnTo>
                <a:moveTo>
                  <a:pt x="66667" y="41667"/>
                </a:moveTo>
                <a:lnTo>
                  <a:pt x="66708" y="41667"/>
                </a:lnTo>
                <a:moveTo>
                  <a:pt x="66667" y="58333"/>
                </a:moveTo>
                <a:lnTo>
                  <a:pt x="66708" y="58333"/>
                </a:lnTo>
                <a:moveTo>
                  <a:pt x="66667" y="25000"/>
                </a:moveTo>
                <a:lnTo>
                  <a:pt x="66708" y="25000"/>
                </a:lnTo>
                <a:moveTo>
                  <a:pt x="33333" y="41667"/>
                </a:moveTo>
                <a:lnTo>
                  <a:pt x="33375" y="41667"/>
                </a:lnTo>
                <a:moveTo>
                  <a:pt x="33333" y="58333"/>
                </a:moveTo>
                <a:lnTo>
                  <a:pt x="33375" y="58333"/>
                </a:lnTo>
                <a:moveTo>
                  <a:pt x="33333" y="25000"/>
                </a:moveTo>
                <a:lnTo>
                  <a:pt x="33375" y="25000"/>
                </a:lnTo>
                <a:moveTo>
                  <a:pt x="37500" y="91667"/>
                </a:moveTo>
                <a:lnTo>
                  <a:pt x="37500" y="79167"/>
                </a:lnTo>
                <a:cubicBezTo>
                  <a:pt x="37500" y="76865"/>
                  <a:pt x="39365" y="75000"/>
                  <a:pt x="41667" y="75000"/>
                </a:cubicBezTo>
                <a:lnTo>
                  <a:pt x="58333" y="75000"/>
                </a:lnTo>
                <a:cubicBezTo>
                  <a:pt x="60635" y="75000"/>
                  <a:pt x="62500" y="76865"/>
                  <a:pt x="62500" y="79167"/>
                </a:cubicBezTo>
                <a:lnTo>
                  <a:pt x="62500" y="91667"/>
                </a:lnTo>
                <a:moveTo>
                  <a:pt x="25000" y="8333"/>
                </a:moveTo>
                <a:lnTo>
                  <a:pt x="75000" y="8333"/>
                </a:lnTo>
                <a:cubicBezTo>
                  <a:pt x="79603" y="8333"/>
                  <a:pt x="83333" y="12064"/>
                  <a:pt x="83333" y="16667"/>
                </a:cubicBezTo>
                <a:lnTo>
                  <a:pt x="83333" y="83333"/>
                </a:lnTo>
                <a:cubicBezTo>
                  <a:pt x="83333" y="87936"/>
                  <a:pt x="79603" y="91667"/>
                  <a:pt x="75000" y="91667"/>
                </a:cubicBezTo>
                <a:lnTo>
                  <a:pt x="25000" y="91667"/>
                </a:lnTo>
                <a:cubicBezTo>
                  <a:pt x="20398" y="91667"/>
                  <a:pt x="16667" y="87936"/>
                  <a:pt x="16667" y="83333"/>
                </a:cubicBezTo>
                <a:lnTo>
                  <a:pt x="16667" y="16667"/>
                </a:lnTo>
                <a:cubicBezTo>
                  <a:pt x="16667" y="12064"/>
                  <a:pt x="20398" y="8333"/>
                  <a:pt x="25000" y="8333"/>
                </a:cubicBezTo>
                <a:close/>
              </a:path>
            </a:pathLst>
          </a:custGeom>
          <a:noFill/>
          <a:ln w="31750" cap="rnd">
            <a:solidFill>
              <a:srgbClr val="12384D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279" name="Rectangle 15"/>
          <p:cNvSpPr/>
          <p:nvPr/>
        </p:nvSpPr>
        <p:spPr>
          <a:xfrm>
            <a:off x="8382000" y="2095500"/>
            <a:ext cx="3175000" cy="787400"/>
          </a:xfrm>
          <a:prstGeom prst="roundRect">
            <a:avLst/>
          </a:prstGeom>
          <a:solidFill>
            <a:srgbClr val="FDE8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400" b="0">
                <a:solidFill>
                  <a:srgbClr val="9B2915"/>
                </a:solidFill>
              </a:rPr>
              <a:t>Price war: each dealer asks for a bigger discount</a:t>
            </a:r>
            <a:endParaRPr sz="1400" b="0">
              <a:solidFill>
                <a:srgbClr val="9B2915"/>
              </a:solidFill>
            </a:endParaRPr>
          </a:p>
        </p:txBody>
      </p:sp>
      <p:sp>
        <p:nvSpPr>
          <p:cNvPr id="280" name="Warning"/>
          <p:cNvSpPr/>
          <p:nvPr/>
        </p:nvSpPr>
        <p:spPr>
          <a:xfrm>
            <a:off x="8534400" y="2349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90542" y="75000"/>
                </a:moveTo>
                <a:lnTo>
                  <a:pt x="57208" y="16667"/>
                </a:lnTo>
                <a:cubicBezTo>
                  <a:pt x="55729" y="14056"/>
                  <a:pt x="52960" y="12442"/>
                  <a:pt x="49958" y="12442"/>
                </a:cubicBezTo>
                <a:cubicBezTo>
                  <a:pt x="46957" y="12442"/>
                  <a:pt x="44188" y="14056"/>
                  <a:pt x="42708" y="16667"/>
                </a:cubicBezTo>
                <a:lnTo>
                  <a:pt x="9375" y="75000"/>
                </a:lnTo>
                <a:cubicBezTo>
                  <a:pt x="7880" y="77590"/>
                  <a:pt x="7887" y="80783"/>
                  <a:pt x="9393" y="83366"/>
                </a:cubicBezTo>
                <a:cubicBezTo>
                  <a:pt x="10900" y="85949"/>
                  <a:pt x="13676" y="87527"/>
                  <a:pt x="16667" y="87500"/>
                </a:cubicBezTo>
                <a:lnTo>
                  <a:pt x="83333" y="87500"/>
                </a:lnTo>
                <a:cubicBezTo>
                  <a:pt x="86309" y="87497"/>
                  <a:pt x="89057" y="85908"/>
                  <a:pt x="90544" y="83330"/>
                </a:cubicBezTo>
                <a:cubicBezTo>
                  <a:pt x="92030" y="80752"/>
                  <a:pt x="92030" y="77577"/>
                  <a:pt x="90542" y="75000"/>
                </a:cubicBezTo>
                <a:moveTo>
                  <a:pt x="50000" y="37500"/>
                </a:moveTo>
                <a:lnTo>
                  <a:pt x="50000" y="54167"/>
                </a:lnTo>
                <a:moveTo>
                  <a:pt x="50000" y="70833"/>
                </a:moveTo>
                <a:lnTo>
                  <a:pt x="50042" y="70833"/>
                </a:lnTo>
              </a:path>
            </a:pathLst>
          </a:custGeom>
          <a:noFill/>
          <a:ln w="23283" cap="rnd">
            <a:solidFill>
              <a:srgbClr val="9B2915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281" name="Rectangle 17"/>
          <p:cNvSpPr/>
          <p:nvPr/>
        </p:nvSpPr>
        <p:spPr>
          <a:xfrm>
            <a:off x="8382000" y="3289300"/>
            <a:ext cx="3175000" cy="787400"/>
          </a:xfrm>
          <a:prstGeom prst="roundRect">
            <a:avLst/>
          </a:prstGeom>
          <a:solidFill>
            <a:srgbClr val="FDE8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400" b="0">
                <a:solidFill>
                  <a:srgbClr val="9B2915"/>
                </a:solidFill>
              </a:rPr>
              <a:t>Wasted effort: three teams do the same work</a:t>
            </a:r>
            <a:endParaRPr sz="1400" b="0">
              <a:solidFill>
                <a:srgbClr val="9B2915"/>
              </a:solidFill>
            </a:endParaRPr>
          </a:p>
        </p:txBody>
      </p:sp>
      <p:sp>
        <p:nvSpPr>
          <p:cNvPr id="282" name="Warning"/>
          <p:cNvSpPr/>
          <p:nvPr/>
        </p:nvSpPr>
        <p:spPr>
          <a:xfrm>
            <a:off x="8534400" y="3543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90542" y="75000"/>
                </a:moveTo>
                <a:lnTo>
                  <a:pt x="57208" y="16667"/>
                </a:lnTo>
                <a:cubicBezTo>
                  <a:pt x="55729" y="14056"/>
                  <a:pt x="52960" y="12442"/>
                  <a:pt x="49958" y="12442"/>
                </a:cubicBezTo>
                <a:cubicBezTo>
                  <a:pt x="46957" y="12442"/>
                  <a:pt x="44188" y="14056"/>
                  <a:pt x="42708" y="16667"/>
                </a:cubicBezTo>
                <a:lnTo>
                  <a:pt x="9375" y="75000"/>
                </a:lnTo>
                <a:cubicBezTo>
                  <a:pt x="7880" y="77590"/>
                  <a:pt x="7887" y="80783"/>
                  <a:pt x="9393" y="83366"/>
                </a:cubicBezTo>
                <a:cubicBezTo>
                  <a:pt x="10900" y="85949"/>
                  <a:pt x="13676" y="87527"/>
                  <a:pt x="16667" y="87500"/>
                </a:cubicBezTo>
                <a:lnTo>
                  <a:pt x="83333" y="87500"/>
                </a:lnTo>
                <a:cubicBezTo>
                  <a:pt x="86309" y="87497"/>
                  <a:pt x="89057" y="85908"/>
                  <a:pt x="90544" y="83330"/>
                </a:cubicBezTo>
                <a:cubicBezTo>
                  <a:pt x="92030" y="80752"/>
                  <a:pt x="92030" y="77577"/>
                  <a:pt x="90542" y="75000"/>
                </a:cubicBezTo>
                <a:moveTo>
                  <a:pt x="50000" y="37500"/>
                </a:moveTo>
                <a:lnTo>
                  <a:pt x="50000" y="54167"/>
                </a:lnTo>
                <a:moveTo>
                  <a:pt x="50000" y="70833"/>
                </a:moveTo>
                <a:lnTo>
                  <a:pt x="50042" y="70833"/>
                </a:lnTo>
              </a:path>
            </a:pathLst>
          </a:custGeom>
          <a:noFill/>
          <a:ln w="23283" cap="rnd">
            <a:solidFill>
              <a:srgbClr val="9B2915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283" name="Rectangle 19"/>
          <p:cNvSpPr/>
          <p:nvPr/>
        </p:nvSpPr>
        <p:spPr>
          <a:xfrm>
            <a:off x="8382000" y="4483100"/>
            <a:ext cx="3175000" cy="787400"/>
          </a:xfrm>
          <a:prstGeom prst="roundRect">
            <a:avLst/>
          </a:prstGeom>
          <a:solidFill>
            <a:srgbClr val="FDE8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400" b="0">
                <a:solidFill>
                  <a:srgbClr val="9B2915"/>
                </a:solidFill>
              </a:rPr>
              <a:t>Unfair: the dealer who found it may lose it</a:t>
            </a:r>
            <a:endParaRPr sz="1400" b="0">
              <a:solidFill>
                <a:srgbClr val="9B2915"/>
              </a:solidFill>
            </a:endParaRPr>
          </a:p>
        </p:txBody>
      </p:sp>
      <p:sp>
        <p:nvSpPr>
          <p:cNvPr id="284" name="Warning"/>
          <p:cNvSpPr/>
          <p:nvPr/>
        </p:nvSpPr>
        <p:spPr>
          <a:xfrm>
            <a:off x="8534400" y="4737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90542" y="75000"/>
                </a:moveTo>
                <a:lnTo>
                  <a:pt x="57208" y="16667"/>
                </a:lnTo>
                <a:cubicBezTo>
                  <a:pt x="55729" y="14056"/>
                  <a:pt x="52960" y="12442"/>
                  <a:pt x="49958" y="12442"/>
                </a:cubicBezTo>
                <a:cubicBezTo>
                  <a:pt x="46957" y="12442"/>
                  <a:pt x="44188" y="14056"/>
                  <a:pt x="42708" y="16667"/>
                </a:cubicBezTo>
                <a:lnTo>
                  <a:pt x="9375" y="75000"/>
                </a:lnTo>
                <a:cubicBezTo>
                  <a:pt x="7880" y="77590"/>
                  <a:pt x="7887" y="80783"/>
                  <a:pt x="9393" y="83366"/>
                </a:cubicBezTo>
                <a:cubicBezTo>
                  <a:pt x="10900" y="85949"/>
                  <a:pt x="13676" y="87527"/>
                  <a:pt x="16667" y="87500"/>
                </a:cubicBezTo>
                <a:lnTo>
                  <a:pt x="83333" y="87500"/>
                </a:lnTo>
                <a:cubicBezTo>
                  <a:pt x="86309" y="87497"/>
                  <a:pt x="89057" y="85908"/>
                  <a:pt x="90544" y="83330"/>
                </a:cubicBezTo>
                <a:cubicBezTo>
                  <a:pt x="92030" y="80752"/>
                  <a:pt x="92030" y="77577"/>
                  <a:pt x="90542" y="75000"/>
                </a:cubicBezTo>
                <a:moveTo>
                  <a:pt x="50000" y="37500"/>
                </a:moveTo>
                <a:lnTo>
                  <a:pt x="50000" y="54167"/>
                </a:lnTo>
                <a:moveTo>
                  <a:pt x="50000" y="70833"/>
                </a:moveTo>
                <a:lnTo>
                  <a:pt x="50042" y="70833"/>
                </a:lnTo>
              </a:path>
            </a:pathLst>
          </a:custGeom>
          <a:noFill/>
          <a:ln w="23283" cap="rnd">
            <a:solidFill>
              <a:srgbClr val="9B2915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285" name="Rectangle 21"/>
          <p:cNvSpPr/>
          <p:nvPr/>
        </p:nvSpPr>
        <p:spPr>
          <a:xfrm>
            <a:off x="762000" y="5969000"/>
            <a:ext cx="10795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B6B7A"/>
                </a:solidFill>
              </a:rPr>
              <a:t>Result: dealers stop looking for new customers, because someone else may take the reward.</a:t>
            </a:r>
            <a:endParaRPr sz="1500" b="0">
              <a:solidFill>
                <a:srgbClr val="5B6B7A"/>
              </a:solidFill>
            </a:endParaRPr>
          </a:p>
        </p:txBody>
      </p:sp>
      <p:sp>
        <p:nvSpPr>
          <p:cNvPr id="551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266782-2A85-475A-865E-BAD95958CDD5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88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12384D"/>
                </a:solidFill>
              </a:rPr>
              <a:t>The fix: register first, get protected</a:t>
            </a:r>
            <a:endParaRPr sz="2800" b="1">
              <a:solidFill>
                <a:srgbClr val="12384D"/>
              </a:solidFill>
            </a:endParaRPr>
          </a:p>
        </p:txBody>
      </p:sp>
      <p:sp>
        <p:nvSpPr>
          <p:cNvPr id="289" name="Rectangle 3"/>
          <p:cNvSpPr/>
          <p:nvPr/>
        </p:nvSpPr>
        <p:spPr>
          <a:xfrm>
            <a:off x="736600" y="1168400"/>
            <a:ext cx="1079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B6B7A"/>
                </a:solidFill>
              </a:rPr>
              <a:t>The dealer who finds a real deal tells DBGI first, and DBGI protects it</a:t>
            </a:r>
            <a:endParaRPr sz="1500" b="0">
              <a:solidFill>
                <a:srgbClr val="5B6B7A"/>
              </a:solidFill>
            </a:endParaRPr>
          </a:p>
        </p:txBody>
      </p:sp>
      <p:sp>
        <p:nvSpPr>
          <p:cNvPr id="290" name="Rectangle 4"/>
          <p:cNvSpPr/>
          <p:nvPr/>
        </p:nvSpPr>
        <p:spPr>
          <a:xfrm>
            <a:off x="762000" y="2159000"/>
            <a:ext cx="2540000" cy="11430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Dealer A</a:t>
            </a:r>
            <a:endParaRPr sz="1700" b="1">
              <a:solidFill>
                <a:srgbClr val="FFFFFF"/>
              </a:solidFill>
            </a:endParaRPr>
          </a:p>
          <a:p>
            <a:pPr algn="ctr"/>
            <a:r>
              <a:rPr sz="1700" b="1">
                <a:solidFill>
                  <a:srgbClr val="FFFFFF"/>
                </a:solidFill>
              </a:rPr>
              <a:t>finds the deal</a:t>
            </a:r>
            <a:endParaRPr sz="1700" b="1">
              <a:solidFill>
                <a:srgbClr val="FFFFFF"/>
              </a:solidFill>
            </a:endParaRPr>
          </a:p>
        </p:txBody>
      </p:sp>
      <p:cxnSp>
        <p:nvCxnSpPr>
          <p:cNvPr id="291" name="Arrow 5"/>
          <p:cNvCxnSpPr/>
          <p:nvPr/>
        </p:nvCxnSpPr>
        <p:spPr>
          <a:xfrm>
            <a:off x="3302000" y="2730500"/>
            <a:ext cx="1270000" cy="12700"/>
          </a:xfrm>
          <a:prstGeom prst="straightConnector1">
            <a:avLst/>
          </a:prstGeom>
          <a:ln w="38100">
            <a:solidFill>
              <a:srgbClr val="12384D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Rectangle 6"/>
          <p:cNvSpPr/>
          <p:nvPr/>
        </p:nvSpPr>
        <p:spPr>
          <a:xfrm>
            <a:off x="3327400" y="2286000"/>
            <a:ext cx="1270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ctr"/>
            <a:r>
              <a:rPr sz="1300" b="0">
                <a:solidFill>
                  <a:srgbClr val="5B6B7A"/>
                </a:solidFill>
              </a:rPr>
              <a:t>registers</a:t>
            </a:r>
            <a:endParaRPr sz="1300" b="0">
              <a:solidFill>
                <a:srgbClr val="5B6B7A"/>
              </a:solidFill>
            </a:endParaRPr>
          </a:p>
        </p:txBody>
      </p:sp>
      <p:sp>
        <p:nvSpPr>
          <p:cNvPr id="293" name="Rectangle 7"/>
          <p:cNvSpPr/>
          <p:nvPr/>
        </p:nvSpPr>
        <p:spPr>
          <a:xfrm>
            <a:off x="4572000" y="2159000"/>
            <a:ext cx="2540000" cy="1143000"/>
          </a:xfrm>
          <a:prstGeom prst="roundRect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DBGI</a:t>
            </a:r>
            <a:endParaRPr sz="1700" b="1">
              <a:solidFill>
                <a:srgbClr val="FFFFFF"/>
              </a:solidFill>
            </a:endParaRPr>
          </a:p>
          <a:p>
            <a:pPr algn="ctr"/>
            <a:r>
              <a:rPr sz="1700" b="1">
                <a:solidFill>
                  <a:srgbClr val="FFFFFF"/>
                </a:solidFill>
              </a:rPr>
              <a:t>checks and approves</a:t>
            </a:r>
            <a:endParaRPr sz="1700" b="1">
              <a:solidFill>
                <a:srgbClr val="FFFFFF"/>
              </a:solidFill>
            </a:endParaRPr>
          </a:p>
        </p:txBody>
      </p:sp>
      <p:cxnSp>
        <p:nvCxnSpPr>
          <p:cNvPr id="294" name="Arrow 8"/>
          <p:cNvCxnSpPr/>
          <p:nvPr/>
        </p:nvCxnSpPr>
        <p:spPr>
          <a:xfrm>
            <a:off x="7112000" y="2730500"/>
            <a:ext cx="1270000" cy="12700"/>
          </a:xfrm>
          <a:prstGeom prst="straightConnector1">
            <a:avLst/>
          </a:prstGeom>
          <a:ln w="38100">
            <a:solidFill>
              <a:srgbClr val="12384D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Rectangle 9"/>
          <p:cNvSpPr/>
          <p:nvPr/>
        </p:nvSpPr>
        <p:spPr>
          <a:xfrm>
            <a:off x="8382000" y="1905000"/>
            <a:ext cx="3175000" cy="1651000"/>
          </a:xfrm>
          <a:prstGeom prst="roundRect">
            <a:avLst/>
          </a:prstGeom>
          <a:solidFill>
            <a:srgbClr val="E3F4EC"/>
          </a:solidFill>
          <a:ln w="19050">
            <a:solidFill>
              <a:srgbClr val="2EA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anchor="ctr">
            <a:noAutofit/>
          </a:bodyPr>
          <a:lstStyle/>
          <a:p>
            <a:pPr algn="l"/>
            <a:r>
              <a:rPr sz="1600" b="0">
                <a:solidFill>
                  <a:srgbClr val="1D6B48"/>
                </a:solidFill>
              </a:rPr>
              <a:t>Dealer A gets:</a:t>
            </a:r>
            <a:endParaRPr sz="1600" b="0">
              <a:solidFill>
                <a:srgbClr val="1D6B48"/>
              </a:solidFill>
            </a:endParaRPr>
          </a:p>
          <a:p>
            <a:pPr algn="l"/>
            <a:r>
              <a:rPr sz="1600" b="0">
                <a:solidFill>
                  <a:srgbClr val="1D6B48"/>
                </a:solidFill>
              </a:rPr>
              <a:t>- Priority on this deal</a:t>
            </a:r>
            <a:endParaRPr sz="1600" b="0">
              <a:solidFill>
                <a:srgbClr val="1D6B48"/>
              </a:solidFill>
            </a:endParaRPr>
          </a:p>
          <a:p>
            <a:pPr algn="l"/>
            <a:r>
              <a:rPr sz="1600" b="0">
                <a:solidFill>
                  <a:srgbClr val="1D6B48"/>
                </a:solidFill>
              </a:rPr>
              <a:t>- A special price</a:t>
            </a:r>
            <a:endParaRPr sz="1600" b="0">
              <a:solidFill>
                <a:srgbClr val="1D6B48"/>
              </a:solidFill>
            </a:endParaRPr>
          </a:p>
          <a:p>
            <a:pPr algn="l"/>
            <a:r>
              <a:rPr sz="1600" b="0">
                <a:solidFill>
                  <a:srgbClr val="1D6B48"/>
                </a:solidFill>
              </a:rPr>
              <a:t>- For a limited time</a:t>
            </a:r>
            <a:endParaRPr sz="1600" b="0">
              <a:solidFill>
                <a:srgbClr val="1D6B48"/>
              </a:solidFill>
            </a:endParaRPr>
          </a:p>
        </p:txBody>
      </p:sp>
      <p:sp>
        <p:nvSpPr>
          <p:cNvPr id="296" name="Rectangle 10"/>
          <p:cNvSpPr/>
          <p:nvPr/>
        </p:nvSpPr>
        <p:spPr>
          <a:xfrm>
            <a:off x="762000" y="4318000"/>
            <a:ext cx="2540000" cy="889000"/>
          </a:xfrm>
          <a:prstGeom prst="roundRect">
            <a:avLst/>
          </a:prstGeom>
          <a:solidFill>
            <a:srgbClr val="D5D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04800" anchor="ctr">
            <a:noAutofit/>
          </a:bodyPr>
          <a:lstStyle/>
          <a:p>
            <a:pPr algn="l"/>
            <a:r>
              <a:rPr sz="1700" b="1">
                <a:solidFill>
                  <a:srgbClr val="5B6B7A"/>
                </a:solidFill>
              </a:rPr>
              <a:t>Dealer B</a:t>
            </a:r>
            <a:endParaRPr sz="1700" b="1">
              <a:solidFill>
                <a:srgbClr val="5B6B7A"/>
              </a:solidFill>
            </a:endParaRPr>
          </a:p>
        </p:txBody>
      </p:sp>
      <p:sp>
        <p:nvSpPr>
          <p:cNvPr id="297" name="Rectangle 11"/>
          <p:cNvSpPr/>
          <p:nvPr/>
        </p:nvSpPr>
        <p:spPr>
          <a:xfrm>
            <a:off x="762000" y="5397500"/>
            <a:ext cx="2540000" cy="889000"/>
          </a:xfrm>
          <a:prstGeom prst="roundRect">
            <a:avLst/>
          </a:prstGeom>
          <a:solidFill>
            <a:srgbClr val="D5D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04800" anchor="ctr">
            <a:noAutofit/>
          </a:bodyPr>
          <a:lstStyle/>
          <a:p>
            <a:pPr algn="l"/>
            <a:r>
              <a:rPr sz="1700" b="1">
                <a:solidFill>
                  <a:srgbClr val="5B6B7A"/>
                </a:solidFill>
              </a:rPr>
              <a:t>Dealer C</a:t>
            </a:r>
            <a:endParaRPr sz="1700" b="1">
              <a:solidFill>
                <a:srgbClr val="5B6B7A"/>
              </a:solidFill>
            </a:endParaRPr>
          </a:p>
        </p:txBody>
      </p:sp>
      <p:sp>
        <p:nvSpPr>
          <p:cNvPr id="298" name="Lock"/>
          <p:cNvSpPr/>
          <p:nvPr/>
        </p:nvSpPr>
        <p:spPr>
          <a:xfrm>
            <a:off x="2819400" y="459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20833" y="45833"/>
                </a:moveTo>
                <a:lnTo>
                  <a:pt x="79167" y="45833"/>
                </a:lnTo>
                <a:cubicBezTo>
                  <a:pt x="83769" y="45833"/>
                  <a:pt x="87500" y="49564"/>
                  <a:pt x="87500" y="54167"/>
                </a:cubicBezTo>
                <a:lnTo>
                  <a:pt x="87500" y="83333"/>
                </a:lnTo>
                <a:cubicBezTo>
                  <a:pt x="87500" y="87936"/>
                  <a:pt x="83769" y="91667"/>
                  <a:pt x="79167" y="91667"/>
                </a:cubicBezTo>
                <a:lnTo>
                  <a:pt x="20833" y="91667"/>
                </a:lnTo>
                <a:cubicBezTo>
                  <a:pt x="16231" y="91667"/>
                  <a:pt x="12500" y="87936"/>
                  <a:pt x="12500" y="83333"/>
                </a:cubicBezTo>
                <a:lnTo>
                  <a:pt x="12500" y="54167"/>
                </a:lnTo>
                <a:cubicBezTo>
                  <a:pt x="12500" y="49564"/>
                  <a:pt x="16231" y="45833"/>
                  <a:pt x="20833" y="45833"/>
                </a:cubicBezTo>
                <a:close/>
                <a:moveTo>
                  <a:pt x="29167" y="45833"/>
                </a:moveTo>
                <a:lnTo>
                  <a:pt x="29167" y="29167"/>
                </a:lnTo>
                <a:cubicBezTo>
                  <a:pt x="29167" y="17661"/>
                  <a:pt x="38494" y="8333"/>
                  <a:pt x="50000" y="8333"/>
                </a:cubicBezTo>
                <a:cubicBezTo>
                  <a:pt x="61506" y="8333"/>
                  <a:pt x="70833" y="17661"/>
                  <a:pt x="70833" y="29167"/>
                </a:cubicBezTo>
                <a:lnTo>
                  <a:pt x="70833" y="45833"/>
                </a:lnTo>
              </a:path>
            </a:pathLst>
          </a:custGeom>
          <a:noFill/>
          <a:ln w="25400" cap="rnd">
            <a:solidFill>
              <a:srgbClr val="5B6B7A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299" name="Lock"/>
          <p:cNvSpPr/>
          <p:nvPr/>
        </p:nvSpPr>
        <p:spPr>
          <a:xfrm>
            <a:off x="2819400" y="5676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20833" y="45833"/>
                </a:moveTo>
                <a:lnTo>
                  <a:pt x="79167" y="45833"/>
                </a:lnTo>
                <a:cubicBezTo>
                  <a:pt x="83769" y="45833"/>
                  <a:pt x="87500" y="49564"/>
                  <a:pt x="87500" y="54167"/>
                </a:cubicBezTo>
                <a:lnTo>
                  <a:pt x="87500" y="83333"/>
                </a:lnTo>
                <a:cubicBezTo>
                  <a:pt x="87500" y="87936"/>
                  <a:pt x="83769" y="91667"/>
                  <a:pt x="79167" y="91667"/>
                </a:cubicBezTo>
                <a:lnTo>
                  <a:pt x="20833" y="91667"/>
                </a:lnTo>
                <a:cubicBezTo>
                  <a:pt x="16231" y="91667"/>
                  <a:pt x="12500" y="87936"/>
                  <a:pt x="12500" y="83333"/>
                </a:cubicBezTo>
                <a:lnTo>
                  <a:pt x="12500" y="54167"/>
                </a:lnTo>
                <a:cubicBezTo>
                  <a:pt x="12500" y="49564"/>
                  <a:pt x="16231" y="45833"/>
                  <a:pt x="20833" y="45833"/>
                </a:cubicBezTo>
                <a:close/>
                <a:moveTo>
                  <a:pt x="29167" y="45833"/>
                </a:moveTo>
                <a:lnTo>
                  <a:pt x="29167" y="29167"/>
                </a:lnTo>
                <a:cubicBezTo>
                  <a:pt x="29167" y="17661"/>
                  <a:pt x="38494" y="8333"/>
                  <a:pt x="50000" y="8333"/>
                </a:cubicBezTo>
                <a:cubicBezTo>
                  <a:pt x="61506" y="8333"/>
                  <a:pt x="70833" y="17661"/>
                  <a:pt x="70833" y="29167"/>
                </a:cubicBezTo>
                <a:lnTo>
                  <a:pt x="70833" y="45833"/>
                </a:lnTo>
              </a:path>
            </a:pathLst>
          </a:custGeom>
          <a:noFill/>
          <a:ln w="25400" cap="rnd">
            <a:solidFill>
              <a:srgbClr val="5B6B7A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300" name="Rectangle 14"/>
          <p:cNvSpPr/>
          <p:nvPr/>
        </p:nvSpPr>
        <p:spPr>
          <a:xfrm>
            <a:off x="3810000" y="4572000"/>
            <a:ext cx="7747000" cy="1397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rIns="177800" anchor="ctr">
            <a:noAutofit/>
          </a:bodyPr>
          <a:lstStyle/>
          <a:p>
            <a:pPr algn="l"/>
            <a:r>
              <a:rPr sz="1600" b="0">
                <a:solidFill>
                  <a:srgbClr val="12384D"/>
                </a:solidFill>
              </a:rPr>
              <a:t>Other dealers cannot take the protected deal by undercutting. They can still sell to other customers, or register their own deals.</a:t>
            </a:r>
            <a:endParaRPr sz="1600" b="0">
              <a:solidFill>
                <a:srgbClr val="12384D"/>
              </a:solidFill>
            </a:endParaRPr>
          </a:p>
        </p:txBody>
      </p:sp>
      <p:sp>
        <p:nvSpPr>
          <p:cNvPr id="554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219E0-3C5E-43C7-87F2-6F36B66D5D50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03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12384D"/>
                </a:solidFill>
              </a:rPr>
              <a:t>The four players</a:t>
            </a:r>
            <a:endParaRPr sz="2800" b="1">
              <a:solidFill>
                <a:srgbClr val="12384D"/>
              </a:solidFill>
            </a:endParaRPr>
          </a:p>
        </p:txBody>
      </p:sp>
      <p:sp>
        <p:nvSpPr>
          <p:cNvPr id="304" name="Rectangle 3"/>
          <p:cNvSpPr/>
          <p:nvPr/>
        </p:nvSpPr>
        <p:spPr>
          <a:xfrm>
            <a:off x="736600" y="1168400"/>
            <a:ext cx="1079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B6B7A"/>
                </a:solidFill>
              </a:rPr>
              <a:t>Who is involved, and what each one is called in our portal</a:t>
            </a:r>
            <a:endParaRPr sz="1500" b="0">
              <a:solidFill>
                <a:srgbClr val="5B6B7A"/>
              </a:solidFill>
            </a:endParaRPr>
          </a:p>
        </p:txBody>
      </p:sp>
      <p:sp>
        <p:nvSpPr>
          <p:cNvPr id="305" name="Rectangle 4"/>
          <p:cNvSpPr/>
          <p:nvPr/>
        </p:nvSpPr>
        <p:spPr>
          <a:xfrm>
            <a:off x="762000" y="1778000"/>
            <a:ext cx="254000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06" name="Rectangle 5"/>
          <p:cNvSpPr/>
          <p:nvPr/>
        </p:nvSpPr>
        <p:spPr>
          <a:xfrm>
            <a:off x="762000" y="1778000"/>
            <a:ext cx="2540000" cy="101600"/>
          </a:xfrm>
          <a:prstGeom prst="rect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07" name="Oval 6"/>
          <p:cNvSpPr/>
          <p:nvPr/>
        </p:nvSpPr>
        <p:spPr>
          <a:xfrm>
            <a:off x="1701800" y="2108200"/>
            <a:ext cx="660400" cy="6604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08" name="Building"/>
          <p:cNvSpPr/>
          <p:nvPr/>
        </p:nvSpPr>
        <p:spPr>
          <a:xfrm>
            <a:off x="1854200" y="226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50000" y="41667"/>
                </a:moveTo>
                <a:lnTo>
                  <a:pt x="50042" y="41667"/>
                </a:lnTo>
                <a:moveTo>
                  <a:pt x="50000" y="58333"/>
                </a:moveTo>
                <a:lnTo>
                  <a:pt x="50042" y="58333"/>
                </a:lnTo>
                <a:moveTo>
                  <a:pt x="50000" y="25000"/>
                </a:moveTo>
                <a:lnTo>
                  <a:pt x="50042" y="25000"/>
                </a:lnTo>
                <a:moveTo>
                  <a:pt x="66667" y="41667"/>
                </a:moveTo>
                <a:lnTo>
                  <a:pt x="66708" y="41667"/>
                </a:lnTo>
                <a:moveTo>
                  <a:pt x="66667" y="58333"/>
                </a:moveTo>
                <a:lnTo>
                  <a:pt x="66708" y="58333"/>
                </a:lnTo>
                <a:moveTo>
                  <a:pt x="66667" y="25000"/>
                </a:moveTo>
                <a:lnTo>
                  <a:pt x="66708" y="25000"/>
                </a:lnTo>
                <a:moveTo>
                  <a:pt x="33333" y="41667"/>
                </a:moveTo>
                <a:lnTo>
                  <a:pt x="33375" y="41667"/>
                </a:lnTo>
                <a:moveTo>
                  <a:pt x="33333" y="58333"/>
                </a:moveTo>
                <a:lnTo>
                  <a:pt x="33375" y="58333"/>
                </a:lnTo>
                <a:moveTo>
                  <a:pt x="33333" y="25000"/>
                </a:moveTo>
                <a:lnTo>
                  <a:pt x="33375" y="25000"/>
                </a:lnTo>
                <a:moveTo>
                  <a:pt x="37500" y="91667"/>
                </a:moveTo>
                <a:lnTo>
                  <a:pt x="37500" y="79167"/>
                </a:lnTo>
                <a:cubicBezTo>
                  <a:pt x="37500" y="76865"/>
                  <a:pt x="39365" y="75000"/>
                  <a:pt x="41667" y="75000"/>
                </a:cubicBezTo>
                <a:lnTo>
                  <a:pt x="58333" y="75000"/>
                </a:lnTo>
                <a:cubicBezTo>
                  <a:pt x="60635" y="75000"/>
                  <a:pt x="62500" y="76865"/>
                  <a:pt x="62500" y="79167"/>
                </a:cubicBezTo>
                <a:lnTo>
                  <a:pt x="62500" y="91667"/>
                </a:lnTo>
                <a:moveTo>
                  <a:pt x="25000" y="8333"/>
                </a:moveTo>
                <a:lnTo>
                  <a:pt x="75000" y="8333"/>
                </a:lnTo>
                <a:cubicBezTo>
                  <a:pt x="79603" y="8333"/>
                  <a:pt x="83333" y="12064"/>
                  <a:pt x="83333" y="16667"/>
                </a:cubicBezTo>
                <a:lnTo>
                  <a:pt x="83333" y="83333"/>
                </a:lnTo>
                <a:cubicBezTo>
                  <a:pt x="83333" y="87936"/>
                  <a:pt x="79603" y="91667"/>
                  <a:pt x="75000" y="91667"/>
                </a:cubicBezTo>
                <a:lnTo>
                  <a:pt x="25000" y="91667"/>
                </a:lnTo>
                <a:cubicBezTo>
                  <a:pt x="20398" y="91667"/>
                  <a:pt x="16667" y="87936"/>
                  <a:pt x="16667" y="83333"/>
                </a:cubicBezTo>
                <a:lnTo>
                  <a:pt x="16667" y="16667"/>
                </a:lnTo>
                <a:cubicBezTo>
                  <a:pt x="16667" y="12064"/>
                  <a:pt x="20398" y="8333"/>
                  <a:pt x="25000" y="8333"/>
                </a:cubicBezTo>
                <a:close/>
              </a:path>
            </a:pathLst>
          </a:custGeom>
          <a:noFill/>
          <a:ln w="29633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309" name="Rectangle 8"/>
          <p:cNvSpPr/>
          <p:nvPr/>
        </p:nvSpPr>
        <p:spPr>
          <a:xfrm>
            <a:off x="889000" y="2921000"/>
            <a:ext cx="2286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ctr"/>
            <a:r>
              <a:rPr sz="1800" b="1">
                <a:solidFill>
                  <a:srgbClr val="12384D"/>
                </a:solidFill>
              </a:rPr>
              <a:t>DBGI</a:t>
            </a:r>
            <a:endParaRPr sz="1800" b="1">
              <a:solidFill>
                <a:srgbClr val="12384D"/>
              </a:solidFill>
            </a:endParaRPr>
          </a:p>
        </p:txBody>
      </p:sp>
      <p:sp>
        <p:nvSpPr>
          <p:cNvPr id="310" name="Rectangle 9"/>
          <p:cNvSpPr/>
          <p:nvPr/>
        </p:nvSpPr>
        <p:spPr>
          <a:xfrm>
            <a:off x="939800" y="3378200"/>
            <a:ext cx="21844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ctr"/>
            <a:r>
              <a:rPr sz="1300" b="0">
                <a:solidFill>
                  <a:srgbClr val="1E2B3C"/>
                </a:solidFill>
              </a:rPr>
              <a:t>Owns the product and the pricing. Decides who gets protection and price.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11" name="Rectangle 10"/>
          <p:cNvSpPr/>
          <p:nvPr/>
        </p:nvSpPr>
        <p:spPr>
          <a:xfrm>
            <a:off x="939800" y="4546600"/>
            <a:ext cx="2184400" cy="4826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12384D"/>
                </a:solidFill>
              </a:rPr>
              <a:t>DBGI administrators</a:t>
            </a:r>
            <a:endParaRPr sz="1200" b="1">
              <a:solidFill>
                <a:srgbClr val="12384D"/>
              </a:solidFill>
            </a:endParaRPr>
          </a:p>
        </p:txBody>
      </p:sp>
      <p:sp>
        <p:nvSpPr>
          <p:cNvPr id="312" name="Rectangle 11"/>
          <p:cNvSpPr/>
          <p:nvPr/>
        </p:nvSpPr>
        <p:spPr>
          <a:xfrm>
            <a:off x="3492500" y="1778000"/>
            <a:ext cx="254000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13" name="Rectangle 12"/>
          <p:cNvSpPr/>
          <p:nvPr/>
        </p:nvSpPr>
        <p:spPr>
          <a:xfrm>
            <a:off x="3492500" y="1778000"/>
            <a:ext cx="2540000" cy="1016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14" name="Oval 13"/>
          <p:cNvSpPr/>
          <p:nvPr/>
        </p:nvSpPr>
        <p:spPr>
          <a:xfrm>
            <a:off x="4432300" y="2108200"/>
            <a:ext cx="660400" cy="6604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15" name="Briefcase"/>
          <p:cNvSpPr/>
          <p:nvPr/>
        </p:nvSpPr>
        <p:spPr>
          <a:xfrm>
            <a:off x="4584700" y="226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66667" y="83333"/>
                </a:moveTo>
                <a:lnTo>
                  <a:pt x="66667" y="16667"/>
                </a:lnTo>
                <a:cubicBezTo>
                  <a:pt x="66667" y="12064"/>
                  <a:pt x="62936" y="8333"/>
                  <a:pt x="58333" y="8333"/>
                </a:cubicBezTo>
                <a:lnTo>
                  <a:pt x="41667" y="8333"/>
                </a:lnTo>
                <a:cubicBezTo>
                  <a:pt x="37064" y="8333"/>
                  <a:pt x="33333" y="12064"/>
                  <a:pt x="33333" y="16667"/>
                </a:cubicBezTo>
                <a:lnTo>
                  <a:pt x="33333" y="83333"/>
                </a:lnTo>
                <a:moveTo>
                  <a:pt x="16667" y="25000"/>
                </a:moveTo>
                <a:lnTo>
                  <a:pt x="83333" y="25000"/>
                </a:lnTo>
                <a:cubicBezTo>
                  <a:pt x="87936" y="25000"/>
                  <a:pt x="91667" y="28731"/>
                  <a:pt x="91667" y="33333"/>
                </a:cubicBezTo>
                <a:lnTo>
                  <a:pt x="91667" y="75000"/>
                </a:lnTo>
                <a:cubicBezTo>
                  <a:pt x="91667" y="79603"/>
                  <a:pt x="87936" y="83333"/>
                  <a:pt x="83333" y="83333"/>
                </a:cubicBezTo>
                <a:lnTo>
                  <a:pt x="16667" y="83333"/>
                </a:lnTo>
                <a:cubicBezTo>
                  <a:pt x="12064" y="83333"/>
                  <a:pt x="8333" y="79603"/>
                  <a:pt x="8333" y="75000"/>
                </a:cubicBezTo>
                <a:lnTo>
                  <a:pt x="8333" y="33333"/>
                </a:lnTo>
                <a:cubicBezTo>
                  <a:pt x="8333" y="28731"/>
                  <a:pt x="12064" y="25000"/>
                  <a:pt x="16667" y="25000"/>
                </a:cubicBezTo>
                <a:close/>
              </a:path>
            </a:pathLst>
          </a:custGeom>
          <a:noFill/>
          <a:ln w="29633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316" name="Rectangle 15"/>
          <p:cNvSpPr/>
          <p:nvPr/>
        </p:nvSpPr>
        <p:spPr>
          <a:xfrm>
            <a:off x="3619500" y="2921000"/>
            <a:ext cx="2286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ctr"/>
            <a:r>
              <a:rPr sz="1800" b="1">
                <a:solidFill>
                  <a:srgbClr val="12384D"/>
                </a:solidFill>
              </a:rPr>
              <a:t>Dealer / Partner</a:t>
            </a:r>
            <a:endParaRPr sz="1800" b="1">
              <a:solidFill>
                <a:srgbClr val="12384D"/>
              </a:solidFill>
            </a:endParaRPr>
          </a:p>
        </p:txBody>
      </p:sp>
      <p:sp>
        <p:nvSpPr>
          <p:cNvPr id="317" name="Rectangle 16"/>
          <p:cNvSpPr/>
          <p:nvPr/>
        </p:nvSpPr>
        <p:spPr>
          <a:xfrm>
            <a:off x="3670300" y="3378200"/>
            <a:ext cx="21844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ctr"/>
            <a:r>
              <a:rPr sz="1300" b="0">
                <a:solidFill>
                  <a:srgbClr val="1E2B3C"/>
                </a:solidFill>
              </a:rPr>
              <a:t>Finds the buyer and sells to them. Registers the deal.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18" name="Rectangle 17"/>
          <p:cNvSpPr/>
          <p:nvPr/>
        </p:nvSpPr>
        <p:spPr>
          <a:xfrm>
            <a:off x="3670300" y="4546600"/>
            <a:ext cx="2184400" cy="4826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12384D"/>
                </a:solidFill>
              </a:rPr>
              <a:t>Company users</a:t>
            </a:r>
            <a:endParaRPr sz="1200" b="1">
              <a:solidFill>
                <a:srgbClr val="12384D"/>
              </a:solidFill>
            </a:endParaRPr>
          </a:p>
        </p:txBody>
      </p:sp>
      <p:sp>
        <p:nvSpPr>
          <p:cNvPr id="319" name="Rectangle 18"/>
          <p:cNvSpPr/>
          <p:nvPr/>
        </p:nvSpPr>
        <p:spPr>
          <a:xfrm>
            <a:off x="6223000" y="1778000"/>
            <a:ext cx="254000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20" name="Rectangle 19"/>
          <p:cNvSpPr/>
          <p:nvPr/>
        </p:nvSpPr>
        <p:spPr>
          <a:xfrm>
            <a:off x="6223000" y="1778000"/>
            <a:ext cx="2540000" cy="101600"/>
          </a:xfrm>
          <a:prstGeom prst="rect">
            <a:avLst/>
          </a:prstGeom>
          <a:solidFill>
            <a:srgbClr val="36B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21" name="Oval 20"/>
          <p:cNvSpPr/>
          <p:nvPr/>
        </p:nvSpPr>
        <p:spPr>
          <a:xfrm>
            <a:off x="7162800" y="2108200"/>
            <a:ext cx="660400" cy="660400"/>
          </a:xfrm>
          <a:prstGeom prst="ellipse">
            <a:avLst/>
          </a:prstGeom>
          <a:solidFill>
            <a:srgbClr val="36B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22" name="Users"/>
          <p:cNvSpPr/>
          <p:nvPr/>
        </p:nvSpPr>
        <p:spPr>
          <a:xfrm>
            <a:off x="7315200" y="226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66667" y="87500"/>
                </a:moveTo>
                <a:lnTo>
                  <a:pt x="66667" y="79167"/>
                </a:lnTo>
                <a:cubicBezTo>
                  <a:pt x="66667" y="69962"/>
                  <a:pt x="59205" y="62500"/>
                  <a:pt x="50000" y="62500"/>
                </a:cubicBezTo>
                <a:lnTo>
                  <a:pt x="25000" y="62500"/>
                </a:lnTo>
                <a:cubicBezTo>
                  <a:pt x="15795" y="62500"/>
                  <a:pt x="8333" y="69962"/>
                  <a:pt x="8333" y="79167"/>
                </a:cubicBezTo>
                <a:lnTo>
                  <a:pt x="8333" y="87500"/>
                </a:lnTo>
                <a:moveTo>
                  <a:pt x="66667" y="13033"/>
                </a:moveTo>
                <a:cubicBezTo>
                  <a:pt x="74018" y="14939"/>
                  <a:pt x="79151" y="21573"/>
                  <a:pt x="79151" y="29167"/>
                </a:cubicBezTo>
                <a:cubicBezTo>
                  <a:pt x="79151" y="36760"/>
                  <a:pt x="74018" y="43394"/>
                  <a:pt x="66667" y="45300"/>
                </a:cubicBezTo>
                <a:moveTo>
                  <a:pt x="91667" y="87500"/>
                </a:moveTo>
                <a:lnTo>
                  <a:pt x="91667" y="79167"/>
                </a:lnTo>
                <a:cubicBezTo>
                  <a:pt x="91661" y="71571"/>
                  <a:pt x="86521" y="64940"/>
                  <a:pt x="79167" y="63042"/>
                </a:cubicBezTo>
                <a:moveTo>
                  <a:pt x="20833" y="29167"/>
                </a:moveTo>
                <a:cubicBezTo>
                  <a:pt x="20833" y="19962"/>
                  <a:pt x="28295" y="12500"/>
                  <a:pt x="37500" y="12500"/>
                </a:cubicBezTo>
                <a:cubicBezTo>
                  <a:pt x="46705" y="12500"/>
                  <a:pt x="54167" y="19962"/>
                  <a:pt x="54167" y="29167"/>
                </a:cubicBezTo>
                <a:cubicBezTo>
                  <a:pt x="54167" y="38371"/>
                  <a:pt x="46705" y="45833"/>
                  <a:pt x="37500" y="45833"/>
                </a:cubicBezTo>
                <a:cubicBezTo>
                  <a:pt x="28295" y="45833"/>
                  <a:pt x="20833" y="38371"/>
                  <a:pt x="20833" y="29167"/>
                </a:cubicBezTo>
                <a:close/>
              </a:path>
            </a:pathLst>
          </a:custGeom>
          <a:noFill/>
          <a:ln w="29633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323" name="Rectangle 22"/>
          <p:cNvSpPr/>
          <p:nvPr/>
        </p:nvSpPr>
        <p:spPr>
          <a:xfrm>
            <a:off x="6350000" y="2921000"/>
            <a:ext cx="2286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ctr"/>
            <a:r>
              <a:rPr sz="1800" b="1">
                <a:solidFill>
                  <a:srgbClr val="12384D"/>
                </a:solidFill>
              </a:rPr>
              <a:t>End-user</a:t>
            </a:r>
            <a:endParaRPr sz="1800" b="1">
              <a:solidFill>
                <a:srgbClr val="12384D"/>
              </a:solidFill>
            </a:endParaRPr>
          </a:p>
        </p:txBody>
      </p:sp>
      <p:sp>
        <p:nvSpPr>
          <p:cNvPr id="324" name="Rectangle 23"/>
          <p:cNvSpPr/>
          <p:nvPr/>
        </p:nvSpPr>
        <p:spPr>
          <a:xfrm>
            <a:off x="6400800" y="3378200"/>
            <a:ext cx="21844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ctr"/>
            <a:r>
              <a:rPr sz="1300" b="0">
                <a:solidFill>
                  <a:srgbClr val="1E2B3C"/>
                </a:solidFill>
              </a:rPr>
              <a:t>The actual buyer. Often a government office, like Pasig City Hall.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25" name="Rectangle 24"/>
          <p:cNvSpPr/>
          <p:nvPr/>
        </p:nvSpPr>
        <p:spPr>
          <a:xfrm>
            <a:off x="6400800" y="4546600"/>
            <a:ext cx="2184400" cy="4826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12384D"/>
                </a:solidFill>
              </a:rPr>
              <a:t>End-user</a:t>
            </a:r>
            <a:endParaRPr sz="1200" b="1">
              <a:solidFill>
                <a:srgbClr val="12384D"/>
              </a:solidFill>
            </a:endParaRPr>
          </a:p>
        </p:txBody>
      </p:sp>
      <p:sp>
        <p:nvSpPr>
          <p:cNvPr id="326" name="Rectangle 25"/>
          <p:cNvSpPr/>
          <p:nvPr/>
        </p:nvSpPr>
        <p:spPr>
          <a:xfrm>
            <a:off x="8953500" y="1778000"/>
            <a:ext cx="254000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27" name="Rectangle 26"/>
          <p:cNvSpPr/>
          <p:nvPr/>
        </p:nvSpPr>
        <p:spPr>
          <a:xfrm>
            <a:off x="8953500" y="1778000"/>
            <a:ext cx="2540000" cy="101600"/>
          </a:xfrm>
          <a:prstGeom prst="rect">
            <a:avLst/>
          </a:prstGeom>
          <a:solidFill>
            <a:srgbClr val="F781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28" name="Oval 27"/>
          <p:cNvSpPr/>
          <p:nvPr/>
        </p:nvSpPr>
        <p:spPr>
          <a:xfrm>
            <a:off x="9893300" y="2108200"/>
            <a:ext cx="660400" cy="660400"/>
          </a:xfrm>
          <a:prstGeom prst="ellipse">
            <a:avLst/>
          </a:prstGeom>
          <a:solidFill>
            <a:srgbClr val="F781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29" name="Target"/>
          <p:cNvSpPr/>
          <p:nvPr/>
        </p:nvSpPr>
        <p:spPr>
          <a:xfrm>
            <a:off x="10045700" y="226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25000" y="50000"/>
                </a:moveTo>
                <a:cubicBezTo>
                  <a:pt x="25000" y="36193"/>
                  <a:pt x="36193" y="25000"/>
                  <a:pt x="50000" y="25000"/>
                </a:cubicBezTo>
                <a:cubicBezTo>
                  <a:pt x="63807" y="25000"/>
                  <a:pt x="75000" y="36193"/>
                  <a:pt x="75000" y="50000"/>
                </a:cubicBezTo>
                <a:cubicBezTo>
                  <a:pt x="75000" y="63807"/>
                  <a:pt x="63807" y="75000"/>
                  <a:pt x="50000" y="75000"/>
                </a:cubicBezTo>
                <a:cubicBezTo>
                  <a:pt x="36193" y="75000"/>
                  <a:pt x="25000" y="63807"/>
                  <a:pt x="25000" y="50000"/>
                </a:cubicBezTo>
                <a:close/>
                <a:moveTo>
                  <a:pt x="41667" y="50000"/>
                </a:moveTo>
                <a:cubicBezTo>
                  <a:pt x="41667" y="45398"/>
                  <a:pt x="45398" y="41667"/>
                  <a:pt x="50000" y="41667"/>
                </a:cubicBezTo>
                <a:cubicBezTo>
                  <a:pt x="54603" y="41667"/>
                  <a:pt x="58333" y="45398"/>
                  <a:pt x="58333" y="50000"/>
                </a:cubicBezTo>
                <a:cubicBezTo>
                  <a:pt x="58333" y="54603"/>
                  <a:pt x="54603" y="58333"/>
                  <a:pt x="50000" y="58333"/>
                </a:cubicBezTo>
                <a:cubicBezTo>
                  <a:pt x="45398" y="58333"/>
                  <a:pt x="41667" y="54603"/>
                  <a:pt x="41667" y="50000"/>
                </a:cubicBezTo>
                <a:close/>
              </a:path>
            </a:pathLst>
          </a:custGeom>
          <a:noFill/>
          <a:ln w="29633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330" name="Rectangle 29"/>
          <p:cNvSpPr/>
          <p:nvPr/>
        </p:nvSpPr>
        <p:spPr>
          <a:xfrm>
            <a:off x="9080500" y="2921000"/>
            <a:ext cx="2286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ctr"/>
            <a:r>
              <a:rPr sz="1800" b="1">
                <a:solidFill>
                  <a:srgbClr val="12384D"/>
                </a:solidFill>
              </a:rPr>
              <a:t>Competitors</a:t>
            </a:r>
            <a:endParaRPr sz="1800" b="1">
              <a:solidFill>
                <a:srgbClr val="12384D"/>
              </a:solidFill>
            </a:endParaRPr>
          </a:p>
        </p:txBody>
      </p:sp>
      <p:sp>
        <p:nvSpPr>
          <p:cNvPr id="331" name="Rectangle 30"/>
          <p:cNvSpPr/>
          <p:nvPr/>
        </p:nvSpPr>
        <p:spPr>
          <a:xfrm>
            <a:off x="9131300" y="3378200"/>
            <a:ext cx="21844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ctr"/>
            <a:r>
              <a:rPr sz="1300" b="0">
                <a:solidFill>
                  <a:srgbClr val="1E2B3C"/>
                </a:solidFill>
              </a:rPr>
              <a:t>Other brands the buyer is considering. Helps DBGI judge the price needed to win.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32" name="Rectangle 31"/>
          <p:cNvSpPr/>
          <p:nvPr/>
        </p:nvSpPr>
        <p:spPr>
          <a:xfrm>
            <a:off x="9131300" y="4546600"/>
            <a:ext cx="2184400" cy="4826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12384D"/>
                </a:solidFill>
              </a:rPr>
              <a:t>Canon, Epson, HP, Lexmark</a:t>
            </a:r>
            <a:endParaRPr sz="1200" b="1">
              <a:solidFill>
                <a:srgbClr val="12384D"/>
              </a:solidFill>
            </a:endParaRPr>
          </a:p>
        </p:txBody>
      </p:sp>
      <p:sp>
        <p:nvSpPr>
          <p:cNvPr id="333" name="Rectangle 32"/>
          <p:cNvSpPr/>
          <p:nvPr/>
        </p:nvSpPr>
        <p:spPr>
          <a:xfrm>
            <a:off x="762000" y="5461000"/>
            <a:ext cx="1079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5B6B7A"/>
                </a:solidFill>
              </a:rPr>
              <a:t>The shaded label at the bottom of each card is that player's name in our portal.</a:t>
            </a:r>
            <a:endParaRPr sz="1300" b="0">
              <a:solidFill>
                <a:srgbClr val="5B6B7A"/>
              </a:solidFill>
            </a:endParaRPr>
          </a:p>
        </p:txBody>
      </p:sp>
      <p:sp>
        <p:nvSpPr>
          <p:cNvPr id="557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D1DB54B-4FC6-4944-8106-E43DA6D7893B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36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12384D"/>
                </a:solidFill>
              </a:rPr>
              <a:t>The whole flow in 8 steps</a:t>
            </a:r>
            <a:endParaRPr sz="2800" b="1">
              <a:solidFill>
                <a:srgbClr val="12384D"/>
              </a:solidFill>
            </a:endParaRPr>
          </a:p>
        </p:txBody>
      </p:sp>
      <p:sp>
        <p:nvSpPr>
          <p:cNvPr id="337" name="Rectangle 3"/>
          <p:cNvSpPr/>
          <p:nvPr/>
        </p:nvSpPr>
        <p:spPr>
          <a:xfrm>
            <a:off x="736600" y="1168400"/>
            <a:ext cx="1079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B6B7A"/>
                </a:solidFill>
              </a:rPr>
              <a:t>Almost every company that does deal registration follows this shape</a:t>
            </a:r>
            <a:endParaRPr sz="1500" b="0">
              <a:solidFill>
                <a:srgbClr val="5B6B7A"/>
              </a:solidFill>
            </a:endParaRPr>
          </a:p>
        </p:txBody>
      </p:sp>
      <p:sp>
        <p:nvSpPr>
          <p:cNvPr id="338" name="Rectangle 4"/>
          <p:cNvSpPr/>
          <p:nvPr/>
        </p:nvSpPr>
        <p:spPr>
          <a:xfrm>
            <a:off x="762000" y="1841500"/>
            <a:ext cx="2413000" cy="152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F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39" name="Oval 5"/>
          <p:cNvSpPr/>
          <p:nvPr/>
        </p:nvSpPr>
        <p:spPr>
          <a:xfrm>
            <a:off x="914400" y="1993900"/>
            <a:ext cx="431800" cy="431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40" name="Rectangle 6"/>
          <p:cNvSpPr/>
          <p:nvPr/>
        </p:nvSpPr>
        <p:spPr>
          <a:xfrm>
            <a:off x="1422400" y="2019300"/>
            <a:ext cx="1701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B7FA6"/>
                </a:solidFill>
              </a:rPr>
              <a:t>Find</a:t>
            </a:r>
            <a:endParaRPr sz="1700" b="1">
              <a:solidFill>
                <a:srgbClr val="1B7FA6"/>
              </a:solidFill>
            </a:endParaRPr>
          </a:p>
        </p:txBody>
      </p:sp>
      <p:sp>
        <p:nvSpPr>
          <p:cNvPr id="341" name="Rectangle 7"/>
          <p:cNvSpPr/>
          <p:nvPr/>
        </p:nvSpPr>
        <p:spPr>
          <a:xfrm>
            <a:off x="914400" y="2527300"/>
            <a:ext cx="21590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Dealer learns of a real buying need</a:t>
            </a:r>
            <a:endParaRPr sz="1300" b="0">
              <a:solidFill>
                <a:srgbClr val="1E2B3C"/>
              </a:solidFill>
            </a:endParaRPr>
          </a:p>
        </p:txBody>
      </p:sp>
      <p:cxnSp>
        <p:nvCxnSpPr>
          <p:cNvPr id="342" name="Arrow 8"/>
          <p:cNvCxnSpPr/>
          <p:nvPr/>
        </p:nvCxnSpPr>
        <p:spPr>
          <a:xfrm>
            <a:off x="3175000" y="2603500"/>
            <a:ext cx="406400" cy="12700"/>
          </a:xfrm>
          <a:prstGeom prst="straightConnector1">
            <a:avLst/>
          </a:prstGeom>
          <a:ln w="25400">
            <a:solidFill>
              <a:srgbClr val="5B6B7A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ectangle 9"/>
          <p:cNvSpPr/>
          <p:nvPr/>
        </p:nvSpPr>
        <p:spPr>
          <a:xfrm>
            <a:off x="3581400" y="1841500"/>
            <a:ext cx="2413000" cy="152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F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44" name="Oval 10"/>
          <p:cNvSpPr/>
          <p:nvPr/>
        </p:nvSpPr>
        <p:spPr>
          <a:xfrm>
            <a:off x="3733800" y="1993900"/>
            <a:ext cx="431800" cy="431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45" name="Rectangle 11"/>
          <p:cNvSpPr/>
          <p:nvPr/>
        </p:nvSpPr>
        <p:spPr>
          <a:xfrm>
            <a:off x="4241800" y="2019300"/>
            <a:ext cx="1701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B7FA6"/>
                </a:solidFill>
              </a:rPr>
              <a:t>Register</a:t>
            </a:r>
            <a:endParaRPr sz="1700" b="1">
              <a:solidFill>
                <a:srgbClr val="1B7FA6"/>
              </a:solidFill>
            </a:endParaRPr>
          </a:p>
        </p:txBody>
      </p:sp>
      <p:sp>
        <p:nvSpPr>
          <p:cNvPr id="346" name="Rectangle 12"/>
          <p:cNvSpPr/>
          <p:nvPr/>
        </p:nvSpPr>
        <p:spPr>
          <a:xfrm>
            <a:off x="3733800" y="2527300"/>
            <a:ext cx="21590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Dealer submits details and proof</a:t>
            </a:r>
            <a:endParaRPr sz="1300" b="0">
              <a:solidFill>
                <a:srgbClr val="1E2B3C"/>
              </a:solidFill>
            </a:endParaRPr>
          </a:p>
        </p:txBody>
      </p:sp>
      <p:cxnSp>
        <p:nvCxnSpPr>
          <p:cNvPr id="347" name="Arrow 13"/>
          <p:cNvCxnSpPr/>
          <p:nvPr/>
        </p:nvCxnSpPr>
        <p:spPr>
          <a:xfrm>
            <a:off x="5994400" y="2603500"/>
            <a:ext cx="406400" cy="12700"/>
          </a:xfrm>
          <a:prstGeom prst="straightConnector1">
            <a:avLst/>
          </a:prstGeom>
          <a:ln w="25400">
            <a:solidFill>
              <a:srgbClr val="5B6B7A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Rectangle 14"/>
          <p:cNvSpPr/>
          <p:nvPr/>
        </p:nvSpPr>
        <p:spPr>
          <a:xfrm>
            <a:off x="6400800" y="1841500"/>
            <a:ext cx="2413000" cy="152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38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49" name="Oval 15"/>
          <p:cNvSpPr/>
          <p:nvPr/>
        </p:nvSpPr>
        <p:spPr>
          <a:xfrm>
            <a:off x="6553200" y="1993900"/>
            <a:ext cx="431800" cy="4318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50" name="Rectangle 16"/>
          <p:cNvSpPr/>
          <p:nvPr/>
        </p:nvSpPr>
        <p:spPr>
          <a:xfrm>
            <a:off x="7061200" y="2019300"/>
            <a:ext cx="1701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2384D"/>
                </a:solidFill>
              </a:rPr>
              <a:t>Check</a:t>
            </a:r>
            <a:endParaRPr sz="1700" b="1">
              <a:solidFill>
                <a:srgbClr val="12384D"/>
              </a:solidFill>
            </a:endParaRPr>
          </a:p>
        </p:txBody>
      </p:sp>
      <p:sp>
        <p:nvSpPr>
          <p:cNvPr id="351" name="Rectangle 17"/>
          <p:cNvSpPr/>
          <p:nvPr/>
        </p:nvSpPr>
        <p:spPr>
          <a:xfrm>
            <a:off x="6553200" y="2527300"/>
            <a:ext cx="21590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Real? Specific? Duplicate?</a:t>
            </a:r>
            <a:endParaRPr sz="1300" b="0">
              <a:solidFill>
                <a:srgbClr val="1E2B3C"/>
              </a:solidFill>
            </a:endParaRPr>
          </a:p>
        </p:txBody>
      </p:sp>
      <p:cxnSp>
        <p:nvCxnSpPr>
          <p:cNvPr id="352" name="Arrow 18"/>
          <p:cNvCxnSpPr/>
          <p:nvPr/>
        </p:nvCxnSpPr>
        <p:spPr>
          <a:xfrm>
            <a:off x="8813800" y="2603500"/>
            <a:ext cx="406400" cy="12700"/>
          </a:xfrm>
          <a:prstGeom prst="straightConnector1">
            <a:avLst/>
          </a:prstGeom>
          <a:ln w="25400">
            <a:solidFill>
              <a:srgbClr val="5B6B7A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Rectangle 19"/>
          <p:cNvSpPr/>
          <p:nvPr/>
        </p:nvSpPr>
        <p:spPr>
          <a:xfrm>
            <a:off x="9220200" y="1841500"/>
            <a:ext cx="2413000" cy="152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38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54" name="Oval 20"/>
          <p:cNvSpPr/>
          <p:nvPr/>
        </p:nvSpPr>
        <p:spPr>
          <a:xfrm>
            <a:off x="9372600" y="1993900"/>
            <a:ext cx="431800" cy="4318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55" name="Rectangle 21"/>
          <p:cNvSpPr/>
          <p:nvPr/>
        </p:nvSpPr>
        <p:spPr>
          <a:xfrm>
            <a:off x="9880600" y="2019300"/>
            <a:ext cx="1701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2384D"/>
                </a:solidFill>
              </a:rPr>
              <a:t>Decide</a:t>
            </a:r>
            <a:endParaRPr sz="1700" b="1">
              <a:solidFill>
                <a:srgbClr val="12384D"/>
              </a:solidFill>
            </a:endParaRPr>
          </a:p>
        </p:txBody>
      </p:sp>
      <p:sp>
        <p:nvSpPr>
          <p:cNvPr id="356" name="Rectangle 22"/>
          <p:cNvSpPr/>
          <p:nvPr/>
        </p:nvSpPr>
        <p:spPr>
          <a:xfrm>
            <a:off x="9372600" y="2527300"/>
            <a:ext cx="21590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Approve or reject, set who is first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57" name="Rectangle 23"/>
          <p:cNvSpPr/>
          <p:nvPr/>
        </p:nvSpPr>
        <p:spPr>
          <a:xfrm>
            <a:off x="762000" y="3873500"/>
            <a:ext cx="2413000" cy="152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38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58" name="Oval 24"/>
          <p:cNvSpPr/>
          <p:nvPr/>
        </p:nvSpPr>
        <p:spPr>
          <a:xfrm>
            <a:off x="914400" y="4025900"/>
            <a:ext cx="431800" cy="4318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59" name="Rectangle 25"/>
          <p:cNvSpPr/>
          <p:nvPr/>
        </p:nvSpPr>
        <p:spPr>
          <a:xfrm>
            <a:off x="1422400" y="4051300"/>
            <a:ext cx="1701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2384D"/>
                </a:solidFill>
              </a:rPr>
              <a:t>Price</a:t>
            </a:r>
            <a:endParaRPr sz="1700" b="1">
              <a:solidFill>
                <a:srgbClr val="12384D"/>
              </a:solidFill>
            </a:endParaRPr>
          </a:p>
        </p:txBody>
      </p:sp>
      <p:sp>
        <p:nvSpPr>
          <p:cNvPr id="360" name="Rectangle 26"/>
          <p:cNvSpPr/>
          <p:nvPr/>
        </p:nvSpPr>
        <p:spPr>
          <a:xfrm>
            <a:off x="914400" y="4559300"/>
            <a:ext cx="21590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DBGI approves a special price</a:t>
            </a:r>
            <a:endParaRPr sz="1300" b="0">
              <a:solidFill>
                <a:srgbClr val="1E2B3C"/>
              </a:solidFill>
            </a:endParaRPr>
          </a:p>
        </p:txBody>
      </p:sp>
      <p:cxnSp>
        <p:nvCxnSpPr>
          <p:cNvPr id="361" name="Arrow 27"/>
          <p:cNvCxnSpPr/>
          <p:nvPr/>
        </p:nvCxnSpPr>
        <p:spPr>
          <a:xfrm>
            <a:off x="3175000" y="4635500"/>
            <a:ext cx="406400" cy="12700"/>
          </a:xfrm>
          <a:prstGeom prst="straightConnector1">
            <a:avLst/>
          </a:prstGeom>
          <a:ln w="25400">
            <a:solidFill>
              <a:srgbClr val="5B6B7A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" name="Rectangle 28"/>
          <p:cNvSpPr/>
          <p:nvPr/>
        </p:nvSpPr>
        <p:spPr>
          <a:xfrm>
            <a:off x="3581400" y="3873500"/>
            <a:ext cx="2413000" cy="152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38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63" name="Oval 29"/>
          <p:cNvSpPr/>
          <p:nvPr/>
        </p:nvSpPr>
        <p:spPr>
          <a:xfrm>
            <a:off x="3733800" y="4025900"/>
            <a:ext cx="431800" cy="4318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64" name="Rectangle 30"/>
          <p:cNvSpPr/>
          <p:nvPr/>
        </p:nvSpPr>
        <p:spPr>
          <a:xfrm>
            <a:off x="4241800" y="4051300"/>
            <a:ext cx="1701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2384D"/>
                </a:solidFill>
              </a:rPr>
              <a:t>Protect</a:t>
            </a:r>
            <a:endParaRPr sz="1700" b="1">
              <a:solidFill>
                <a:srgbClr val="12384D"/>
              </a:solidFill>
            </a:endParaRPr>
          </a:p>
        </p:txBody>
      </p:sp>
      <p:sp>
        <p:nvSpPr>
          <p:cNvPr id="365" name="Rectangle 31"/>
          <p:cNvSpPr/>
          <p:nvPr/>
        </p:nvSpPr>
        <p:spPr>
          <a:xfrm>
            <a:off x="3733800" y="4559300"/>
            <a:ext cx="21590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Approval lasts a set time</a:t>
            </a:r>
            <a:endParaRPr sz="1300" b="0">
              <a:solidFill>
                <a:srgbClr val="1E2B3C"/>
              </a:solidFill>
            </a:endParaRPr>
          </a:p>
        </p:txBody>
      </p:sp>
      <p:cxnSp>
        <p:nvCxnSpPr>
          <p:cNvPr id="366" name="Arrow 32"/>
          <p:cNvCxnSpPr/>
          <p:nvPr/>
        </p:nvCxnSpPr>
        <p:spPr>
          <a:xfrm>
            <a:off x="5994400" y="4635500"/>
            <a:ext cx="406400" cy="12700"/>
          </a:xfrm>
          <a:prstGeom prst="straightConnector1">
            <a:avLst/>
          </a:prstGeom>
          <a:ln w="25400">
            <a:solidFill>
              <a:srgbClr val="5B6B7A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Rectangle 33"/>
          <p:cNvSpPr/>
          <p:nvPr/>
        </p:nvSpPr>
        <p:spPr>
          <a:xfrm>
            <a:off x="6400800" y="3873500"/>
            <a:ext cx="2413000" cy="152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F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68" name="Oval 34"/>
          <p:cNvSpPr/>
          <p:nvPr/>
        </p:nvSpPr>
        <p:spPr>
          <a:xfrm>
            <a:off x="6553200" y="4025900"/>
            <a:ext cx="431800" cy="431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69" name="Rectangle 35"/>
          <p:cNvSpPr/>
          <p:nvPr/>
        </p:nvSpPr>
        <p:spPr>
          <a:xfrm>
            <a:off x="7061200" y="4051300"/>
            <a:ext cx="1701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B7FA6"/>
                </a:solidFill>
              </a:rPr>
              <a:t>Close</a:t>
            </a:r>
            <a:endParaRPr sz="1700" b="1">
              <a:solidFill>
                <a:srgbClr val="1B7FA6"/>
              </a:solidFill>
            </a:endParaRPr>
          </a:p>
        </p:txBody>
      </p:sp>
      <p:sp>
        <p:nvSpPr>
          <p:cNvPr id="370" name="Rectangle 36"/>
          <p:cNvSpPr/>
          <p:nvPr/>
        </p:nvSpPr>
        <p:spPr>
          <a:xfrm>
            <a:off x="6553200" y="4559300"/>
            <a:ext cx="21590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Dealer wins or loses the sale</a:t>
            </a:r>
            <a:endParaRPr sz="1300" b="0">
              <a:solidFill>
                <a:srgbClr val="1E2B3C"/>
              </a:solidFill>
            </a:endParaRPr>
          </a:p>
        </p:txBody>
      </p:sp>
      <p:cxnSp>
        <p:nvCxnSpPr>
          <p:cNvPr id="371" name="Arrow 37"/>
          <p:cNvCxnSpPr/>
          <p:nvPr/>
        </p:nvCxnSpPr>
        <p:spPr>
          <a:xfrm>
            <a:off x="8813800" y="4635500"/>
            <a:ext cx="406400" cy="12700"/>
          </a:xfrm>
          <a:prstGeom prst="straightConnector1">
            <a:avLst/>
          </a:prstGeom>
          <a:ln w="25400">
            <a:solidFill>
              <a:srgbClr val="5B6B7A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Rectangle 38"/>
          <p:cNvSpPr/>
          <p:nvPr/>
        </p:nvSpPr>
        <p:spPr>
          <a:xfrm>
            <a:off x="9220200" y="3873500"/>
            <a:ext cx="2413000" cy="152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38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73" name="Oval 39"/>
          <p:cNvSpPr/>
          <p:nvPr/>
        </p:nvSpPr>
        <p:spPr>
          <a:xfrm>
            <a:off x="9372600" y="4025900"/>
            <a:ext cx="431800" cy="4318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74" name="Rectangle 40"/>
          <p:cNvSpPr/>
          <p:nvPr/>
        </p:nvSpPr>
        <p:spPr>
          <a:xfrm>
            <a:off x="9880600" y="4051300"/>
            <a:ext cx="1701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2384D"/>
                </a:solidFill>
              </a:rPr>
              <a:t>Verify order</a:t>
            </a:r>
            <a:endParaRPr sz="1700" b="1">
              <a:solidFill>
                <a:srgbClr val="12384D"/>
              </a:solidFill>
            </a:endParaRPr>
          </a:p>
        </p:txBody>
      </p:sp>
      <p:sp>
        <p:nvSpPr>
          <p:cNvPr id="375" name="Rectangle 41"/>
          <p:cNvSpPr/>
          <p:nvPr/>
        </p:nvSpPr>
        <p:spPr>
          <a:xfrm>
            <a:off x="9372600" y="4559300"/>
            <a:ext cx="21590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DBGI checks the order matches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76" name="Rectangle 42"/>
          <p:cNvSpPr/>
          <p:nvPr/>
        </p:nvSpPr>
        <p:spPr>
          <a:xfrm>
            <a:off x="762000" y="5969000"/>
            <a:ext cx="228600" cy="2286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77" name="Rectangle 43"/>
          <p:cNvSpPr/>
          <p:nvPr/>
        </p:nvSpPr>
        <p:spPr>
          <a:xfrm>
            <a:off x="1066800" y="5918200"/>
            <a:ext cx="2540000" cy="33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Dealer does it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78" name="Rectangle 44"/>
          <p:cNvSpPr/>
          <p:nvPr/>
        </p:nvSpPr>
        <p:spPr>
          <a:xfrm>
            <a:off x="3048000" y="5969000"/>
            <a:ext cx="228600" cy="228600"/>
          </a:xfrm>
          <a:prstGeom prst="roundRect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79" name="Rectangle 45"/>
          <p:cNvSpPr/>
          <p:nvPr/>
        </p:nvSpPr>
        <p:spPr>
          <a:xfrm>
            <a:off x="3352800" y="5918200"/>
            <a:ext cx="2540000" cy="33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DBGI does it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560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D374AA8-8310-4FC9-8E61-808E79049FCE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82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12384D"/>
                </a:solidFill>
              </a:rPr>
              <a:t>Steps 3 and 4: who gets the deal?</a:t>
            </a:r>
            <a:endParaRPr sz="2800" b="1">
              <a:solidFill>
                <a:srgbClr val="12384D"/>
              </a:solidFill>
            </a:endParaRPr>
          </a:p>
        </p:txBody>
      </p:sp>
      <p:sp>
        <p:nvSpPr>
          <p:cNvPr id="383" name="Rectangle 3"/>
          <p:cNvSpPr/>
          <p:nvPr/>
        </p:nvSpPr>
        <p:spPr>
          <a:xfrm>
            <a:off x="736600" y="1168400"/>
            <a:ext cx="1079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B6B7A"/>
                </a:solidFill>
              </a:rPr>
              <a:t>Example: three dealers registered the same Pasig deal</a:t>
            </a:r>
            <a:endParaRPr sz="1500" b="0">
              <a:solidFill>
                <a:srgbClr val="5B6B7A"/>
              </a:solidFill>
            </a:endParaRPr>
          </a:p>
        </p:txBody>
      </p:sp>
      <p:sp>
        <p:nvSpPr>
          <p:cNvPr id="384" name="Rectangle 4"/>
          <p:cNvSpPr/>
          <p:nvPr/>
        </p:nvSpPr>
        <p:spPr>
          <a:xfrm>
            <a:off x="762000" y="2540000"/>
            <a:ext cx="10795000" cy="50800"/>
          </a:xfrm>
          <a:prstGeom prst="rect">
            <a:avLst/>
          </a:prstGeom>
          <a:solidFill>
            <a:srgbClr val="C9D6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85" name="Oval 5"/>
          <p:cNvSpPr/>
          <p:nvPr/>
        </p:nvSpPr>
        <p:spPr>
          <a:xfrm>
            <a:off x="2832100" y="2413000"/>
            <a:ext cx="304800" cy="304800"/>
          </a:xfrm>
          <a:prstGeom prst="ellipse">
            <a:avLst/>
          </a:prstGeom>
          <a:solidFill>
            <a:srgbClr val="F781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86" name="Rectangle 6"/>
          <p:cNvSpPr/>
          <p:nvPr/>
        </p:nvSpPr>
        <p:spPr>
          <a:xfrm>
            <a:off x="2095500" y="1905000"/>
            <a:ext cx="1778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ctr"/>
            <a:r>
              <a:rPr sz="1600" b="1">
                <a:solidFill>
                  <a:srgbClr val="12384D"/>
                </a:solidFill>
              </a:rPr>
              <a:t>Sep 28</a:t>
            </a:r>
            <a:endParaRPr sz="1600" b="1">
              <a:solidFill>
                <a:srgbClr val="12384D"/>
              </a:solidFill>
            </a:endParaRPr>
          </a:p>
        </p:txBody>
      </p:sp>
      <p:sp>
        <p:nvSpPr>
          <p:cNvPr id="387" name="Rectangle 7"/>
          <p:cNvSpPr/>
          <p:nvPr/>
        </p:nvSpPr>
        <p:spPr>
          <a:xfrm>
            <a:off x="1524000" y="2984500"/>
            <a:ext cx="2921000" cy="190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88" name="Rectangle 8"/>
          <p:cNvSpPr/>
          <p:nvPr/>
        </p:nvSpPr>
        <p:spPr>
          <a:xfrm>
            <a:off x="1701800" y="3111500"/>
            <a:ext cx="2540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2384D"/>
                </a:solidFill>
              </a:rPr>
              <a:t>Dealer C</a:t>
            </a:r>
            <a:endParaRPr sz="1700" b="1">
              <a:solidFill>
                <a:srgbClr val="12384D"/>
              </a:solidFill>
            </a:endParaRPr>
          </a:p>
        </p:txBody>
      </p:sp>
      <p:sp>
        <p:nvSpPr>
          <p:cNvPr id="389" name="Rectangle 9"/>
          <p:cNvSpPr/>
          <p:nvPr/>
        </p:nvSpPr>
        <p:spPr>
          <a:xfrm>
            <a:off x="1701800" y="3492500"/>
            <a:ext cx="26035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"Pasig might buy printers soon."</a:t>
            </a:r>
            <a:endParaRPr sz="1300" b="0">
              <a:solidFill>
                <a:srgbClr val="1E2B3C"/>
              </a:solidFill>
            </a:endParaRPr>
          </a:p>
          <a:p>
            <a:pPr algn="l"/>
            <a:r>
              <a:rPr sz="1300" b="0">
                <a:solidFill>
                  <a:srgbClr val="1E2B3C"/>
                </a:solidFill>
              </a:rPr>
              <a:t>No customer contact, no product, no quantity.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90" name="Rectangle 10"/>
          <p:cNvSpPr/>
          <p:nvPr/>
        </p:nvSpPr>
        <p:spPr>
          <a:xfrm>
            <a:off x="1524000" y="5016500"/>
            <a:ext cx="2921000" cy="508000"/>
          </a:xfrm>
          <a:prstGeom prst="roundRect">
            <a:avLst/>
          </a:prstGeom>
          <a:solidFill>
            <a:srgbClr val="F781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Too vague: asked for details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91" name="Oval 11"/>
          <p:cNvSpPr/>
          <p:nvPr/>
        </p:nvSpPr>
        <p:spPr>
          <a:xfrm>
            <a:off x="6388100" y="2413000"/>
            <a:ext cx="304800" cy="304800"/>
          </a:xfrm>
          <a:prstGeom prst="ellipse">
            <a:avLst/>
          </a:prstGeom>
          <a:solidFill>
            <a:srgbClr val="2EA3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92" name="Rectangle 12"/>
          <p:cNvSpPr/>
          <p:nvPr/>
        </p:nvSpPr>
        <p:spPr>
          <a:xfrm>
            <a:off x="5651500" y="1905000"/>
            <a:ext cx="1778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ctr"/>
            <a:r>
              <a:rPr sz="1600" b="1">
                <a:solidFill>
                  <a:srgbClr val="12384D"/>
                </a:solidFill>
              </a:rPr>
              <a:t>Oct 1</a:t>
            </a:r>
            <a:endParaRPr sz="1600" b="1">
              <a:solidFill>
                <a:srgbClr val="12384D"/>
              </a:solidFill>
            </a:endParaRPr>
          </a:p>
        </p:txBody>
      </p:sp>
      <p:sp>
        <p:nvSpPr>
          <p:cNvPr id="393" name="Rectangle 13"/>
          <p:cNvSpPr/>
          <p:nvPr/>
        </p:nvSpPr>
        <p:spPr>
          <a:xfrm>
            <a:off x="5080000" y="2984500"/>
            <a:ext cx="2921000" cy="190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94" name="Rectangle 14"/>
          <p:cNvSpPr/>
          <p:nvPr/>
        </p:nvSpPr>
        <p:spPr>
          <a:xfrm>
            <a:off x="5257800" y="3111500"/>
            <a:ext cx="2540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2384D"/>
                </a:solidFill>
              </a:rPr>
              <a:t>Dealer A</a:t>
            </a:r>
            <a:endParaRPr sz="1700" b="1">
              <a:solidFill>
                <a:srgbClr val="12384D"/>
              </a:solidFill>
            </a:endParaRPr>
          </a:p>
        </p:txBody>
      </p:sp>
      <p:sp>
        <p:nvSpPr>
          <p:cNvPr id="395" name="Rectangle 15"/>
          <p:cNvSpPr/>
          <p:nvPr/>
        </p:nvSpPr>
        <p:spPr>
          <a:xfrm>
            <a:off x="5257800" y="3492500"/>
            <a:ext cx="26035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Pasig City Hall, 20 printers, model listed, notice attached.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96" name="Rectangle 16"/>
          <p:cNvSpPr/>
          <p:nvPr/>
        </p:nvSpPr>
        <p:spPr>
          <a:xfrm>
            <a:off x="5080000" y="5016500"/>
            <a:ext cx="2921000" cy="508000"/>
          </a:xfrm>
          <a:prstGeom prst="roundRect">
            <a:avLst/>
          </a:prstGeom>
          <a:solidFill>
            <a:srgbClr val="2EA3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Rank 1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97" name="Oval 17"/>
          <p:cNvSpPr/>
          <p:nvPr/>
        </p:nvSpPr>
        <p:spPr>
          <a:xfrm>
            <a:off x="9944100" y="2413000"/>
            <a:ext cx="304800" cy="304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98" name="Rectangle 18"/>
          <p:cNvSpPr/>
          <p:nvPr/>
        </p:nvSpPr>
        <p:spPr>
          <a:xfrm>
            <a:off x="9207500" y="1905000"/>
            <a:ext cx="1778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ctr"/>
            <a:r>
              <a:rPr sz="1600" b="1">
                <a:solidFill>
                  <a:srgbClr val="12384D"/>
                </a:solidFill>
              </a:rPr>
              <a:t>Oct 3</a:t>
            </a:r>
            <a:endParaRPr sz="1600" b="1">
              <a:solidFill>
                <a:srgbClr val="12384D"/>
              </a:solidFill>
            </a:endParaRPr>
          </a:p>
        </p:txBody>
      </p:sp>
      <p:sp>
        <p:nvSpPr>
          <p:cNvPr id="399" name="Rectangle 19"/>
          <p:cNvSpPr/>
          <p:nvPr/>
        </p:nvSpPr>
        <p:spPr>
          <a:xfrm>
            <a:off x="8636000" y="2984500"/>
            <a:ext cx="2921000" cy="190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00" name="Rectangle 20"/>
          <p:cNvSpPr/>
          <p:nvPr/>
        </p:nvSpPr>
        <p:spPr>
          <a:xfrm>
            <a:off x="8813800" y="3111500"/>
            <a:ext cx="2540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12384D"/>
                </a:solidFill>
              </a:rPr>
              <a:t>Dealer B</a:t>
            </a:r>
            <a:endParaRPr sz="1700" b="1">
              <a:solidFill>
                <a:srgbClr val="12384D"/>
              </a:solidFill>
            </a:endParaRPr>
          </a:p>
        </p:txBody>
      </p:sp>
      <p:sp>
        <p:nvSpPr>
          <p:cNvPr id="401" name="Rectangle 21"/>
          <p:cNvSpPr/>
          <p:nvPr/>
        </p:nvSpPr>
        <p:spPr>
          <a:xfrm>
            <a:off x="8813800" y="3492500"/>
            <a:ext cx="26035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Same deal, also specific, with proof.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402" name="Rectangle 22"/>
          <p:cNvSpPr/>
          <p:nvPr/>
        </p:nvSpPr>
        <p:spPr>
          <a:xfrm>
            <a:off x="8636000" y="5016500"/>
            <a:ext cx="2921000" cy="5080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Rank 2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03" name="Rectangle 23"/>
          <p:cNvSpPr/>
          <p:nvPr/>
        </p:nvSpPr>
        <p:spPr>
          <a:xfrm>
            <a:off x="762000" y="5778500"/>
            <a:ext cx="10795000" cy="635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500" b="0">
                <a:solidFill>
                  <a:srgbClr val="12384D"/>
                </a:solidFill>
              </a:rPr>
              <a:t>Usual rule: the first claim that is real AND specific wins. DBGI's policy decides exactly how strict to be.</a:t>
            </a:r>
            <a:endParaRPr sz="1500" b="0">
              <a:solidFill>
                <a:srgbClr val="12384D"/>
              </a:solidFill>
            </a:endParaRPr>
          </a:p>
        </p:txBody>
      </p:sp>
      <p:sp>
        <p:nvSpPr>
          <p:cNvPr id="404" name="Idea"/>
          <p:cNvSpPr/>
          <p:nvPr/>
        </p:nvSpPr>
        <p:spPr>
          <a:xfrm>
            <a:off x="914400" y="5956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62500" y="58333"/>
                </a:moveTo>
                <a:cubicBezTo>
                  <a:pt x="63333" y="54167"/>
                  <a:pt x="65417" y="51250"/>
                  <a:pt x="68750" y="47917"/>
                </a:cubicBezTo>
                <a:cubicBezTo>
                  <a:pt x="72917" y="44167"/>
                  <a:pt x="75000" y="38750"/>
                  <a:pt x="75000" y="33333"/>
                </a:cubicBezTo>
                <a:cubicBezTo>
                  <a:pt x="75000" y="19526"/>
                  <a:pt x="63807" y="8333"/>
                  <a:pt x="50000" y="8333"/>
                </a:cubicBezTo>
                <a:cubicBezTo>
                  <a:pt x="36193" y="8333"/>
                  <a:pt x="25000" y="19526"/>
                  <a:pt x="25000" y="33333"/>
                </a:cubicBezTo>
                <a:cubicBezTo>
                  <a:pt x="25000" y="37500"/>
                  <a:pt x="25833" y="42500"/>
                  <a:pt x="31250" y="47917"/>
                </a:cubicBezTo>
                <a:cubicBezTo>
                  <a:pt x="34167" y="50833"/>
                  <a:pt x="36667" y="54167"/>
                  <a:pt x="37500" y="58333"/>
                </a:cubicBezTo>
                <a:moveTo>
                  <a:pt x="37500" y="75000"/>
                </a:moveTo>
                <a:lnTo>
                  <a:pt x="62500" y="75000"/>
                </a:lnTo>
                <a:moveTo>
                  <a:pt x="41667" y="91667"/>
                </a:moveTo>
                <a:lnTo>
                  <a:pt x="58333" y="91667"/>
                </a:lnTo>
              </a:path>
            </a:pathLst>
          </a:custGeom>
          <a:noFill/>
          <a:ln w="23283" cap="rnd">
            <a:solidFill>
              <a:srgbClr val="12384D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63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FD5AD5D-00E4-4746-836B-F0EA3C4886F1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07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12384D"/>
                </a:solidFill>
              </a:rPr>
              <a:t>Two separate approvals</a:t>
            </a:r>
            <a:endParaRPr sz="2800" b="1">
              <a:solidFill>
                <a:srgbClr val="12384D"/>
              </a:solidFill>
            </a:endParaRPr>
          </a:p>
        </p:txBody>
      </p:sp>
      <p:sp>
        <p:nvSpPr>
          <p:cNvPr id="408" name="Rectangle 3"/>
          <p:cNvSpPr/>
          <p:nvPr/>
        </p:nvSpPr>
        <p:spPr>
          <a:xfrm>
            <a:off x="736600" y="1168400"/>
            <a:ext cx="1079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B6B7A"/>
                </a:solidFill>
              </a:rPr>
              <a:t>"This deal is yours" and "you get this price" are different decisions</a:t>
            </a:r>
            <a:endParaRPr sz="1500" b="0">
              <a:solidFill>
                <a:srgbClr val="5B6B7A"/>
              </a:solidFill>
            </a:endParaRPr>
          </a:p>
        </p:txBody>
      </p:sp>
      <p:sp>
        <p:nvSpPr>
          <p:cNvPr id="409" name="Rectangle 4"/>
          <p:cNvSpPr/>
          <p:nvPr/>
        </p:nvSpPr>
        <p:spPr>
          <a:xfrm>
            <a:off x="762000" y="1778000"/>
            <a:ext cx="5207000" cy="381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38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10" name="Rectangle 5"/>
          <p:cNvSpPr/>
          <p:nvPr/>
        </p:nvSpPr>
        <p:spPr>
          <a:xfrm>
            <a:off x="762000" y="1778000"/>
            <a:ext cx="5207000" cy="711200"/>
          </a:xfrm>
          <a:prstGeom prst="rect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1. Registration approval</a:t>
            </a:r>
            <a:endParaRPr sz="1900" b="1">
              <a:solidFill>
                <a:srgbClr val="FFFFFF"/>
              </a:solidFill>
            </a:endParaRPr>
          </a:p>
        </p:txBody>
      </p:sp>
      <p:sp>
        <p:nvSpPr>
          <p:cNvPr id="411" name="Rectangle 6"/>
          <p:cNvSpPr/>
          <p:nvPr/>
        </p:nvSpPr>
        <p:spPr>
          <a:xfrm>
            <a:off x="1016000" y="2667000"/>
            <a:ext cx="4699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2384D"/>
                </a:solidFill>
              </a:rPr>
              <a:t>Question: Is this deal yours?</a:t>
            </a:r>
            <a:endParaRPr sz="1600" b="1">
              <a:solidFill>
                <a:srgbClr val="12384D"/>
              </a:solidFill>
            </a:endParaRPr>
          </a:p>
        </p:txBody>
      </p:sp>
      <p:sp>
        <p:nvSpPr>
          <p:cNvPr id="412" name="Rectangle 7"/>
          <p:cNvSpPr/>
          <p:nvPr/>
        </p:nvSpPr>
        <p:spPr>
          <a:xfrm>
            <a:off x="1016000" y="3111500"/>
            <a:ext cx="4699000" cy="241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1E2B3C"/>
                </a:solidFill>
              </a:rPr>
              <a:t>- Is it a real, specific opportunity?</a:t>
            </a:r>
            <a:endParaRPr sz="1500" b="0">
              <a:solidFill>
                <a:srgbClr val="1E2B3C"/>
              </a:solidFill>
            </a:endParaRPr>
          </a:p>
          <a:p>
            <a:pPr algn="l"/>
            <a:r>
              <a:rPr sz="1500" b="0">
                <a:solidFill>
                  <a:srgbClr val="1E2B3C"/>
                </a:solidFill>
              </a:rPr>
              <a:t>- Is it a duplicate?</a:t>
            </a:r>
            <a:endParaRPr sz="1500" b="0">
              <a:solidFill>
                <a:srgbClr val="1E2B3C"/>
              </a:solidFill>
            </a:endParaRPr>
          </a:p>
          <a:p>
            <a:pPr algn="l"/>
            <a:r>
              <a:rPr sz="1500" b="0">
                <a:solidFill>
                  <a:srgbClr val="1E2B3C"/>
                </a:solidFill>
              </a:rPr>
              <a:t>- Who registered first?</a:t>
            </a:r>
            <a:endParaRPr sz="1500" b="0">
              <a:solidFill>
                <a:srgbClr val="1E2B3C"/>
              </a:solidFill>
            </a:endParaRPr>
          </a:p>
          <a:p>
            <a:pPr algn="l"/>
            <a:endParaRPr sz="1500" b="0">
              <a:solidFill>
                <a:srgbClr val="1E2B3C"/>
              </a:solidFill>
            </a:endParaRPr>
          </a:p>
          <a:p>
            <a:pPr algn="l"/>
            <a:r>
              <a:rPr sz="1500" b="0">
                <a:solidFill>
                  <a:srgbClr val="1E2B3C"/>
                </a:solidFill>
              </a:rPr>
              <a:t>Result: approved or rejected, and a rank (1st, 2nd...)</a:t>
            </a:r>
            <a:endParaRPr sz="1500" b="0">
              <a:solidFill>
                <a:srgbClr val="1E2B3C"/>
              </a:solidFill>
            </a:endParaRPr>
          </a:p>
        </p:txBody>
      </p:sp>
      <p:sp>
        <p:nvSpPr>
          <p:cNvPr id="413" name="Rectangle 8"/>
          <p:cNvSpPr/>
          <p:nvPr/>
        </p:nvSpPr>
        <p:spPr>
          <a:xfrm>
            <a:off x="6350000" y="1778000"/>
            <a:ext cx="5207000" cy="381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F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14" name="Rectangle 9"/>
          <p:cNvSpPr/>
          <p:nvPr/>
        </p:nvSpPr>
        <p:spPr>
          <a:xfrm>
            <a:off x="6350000" y="1778000"/>
            <a:ext cx="5207000" cy="711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2. Price approval</a:t>
            </a:r>
            <a:endParaRPr sz="1900" b="1">
              <a:solidFill>
                <a:srgbClr val="FFFFFF"/>
              </a:solidFill>
            </a:endParaRPr>
          </a:p>
        </p:txBody>
      </p:sp>
      <p:sp>
        <p:nvSpPr>
          <p:cNvPr id="415" name="Rectangle 10"/>
          <p:cNvSpPr/>
          <p:nvPr/>
        </p:nvSpPr>
        <p:spPr>
          <a:xfrm>
            <a:off x="6604000" y="2667000"/>
            <a:ext cx="4699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B7FA6"/>
                </a:solidFill>
              </a:rPr>
              <a:t>Question: What price can you get?</a:t>
            </a:r>
            <a:endParaRPr sz="1600" b="1">
              <a:solidFill>
                <a:srgbClr val="1B7FA6"/>
              </a:solidFill>
            </a:endParaRPr>
          </a:p>
        </p:txBody>
      </p:sp>
      <p:sp>
        <p:nvSpPr>
          <p:cNvPr id="416" name="Rectangle 11"/>
          <p:cNvSpPr/>
          <p:nvPr/>
        </p:nvSpPr>
        <p:spPr>
          <a:xfrm>
            <a:off x="6604000" y="3111500"/>
            <a:ext cx="46990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1E2B3C"/>
                </a:solidFill>
              </a:rPr>
              <a:t>Example for one printer:</a:t>
            </a:r>
            <a:endParaRPr sz="1500" b="0">
              <a:solidFill>
                <a:srgbClr val="1E2B3C"/>
              </a:solidFill>
            </a:endParaRPr>
          </a:p>
        </p:txBody>
      </p:sp>
      <p:sp>
        <p:nvSpPr>
          <p:cNvPr id="417" name="Rectangle 12"/>
          <p:cNvSpPr/>
          <p:nvPr/>
        </p:nvSpPr>
        <p:spPr>
          <a:xfrm>
            <a:off x="6604000" y="3492500"/>
            <a:ext cx="2540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500" b="0">
                <a:solidFill>
                  <a:srgbClr val="1E2B3C"/>
                </a:solidFill>
              </a:rPr>
              <a:t>List price</a:t>
            </a:r>
            <a:endParaRPr sz="1500" b="0">
              <a:solidFill>
                <a:srgbClr val="1E2B3C"/>
              </a:solidFill>
            </a:endParaRPr>
          </a:p>
        </p:txBody>
      </p:sp>
      <p:sp>
        <p:nvSpPr>
          <p:cNvPr id="418" name="Rectangle 13"/>
          <p:cNvSpPr/>
          <p:nvPr/>
        </p:nvSpPr>
        <p:spPr>
          <a:xfrm>
            <a:off x="9144000" y="3492500"/>
            <a:ext cx="2159000" cy="457200"/>
          </a:xfrm>
          <a:prstGeom prst="roundRect">
            <a:avLst/>
          </a:prstGeom>
          <a:solidFill>
            <a:srgbClr val="5B6B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177800" anchor="ctr">
            <a:noAutofit/>
          </a:bodyPr>
          <a:lstStyle/>
          <a:p>
            <a:pPr algn="r"/>
            <a:r>
              <a:rPr sz="1500" b="1">
                <a:solidFill>
                  <a:srgbClr val="FFFFFF"/>
                </a:solidFill>
              </a:rPr>
              <a:t>PHP 10,000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19" name="Rectangle 14"/>
          <p:cNvSpPr/>
          <p:nvPr/>
        </p:nvSpPr>
        <p:spPr>
          <a:xfrm>
            <a:off x="6604000" y="4076700"/>
            <a:ext cx="2540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500" b="0">
                <a:solidFill>
                  <a:srgbClr val="1E2B3C"/>
                </a:solidFill>
              </a:rPr>
              <a:t>Dealer requested</a:t>
            </a:r>
            <a:endParaRPr sz="1500" b="0">
              <a:solidFill>
                <a:srgbClr val="1E2B3C"/>
              </a:solidFill>
            </a:endParaRPr>
          </a:p>
        </p:txBody>
      </p:sp>
      <p:sp>
        <p:nvSpPr>
          <p:cNvPr id="420" name="Rectangle 15"/>
          <p:cNvSpPr/>
          <p:nvPr/>
        </p:nvSpPr>
        <p:spPr>
          <a:xfrm>
            <a:off x="9144000" y="4076700"/>
            <a:ext cx="2159000" cy="457200"/>
          </a:xfrm>
          <a:prstGeom prst="roundRect">
            <a:avLst/>
          </a:prstGeom>
          <a:solidFill>
            <a:srgbClr val="F781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177800" anchor="ctr">
            <a:noAutofit/>
          </a:bodyPr>
          <a:lstStyle/>
          <a:p>
            <a:pPr algn="r"/>
            <a:r>
              <a:rPr sz="1500" b="1">
                <a:solidFill>
                  <a:srgbClr val="FFFFFF"/>
                </a:solidFill>
              </a:rPr>
              <a:t>PHP 9,000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21" name="Rectangle 16"/>
          <p:cNvSpPr/>
          <p:nvPr/>
        </p:nvSpPr>
        <p:spPr>
          <a:xfrm>
            <a:off x="6604000" y="4660900"/>
            <a:ext cx="2540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500" b="0">
                <a:solidFill>
                  <a:srgbClr val="1E2B3C"/>
                </a:solidFill>
              </a:rPr>
              <a:t>DBGI approved</a:t>
            </a:r>
            <a:endParaRPr sz="1500" b="0">
              <a:solidFill>
                <a:srgbClr val="1E2B3C"/>
              </a:solidFill>
            </a:endParaRPr>
          </a:p>
        </p:txBody>
      </p:sp>
      <p:sp>
        <p:nvSpPr>
          <p:cNvPr id="422" name="Rectangle 17"/>
          <p:cNvSpPr/>
          <p:nvPr/>
        </p:nvSpPr>
        <p:spPr>
          <a:xfrm>
            <a:off x="9144000" y="4660900"/>
            <a:ext cx="2159000" cy="457200"/>
          </a:xfrm>
          <a:prstGeom prst="roundRect">
            <a:avLst/>
          </a:prstGeom>
          <a:solidFill>
            <a:srgbClr val="2EA3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177800" anchor="ctr">
            <a:noAutofit/>
          </a:bodyPr>
          <a:lstStyle/>
          <a:p>
            <a:pPr algn="r"/>
            <a:r>
              <a:rPr sz="1500" b="1">
                <a:solidFill>
                  <a:srgbClr val="FFFFFF"/>
                </a:solidFill>
              </a:rPr>
              <a:t>PHP 9,200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23" name="Rectangle 18"/>
          <p:cNvSpPr/>
          <p:nvPr/>
        </p:nvSpPr>
        <p:spPr>
          <a:xfrm>
            <a:off x="762000" y="5816600"/>
            <a:ext cx="10795000" cy="635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500" b="0">
                <a:solidFill>
                  <a:srgbClr val="12384D"/>
                </a:solidFill>
              </a:rPr>
              <a:t>Remember: a requested price is never an approved price. The dealer asks, DBGI decides.</a:t>
            </a:r>
            <a:endParaRPr sz="1500" b="0">
              <a:solidFill>
                <a:srgbClr val="12384D"/>
              </a:solidFill>
            </a:endParaRPr>
          </a:p>
        </p:txBody>
      </p:sp>
      <p:sp>
        <p:nvSpPr>
          <p:cNvPr id="424" name="Alert"/>
          <p:cNvSpPr/>
          <p:nvPr/>
        </p:nvSpPr>
        <p:spPr>
          <a:xfrm>
            <a:off x="914400" y="5994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50000" y="33333"/>
                </a:moveTo>
                <a:lnTo>
                  <a:pt x="50000" y="50000"/>
                </a:lnTo>
                <a:moveTo>
                  <a:pt x="50000" y="66667"/>
                </a:moveTo>
                <a:lnTo>
                  <a:pt x="50042" y="66667"/>
                </a:lnTo>
              </a:path>
            </a:pathLst>
          </a:custGeom>
          <a:noFill/>
          <a:ln w="23283" cap="rnd">
            <a:solidFill>
              <a:srgbClr val="12384D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66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79A8C84-1846-4993-8C55-9E7286E57C4C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27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12384D"/>
                </a:solidFill>
              </a:rPr>
              <a:t>Protection does not last forever</a:t>
            </a:r>
            <a:endParaRPr sz="2800" b="1">
              <a:solidFill>
                <a:srgbClr val="12384D"/>
              </a:solidFill>
            </a:endParaRPr>
          </a:p>
        </p:txBody>
      </p:sp>
      <p:sp>
        <p:nvSpPr>
          <p:cNvPr id="428" name="Rectangle 3"/>
          <p:cNvSpPr/>
          <p:nvPr/>
        </p:nvSpPr>
        <p:spPr>
          <a:xfrm>
            <a:off x="736600" y="1168400"/>
            <a:ext cx="1079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B6B7A"/>
                </a:solidFill>
              </a:rPr>
              <a:t>Approvals expire, so nobody can "park" a deal</a:t>
            </a:r>
            <a:endParaRPr sz="1500" b="0">
              <a:solidFill>
                <a:srgbClr val="5B6B7A"/>
              </a:solidFill>
            </a:endParaRPr>
          </a:p>
        </p:txBody>
      </p:sp>
      <p:sp>
        <p:nvSpPr>
          <p:cNvPr id="429" name="Rectangle 4"/>
          <p:cNvSpPr/>
          <p:nvPr/>
        </p:nvSpPr>
        <p:spPr>
          <a:xfrm>
            <a:off x="762000" y="1778000"/>
            <a:ext cx="3810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2384D"/>
                </a:solidFill>
              </a:rPr>
              <a:t>Normal approval</a:t>
            </a:r>
            <a:endParaRPr sz="1600" b="1">
              <a:solidFill>
                <a:srgbClr val="12384D"/>
              </a:solidFill>
            </a:endParaRPr>
          </a:p>
        </p:txBody>
      </p:sp>
      <p:sp>
        <p:nvSpPr>
          <p:cNvPr id="430" name="Rectangle 5"/>
          <p:cNvSpPr/>
          <p:nvPr/>
        </p:nvSpPr>
        <p:spPr>
          <a:xfrm>
            <a:off x="762000" y="2222500"/>
            <a:ext cx="7620000" cy="5588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30 days of protection and special price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31" name="Rectangle 6"/>
          <p:cNvSpPr/>
          <p:nvPr/>
        </p:nvSpPr>
        <p:spPr>
          <a:xfrm>
            <a:off x="8382000" y="2222500"/>
            <a:ext cx="3175000" cy="558800"/>
          </a:xfrm>
          <a:prstGeom prst="roundRect">
            <a:avLst/>
          </a:prstGeom>
          <a:solidFill>
            <a:srgbClr val="D5D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500" b="1">
                <a:solidFill>
                  <a:srgbClr val="5B6B7A"/>
                </a:solidFill>
              </a:rPr>
              <a:t>Expired</a:t>
            </a:r>
            <a:endParaRPr sz="1500" b="1">
              <a:solidFill>
                <a:srgbClr val="5B6B7A"/>
              </a:solidFill>
            </a:endParaRPr>
          </a:p>
        </p:txBody>
      </p:sp>
      <p:sp>
        <p:nvSpPr>
          <p:cNvPr id="432" name="Rectangle 7"/>
          <p:cNvSpPr/>
          <p:nvPr/>
        </p:nvSpPr>
        <p:spPr>
          <a:xfrm>
            <a:off x="762000" y="2819400"/>
            <a:ext cx="2540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5B6B7A"/>
                </a:solidFill>
              </a:rPr>
              <a:t>Approved</a:t>
            </a:r>
            <a:endParaRPr sz="1200" b="0">
              <a:solidFill>
                <a:srgbClr val="5B6B7A"/>
              </a:solidFill>
            </a:endParaRPr>
          </a:p>
        </p:txBody>
      </p:sp>
      <p:sp>
        <p:nvSpPr>
          <p:cNvPr id="433" name="Rectangle 8"/>
          <p:cNvSpPr/>
          <p:nvPr/>
        </p:nvSpPr>
        <p:spPr>
          <a:xfrm>
            <a:off x="7620000" y="2819400"/>
            <a:ext cx="1524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ctr"/>
            <a:r>
              <a:rPr sz="1200" b="0">
                <a:solidFill>
                  <a:srgbClr val="5B6B7A"/>
                </a:solidFill>
              </a:rPr>
              <a:t>Expiry date</a:t>
            </a:r>
            <a:endParaRPr sz="1200" b="0">
              <a:solidFill>
                <a:srgbClr val="5B6B7A"/>
              </a:solidFill>
            </a:endParaRPr>
          </a:p>
        </p:txBody>
      </p:sp>
      <p:sp>
        <p:nvSpPr>
          <p:cNvPr id="434" name="Rectangle 9"/>
          <p:cNvSpPr/>
          <p:nvPr/>
        </p:nvSpPr>
        <p:spPr>
          <a:xfrm>
            <a:off x="762000" y="3365500"/>
            <a:ext cx="5080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2384D"/>
                </a:solidFill>
              </a:rPr>
              <a:t>Renewed BEFORE expiry</a:t>
            </a:r>
            <a:endParaRPr sz="1600" b="1">
              <a:solidFill>
                <a:srgbClr val="12384D"/>
              </a:solidFill>
            </a:endParaRPr>
          </a:p>
        </p:txBody>
      </p:sp>
      <p:sp>
        <p:nvSpPr>
          <p:cNvPr id="435" name="Rectangle 10"/>
          <p:cNvSpPr/>
          <p:nvPr/>
        </p:nvSpPr>
        <p:spPr>
          <a:xfrm>
            <a:off x="762000" y="3810000"/>
            <a:ext cx="5080000" cy="5588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First 30 days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36" name="Rectangle 11"/>
          <p:cNvSpPr/>
          <p:nvPr/>
        </p:nvSpPr>
        <p:spPr>
          <a:xfrm>
            <a:off x="5842000" y="3810000"/>
            <a:ext cx="5080000" cy="558800"/>
          </a:xfrm>
          <a:prstGeom prst="roundRect">
            <a:avLst/>
          </a:prstGeom>
          <a:solidFill>
            <a:srgbClr val="2EA3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+30 days added to the old expiry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37" name="Rectangle 12"/>
          <p:cNvSpPr/>
          <p:nvPr/>
        </p:nvSpPr>
        <p:spPr>
          <a:xfrm>
            <a:off x="762000" y="4406900"/>
            <a:ext cx="7620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5B6B7A"/>
                </a:solidFill>
              </a:rPr>
              <a:t>No gap: protection continues without a break.</a:t>
            </a:r>
            <a:endParaRPr sz="1200" b="0">
              <a:solidFill>
                <a:srgbClr val="5B6B7A"/>
              </a:solidFill>
            </a:endParaRPr>
          </a:p>
        </p:txBody>
      </p:sp>
      <p:sp>
        <p:nvSpPr>
          <p:cNvPr id="438" name="Rectangle 13"/>
          <p:cNvSpPr/>
          <p:nvPr/>
        </p:nvSpPr>
        <p:spPr>
          <a:xfrm>
            <a:off x="762000" y="4889500"/>
            <a:ext cx="5080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2384D"/>
                </a:solidFill>
              </a:rPr>
              <a:t>Renewed AFTER expiry</a:t>
            </a:r>
            <a:endParaRPr sz="1600" b="1">
              <a:solidFill>
                <a:srgbClr val="12384D"/>
              </a:solidFill>
            </a:endParaRPr>
          </a:p>
        </p:txBody>
      </p:sp>
      <p:sp>
        <p:nvSpPr>
          <p:cNvPr id="439" name="Rectangle 14"/>
          <p:cNvSpPr/>
          <p:nvPr/>
        </p:nvSpPr>
        <p:spPr>
          <a:xfrm>
            <a:off x="762000" y="5334000"/>
            <a:ext cx="3810000" cy="5588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First 30 days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40" name="Rectangle 15"/>
          <p:cNvSpPr/>
          <p:nvPr/>
        </p:nvSpPr>
        <p:spPr>
          <a:xfrm>
            <a:off x="4572000" y="5334000"/>
            <a:ext cx="2032000" cy="558800"/>
          </a:xfrm>
          <a:prstGeom prst="roundRect">
            <a:avLst/>
          </a:prstGeom>
          <a:solidFill>
            <a:srgbClr val="FDE8E1"/>
          </a:solidFill>
          <a:ln w="19050">
            <a:solidFill>
              <a:srgbClr val="F78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9B2915"/>
                </a:solidFill>
              </a:rPr>
              <a:t>Gap: not covered</a:t>
            </a:r>
            <a:endParaRPr sz="1400" b="1">
              <a:solidFill>
                <a:srgbClr val="9B2915"/>
              </a:solidFill>
            </a:endParaRPr>
          </a:p>
        </p:txBody>
      </p:sp>
      <p:sp>
        <p:nvSpPr>
          <p:cNvPr id="441" name="Rectangle 16"/>
          <p:cNvSpPr/>
          <p:nvPr/>
        </p:nvSpPr>
        <p:spPr>
          <a:xfrm>
            <a:off x="6604000" y="5334000"/>
            <a:ext cx="4953000" cy="558800"/>
          </a:xfrm>
          <a:prstGeom prst="roundRect">
            <a:avLst/>
          </a:prstGeom>
          <a:solidFill>
            <a:srgbClr val="2EA3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+30 days from the approval date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42" name="Rectangle 17"/>
          <p:cNvSpPr/>
          <p:nvPr/>
        </p:nvSpPr>
        <p:spPr>
          <a:xfrm>
            <a:off x="762000" y="5930900"/>
            <a:ext cx="10795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5B6B7A"/>
                </a:solidFill>
              </a:rPr>
              <a:t>Orders during the gap do not get the special price. Our portal uses +30 days per renewal.</a:t>
            </a:r>
            <a:endParaRPr sz="1200" b="0">
              <a:solidFill>
                <a:srgbClr val="5B6B7A"/>
              </a:solidFill>
            </a:endParaRPr>
          </a:p>
        </p:txBody>
      </p:sp>
      <p:sp>
        <p:nvSpPr>
          <p:cNvPr id="569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4E5D909-40B4-4C80-8454-38C8AE8D0597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45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12384D"/>
                </a:solidFill>
              </a:rPr>
              <a:t>Step 8: checking the order</a:t>
            </a:r>
            <a:endParaRPr sz="2800" b="1">
              <a:solidFill>
                <a:srgbClr val="12384D"/>
              </a:solidFill>
            </a:endParaRPr>
          </a:p>
        </p:txBody>
      </p:sp>
      <p:sp>
        <p:nvSpPr>
          <p:cNvPr id="446" name="Rectangle 3"/>
          <p:cNvSpPr/>
          <p:nvPr/>
        </p:nvSpPr>
        <p:spPr>
          <a:xfrm>
            <a:off x="736600" y="1168400"/>
            <a:ext cx="1079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B6B7A"/>
                </a:solidFill>
              </a:rPr>
              <a:t>Before honoring the special price, DBGI checks the order matches the approved deal</a:t>
            </a:r>
            <a:endParaRPr sz="1500" b="0">
              <a:solidFill>
                <a:srgbClr val="5B6B7A"/>
              </a:solidFill>
            </a:endParaRPr>
          </a:p>
        </p:txBody>
      </p:sp>
      <p:sp>
        <p:nvSpPr>
          <p:cNvPr id="447" name="Rectangle 4"/>
          <p:cNvSpPr/>
          <p:nvPr/>
        </p:nvSpPr>
        <p:spPr>
          <a:xfrm>
            <a:off x="762000" y="2159000"/>
            <a:ext cx="2540000" cy="13970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Dealer orders</a:t>
            </a:r>
            <a:endParaRPr sz="1800" b="1">
              <a:solidFill>
                <a:srgbClr val="FFFFFF"/>
              </a:solidFill>
            </a:endParaRPr>
          </a:p>
          <a:p>
            <a:pPr algn="ctr"/>
            <a:r>
              <a:rPr sz="1800" b="1">
                <a:solidFill>
                  <a:srgbClr val="FFFFFF"/>
                </a:solidFill>
              </a:rPr>
              <a:t>from DBGI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448" name="Document"/>
          <p:cNvSpPr/>
          <p:nvPr/>
        </p:nvSpPr>
        <p:spPr>
          <a:xfrm>
            <a:off x="18542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25000" y="91667"/>
                </a:moveTo>
                <a:cubicBezTo>
                  <a:pt x="20398" y="91667"/>
                  <a:pt x="16667" y="87936"/>
                  <a:pt x="16667" y="83333"/>
                </a:cubicBezTo>
                <a:lnTo>
                  <a:pt x="16667" y="16667"/>
                </a:lnTo>
                <a:cubicBezTo>
                  <a:pt x="16667" y="12064"/>
                  <a:pt x="20398" y="8333"/>
                  <a:pt x="25000" y="8333"/>
                </a:cubicBezTo>
                <a:lnTo>
                  <a:pt x="58333" y="8333"/>
                </a:lnTo>
                <a:cubicBezTo>
                  <a:pt x="60998" y="8329"/>
                  <a:pt x="63553" y="9388"/>
                  <a:pt x="65433" y="11275"/>
                </a:cubicBezTo>
                <a:lnTo>
                  <a:pt x="80383" y="26225"/>
                </a:lnTo>
                <a:cubicBezTo>
                  <a:pt x="82275" y="28106"/>
                  <a:pt x="83338" y="30665"/>
                  <a:pt x="83333" y="33333"/>
                </a:cubicBezTo>
                <a:lnTo>
                  <a:pt x="83333" y="83333"/>
                </a:lnTo>
                <a:cubicBezTo>
                  <a:pt x="83333" y="87936"/>
                  <a:pt x="79603" y="91667"/>
                  <a:pt x="75000" y="91667"/>
                </a:cubicBezTo>
                <a:close/>
                <a:moveTo>
                  <a:pt x="58333" y="8333"/>
                </a:moveTo>
                <a:lnTo>
                  <a:pt x="58333" y="29167"/>
                </a:lnTo>
                <a:cubicBezTo>
                  <a:pt x="58333" y="31468"/>
                  <a:pt x="60199" y="33333"/>
                  <a:pt x="62500" y="33333"/>
                </a:cubicBezTo>
                <a:lnTo>
                  <a:pt x="83333" y="33333"/>
                </a:lnTo>
                <a:moveTo>
                  <a:pt x="41667" y="37500"/>
                </a:moveTo>
                <a:lnTo>
                  <a:pt x="33333" y="37500"/>
                </a:lnTo>
                <a:moveTo>
                  <a:pt x="66667" y="54167"/>
                </a:moveTo>
                <a:lnTo>
                  <a:pt x="33333" y="54167"/>
                </a:lnTo>
                <a:moveTo>
                  <a:pt x="66667" y="70833"/>
                </a:moveTo>
                <a:lnTo>
                  <a:pt x="33333" y="70833"/>
                </a:lnTo>
              </a:path>
            </a:pathLst>
          </a:custGeom>
          <a:noFill/>
          <a:ln w="29633" cap="rnd">
            <a:solidFill>
              <a:srgbClr val="1B7FA6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cxnSp>
        <p:nvCxnSpPr>
          <p:cNvPr id="449" name="Arrow 6"/>
          <p:cNvCxnSpPr/>
          <p:nvPr/>
        </p:nvCxnSpPr>
        <p:spPr>
          <a:xfrm>
            <a:off x="3302000" y="2857500"/>
            <a:ext cx="762000" cy="12700"/>
          </a:xfrm>
          <a:prstGeom prst="straightConnector1">
            <a:avLst/>
          </a:prstGeom>
          <a:ln w="38100">
            <a:solidFill>
              <a:srgbClr val="12384D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Rectangle 7"/>
          <p:cNvSpPr/>
          <p:nvPr/>
        </p:nvSpPr>
        <p:spPr>
          <a:xfrm>
            <a:off x="4064000" y="1778000"/>
            <a:ext cx="4191000" cy="381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51" name="Rectangle 8"/>
          <p:cNvSpPr/>
          <p:nvPr/>
        </p:nvSpPr>
        <p:spPr>
          <a:xfrm>
            <a:off x="4318000" y="1905000"/>
            <a:ext cx="3810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2384D"/>
                </a:solidFill>
              </a:rPr>
              <a:t>All five must match</a:t>
            </a:r>
            <a:endParaRPr sz="1600" b="1">
              <a:solidFill>
                <a:srgbClr val="12384D"/>
              </a:solidFill>
            </a:endParaRPr>
          </a:p>
        </p:txBody>
      </p:sp>
      <p:sp>
        <p:nvSpPr>
          <p:cNvPr id="452" name="Oval 9"/>
          <p:cNvSpPr/>
          <p:nvPr/>
        </p:nvSpPr>
        <p:spPr>
          <a:xfrm>
            <a:off x="4318000" y="2413000"/>
            <a:ext cx="381000" cy="381000"/>
          </a:xfrm>
          <a:prstGeom prst="ellipse">
            <a:avLst/>
          </a:prstGeom>
          <a:solidFill>
            <a:srgbClr val="E3F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53" name="Check"/>
          <p:cNvSpPr/>
          <p:nvPr/>
        </p:nvSpPr>
        <p:spPr>
          <a:xfrm>
            <a:off x="4381500" y="2476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3" y="25000"/>
                </a:moveTo>
                <a:lnTo>
                  <a:pt x="37500" y="70833"/>
                </a:lnTo>
                <a:lnTo>
                  <a:pt x="16667" y="50000"/>
                </a:lnTo>
              </a:path>
            </a:pathLst>
          </a:custGeom>
          <a:noFill/>
          <a:ln w="21167" cap="rnd">
            <a:solidFill>
              <a:srgbClr val="2EA36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454" name="Rectangle 11"/>
          <p:cNvSpPr/>
          <p:nvPr/>
        </p:nvSpPr>
        <p:spPr>
          <a:xfrm>
            <a:off x="4826000" y="2413000"/>
            <a:ext cx="3302000" cy="40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400" b="0">
                <a:solidFill>
                  <a:srgbClr val="1E2B3C"/>
                </a:solidFill>
              </a:rPr>
              <a:t>Same dealer company</a:t>
            </a:r>
            <a:endParaRPr sz="1400" b="0">
              <a:solidFill>
                <a:srgbClr val="1E2B3C"/>
              </a:solidFill>
            </a:endParaRPr>
          </a:p>
        </p:txBody>
      </p:sp>
      <p:sp>
        <p:nvSpPr>
          <p:cNvPr id="455" name="Oval 12"/>
          <p:cNvSpPr/>
          <p:nvPr/>
        </p:nvSpPr>
        <p:spPr>
          <a:xfrm>
            <a:off x="4318000" y="3022600"/>
            <a:ext cx="381000" cy="381000"/>
          </a:xfrm>
          <a:prstGeom prst="ellipse">
            <a:avLst/>
          </a:prstGeom>
          <a:solidFill>
            <a:srgbClr val="E3F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56" name="Check"/>
          <p:cNvSpPr/>
          <p:nvPr/>
        </p:nvSpPr>
        <p:spPr>
          <a:xfrm>
            <a:off x="4381500" y="3086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3" y="25000"/>
                </a:moveTo>
                <a:lnTo>
                  <a:pt x="37500" y="70833"/>
                </a:lnTo>
                <a:lnTo>
                  <a:pt x="16667" y="50000"/>
                </a:lnTo>
              </a:path>
            </a:pathLst>
          </a:custGeom>
          <a:noFill/>
          <a:ln w="21167" cap="rnd">
            <a:solidFill>
              <a:srgbClr val="2EA36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457" name="Rectangle 14"/>
          <p:cNvSpPr/>
          <p:nvPr/>
        </p:nvSpPr>
        <p:spPr>
          <a:xfrm>
            <a:off x="4826000" y="3022600"/>
            <a:ext cx="3302000" cy="40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400" b="0">
                <a:solidFill>
                  <a:srgbClr val="1E2B3C"/>
                </a:solidFill>
              </a:rPr>
              <a:t>Same End-user</a:t>
            </a:r>
            <a:endParaRPr sz="1400" b="0">
              <a:solidFill>
                <a:srgbClr val="1E2B3C"/>
              </a:solidFill>
            </a:endParaRPr>
          </a:p>
        </p:txBody>
      </p:sp>
      <p:sp>
        <p:nvSpPr>
          <p:cNvPr id="458" name="Oval 15"/>
          <p:cNvSpPr/>
          <p:nvPr/>
        </p:nvSpPr>
        <p:spPr>
          <a:xfrm>
            <a:off x="4318000" y="3632200"/>
            <a:ext cx="381000" cy="381000"/>
          </a:xfrm>
          <a:prstGeom prst="ellipse">
            <a:avLst/>
          </a:prstGeom>
          <a:solidFill>
            <a:srgbClr val="E3F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59" name="Check"/>
          <p:cNvSpPr/>
          <p:nvPr/>
        </p:nvSpPr>
        <p:spPr>
          <a:xfrm>
            <a:off x="4381500" y="3695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3" y="25000"/>
                </a:moveTo>
                <a:lnTo>
                  <a:pt x="37500" y="70833"/>
                </a:lnTo>
                <a:lnTo>
                  <a:pt x="16667" y="50000"/>
                </a:lnTo>
              </a:path>
            </a:pathLst>
          </a:custGeom>
          <a:noFill/>
          <a:ln w="21167" cap="rnd">
            <a:solidFill>
              <a:srgbClr val="2EA36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460" name="Rectangle 17"/>
          <p:cNvSpPr/>
          <p:nvPr/>
        </p:nvSpPr>
        <p:spPr>
          <a:xfrm>
            <a:off x="4826000" y="3632200"/>
            <a:ext cx="3302000" cy="40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400" b="0">
                <a:solidFill>
                  <a:srgbClr val="1E2B3C"/>
                </a:solidFill>
              </a:rPr>
              <a:t>Same product</a:t>
            </a:r>
            <a:endParaRPr sz="1400" b="0">
              <a:solidFill>
                <a:srgbClr val="1E2B3C"/>
              </a:solidFill>
            </a:endParaRPr>
          </a:p>
        </p:txBody>
      </p:sp>
      <p:sp>
        <p:nvSpPr>
          <p:cNvPr id="461" name="Oval 18"/>
          <p:cNvSpPr/>
          <p:nvPr/>
        </p:nvSpPr>
        <p:spPr>
          <a:xfrm>
            <a:off x="4318000" y="4241800"/>
            <a:ext cx="381000" cy="381000"/>
          </a:xfrm>
          <a:prstGeom prst="ellipse">
            <a:avLst/>
          </a:prstGeom>
          <a:solidFill>
            <a:srgbClr val="E3F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62" name="Check"/>
          <p:cNvSpPr/>
          <p:nvPr/>
        </p:nvSpPr>
        <p:spPr>
          <a:xfrm>
            <a:off x="4381500" y="4305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3" y="25000"/>
                </a:moveTo>
                <a:lnTo>
                  <a:pt x="37500" y="70833"/>
                </a:lnTo>
                <a:lnTo>
                  <a:pt x="16667" y="50000"/>
                </a:lnTo>
              </a:path>
            </a:pathLst>
          </a:custGeom>
          <a:noFill/>
          <a:ln w="21167" cap="rnd">
            <a:solidFill>
              <a:srgbClr val="2EA36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463" name="Rectangle 20"/>
          <p:cNvSpPr/>
          <p:nvPr/>
        </p:nvSpPr>
        <p:spPr>
          <a:xfrm>
            <a:off x="4826000" y="4241800"/>
            <a:ext cx="3302000" cy="40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400" b="0">
                <a:solidFill>
                  <a:srgbClr val="1E2B3C"/>
                </a:solidFill>
              </a:rPr>
              <a:t>Order date inside the approval period</a:t>
            </a:r>
            <a:endParaRPr sz="1400" b="0">
              <a:solidFill>
                <a:srgbClr val="1E2B3C"/>
              </a:solidFill>
            </a:endParaRPr>
          </a:p>
        </p:txBody>
      </p:sp>
      <p:sp>
        <p:nvSpPr>
          <p:cNvPr id="464" name="Oval 21"/>
          <p:cNvSpPr/>
          <p:nvPr/>
        </p:nvSpPr>
        <p:spPr>
          <a:xfrm>
            <a:off x="4318000" y="4851400"/>
            <a:ext cx="381000" cy="381000"/>
          </a:xfrm>
          <a:prstGeom prst="ellipse">
            <a:avLst/>
          </a:prstGeom>
          <a:solidFill>
            <a:srgbClr val="E3F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65" name="Check"/>
          <p:cNvSpPr/>
          <p:nvPr/>
        </p:nvSpPr>
        <p:spPr>
          <a:xfrm>
            <a:off x="4381500" y="4914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3" y="25000"/>
                </a:moveTo>
                <a:lnTo>
                  <a:pt x="37500" y="70833"/>
                </a:lnTo>
                <a:lnTo>
                  <a:pt x="16667" y="50000"/>
                </a:lnTo>
              </a:path>
            </a:pathLst>
          </a:custGeom>
          <a:noFill/>
          <a:ln w="21167" cap="rnd">
            <a:solidFill>
              <a:srgbClr val="2EA36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466" name="Rectangle 23"/>
          <p:cNvSpPr/>
          <p:nvPr/>
        </p:nvSpPr>
        <p:spPr>
          <a:xfrm>
            <a:off x="4826000" y="4851400"/>
            <a:ext cx="3302000" cy="40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400" b="0">
                <a:solidFill>
                  <a:srgbClr val="1E2B3C"/>
                </a:solidFill>
              </a:rPr>
              <a:t>Approval still active</a:t>
            </a:r>
            <a:endParaRPr sz="1400" b="0">
              <a:solidFill>
                <a:srgbClr val="1E2B3C"/>
              </a:solidFill>
            </a:endParaRPr>
          </a:p>
        </p:txBody>
      </p:sp>
      <p:cxnSp>
        <p:nvCxnSpPr>
          <p:cNvPr id="467" name="Arrow 24"/>
          <p:cNvCxnSpPr/>
          <p:nvPr/>
        </p:nvCxnSpPr>
        <p:spPr>
          <a:xfrm>
            <a:off x="8255000" y="2857500"/>
            <a:ext cx="635000" cy="12700"/>
          </a:xfrm>
          <a:prstGeom prst="straightConnector1">
            <a:avLst/>
          </a:prstGeom>
          <a:ln w="38100">
            <a:solidFill>
              <a:srgbClr val="2EA36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8" name="Rectangle 25"/>
          <p:cNvSpPr/>
          <p:nvPr/>
        </p:nvSpPr>
        <p:spPr>
          <a:xfrm>
            <a:off x="8890000" y="2159000"/>
            <a:ext cx="2667000" cy="1397000"/>
          </a:xfrm>
          <a:prstGeom prst="roundRect">
            <a:avLst/>
          </a:prstGeom>
          <a:solidFill>
            <a:srgbClr val="E3F4EC"/>
          </a:solidFill>
          <a:ln w="19050">
            <a:solidFill>
              <a:srgbClr val="2EA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1D6B48"/>
                </a:solidFill>
              </a:rPr>
              <a:t>All match:</a:t>
            </a:r>
            <a:endParaRPr sz="1600" b="1">
              <a:solidFill>
                <a:srgbClr val="1D6B48"/>
              </a:solidFill>
            </a:endParaRPr>
          </a:p>
          <a:p>
            <a:pPr algn="ctr"/>
            <a:r>
              <a:rPr sz="1600" b="1">
                <a:solidFill>
                  <a:srgbClr val="1D6B48"/>
                </a:solidFill>
              </a:rPr>
              <a:t>special price applies</a:t>
            </a:r>
            <a:endParaRPr sz="1600" b="1">
              <a:solidFill>
                <a:srgbClr val="1D6B48"/>
              </a:solidFill>
            </a:endParaRPr>
          </a:p>
        </p:txBody>
      </p:sp>
      <p:cxnSp>
        <p:nvCxnSpPr>
          <p:cNvPr id="469" name="Arrow 26"/>
          <p:cNvCxnSpPr/>
          <p:nvPr/>
        </p:nvCxnSpPr>
        <p:spPr>
          <a:xfrm>
            <a:off x="8255000" y="4826000"/>
            <a:ext cx="635000" cy="12700"/>
          </a:xfrm>
          <a:prstGeom prst="straightConnector1">
            <a:avLst/>
          </a:prstGeom>
          <a:ln w="38100">
            <a:solidFill>
              <a:srgbClr val="F7815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0" name="Rectangle 27"/>
          <p:cNvSpPr/>
          <p:nvPr/>
        </p:nvSpPr>
        <p:spPr>
          <a:xfrm>
            <a:off x="8890000" y="4191000"/>
            <a:ext cx="2667000" cy="1397000"/>
          </a:xfrm>
          <a:prstGeom prst="roundRect">
            <a:avLst/>
          </a:prstGeom>
          <a:solidFill>
            <a:srgbClr val="FDE8E1"/>
          </a:solidFill>
          <a:ln w="19050">
            <a:solidFill>
              <a:srgbClr val="F78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9B2915"/>
                </a:solidFill>
              </a:rPr>
              <a:t>Any mismatch:</a:t>
            </a:r>
            <a:endParaRPr sz="1600" b="1">
              <a:solidFill>
                <a:srgbClr val="9B2915"/>
              </a:solidFill>
            </a:endParaRPr>
          </a:p>
          <a:p>
            <a:pPr algn="ctr"/>
            <a:r>
              <a:rPr sz="1600" b="1">
                <a:solidFill>
                  <a:srgbClr val="9B2915"/>
                </a:solidFill>
              </a:rPr>
              <a:t>DBGI reviews first</a:t>
            </a:r>
            <a:endParaRPr sz="1600" b="1">
              <a:solidFill>
                <a:srgbClr val="9B2915"/>
              </a:solidFill>
            </a:endParaRPr>
          </a:p>
        </p:txBody>
      </p:sp>
      <p:sp>
        <p:nvSpPr>
          <p:cNvPr id="471" name="Rectangle 28"/>
          <p:cNvSpPr/>
          <p:nvPr/>
        </p:nvSpPr>
        <p:spPr>
          <a:xfrm>
            <a:off x="762000" y="5842000"/>
            <a:ext cx="10795000" cy="5842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500" b="0">
                <a:solidFill>
                  <a:srgbClr val="12384D"/>
                </a:solidFill>
              </a:rPr>
              <a:t>This stops a discount approved for Pasig from being used on a different customer.</a:t>
            </a:r>
            <a:endParaRPr sz="1500" b="0">
              <a:solidFill>
                <a:srgbClr val="12384D"/>
              </a:solidFill>
            </a:endParaRPr>
          </a:p>
        </p:txBody>
      </p:sp>
      <p:sp>
        <p:nvSpPr>
          <p:cNvPr id="472" name="Lock"/>
          <p:cNvSpPr/>
          <p:nvPr/>
        </p:nvSpPr>
        <p:spPr>
          <a:xfrm>
            <a:off x="914400" y="5994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20833" y="45833"/>
                </a:moveTo>
                <a:lnTo>
                  <a:pt x="79167" y="45833"/>
                </a:lnTo>
                <a:cubicBezTo>
                  <a:pt x="83769" y="45833"/>
                  <a:pt x="87500" y="49564"/>
                  <a:pt x="87500" y="54167"/>
                </a:cubicBezTo>
                <a:lnTo>
                  <a:pt x="87500" y="83333"/>
                </a:lnTo>
                <a:cubicBezTo>
                  <a:pt x="87500" y="87936"/>
                  <a:pt x="83769" y="91667"/>
                  <a:pt x="79167" y="91667"/>
                </a:cubicBezTo>
                <a:lnTo>
                  <a:pt x="20833" y="91667"/>
                </a:lnTo>
                <a:cubicBezTo>
                  <a:pt x="16231" y="91667"/>
                  <a:pt x="12500" y="87936"/>
                  <a:pt x="12500" y="83333"/>
                </a:cubicBezTo>
                <a:lnTo>
                  <a:pt x="12500" y="54167"/>
                </a:lnTo>
                <a:cubicBezTo>
                  <a:pt x="12500" y="49564"/>
                  <a:pt x="16231" y="45833"/>
                  <a:pt x="20833" y="45833"/>
                </a:cubicBezTo>
                <a:close/>
                <a:moveTo>
                  <a:pt x="29167" y="45833"/>
                </a:moveTo>
                <a:lnTo>
                  <a:pt x="29167" y="29167"/>
                </a:lnTo>
                <a:cubicBezTo>
                  <a:pt x="29167" y="17661"/>
                  <a:pt x="38494" y="8333"/>
                  <a:pt x="50000" y="8333"/>
                </a:cubicBezTo>
                <a:cubicBezTo>
                  <a:pt x="61506" y="8333"/>
                  <a:pt x="70833" y="17661"/>
                  <a:pt x="70833" y="29167"/>
                </a:cubicBezTo>
                <a:lnTo>
                  <a:pt x="70833" y="45833"/>
                </a:lnTo>
              </a:path>
            </a:pathLst>
          </a:custGeom>
          <a:noFill/>
          <a:ln w="23283" cap="rnd">
            <a:solidFill>
              <a:srgbClr val="12384D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72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0EC94FA-F8E2-4AC5-8BAF-84C1CD9CCE2A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75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12384D"/>
                </a:solidFill>
              </a:rPr>
              <a:t>Dealers never see each other's deals</a:t>
            </a:r>
            <a:endParaRPr sz="2800" b="1">
              <a:solidFill>
                <a:srgbClr val="12384D"/>
              </a:solidFill>
            </a:endParaRPr>
          </a:p>
        </p:txBody>
      </p:sp>
      <p:sp>
        <p:nvSpPr>
          <p:cNvPr id="476" name="Rectangle 3"/>
          <p:cNvSpPr/>
          <p:nvPr/>
        </p:nvSpPr>
        <p:spPr>
          <a:xfrm>
            <a:off x="736600" y="1168400"/>
            <a:ext cx="1079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B6B7A"/>
                </a:solidFill>
              </a:rPr>
              <a:t>If they could, the whole system would break</a:t>
            </a:r>
            <a:endParaRPr sz="1500" b="0">
              <a:solidFill>
                <a:srgbClr val="5B6B7A"/>
              </a:solidFill>
            </a:endParaRPr>
          </a:p>
        </p:txBody>
      </p:sp>
      <p:sp>
        <p:nvSpPr>
          <p:cNvPr id="477" name="Rectangle 4"/>
          <p:cNvSpPr/>
          <p:nvPr/>
        </p:nvSpPr>
        <p:spPr>
          <a:xfrm>
            <a:off x="762000" y="1905000"/>
            <a:ext cx="10795000" cy="1143000"/>
          </a:xfrm>
          <a:prstGeom prst="roundRect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38200" anchor="ctr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DBGI sees everything: all dealers, all deals, all prices, all rankings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478" name="Search"/>
          <p:cNvSpPr/>
          <p:nvPr/>
        </p:nvSpPr>
        <p:spPr>
          <a:xfrm>
            <a:off x="1092200" y="2311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7500" y="87500"/>
                </a:moveTo>
                <a:lnTo>
                  <a:pt x="69417" y="69417"/>
                </a:lnTo>
                <a:moveTo>
                  <a:pt x="12500" y="45833"/>
                </a:moveTo>
                <a:cubicBezTo>
                  <a:pt x="12500" y="27424"/>
                  <a:pt x="27424" y="12500"/>
                  <a:pt x="45833" y="12500"/>
                </a:cubicBezTo>
                <a:cubicBezTo>
                  <a:pt x="64243" y="12500"/>
                  <a:pt x="79167" y="27424"/>
                  <a:pt x="79167" y="45833"/>
                </a:cubicBezTo>
                <a:cubicBezTo>
                  <a:pt x="79167" y="64243"/>
                  <a:pt x="64243" y="79167"/>
                  <a:pt x="45833" y="79167"/>
                </a:cubicBezTo>
                <a:cubicBezTo>
                  <a:pt x="27424" y="79167"/>
                  <a:pt x="12500" y="64243"/>
                  <a:pt x="12500" y="45833"/>
                </a:cubicBezTo>
                <a:close/>
              </a:path>
            </a:pathLst>
          </a:custGeom>
          <a:noFill/>
          <a:ln w="27517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479" name="Rectangle 6"/>
          <p:cNvSpPr/>
          <p:nvPr/>
        </p:nvSpPr>
        <p:spPr>
          <a:xfrm>
            <a:off x="762000" y="3200400"/>
            <a:ext cx="10795000" cy="33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Each dealer is walled off from the others: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480" name="Rectangle 7"/>
          <p:cNvSpPr/>
          <p:nvPr/>
        </p:nvSpPr>
        <p:spPr>
          <a:xfrm>
            <a:off x="762000" y="3683000"/>
            <a:ext cx="3429000" cy="1651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F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81" name="Rectangle 8"/>
          <p:cNvSpPr/>
          <p:nvPr/>
        </p:nvSpPr>
        <p:spPr>
          <a:xfrm>
            <a:off x="965200" y="3810000"/>
            <a:ext cx="2540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800" b="1">
                <a:solidFill>
                  <a:srgbClr val="1B7FA6"/>
                </a:solidFill>
              </a:rPr>
              <a:t>Dealer A</a:t>
            </a:r>
            <a:endParaRPr sz="1800" b="1">
              <a:solidFill>
                <a:srgbClr val="1B7FA6"/>
              </a:solidFill>
            </a:endParaRPr>
          </a:p>
        </p:txBody>
      </p:sp>
      <p:sp>
        <p:nvSpPr>
          <p:cNvPr id="482" name="Lock"/>
          <p:cNvSpPr/>
          <p:nvPr/>
        </p:nvSpPr>
        <p:spPr>
          <a:xfrm>
            <a:off x="3683000" y="383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20833" y="45833"/>
                </a:moveTo>
                <a:lnTo>
                  <a:pt x="79167" y="45833"/>
                </a:lnTo>
                <a:cubicBezTo>
                  <a:pt x="83769" y="45833"/>
                  <a:pt x="87500" y="49564"/>
                  <a:pt x="87500" y="54167"/>
                </a:cubicBezTo>
                <a:lnTo>
                  <a:pt x="87500" y="83333"/>
                </a:lnTo>
                <a:cubicBezTo>
                  <a:pt x="87500" y="87936"/>
                  <a:pt x="83769" y="91667"/>
                  <a:pt x="79167" y="91667"/>
                </a:cubicBezTo>
                <a:lnTo>
                  <a:pt x="20833" y="91667"/>
                </a:lnTo>
                <a:cubicBezTo>
                  <a:pt x="16231" y="91667"/>
                  <a:pt x="12500" y="87936"/>
                  <a:pt x="12500" y="83333"/>
                </a:cubicBezTo>
                <a:lnTo>
                  <a:pt x="12500" y="54167"/>
                </a:lnTo>
                <a:cubicBezTo>
                  <a:pt x="12500" y="49564"/>
                  <a:pt x="16231" y="45833"/>
                  <a:pt x="20833" y="45833"/>
                </a:cubicBezTo>
                <a:close/>
                <a:moveTo>
                  <a:pt x="29167" y="45833"/>
                </a:moveTo>
                <a:lnTo>
                  <a:pt x="29167" y="29167"/>
                </a:lnTo>
                <a:cubicBezTo>
                  <a:pt x="29167" y="17661"/>
                  <a:pt x="38494" y="8333"/>
                  <a:pt x="50000" y="8333"/>
                </a:cubicBezTo>
                <a:cubicBezTo>
                  <a:pt x="61506" y="8333"/>
                  <a:pt x="70833" y="17661"/>
                  <a:pt x="70833" y="29167"/>
                </a:cubicBezTo>
                <a:lnTo>
                  <a:pt x="70833" y="45833"/>
                </a:lnTo>
              </a:path>
            </a:pathLst>
          </a:custGeom>
          <a:noFill/>
          <a:ln w="25400" cap="rnd">
            <a:solidFill>
              <a:srgbClr val="1B7FA6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483" name="Rectangle 10"/>
          <p:cNvSpPr/>
          <p:nvPr/>
        </p:nvSpPr>
        <p:spPr>
          <a:xfrm>
            <a:off x="965200" y="4254500"/>
            <a:ext cx="30480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1E2B3C"/>
                </a:solidFill>
              </a:rPr>
              <a:t>Sees only its own registrations, prices, evidence, and its own rank</a:t>
            </a:r>
            <a:endParaRPr sz="1400" b="0">
              <a:solidFill>
                <a:srgbClr val="1E2B3C"/>
              </a:solidFill>
            </a:endParaRPr>
          </a:p>
        </p:txBody>
      </p:sp>
      <p:sp>
        <p:nvSpPr>
          <p:cNvPr id="484" name="Rectangle 11"/>
          <p:cNvSpPr/>
          <p:nvPr/>
        </p:nvSpPr>
        <p:spPr>
          <a:xfrm>
            <a:off x="4445000" y="3683000"/>
            <a:ext cx="3429000" cy="1651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F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85" name="Rectangle 12"/>
          <p:cNvSpPr/>
          <p:nvPr/>
        </p:nvSpPr>
        <p:spPr>
          <a:xfrm>
            <a:off x="4648200" y="3810000"/>
            <a:ext cx="2540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800" b="1">
                <a:solidFill>
                  <a:srgbClr val="1B7FA6"/>
                </a:solidFill>
              </a:rPr>
              <a:t>Dealer B</a:t>
            </a:r>
            <a:endParaRPr sz="1800" b="1">
              <a:solidFill>
                <a:srgbClr val="1B7FA6"/>
              </a:solidFill>
            </a:endParaRPr>
          </a:p>
        </p:txBody>
      </p:sp>
      <p:sp>
        <p:nvSpPr>
          <p:cNvPr id="486" name="Lock"/>
          <p:cNvSpPr/>
          <p:nvPr/>
        </p:nvSpPr>
        <p:spPr>
          <a:xfrm>
            <a:off x="7366000" y="383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20833" y="45833"/>
                </a:moveTo>
                <a:lnTo>
                  <a:pt x="79167" y="45833"/>
                </a:lnTo>
                <a:cubicBezTo>
                  <a:pt x="83769" y="45833"/>
                  <a:pt x="87500" y="49564"/>
                  <a:pt x="87500" y="54167"/>
                </a:cubicBezTo>
                <a:lnTo>
                  <a:pt x="87500" y="83333"/>
                </a:lnTo>
                <a:cubicBezTo>
                  <a:pt x="87500" y="87936"/>
                  <a:pt x="83769" y="91667"/>
                  <a:pt x="79167" y="91667"/>
                </a:cubicBezTo>
                <a:lnTo>
                  <a:pt x="20833" y="91667"/>
                </a:lnTo>
                <a:cubicBezTo>
                  <a:pt x="16231" y="91667"/>
                  <a:pt x="12500" y="87936"/>
                  <a:pt x="12500" y="83333"/>
                </a:cubicBezTo>
                <a:lnTo>
                  <a:pt x="12500" y="54167"/>
                </a:lnTo>
                <a:cubicBezTo>
                  <a:pt x="12500" y="49564"/>
                  <a:pt x="16231" y="45833"/>
                  <a:pt x="20833" y="45833"/>
                </a:cubicBezTo>
                <a:close/>
                <a:moveTo>
                  <a:pt x="29167" y="45833"/>
                </a:moveTo>
                <a:lnTo>
                  <a:pt x="29167" y="29167"/>
                </a:lnTo>
                <a:cubicBezTo>
                  <a:pt x="29167" y="17661"/>
                  <a:pt x="38494" y="8333"/>
                  <a:pt x="50000" y="8333"/>
                </a:cubicBezTo>
                <a:cubicBezTo>
                  <a:pt x="61506" y="8333"/>
                  <a:pt x="70833" y="17661"/>
                  <a:pt x="70833" y="29167"/>
                </a:cubicBezTo>
                <a:lnTo>
                  <a:pt x="70833" y="45833"/>
                </a:lnTo>
              </a:path>
            </a:pathLst>
          </a:custGeom>
          <a:noFill/>
          <a:ln w="25400" cap="rnd">
            <a:solidFill>
              <a:srgbClr val="1B7FA6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487" name="Rectangle 14"/>
          <p:cNvSpPr/>
          <p:nvPr/>
        </p:nvSpPr>
        <p:spPr>
          <a:xfrm>
            <a:off x="4648200" y="4254500"/>
            <a:ext cx="30480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1E2B3C"/>
                </a:solidFill>
              </a:rPr>
              <a:t>Sees only its own registrations, prices, evidence, and its own rank</a:t>
            </a:r>
            <a:endParaRPr sz="1400" b="0">
              <a:solidFill>
                <a:srgbClr val="1E2B3C"/>
              </a:solidFill>
            </a:endParaRPr>
          </a:p>
        </p:txBody>
      </p:sp>
      <p:sp>
        <p:nvSpPr>
          <p:cNvPr id="488" name="Rectangle 15"/>
          <p:cNvSpPr/>
          <p:nvPr/>
        </p:nvSpPr>
        <p:spPr>
          <a:xfrm>
            <a:off x="8128000" y="3683000"/>
            <a:ext cx="3429000" cy="1651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F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89" name="Rectangle 16"/>
          <p:cNvSpPr/>
          <p:nvPr/>
        </p:nvSpPr>
        <p:spPr>
          <a:xfrm>
            <a:off x="8331200" y="3810000"/>
            <a:ext cx="2540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800" b="1">
                <a:solidFill>
                  <a:srgbClr val="1B7FA6"/>
                </a:solidFill>
              </a:rPr>
              <a:t>Dealer C</a:t>
            </a:r>
            <a:endParaRPr sz="1800" b="1">
              <a:solidFill>
                <a:srgbClr val="1B7FA6"/>
              </a:solidFill>
            </a:endParaRPr>
          </a:p>
        </p:txBody>
      </p:sp>
      <p:sp>
        <p:nvSpPr>
          <p:cNvPr id="490" name="Lock"/>
          <p:cNvSpPr/>
          <p:nvPr/>
        </p:nvSpPr>
        <p:spPr>
          <a:xfrm>
            <a:off x="11049000" y="383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20833" y="45833"/>
                </a:moveTo>
                <a:lnTo>
                  <a:pt x="79167" y="45833"/>
                </a:lnTo>
                <a:cubicBezTo>
                  <a:pt x="83769" y="45833"/>
                  <a:pt x="87500" y="49564"/>
                  <a:pt x="87500" y="54167"/>
                </a:cubicBezTo>
                <a:lnTo>
                  <a:pt x="87500" y="83333"/>
                </a:lnTo>
                <a:cubicBezTo>
                  <a:pt x="87500" y="87936"/>
                  <a:pt x="83769" y="91667"/>
                  <a:pt x="79167" y="91667"/>
                </a:cubicBezTo>
                <a:lnTo>
                  <a:pt x="20833" y="91667"/>
                </a:lnTo>
                <a:cubicBezTo>
                  <a:pt x="16231" y="91667"/>
                  <a:pt x="12500" y="87936"/>
                  <a:pt x="12500" y="83333"/>
                </a:cubicBezTo>
                <a:lnTo>
                  <a:pt x="12500" y="54167"/>
                </a:lnTo>
                <a:cubicBezTo>
                  <a:pt x="12500" y="49564"/>
                  <a:pt x="16231" y="45833"/>
                  <a:pt x="20833" y="45833"/>
                </a:cubicBezTo>
                <a:close/>
                <a:moveTo>
                  <a:pt x="29167" y="45833"/>
                </a:moveTo>
                <a:lnTo>
                  <a:pt x="29167" y="29167"/>
                </a:lnTo>
                <a:cubicBezTo>
                  <a:pt x="29167" y="17661"/>
                  <a:pt x="38494" y="8333"/>
                  <a:pt x="50000" y="8333"/>
                </a:cubicBezTo>
                <a:cubicBezTo>
                  <a:pt x="61506" y="8333"/>
                  <a:pt x="70833" y="17661"/>
                  <a:pt x="70833" y="29167"/>
                </a:cubicBezTo>
                <a:lnTo>
                  <a:pt x="70833" y="45833"/>
                </a:lnTo>
              </a:path>
            </a:pathLst>
          </a:custGeom>
          <a:noFill/>
          <a:ln w="25400" cap="rnd">
            <a:solidFill>
              <a:srgbClr val="1B7FA6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491" name="Rectangle 18"/>
          <p:cNvSpPr/>
          <p:nvPr/>
        </p:nvSpPr>
        <p:spPr>
          <a:xfrm>
            <a:off x="8331200" y="4254500"/>
            <a:ext cx="30480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1E2B3C"/>
                </a:solidFill>
              </a:rPr>
              <a:t>Sees only its own registrations, prices, evidence, and its own rank</a:t>
            </a:r>
            <a:endParaRPr sz="1400" b="0">
              <a:solidFill>
                <a:srgbClr val="1E2B3C"/>
              </a:solidFill>
            </a:endParaRPr>
          </a:p>
        </p:txBody>
      </p:sp>
      <p:sp>
        <p:nvSpPr>
          <p:cNvPr id="492" name="Rectangle 19"/>
          <p:cNvSpPr/>
          <p:nvPr/>
        </p:nvSpPr>
        <p:spPr>
          <a:xfrm>
            <a:off x="762000" y="5816600"/>
            <a:ext cx="10795000" cy="5842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500" b="0">
                <a:solidFill>
                  <a:srgbClr val="12384D"/>
                </a:solidFill>
              </a:rPr>
              <a:t>Our portal enforces this on the server, not just by hiding buttons on screen.</a:t>
            </a:r>
            <a:endParaRPr sz="1500" b="0">
              <a:solidFill>
                <a:srgbClr val="12384D"/>
              </a:solidFill>
            </a:endParaRPr>
          </a:p>
        </p:txBody>
      </p:sp>
      <p:sp>
        <p:nvSpPr>
          <p:cNvPr id="493" name="Check circle"/>
          <p:cNvSpPr/>
          <p:nvPr/>
        </p:nvSpPr>
        <p:spPr>
          <a:xfrm>
            <a:off x="914400" y="5969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66667" y="37500"/>
                </a:moveTo>
                <a:lnTo>
                  <a:pt x="43750" y="60417"/>
                </a:lnTo>
                <a:lnTo>
                  <a:pt x="33333" y="50000"/>
                </a:lnTo>
              </a:path>
            </a:pathLst>
          </a:custGeom>
          <a:noFill/>
          <a:ln w="23283" cap="rnd">
            <a:solidFill>
              <a:srgbClr val="12384D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75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67E2D13-7704-45C7-8091-8B2F05FD78CE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96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12384D"/>
                </a:solidFill>
              </a:rPr>
              <a:t>Words you will hear at work</a:t>
            </a:r>
            <a:endParaRPr sz="2800" b="1">
              <a:solidFill>
                <a:srgbClr val="12384D"/>
              </a:solidFill>
            </a:endParaRPr>
          </a:p>
        </p:txBody>
      </p:sp>
      <p:sp>
        <p:nvSpPr>
          <p:cNvPr id="497" name="Rectangle 3"/>
          <p:cNvSpPr/>
          <p:nvPr/>
        </p:nvSpPr>
        <p:spPr>
          <a:xfrm>
            <a:off x="736600" y="1168400"/>
            <a:ext cx="1079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B6B7A"/>
                </a:solidFill>
              </a:rPr>
              <a:t>The portal's terms in plain language</a:t>
            </a:r>
            <a:endParaRPr sz="1500" b="0">
              <a:solidFill>
                <a:srgbClr val="5B6B7A"/>
              </a:solidFill>
            </a:endParaRPr>
          </a:p>
        </p:txBody>
      </p:sp>
      <p:graphicFrame>
        <p:nvGraphicFramePr>
          <p:cNvPr id="498" name="Table 4"/>
          <p:cNvGraphicFramePr>
            <a:graphicFrameLocks noGrp="1"/>
          </p:cNvGraphicFramePr>
          <p:nvPr/>
        </p:nvGraphicFramePr>
        <p:xfrm>
          <a:off x="762000" y="1651000"/>
          <a:ext cx="107950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/>
                <a:gridCol w="7874000"/>
              </a:tblGrid>
              <a:tr h="431800">
                <a:tc>
                  <a:txBody>
                    <a:bodyPr/>
                    <a:lstStyle/>
                    <a:p>
                      <a:r>
                        <a:rPr sz="1500"/>
                        <a:t>Term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Plain meaning</a:t>
                      </a:r>
                      <a:endParaRPr sz="1500"/>
                    </a:p>
                  </a:txBody>
                  <a:tcPr anchor="ctr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/>
                        <a:t>Matching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Checking whether two registrations are really the same deal</a:t>
                      </a:r>
                      <a:endParaRPr sz="1500"/>
                    </a:p>
                  </a:txBody>
                  <a:tcPr anchor="ctr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/>
                        <a:t>Opportunity / scope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The one real deal that several registrations point to</a:t>
                      </a:r>
                      <a:endParaRPr sz="1500"/>
                    </a:p>
                  </a:txBody>
                  <a:tcPr anchor="ctr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/>
                        <a:t>Rank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Who is first, second, and so on for that deal</a:t>
                      </a:r>
                      <a:endParaRPr sz="1500"/>
                    </a:p>
                  </a:txBody>
                  <a:tcPr anchor="ctr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/>
                        <a:t>Commercial approval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The price decision</a:t>
                      </a:r>
                      <a:endParaRPr sz="1500"/>
                    </a:p>
                  </a:txBody>
                  <a:tcPr anchor="ctr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/>
                        <a:t>Renewal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Extending an approval (+30 days in our portal)</a:t>
                      </a:r>
                      <a:endParaRPr sz="1500"/>
                    </a:p>
                  </a:txBody>
                  <a:tcPr anchor="ctr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/>
                        <a:t>Reorder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The buyer orders more later: can the approved price be reused?</a:t>
                      </a:r>
                      <a:endParaRPr sz="1500"/>
                    </a:p>
                  </a:txBody>
                  <a:tcPr anchor="ctr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/>
                        <a:t>Withdrawal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The dealer says: I am no longer pursuing this deal</a:t>
                      </a:r>
                      <a:endParaRPr sz="1500"/>
                    </a:p>
                  </a:txBody>
                  <a:tcPr anchor="ctr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/>
                        <a:t>Merge / split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DBGI fixes mistakes: two that are one deal, or one that is two</a:t>
                      </a:r>
                      <a:endParaRPr sz="1500"/>
                    </a:p>
                  </a:txBody>
                  <a:tcPr anchor="ctr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/>
                        <a:t>Evidence</a:t>
                      </a:r>
                      <a:endParaRPr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Proof the deal is real, like a procurement notice</a:t>
                      </a:r>
                      <a:endParaRPr sz="150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78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D27AB5-652A-495A-8336-EEDE33D0623B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01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12384D"/>
                </a:solidFill>
              </a:rPr>
              <a:t>The simple version, and where our portal is today</a:t>
            </a:r>
            <a:endParaRPr sz="2800" b="1">
              <a:solidFill>
                <a:srgbClr val="12384D"/>
              </a:solidFill>
            </a:endParaRPr>
          </a:p>
        </p:txBody>
      </p:sp>
      <p:sp>
        <p:nvSpPr>
          <p:cNvPr id="502" name="Rectangle 3"/>
          <p:cNvSpPr/>
          <p:nvPr/>
        </p:nvSpPr>
        <p:spPr>
          <a:xfrm>
            <a:off x="736600" y="1168400"/>
            <a:ext cx="1079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B6B7A"/>
                </a:solidFill>
              </a:rPr>
              <a:t>Six steps are enough to keep deal registration fair and correct</a:t>
            </a:r>
            <a:endParaRPr sz="1500" b="0">
              <a:solidFill>
                <a:srgbClr val="5B6B7A"/>
              </a:solidFill>
            </a:endParaRPr>
          </a:p>
        </p:txBody>
      </p:sp>
      <p:sp>
        <p:nvSpPr>
          <p:cNvPr id="503" name="Oval 4"/>
          <p:cNvSpPr/>
          <p:nvPr/>
        </p:nvSpPr>
        <p:spPr>
          <a:xfrm>
            <a:off x="762000" y="1778000"/>
            <a:ext cx="508000" cy="5080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504" name="Rectangle 5"/>
          <p:cNvSpPr/>
          <p:nvPr/>
        </p:nvSpPr>
        <p:spPr>
          <a:xfrm>
            <a:off x="1422400" y="1778000"/>
            <a:ext cx="76200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anchor="ctr">
            <a:noAutofit/>
          </a:bodyPr>
          <a:lstStyle/>
          <a:p>
            <a:pPr algn="l"/>
            <a:r>
              <a:rPr sz="1500" b="0">
                <a:solidFill>
                  <a:srgbClr val="1E2B3C"/>
                </a:solidFill>
              </a:rPr>
              <a:t>Dealer registers the deal with proof</a:t>
            </a:r>
            <a:endParaRPr sz="1500" b="0">
              <a:solidFill>
                <a:srgbClr val="1E2B3C"/>
              </a:solidFill>
            </a:endParaRPr>
          </a:p>
        </p:txBody>
      </p:sp>
      <p:sp>
        <p:nvSpPr>
          <p:cNvPr id="505" name="Rectangle 6"/>
          <p:cNvSpPr/>
          <p:nvPr/>
        </p:nvSpPr>
        <p:spPr>
          <a:xfrm>
            <a:off x="9194800" y="1778000"/>
            <a:ext cx="2362200" cy="508000"/>
          </a:xfrm>
          <a:prstGeom prst="roundRect">
            <a:avLst/>
          </a:prstGeom>
          <a:solidFill>
            <a:srgbClr val="E3F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1D6B48"/>
                </a:solidFill>
              </a:rPr>
              <a:t>Done in portal</a:t>
            </a:r>
            <a:endParaRPr sz="1400" b="1">
              <a:solidFill>
                <a:srgbClr val="1D6B48"/>
              </a:solidFill>
            </a:endParaRPr>
          </a:p>
        </p:txBody>
      </p:sp>
      <p:sp>
        <p:nvSpPr>
          <p:cNvPr id="506" name="Oval 7"/>
          <p:cNvSpPr/>
          <p:nvPr/>
        </p:nvSpPr>
        <p:spPr>
          <a:xfrm>
            <a:off x="762000" y="2438400"/>
            <a:ext cx="508000" cy="5080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507" name="Rectangle 8"/>
          <p:cNvSpPr/>
          <p:nvPr/>
        </p:nvSpPr>
        <p:spPr>
          <a:xfrm>
            <a:off x="1422400" y="2438400"/>
            <a:ext cx="76200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anchor="ctr">
            <a:noAutofit/>
          </a:bodyPr>
          <a:lstStyle/>
          <a:p>
            <a:pPr algn="l"/>
            <a:r>
              <a:rPr sz="1500" b="0">
                <a:solidFill>
                  <a:srgbClr val="1E2B3C"/>
                </a:solidFill>
              </a:rPr>
              <a:t>DBGI checks duplicates and who was first</a:t>
            </a:r>
            <a:endParaRPr sz="1500" b="0">
              <a:solidFill>
                <a:srgbClr val="1E2B3C"/>
              </a:solidFill>
            </a:endParaRPr>
          </a:p>
        </p:txBody>
      </p:sp>
      <p:sp>
        <p:nvSpPr>
          <p:cNvPr id="508" name="Rectangle 9"/>
          <p:cNvSpPr/>
          <p:nvPr/>
        </p:nvSpPr>
        <p:spPr>
          <a:xfrm>
            <a:off x="9194800" y="2438400"/>
            <a:ext cx="2362200" cy="508000"/>
          </a:xfrm>
          <a:prstGeom prst="roundRect">
            <a:avLst/>
          </a:prstGeom>
          <a:solidFill>
            <a:srgbClr val="E3F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1D6B48"/>
                </a:solidFill>
              </a:rPr>
              <a:t>Done in portal</a:t>
            </a:r>
            <a:endParaRPr sz="1400" b="1">
              <a:solidFill>
                <a:srgbClr val="1D6B48"/>
              </a:solidFill>
            </a:endParaRPr>
          </a:p>
        </p:txBody>
      </p:sp>
      <p:sp>
        <p:nvSpPr>
          <p:cNvPr id="509" name="Oval 10"/>
          <p:cNvSpPr/>
          <p:nvPr/>
        </p:nvSpPr>
        <p:spPr>
          <a:xfrm>
            <a:off x="762000" y="3098800"/>
            <a:ext cx="508000" cy="5080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510" name="Rectangle 11"/>
          <p:cNvSpPr/>
          <p:nvPr/>
        </p:nvSpPr>
        <p:spPr>
          <a:xfrm>
            <a:off x="1422400" y="3098800"/>
            <a:ext cx="76200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anchor="ctr">
            <a:noAutofit/>
          </a:bodyPr>
          <a:lstStyle/>
          <a:p>
            <a:pPr algn="l"/>
            <a:r>
              <a:rPr sz="1500" b="0">
                <a:solidFill>
                  <a:srgbClr val="1E2B3C"/>
                </a:solidFill>
              </a:rPr>
              <a:t>DBGI approves or rejects the registration</a:t>
            </a:r>
            <a:endParaRPr sz="1500" b="0">
              <a:solidFill>
                <a:srgbClr val="1E2B3C"/>
              </a:solidFill>
            </a:endParaRPr>
          </a:p>
        </p:txBody>
      </p:sp>
      <p:sp>
        <p:nvSpPr>
          <p:cNvPr id="511" name="Rectangle 12"/>
          <p:cNvSpPr/>
          <p:nvPr/>
        </p:nvSpPr>
        <p:spPr>
          <a:xfrm>
            <a:off x="9194800" y="3098800"/>
            <a:ext cx="2362200" cy="508000"/>
          </a:xfrm>
          <a:prstGeom prst="roundRect">
            <a:avLst/>
          </a:prstGeom>
          <a:solidFill>
            <a:srgbClr val="E3F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1D6B48"/>
                </a:solidFill>
              </a:rPr>
              <a:t>Done in portal</a:t>
            </a:r>
            <a:endParaRPr sz="1400" b="1">
              <a:solidFill>
                <a:srgbClr val="1D6B48"/>
              </a:solidFill>
            </a:endParaRPr>
          </a:p>
        </p:txBody>
      </p:sp>
      <p:sp>
        <p:nvSpPr>
          <p:cNvPr id="512" name="Oval 13"/>
          <p:cNvSpPr/>
          <p:nvPr/>
        </p:nvSpPr>
        <p:spPr>
          <a:xfrm>
            <a:off x="762000" y="3759200"/>
            <a:ext cx="508000" cy="5080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513" name="Rectangle 14"/>
          <p:cNvSpPr/>
          <p:nvPr/>
        </p:nvSpPr>
        <p:spPr>
          <a:xfrm>
            <a:off x="1422400" y="3759200"/>
            <a:ext cx="76200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anchor="ctr">
            <a:noAutofit/>
          </a:bodyPr>
          <a:lstStyle/>
          <a:p>
            <a:pPr algn="l"/>
            <a:r>
              <a:rPr sz="1500" b="0">
                <a:solidFill>
                  <a:srgbClr val="1E2B3C"/>
                </a:solidFill>
              </a:rPr>
              <a:t>DBGI approves a price separately, with an expiry</a:t>
            </a:r>
            <a:endParaRPr sz="1500" b="0">
              <a:solidFill>
                <a:srgbClr val="1E2B3C"/>
              </a:solidFill>
            </a:endParaRPr>
          </a:p>
        </p:txBody>
      </p:sp>
      <p:sp>
        <p:nvSpPr>
          <p:cNvPr id="514" name="Rectangle 15"/>
          <p:cNvSpPr/>
          <p:nvPr/>
        </p:nvSpPr>
        <p:spPr>
          <a:xfrm>
            <a:off x="9194800" y="3759200"/>
            <a:ext cx="2362200" cy="508000"/>
          </a:xfrm>
          <a:prstGeom prst="roundRect">
            <a:avLst/>
          </a:prstGeom>
          <a:solidFill>
            <a:srgbClr val="E3F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1D6B48"/>
                </a:solidFill>
              </a:rPr>
              <a:t>Done in portal</a:t>
            </a:r>
            <a:endParaRPr sz="1400" b="1">
              <a:solidFill>
                <a:srgbClr val="1D6B48"/>
              </a:solidFill>
            </a:endParaRPr>
          </a:p>
        </p:txBody>
      </p:sp>
      <p:sp>
        <p:nvSpPr>
          <p:cNvPr id="515" name="Oval 16"/>
          <p:cNvSpPr/>
          <p:nvPr/>
        </p:nvSpPr>
        <p:spPr>
          <a:xfrm>
            <a:off x="762000" y="4419600"/>
            <a:ext cx="508000" cy="5080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516" name="Rectangle 17"/>
          <p:cNvSpPr/>
          <p:nvPr/>
        </p:nvSpPr>
        <p:spPr>
          <a:xfrm>
            <a:off x="1422400" y="4419600"/>
            <a:ext cx="76200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anchor="ctr">
            <a:noAutofit/>
          </a:bodyPr>
          <a:lstStyle/>
          <a:p>
            <a:pPr algn="l"/>
            <a:r>
              <a:rPr sz="1500" b="0">
                <a:solidFill>
                  <a:srgbClr val="1E2B3C"/>
                </a:solidFill>
              </a:rPr>
              <a:t>DBGI checks each order before applying the price</a:t>
            </a:r>
            <a:endParaRPr sz="1500" b="0">
              <a:solidFill>
                <a:srgbClr val="1E2B3C"/>
              </a:solidFill>
            </a:endParaRPr>
          </a:p>
        </p:txBody>
      </p:sp>
      <p:sp>
        <p:nvSpPr>
          <p:cNvPr id="517" name="Rectangle 18"/>
          <p:cNvSpPr/>
          <p:nvPr/>
        </p:nvSpPr>
        <p:spPr>
          <a:xfrm>
            <a:off x="9194800" y="4419600"/>
            <a:ext cx="2362200" cy="508000"/>
          </a:xfrm>
          <a:prstGeom prst="roundRect">
            <a:avLst/>
          </a:prstGeom>
          <a:solidFill>
            <a:srgbClr val="FDF1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8A5A00"/>
                </a:solidFill>
              </a:rPr>
              <a:t>Not yet (Milestone 3)</a:t>
            </a:r>
            <a:endParaRPr sz="1400" b="1">
              <a:solidFill>
                <a:srgbClr val="8A5A00"/>
              </a:solidFill>
            </a:endParaRPr>
          </a:p>
        </p:txBody>
      </p:sp>
      <p:sp>
        <p:nvSpPr>
          <p:cNvPr id="518" name="Oval 19"/>
          <p:cNvSpPr/>
          <p:nvPr/>
        </p:nvSpPr>
        <p:spPr>
          <a:xfrm>
            <a:off x="762000" y="5080000"/>
            <a:ext cx="508000" cy="5080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519" name="Rectangle 20"/>
          <p:cNvSpPr/>
          <p:nvPr/>
        </p:nvSpPr>
        <p:spPr>
          <a:xfrm>
            <a:off x="1422400" y="5080000"/>
            <a:ext cx="76200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anchor="ctr">
            <a:noAutofit/>
          </a:bodyPr>
          <a:lstStyle/>
          <a:p>
            <a:pPr algn="l"/>
            <a:r>
              <a:rPr sz="1500" b="0">
                <a:solidFill>
                  <a:srgbClr val="1E2B3C"/>
                </a:solidFill>
              </a:rPr>
              <a:t>Dealers cannot see each other's deals</a:t>
            </a:r>
            <a:endParaRPr sz="1500" b="0">
              <a:solidFill>
                <a:srgbClr val="1E2B3C"/>
              </a:solidFill>
            </a:endParaRPr>
          </a:p>
        </p:txBody>
      </p:sp>
      <p:sp>
        <p:nvSpPr>
          <p:cNvPr id="520" name="Rectangle 21"/>
          <p:cNvSpPr/>
          <p:nvPr/>
        </p:nvSpPr>
        <p:spPr>
          <a:xfrm>
            <a:off x="9194800" y="5080000"/>
            <a:ext cx="2362200" cy="508000"/>
          </a:xfrm>
          <a:prstGeom prst="roundRect">
            <a:avLst/>
          </a:prstGeom>
          <a:solidFill>
            <a:srgbClr val="E3F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1D6B48"/>
                </a:solidFill>
              </a:rPr>
              <a:t>Done in portal</a:t>
            </a:r>
            <a:endParaRPr sz="1400" b="1">
              <a:solidFill>
                <a:srgbClr val="1D6B48"/>
              </a:solidFill>
            </a:endParaRPr>
          </a:p>
        </p:txBody>
      </p:sp>
      <p:sp>
        <p:nvSpPr>
          <p:cNvPr id="521" name="Rectangle 22"/>
          <p:cNvSpPr/>
          <p:nvPr/>
        </p:nvSpPr>
        <p:spPr>
          <a:xfrm>
            <a:off x="762000" y="5842000"/>
            <a:ext cx="10795000" cy="5842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500" b="0">
                <a:solidFill>
                  <a:srgbClr val="12384D"/>
                </a:solidFill>
              </a:rPr>
              <a:t>Also still missing: withdrawal requests, and merge or split of deals.</a:t>
            </a:r>
            <a:endParaRPr sz="1500" b="0">
              <a:solidFill>
                <a:srgbClr val="12384D"/>
              </a:solidFill>
            </a:endParaRPr>
          </a:p>
        </p:txBody>
      </p:sp>
      <p:sp>
        <p:nvSpPr>
          <p:cNvPr id="522" name="Info"/>
          <p:cNvSpPr/>
          <p:nvPr/>
        </p:nvSpPr>
        <p:spPr>
          <a:xfrm>
            <a:off x="914400" y="5994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50000" y="66667"/>
                </a:moveTo>
                <a:lnTo>
                  <a:pt x="50000" y="50000"/>
                </a:lnTo>
                <a:moveTo>
                  <a:pt x="50000" y="33333"/>
                </a:moveTo>
                <a:lnTo>
                  <a:pt x="50042" y="33333"/>
                </a:lnTo>
              </a:path>
            </a:pathLst>
          </a:custGeom>
          <a:noFill/>
          <a:ln w="23283" cap="rnd">
            <a:solidFill>
              <a:srgbClr val="12384D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81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2FA209A-C3A7-4F8D-8E85-A91313DE554C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25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12384D"/>
                </a:solidFill>
              </a:rPr>
              <a:t>Questions to ask your team</a:t>
            </a:r>
            <a:endParaRPr sz="2800" b="1">
              <a:solidFill>
                <a:srgbClr val="12384D"/>
              </a:solidFill>
            </a:endParaRPr>
          </a:p>
        </p:txBody>
      </p:sp>
      <p:sp>
        <p:nvSpPr>
          <p:cNvPr id="526" name="Rectangle 3"/>
          <p:cNvSpPr/>
          <p:nvPr/>
        </p:nvSpPr>
        <p:spPr>
          <a:xfrm>
            <a:off x="736600" y="1168400"/>
            <a:ext cx="1079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B6B7A"/>
                </a:solidFill>
              </a:rPr>
              <a:t>These are the decisions the portal is waiting on</a:t>
            </a:r>
            <a:endParaRPr sz="1500" b="0">
              <a:solidFill>
                <a:srgbClr val="5B6B7A"/>
              </a:solidFill>
            </a:endParaRPr>
          </a:p>
        </p:txBody>
      </p:sp>
      <p:sp>
        <p:nvSpPr>
          <p:cNvPr id="527" name="Oval 4"/>
          <p:cNvSpPr/>
          <p:nvPr/>
        </p:nvSpPr>
        <p:spPr>
          <a:xfrm>
            <a:off x="762000" y="1778000"/>
            <a:ext cx="685800" cy="685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28" name="Clock"/>
          <p:cNvSpPr/>
          <p:nvPr/>
        </p:nvSpPr>
        <p:spPr>
          <a:xfrm>
            <a:off x="939800" y="1955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50000" y="25000"/>
                </a:moveTo>
                <a:lnTo>
                  <a:pt x="50000" y="50000"/>
                </a:lnTo>
                <a:lnTo>
                  <a:pt x="66667" y="58333"/>
                </a:lnTo>
              </a:path>
            </a:pathLst>
          </a:custGeom>
          <a:noFill/>
          <a:ln w="27517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29" name="Rectangle 6"/>
          <p:cNvSpPr/>
          <p:nvPr/>
        </p:nvSpPr>
        <p:spPr>
          <a:xfrm>
            <a:off x="1625600" y="1778000"/>
            <a:ext cx="9931400" cy="6858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anchor="ctr">
            <a:noAutofit/>
          </a:bodyPr>
          <a:lstStyle/>
          <a:p>
            <a:pPr algn="l"/>
            <a:r>
              <a:rPr sz="1600" b="0">
                <a:solidFill>
                  <a:srgbClr val="12384D"/>
                </a:solidFill>
              </a:rPr>
              <a:t>How long does an approval last, and how do renewals work?</a:t>
            </a:r>
            <a:endParaRPr sz="1600" b="0">
              <a:solidFill>
                <a:srgbClr val="12384D"/>
              </a:solidFill>
            </a:endParaRPr>
          </a:p>
        </p:txBody>
      </p:sp>
      <p:sp>
        <p:nvSpPr>
          <p:cNvPr id="530" name="Oval 7"/>
          <p:cNvSpPr/>
          <p:nvPr/>
        </p:nvSpPr>
        <p:spPr>
          <a:xfrm>
            <a:off x="762000" y="2616200"/>
            <a:ext cx="685800" cy="685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31" name="Flag"/>
          <p:cNvSpPr/>
          <p:nvPr/>
        </p:nvSpPr>
        <p:spPr>
          <a:xfrm>
            <a:off x="939800" y="2794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16667" y="91667"/>
                </a:moveTo>
                <a:lnTo>
                  <a:pt x="16667" y="16667"/>
                </a:lnTo>
                <a:cubicBezTo>
                  <a:pt x="16667" y="15355"/>
                  <a:pt x="17284" y="14120"/>
                  <a:pt x="18333" y="13333"/>
                </a:cubicBezTo>
                <a:cubicBezTo>
                  <a:pt x="22661" y="10088"/>
                  <a:pt x="27924" y="8333"/>
                  <a:pt x="33333" y="8333"/>
                </a:cubicBezTo>
                <a:cubicBezTo>
                  <a:pt x="45833" y="8333"/>
                  <a:pt x="54167" y="16667"/>
                  <a:pt x="63888" y="16667"/>
                </a:cubicBezTo>
                <a:quadBezTo>
                  <a:pt x="72221" y="16667"/>
                  <a:pt x="76667" y="13333"/>
                </a:quadBezTo>
                <a:cubicBezTo>
                  <a:pt x="77929" y="12386"/>
                  <a:pt x="79618" y="12234"/>
                  <a:pt x="81030" y="12940"/>
                </a:cubicBezTo>
                <a:cubicBezTo>
                  <a:pt x="82442" y="13646"/>
                  <a:pt x="83333" y="15088"/>
                  <a:pt x="83333" y="16667"/>
                </a:cubicBezTo>
                <a:lnTo>
                  <a:pt x="83333" y="58333"/>
                </a:lnTo>
                <a:cubicBezTo>
                  <a:pt x="83333" y="59645"/>
                  <a:pt x="82716" y="60880"/>
                  <a:pt x="81667" y="61667"/>
                </a:cubicBezTo>
                <a:cubicBezTo>
                  <a:pt x="77339" y="64912"/>
                  <a:pt x="72076" y="66667"/>
                  <a:pt x="66667" y="66667"/>
                </a:cubicBezTo>
                <a:cubicBezTo>
                  <a:pt x="54167" y="66667"/>
                  <a:pt x="45833" y="58333"/>
                  <a:pt x="33333" y="58333"/>
                </a:cubicBezTo>
                <a:cubicBezTo>
                  <a:pt x="27184" y="58333"/>
                  <a:pt x="21250" y="60600"/>
                  <a:pt x="16667" y="64700"/>
                </a:cubicBezTo>
              </a:path>
            </a:pathLst>
          </a:custGeom>
          <a:noFill/>
          <a:ln w="27517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32" name="Rectangle 9"/>
          <p:cNvSpPr/>
          <p:nvPr/>
        </p:nvSpPr>
        <p:spPr>
          <a:xfrm>
            <a:off x="1625600" y="2616200"/>
            <a:ext cx="9931400" cy="6858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anchor="ctr">
            <a:noAutofit/>
          </a:bodyPr>
          <a:lstStyle/>
          <a:p>
            <a:pPr algn="l"/>
            <a:r>
              <a:rPr sz="1600" b="0">
                <a:solidFill>
                  <a:srgbClr val="12384D"/>
                </a:solidFill>
              </a:rPr>
              <a:t>When two dealers register the same deal, what decides who is first?</a:t>
            </a:r>
            <a:endParaRPr sz="1600" b="0">
              <a:solidFill>
                <a:srgbClr val="12384D"/>
              </a:solidFill>
            </a:endParaRPr>
          </a:p>
        </p:txBody>
      </p:sp>
      <p:sp>
        <p:nvSpPr>
          <p:cNvPr id="533" name="Oval 10"/>
          <p:cNvSpPr/>
          <p:nvPr/>
        </p:nvSpPr>
        <p:spPr>
          <a:xfrm>
            <a:off x="762000" y="3454400"/>
            <a:ext cx="685800" cy="685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34" name="Document"/>
          <p:cNvSpPr/>
          <p:nvPr/>
        </p:nvSpPr>
        <p:spPr>
          <a:xfrm>
            <a:off x="939800" y="3632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25000" y="91667"/>
                </a:moveTo>
                <a:cubicBezTo>
                  <a:pt x="20398" y="91667"/>
                  <a:pt x="16667" y="87936"/>
                  <a:pt x="16667" y="83333"/>
                </a:cubicBezTo>
                <a:lnTo>
                  <a:pt x="16667" y="16667"/>
                </a:lnTo>
                <a:cubicBezTo>
                  <a:pt x="16667" y="12064"/>
                  <a:pt x="20398" y="8333"/>
                  <a:pt x="25000" y="8333"/>
                </a:cubicBezTo>
                <a:lnTo>
                  <a:pt x="58333" y="8333"/>
                </a:lnTo>
                <a:cubicBezTo>
                  <a:pt x="60998" y="8329"/>
                  <a:pt x="63553" y="9388"/>
                  <a:pt x="65433" y="11275"/>
                </a:cubicBezTo>
                <a:lnTo>
                  <a:pt x="80383" y="26225"/>
                </a:lnTo>
                <a:cubicBezTo>
                  <a:pt x="82275" y="28106"/>
                  <a:pt x="83338" y="30665"/>
                  <a:pt x="83333" y="33333"/>
                </a:cubicBezTo>
                <a:lnTo>
                  <a:pt x="83333" y="83333"/>
                </a:lnTo>
                <a:cubicBezTo>
                  <a:pt x="83333" y="87936"/>
                  <a:pt x="79603" y="91667"/>
                  <a:pt x="75000" y="91667"/>
                </a:cubicBezTo>
                <a:close/>
                <a:moveTo>
                  <a:pt x="58333" y="8333"/>
                </a:moveTo>
                <a:lnTo>
                  <a:pt x="58333" y="29167"/>
                </a:lnTo>
                <a:cubicBezTo>
                  <a:pt x="58333" y="31468"/>
                  <a:pt x="60199" y="33333"/>
                  <a:pt x="62500" y="33333"/>
                </a:cubicBezTo>
                <a:lnTo>
                  <a:pt x="83333" y="33333"/>
                </a:lnTo>
                <a:moveTo>
                  <a:pt x="41667" y="37500"/>
                </a:moveTo>
                <a:lnTo>
                  <a:pt x="33333" y="37500"/>
                </a:lnTo>
                <a:moveTo>
                  <a:pt x="66667" y="54167"/>
                </a:moveTo>
                <a:lnTo>
                  <a:pt x="33333" y="54167"/>
                </a:lnTo>
                <a:moveTo>
                  <a:pt x="66667" y="70833"/>
                </a:moveTo>
                <a:lnTo>
                  <a:pt x="33333" y="70833"/>
                </a:lnTo>
              </a:path>
            </a:pathLst>
          </a:custGeom>
          <a:noFill/>
          <a:ln w="27517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35" name="Rectangle 12"/>
          <p:cNvSpPr/>
          <p:nvPr/>
        </p:nvSpPr>
        <p:spPr>
          <a:xfrm>
            <a:off x="1625600" y="3454400"/>
            <a:ext cx="9931400" cy="6858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anchor="ctr">
            <a:noAutofit/>
          </a:bodyPr>
          <a:lstStyle/>
          <a:p>
            <a:pPr algn="l"/>
            <a:r>
              <a:rPr sz="1600" b="0">
                <a:solidFill>
                  <a:srgbClr val="12384D"/>
                </a:solidFill>
              </a:rPr>
              <a:t>Can a dealer edit a registration after submitting it?</a:t>
            </a:r>
            <a:endParaRPr sz="1600" b="0">
              <a:solidFill>
                <a:srgbClr val="12384D"/>
              </a:solidFill>
            </a:endParaRPr>
          </a:p>
        </p:txBody>
      </p:sp>
      <p:sp>
        <p:nvSpPr>
          <p:cNvPr id="536" name="Oval 13"/>
          <p:cNvSpPr/>
          <p:nvPr/>
        </p:nvSpPr>
        <p:spPr>
          <a:xfrm>
            <a:off x="762000" y="4292600"/>
            <a:ext cx="685800" cy="685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37" name="Undo"/>
          <p:cNvSpPr/>
          <p:nvPr/>
        </p:nvSpPr>
        <p:spPr>
          <a:xfrm>
            <a:off x="939800" y="4470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37500" y="58333"/>
                </a:moveTo>
                <a:lnTo>
                  <a:pt x="16667" y="37500"/>
                </a:lnTo>
                <a:lnTo>
                  <a:pt x="37500" y="16667"/>
                </a:lnTo>
                <a:moveTo>
                  <a:pt x="16667" y="37500"/>
                </a:moveTo>
                <a:lnTo>
                  <a:pt x="60417" y="37500"/>
                </a:lnTo>
                <a:cubicBezTo>
                  <a:pt x="73073" y="37500"/>
                  <a:pt x="83333" y="47760"/>
                  <a:pt x="83333" y="60417"/>
                </a:cubicBezTo>
                <a:cubicBezTo>
                  <a:pt x="83333" y="73073"/>
                  <a:pt x="73073" y="83333"/>
                  <a:pt x="60417" y="83333"/>
                </a:cubicBezTo>
                <a:lnTo>
                  <a:pt x="45833" y="83333"/>
                </a:lnTo>
              </a:path>
            </a:pathLst>
          </a:custGeom>
          <a:noFill/>
          <a:ln w="27517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38" name="Rectangle 15"/>
          <p:cNvSpPr/>
          <p:nvPr/>
        </p:nvSpPr>
        <p:spPr>
          <a:xfrm>
            <a:off x="1625600" y="4292600"/>
            <a:ext cx="9931400" cy="6858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anchor="ctr">
            <a:noAutofit/>
          </a:bodyPr>
          <a:lstStyle/>
          <a:p>
            <a:pPr algn="l"/>
            <a:r>
              <a:rPr sz="1600" b="0">
                <a:solidFill>
                  <a:srgbClr val="12384D"/>
                </a:solidFill>
              </a:rPr>
              <a:t>If a dealer withdraws, does the next dealer move up?</a:t>
            </a:r>
            <a:endParaRPr sz="1600" b="0">
              <a:solidFill>
                <a:srgbClr val="12384D"/>
              </a:solidFill>
            </a:endParaRPr>
          </a:p>
        </p:txBody>
      </p:sp>
      <p:sp>
        <p:nvSpPr>
          <p:cNvPr id="539" name="Oval 16"/>
          <p:cNvSpPr/>
          <p:nvPr/>
        </p:nvSpPr>
        <p:spPr>
          <a:xfrm>
            <a:off x="762000" y="5130800"/>
            <a:ext cx="685800" cy="685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40" name="Pie chart"/>
          <p:cNvSpPr/>
          <p:nvPr/>
        </p:nvSpPr>
        <p:spPr>
          <a:xfrm>
            <a:off x="939800" y="5308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7500" y="50000"/>
                </a:moveTo>
                <a:cubicBezTo>
                  <a:pt x="89800" y="50000"/>
                  <a:pt x="91688" y="48129"/>
                  <a:pt x="91458" y="45842"/>
                </a:cubicBezTo>
                <a:cubicBezTo>
                  <a:pt x="89478" y="26119"/>
                  <a:pt x="73877" y="10522"/>
                  <a:pt x="54154" y="8546"/>
                </a:cubicBezTo>
                <a:cubicBezTo>
                  <a:pt x="51863" y="8317"/>
                  <a:pt x="49996" y="10204"/>
                  <a:pt x="49996" y="12504"/>
                </a:cubicBezTo>
                <a:lnTo>
                  <a:pt x="49996" y="45838"/>
                </a:lnTo>
                <a:cubicBezTo>
                  <a:pt x="49996" y="48139"/>
                  <a:pt x="51861" y="50004"/>
                  <a:pt x="54163" y="50004"/>
                </a:cubicBezTo>
                <a:close/>
                <a:moveTo>
                  <a:pt x="88375" y="66208"/>
                </a:moveTo>
                <a:cubicBezTo>
                  <a:pt x="81083" y="83454"/>
                  <a:pt x="63183" y="93717"/>
                  <a:pt x="44616" y="91298"/>
                </a:cubicBezTo>
                <a:cubicBezTo>
                  <a:pt x="26049" y="88879"/>
                  <a:pt x="11375" y="74373"/>
                  <a:pt x="8745" y="55835"/>
                </a:cubicBezTo>
                <a:cubicBezTo>
                  <a:pt x="6114" y="37297"/>
                  <a:pt x="16173" y="19280"/>
                  <a:pt x="33333" y="11792"/>
                </a:cubicBezTo>
              </a:path>
            </a:pathLst>
          </a:custGeom>
          <a:noFill/>
          <a:ln w="27517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41" name="Rectangle 18"/>
          <p:cNvSpPr/>
          <p:nvPr/>
        </p:nvSpPr>
        <p:spPr>
          <a:xfrm>
            <a:off x="1625600" y="5130800"/>
            <a:ext cx="9931400" cy="6858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anchor="ctr">
            <a:noAutofit/>
          </a:bodyPr>
          <a:lstStyle/>
          <a:p>
            <a:pPr algn="l"/>
            <a:r>
              <a:rPr sz="1600" b="0">
                <a:solidFill>
                  <a:srgbClr val="12384D"/>
                </a:solidFill>
              </a:rPr>
              <a:t>How are discounts calculated: with or without VAT, and how is rounding done?</a:t>
            </a:r>
            <a:endParaRPr sz="1600" b="0">
              <a:solidFill>
                <a:srgbClr val="12384D"/>
              </a:solidFill>
            </a:endParaRPr>
          </a:p>
        </p:txBody>
      </p:sp>
      <p:sp>
        <p:nvSpPr>
          <p:cNvPr id="584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8C67565-E9B8-43A8-859B-FB8AC9415FF1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8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Rectangle 1"/>
          <p:cNvSpPr/>
          <p:nvPr/>
        </p:nvSpPr>
        <p:spPr>
          <a:xfrm>
            <a:off x="762000" y="1778000"/>
            <a:ext cx="889000" cy="10160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44" name="Rectangle 2"/>
          <p:cNvSpPr/>
          <p:nvPr/>
        </p:nvSpPr>
        <p:spPr>
          <a:xfrm>
            <a:off x="711200" y="2032000"/>
            <a:ext cx="10668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200" b="0">
                <a:solidFill>
                  <a:srgbClr val="B9D4E0"/>
                </a:solidFill>
              </a:rPr>
              <a:t>Deal registration in one sentence</a:t>
            </a:r>
            <a:endParaRPr sz="2200" b="0">
              <a:solidFill>
                <a:srgbClr val="B9D4E0"/>
              </a:solidFill>
            </a:endParaRPr>
          </a:p>
        </p:txBody>
      </p:sp>
      <p:sp>
        <p:nvSpPr>
          <p:cNvPr id="545" name="Rectangle 3"/>
          <p:cNvSpPr/>
          <p:nvPr/>
        </p:nvSpPr>
        <p:spPr>
          <a:xfrm>
            <a:off x="711200" y="2603500"/>
            <a:ext cx="10795000" cy="2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dealer who finds a real deal first registers it. DBGI confirms it, protects it for a limited time with a special price, and checks the order before honoring that price.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87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D469FB7-52EC-4B93-8A4D-4826A82733E2}" type="slidenum">
              <a:rPr/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arbor">
  <a:themeElements>
    <a:clrScheme name="Harbor">
      <a:dk1>
        <a:srgbClr val="0B1F2A"/>
      </a:dk1>
      <a:lt1>
        <a:srgbClr val="FFFFFF"/>
      </a:lt1>
      <a:dk2>
        <a:srgbClr val="12384D"/>
      </a:dk2>
      <a:lt2>
        <a:srgbClr val="E4EEF2"/>
      </a:lt2>
      <a:accent1>
        <a:srgbClr val="1B7FA6"/>
      </a:accent1>
      <a:accent2>
        <a:srgbClr val="36B3A8"/>
      </a:accent2>
      <a:accent3>
        <a:srgbClr val="F2C14E"/>
      </a:accent3>
      <a:accent4>
        <a:srgbClr val="F78154"/>
      </a:accent4>
      <a:accent5>
        <a:srgbClr val="5D576B"/>
      </a:accent5>
      <a:accent6>
        <a:srgbClr val="8AA29E"/>
      </a:accent6>
      <a:hlink>
        <a:srgbClr val="1B7FA6"/>
      </a:hlink>
      <a:folHlink>
        <a:srgbClr val="5D576B"/>
      </a:folHlink>
    </a:clrScheme>
    <a:fontScheme name="Harbor">
      <a:majorFont>
        <a:latin typeface="Merriweather"/>
        <a:ea typeface=""/>
        <a:cs typeface=""/>
      </a:majorFont>
      <a:minorFont>
        <a:latin typeface="Open Sans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14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